
<file path=[Content_Types].xml><?xml version="1.0" encoding="utf-8"?>
<Types xmlns="http://schemas.openxmlformats.org/package/2006/content-types">
  <Default Extension="rels" ContentType="application/vnd.openxmlformats-package.relationships+xml"/>
  <Default Extension="xml" ContentType="application/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情報技術者（民間資格）2</a:t>
            </a:r>
          </a:p>
          <a:p>
            <a:r>
              <a:t>目安：0.5分／授業開始から 0〜0.5分</a:t>
            </a:r>
          </a:p>
          <a:p/>
          <a:p>
            <a:r>
              <a:t>第1回の「人工知能の歴史」の続きとして，探索と知識を使って問題を解く方法を扱う．プログラムの実装を前提にせず，小さな例を手で追う．</a:t>
            </a:r>
          </a:p>
          <a:p>
            <a:r>
              <a:t>90分配分：導入5分，基本探索18分，ゲーム探索・計画18分，中間確認4分，知識表現・専門家システム28分，整理と演習17分．41枚中，最後の2枚は参考資料の付録．</a:t>
            </a:r>
          </a:p>
          <a:p>
            <a:r>
              <a:t>全スライドの図と問題は講義用に作成したもの．公式過去問ではない．</a:t>
            </a:r>
          </a:p>
          <a:p/>
          <a:p>
            <a:r>
              <a:t>参照資料（2026年10月7日確認）</a:t>
            </a:r>
          </a:p>
          <a:p>
            <a:r>
              <a:t>第1回資料と本教材のために作成した例・設問．</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今日の到達目標</a:t>
            </a:r>
          </a:p>
          <a:p>
            <a:r>
              <a:t>目安：1.5分／授業開始から 0.5〜2分</a:t>
            </a:r>
          </a:p>
          <a:p/>
          <a:p>
            <a:r>
              <a:t>対応範囲は公式シラバス「人工知能をめぐる動向」の「探索・推論」「知識表現とエキスパートシステム」．版はシラバス2024 第1.4版（2026年5月11日改訂）．暗記だけでなく，手法を区別し，前提条件を言葉で説明することを目標にする．</a:t>
            </a:r>
          </a:p>
          <a:p/>
          <a:p>
            <a:r>
              <a:t>参照資料（2026年10月7日確認）</a:t>
            </a:r>
          </a:p>
          <a:p>
            <a:r>
              <a:t>JDLA：G検定シラバス2024 第1.4版</a:t>
            </a:r>
          </a:p>
          <a:p>
            <a:r>
              <a:t>https://www.jdla.org/download/g%E6%A4%9C%E5%AE%9A%E3%81%AE%E8%A9%A6%E9%A8%93%E5%87%BA%E9%A1%8C%E7%AF%84%E5%9B%B2-%EF%BC%88%E3%82%B7%E3%83%A9%E3%83%90%E3%82%B9%EF%BC%89g20246%EF%BD%9Ev1-4/</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前回の復習：AIの発展と今回の位置</a:t>
            </a:r>
          </a:p>
          <a:p>
            <a:r>
              <a:t>目安：2分／授業開始から 2〜4分</a:t>
            </a:r>
          </a:p>
          <a:p/>
          <a:p>
            <a:r>
              <a:t>第1回の3回のAIブームを復習する．年代の区分は目安で，研究が切り替わって消えたわけではない．第1次の探索，第2次の知識利用を具体的に学ぶ．ルールで解く方法も現在のシステムと組み合わせて利用できる．</a:t>
            </a:r>
          </a:p>
          <a:p>
            <a:r>
              <a:t>問いかけ：迷路の経路を見つけることと，専門家の判断を再現することでは，事前に用意するものはどう違うか．</a:t>
            </a:r>
          </a:p>
          <a:p/>
          <a:p>
            <a:r>
              <a:t>参照資料（2026年10月7日確認）</a:t>
            </a:r>
          </a:p>
          <a:p>
            <a:r>
              <a:t>第1回資料と本教材のために作成した例・設問．</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90分の進め方</a:t>
            </a:r>
          </a:p>
          <a:p>
            <a:r>
              <a:t>目安：1分／授業開始から 4〜5分</a:t>
            </a:r>
          </a:p>
          <a:p/>
          <a:p>
            <a:r>
              <a:t>時間配分を説明する．途中の問題は隣同士で根拠を話し合ってもよい．正解の選択肢だけでなく，「どの前提なら成り立つか」を言えるようにする．ノートには各スライドの目安時間と解説，出典リンクを記載した．</a:t>
            </a:r>
          </a:p>
          <a:p/>
          <a:p>
            <a:r>
              <a:t>参照資料（2026年10月7日確認）</a:t>
            </a:r>
          </a:p>
          <a:p>
            <a:r>
              <a:t>第1回資料と本教材のために作成した例・設問．</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探索：問題を「状態」と「行動」に分ける</a:t>
            </a:r>
          </a:p>
          <a:p>
            <a:r>
              <a:t>目安：2分／授業開始から 5〜7分</a:t>
            </a:r>
          </a:p>
          <a:p/>
          <a:p>
            <a:r>
              <a:t>探索問題の例を部屋間の移動で説明する．状態は現在位置，行動は通路を使った移動，遷移は行動後の位置．初期状態・目標条件・行動・遷移・コストを定義すると，探索で扱える．コストの例は歩数や距離だが，本節の木では全て1とする．</a:t>
            </a:r>
          </a:p>
          <a:p>
            <a:r>
              <a:t>探索は解の候補を調べる手続き．後半で扱う推論は，知識から結論を導くこと．</a:t>
            </a:r>
          </a:p>
          <a:p/>
          <a:p>
            <a:r>
              <a:t>参照資料（2026年10月7日確認）</a:t>
            </a:r>
          </a:p>
          <a:p>
            <a:r>
              <a:t>UC Berkeley CS188：State Spaces and Search Problems</a:t>
            </a:r>
          </a:p>
          <a:p>
            <a:r>
              <a:t>https://inst.eecs.berkeley.edu/~cs188/textbook/search/state.html</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探索木：候補を枝分かれで表す</a:t>
            </a:r>
          </a:p>
          <a:p>
            <a:r>
              <a:t>目安：2分／授業開始から 7〜9分</a:t>
            </a:r>
          </a:p>
          <a:p/>
          <a:p>
            <a:r>
              <a:t>根は初期状態，枝は行動，子ノードは行動後の状態を表す．深さは根からの枝数．この図は授業用の有限木で，循環も状態の重複もない．現実の状態空間はグラフになることがあり，同じ状態への経路が複数ある．探索木のノードは経路の違いを含むため，同じ状態が何度も現れることがある．</a:t>
            </a:r>
          </a:p>
          <a:p>
            <a:r>
              <a:t>以降は左の子を先に調べ，ノードを取り出した時点で目標を判定するという約束に統一する．</a:t>
            </a:r>
          </a:p>
          <a:p/>
          <a:p>
            <a:r>
              <a:t>参照資料（2026年10月7日確認）</a:t>
            </a:r>
          </a:p>
          <a:p>
            <a:r>
              <a:t>UC Berkeley CS188：State Spaces and Search Problems</a:t>
            </a:r>
          </a:p>
          <a:p>
            <a:r>
              <a:t>https://inst.eecs.berkeley.edu/~cs188/textbook/search/state.html</a:t>
            </a:r>
          </a:p>
          <a:p>
            <a:r>
              <a:t>UC Berkeley CS188：Uninformed Search</a:t>
            </a:r>
          </a:p>
          <a:p>
            <a:r>
              <a:t>https://inst.eecs.berkeley.edu/~cs188/textbook/search/uninformed.html</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ハノイの塔：探索問題の例</a:t>
            </a:r>
          </a:p>
          <a:p>
            <a:r>
              <a:t>目安：3分／授業開始から 9〜12分</a:t>
            </a:r>
          </a:p>
          <a:p/>
          <a:p>
            <a:r>
              <a:t>3本の棒と大きさの異なる円盤を用いる．一度に動かせるのは1枚で，各棒の一番上の円盤だけ．小さい円盤の上に大きい円盤を置かない．状態は各円盤がどの棒にあるか，行動は合法な移動．3枚の最小手数は7，n枚は2のn乗−1．</a:t>
            </a:r>
          </a:p>
          <a:p>
            <a:r>
              <a:t>説明：大きい円盤を動かす前後に，小さいn−1枚を移す必要があるためT(n)=2T(n−1)+1．細かい証明は求めない．最初に動かせる円盤を学生に答えてもらう．</a:t>
            </a:r>
          </a:p>
          <a:p/>
          <a:p>
            <a:r>
              <a:t>参照資料（2026年10月7日確認）</a:t>
            </a:r>
          </a:p>
          <a:p>
            <a:r>
              <a:t>JDLA：G検定シラバス2024 第1.4版</a:t>
            </a:r>
          </a:p>
          <a:p>
            <a:r>
              <a:t>https://www.jdla.org/download/g%E6%A4%9C%E5%AE%9A%E3%81%AE%E8%A9%A6%E9%A8%93%E5%87%BA%E9%A1%8C%E7%AF%84%E5%9B%B2-%EF%BC%88%E3%82%B7%E3%83%A9%E3%83%90%E3%82%B9%EF%BC%89g20246%EF%BD%9Ev1-4/</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幅優先探索：浅いところから調べる</a:t>
            </a:r>
          </a:p>
          <a:p>
            <a:r>
              <a:t>目安：2分／授業開始から 12〜14分</a:t>
            </a:r>
          </a:p>
          <a:p/>
          <a:p>
            <a:r>
              <a:t>Breadth-First Search（BFS）．同じ深さを先に調べ，次の深さへ進む．探索待ちの候補はFIFO（先入れ先出し）のキューで管理する．図の赤い数字が探索順序．S,A,B,C,D,E,F,G,Hとなる．目標は取り出した時点で判定する．</a:t>
            </a:r>
          </a:p>
          <a:p>
            <a:r>
              <a:t>最浅の解を見つける性質と，最小コストの解を見つける性質は区別する．全ての枝のコストが同じ場合に最小コストが保証される．</a:t>
            </a:r>
          </a:p>
          <a:p/>
          <a:p>
            <a:r>
              <a:t>参照資料（2026年10月7日確認）</a:t>
            </a:r>
          </a:p>
          <a:p>
            <a:r>
              <a:t>UC Berkeley CS188：Uninformed Search</a:t>
            </a:r>
          </a:p>
          <a:p>
            <a:r>
              <a:t>https://inst.eecs.berkeley.edu/~cs188/textbook/search/uninformed.html</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深さ優先探索：一つの枝を深く調べる</a:t>
            </a:r>
          </a:p>
          <a:p>
            <a:r>
              <a:t>目安：2分／授業開始から 14〜16分</a:t>
            </a:r>
          </a:p>
          <a:p/>
          <a:p>
            <a:r>
              <a:t>Depth-First Search（DFS）．一つの枝を先へたどり，行き止まりで戻る．スタックのLIFO（後入れ先出し）で実装でき，再帰も使える．この例で左の子を先に探索するため，スタックへの追加順は逆にする．順序はS,A,C,G,H,D,B,E,F．</a:t>
            </a:r>
          </a:p>
          <a:p>
            <a:r>
              <a:t>探索待ちの候補は幅優先より少なくしやすいが，全ての訪問済み状態を保存する実装ではその保存分も必要．無限の深さや循環への対処がない場合，終了しないことがある．</a:t>
            </a:r>
          </a:p>
          <a:p/>
          <a:p>
            <a:r>
              <a:t>参照資料（2026年10月7日確認）</a:t>
            </a:r>
          </a:p>
          <a:p>
            <a:r>
              <a:t>UC Berkeley CS188：Uninformed Search</a:t>
            </a:r>
          </a:p>
          <a:p>
            <a:r>
              <a:t>https://inst.eecs.berkeley.edu/~cs188/textbook/search/uninformed.html</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幅優先と深さ優先：順序と保証を区別する</a:t>
            </a:r>
          </a:p>
          <a:p>
            <a:r>
              <a:t>目安：3分／授業開始から 16〜19分</a:t>
            </a:r>
          </a:p>
          <a:p/>
          <a:p>
            <a:r>
              <a:t>幅優先は有限の分岐数と有限深さの解を前提に解を見つける．最小手数だが，枝ごとのコストが違えば最小コストとは限らない．深さ優先の「解を見つける保証なし」は無限木や循環を許した場合の話で，有限グラフに適切な訪問済み管理を行えば到達可能な解を探索できる．</a:t>
            </a:r>
          </a:p>
          <a:p>
            <a:r>
              <a:t>メモリ比較は探索待ちの候補について説明する．概ね幅優先は同じ深さの多数の候補，深さ優先は経路と未探索の兄弟を保持する．訪問済み集合の追加コストは別途ある．</a:t>
            </a:r>
          </a:p>
          <a:p/>
          <a:p>
            <a:r>
              <a:t>参照資料（2026年10月7日確認）</a:t>
            </a:r>
          </a:p>
          <a:p>
            <a:r>
              <a:t>UC Berkeley CS188：Uninformed Search</a:t>
            </a:r>
          </a:p>
          <a:p>
            <a:r>
              <a:t>https://inst.eecs.berkeley.edu/~cs188/textbook/search/uninformed.html</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演習1：Eを見つけるまでの順序</a:t>
            </a:r>
          </a:p>
          <a:p>
            <a:r>
              <a:t>目安：3分／授業開始から 19〜22分</a:t>
            </a:r>
          </a:p>
          <a:p/>
          <a:p>
            <a:r>
              <a:t>3分の活動．個人で1分，隣同士で1分，答え合わせ準備に1分．この木だけを対象にする．左の子を先に調べ，ノードを取り出した時に目標判定を行う．Eに着いたら止める．</a:t>
            </a:r>
          </a:p>
          <a:p>
            <a:r>
              <a:t>講師用正答：BFSはS,A,B,C,D,E．DFSはS,A,C,G,H,D,B,E．どちらも得られる経路はS,B,E．訪問順序と解の経路が違うことを最後に確認する．</a:t>
            </a:r>
          </a:p>
          <a:p/>
          <a:p>
            <a:r>
              <a:t>参照資料（2026年10月7日確認）</a:t>
            </a:r>
          </a:p>
          <a:p>
            <a:r>
              <a:t>第1回資料と本教材のために作成した例・設問．</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演習1：解答と確認</a:t>
            </a:r>
          </a:p>
          <a:p>
            <a:r>
              <a:t>目安：1分／授業開始から 22〜23分</a:t>
            </a:r>
          </a:p>
          <a:p/>
          <a:p>
            <a:r>
              <a:t>訪問順序を色や指差しで追う．BFSはEを取り出す前にC,Dも取り出す．Eを生成した時に目標判定する実装では訪問の数が変わるため，この授業では取り出した時に統一した．得られる経路を親ノードからたどるとS,B,Eで，訪問したノード全てが解の経路ではない．</a:t>
            </a:r>
          </a:p>
          <a:p/>
          <a:p>
            <a:r>
              <a:t>参照資料（2026年10月7日確認）</a:t>
            </a:r>
          </a:p>
          <a:p>
            <a:r>
              <a:t>第1回資料と本教材のために作成した例・設問．</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組合せ爆発：全て調べると候補が増える</a:t>
            </a:r>
          </a:p>
          <a:p>
            <a:r>
              <a:t>目安：2分／授業開始から 23〜25分</a:t>
            </a:r>
          </a:p>
          <a:p/>
          <a:p>
            <a:r>
              <a:t>ブルートフォースは候補を総当たりで調べる考え方．毎回b個の選択肢がある木では深さdの葉はbのd乗になる．ここではb=10で，深さ8だけでも1億候補．1候補の評価が1ミリ秒なら，葉だけで10万秒＝約27.8時間．これは理想化した計算例で，実測の実行時間ではない．</a:t>
            </a:r>
          </a:p>
          <a:p>
            <a:r>
              <a:t>手がかりによる優先順位，枝刈り，乱数による近似という方向へつなぐ．全探索が常に不可能という意味ではなく，候補が少なければ有効．</a:t>
            </a:r>
          </a:p>
          <a:p/>
          <a:p>
            <a:r>
              <a:t>参照資料（2026年10月7日確認）</a:t>
            </a:r>
          </a:p>
          <a:p>
            <a:r>
              <a:t>JDLA：G検定シラバス2024 第1.4版</a:t>
            </a:r>
          </a:p>
          <a:p>
            <a:r>
              <a:t>https://www.jdla.org/download/g%E6%A4%9C%E5%AE%9A%E3%81%AE%E8%A9%A6%E9%A8%93%E5%87%BA%E9%A1%8C%E7%AF%84%E5%9B%B2-%EF%BC%88%E3%82%B7%E3%83%A9%E3%83%90%E3%82%B9%EF%BC%89g20246%EF%BD%9Ev1-4/</a:t>
            </a:r>
          </a:p>
          <a:p>
            <a:r>
              <a:t>UC Berkeley CS188：Uninformed Search</a:t>
            </a:r>
          </a:p>
          <a:p>
            <a:r>
              <a:t>https://inst.eecs.berkeley.edu/~cs188/textbook/search/uninformed.html</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Mini-Max法：相手も最善を尽くすと考える</a:t>
            </a:r>
          </a:p>
          <a:p>
            <a:r>
              <a:t>目安：2分／授業開始から 25〜27分</a:t>
            </a:r>
          </a:p>
          <a:p/>
          <a:p>
            <a:r>
              <a:t>Mini-Max（ミニマックス）法．この授業では2人・ゼロ和・完全情報の対戦を例にする．評価値は自分から見た値で，大きいほど良い．自分の番はMAX，相手の番はMINを選ぶ．相手も自分にとって最も不利な手を選ぶという仮定で，自分の手を決める．</a:t>
            </a:r>
          </a:p>
          <a:p>
            <a:r>
              <a:t>確率的に相手が悪手を選ぶ可能性を期待する方法とは違う．評価関数や探索深さが不十分なら，実戦で必ず勝つ保証はない．</a:t>
            </a:r>
          </a:p>
          <a:p/>
          <a:p>
            <a:r>
              <a:t>参照資料（2026年10月7日確認）</a:t>
            </a:r>
          </a:p>
          <a:p>
            <a:r>
              <a:t>UC Berkeley CS188：Minimax／Alpha-Beta Pruning</a:t>
            </a:r>
          </a:p>
          <a:p>
            <a:r>
              <a:t>https://inst.eecs.berkeley.edu/~cs188/textbook/games/minimax.html</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Mini-Max法：評価値を下から戻す</a:t>
            </a:r>
          </a:p>
          <a:p>
            <a:r>
              <a:t>目安：3分／授業開始から 27〜30分</a:t>
            </a:r>
          </a:p>
          <a:p/>
          <a:p>
            <a:r>
              <a:t>学生にまず相手の2つのノードの値を計算してもらう．左はmin(3,5)=3，右はmin(2,9)=2．根はmax(3,2)=3で左を選ぶ．9という大きな葉があっても，相手がその葉を選ぶとは限らない．</a:t>
            </a:r>
          </a:p>
          <a:p>
            <a:r>
              <a:t>局面評価は全て自分からの値．各層で評価の視点を変えない．図は教材用の数値例で，実際のゲーム盤面ではない．</a:t>
            </a:r>
          </a:p>
          <a:p/>
          <a:p>
            <a:r>
              <a:t>参照資料（2026年10月7日確認）</a:t>
            </a:r>
          </a:p>
          <a:p>
            <a:r>
              <a:t>UC Berkeley CS188：Minimax／Alpha-Beta Pruning</a:t>
            </a:r>
          </a:p>
          <a:p>
            <a:r>
              <a:t>https://inst.eecs.berkeley.edu/~cs188/textbook/games/minimax.html</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αβ法：結果に影響しない枝を省く</a:t>
            </a:r>
          </a:p>
          <a:p>
            <a:r>
              <a:t>目安：3分／授業開始から 30〜33分</a:t>
            </a:r>
          </a:p>
          <a:p/>
          <a:p>
            <a:r>
              <a:t>前の木を左から探索する．左枝を調べて根のMAXは少なくとも3を選べる（α=3）．右のMINで最初に2が得られると，右枝の値は2以下になる（β=2）．右の残りを調べても左の3を上回らないため，枝を省ける．右枝の正確な値は求めなくてよい．</a:t>
            </a:r>
          </a:p>
          <a:p>
            <a:r>
              <a:t>αはMAX側が確保できる下限，βはMIN側が許す上限．ここではβ≤αでカット．同じ探索深さと評価関数なら根の評価値を保つ．同点時に選ぶ手はタイブレークに依存する場合がある．探索順序によって省ける枝の数は変わる．</a:t>
            </a:r>
          </a:p>
          <a:p/>
          <a:p>
            <a:r>
              <a:t>参照資料（2026年10月7日確認）</a:t>
            </a:r>
          </a:p>
          <a:p>
            <a:r>
              <a:t>UC Berkeley CS188：Minimax／Alpha-Beta Pruning</a:t>
            </a:r>
          </a:p>
          <a:p>
            <a:r>
              <a:t>https://inst.eecs.berkeley.edu/~cs188/textbook/games/minimax.html</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モンテカルロ法：試行から値を推定する</a:t>
            </a:r>
          </a:p>
          <a:p>
            <a:r>
              <a:t>目安：3分／授業開始から 33〜36分</a:t>
            </a:r>
          </a:p>
          <a:p/>
          <a:p>
            <a:r>
              <a:t>モンテカルロ法は乱数を使った反復試行で値を近似する方法の総称．ゲームではある手の後を方策に従って何度も試し，勝敗の割合などで局面を評価できる．数値は授業用に作った推定例．Aが本当に最善とは限らず，試行数・方策・偶然の影響がある．</a:t>
            </a:r>
          </a:p>
          <a:p>
            <a:r>
              <a:t>補足：モンテカルロ木探索（MCTS）は選択・展開・シミュレーション・結果の反映を繰り返して，有望さと未探索の部分を考慮して試行を配分する．単に乱数で一手を選ぶこととは区別する．</a:t>
            </a:r>
          </a:p>
          <a:p/>
          <a:p>
            <a:r>
              <a:t>参照資料（2026年10月7日確認）</a:t>
            </a:r>
          </a:p>
          <a:p>
            <a:r>
              <a:t>UC Berkeley CS188：Monte Carlo Tree Search</a:t>
            </a:r>
          </a:p>
          <a:p>
            <a:r>
              <a:t>https://inst.eecs.berkeley.edu/~cs188/textbook/games/monte-carlo.html</a:t>
            </a:r>
          </a:p>
          <a:p>
            <a:r>
              <a:t>JDLA：G検定シラバス2024 第1.4版</a:t>
            </a:r>
          </a:p>
          <a:p>
            <a:r>
              <a:t>https://www.jdla.org/download/g%E6%A4%9C%E5%AE%9A%E3%81%AE%E8%A9%A6%E9%A8%93%E5%87%BA%E9%A1%8C%E7%AF%84%E5%9B%B2-%EF%BC%88%E3%82%B7%E3%83%A9%E3%83%90%E3%82%B9%EF%BC%89g20246%EF%BD%9Ev1-4/</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STRIPS：目標を達成する行動列を計画する</a:t>
            </a:r>
          </a:p>
          <a:p>
            <a:r>
              <a:t>目安：3分／授業開始から 36〜39分</a:t>
            </a:r>
          </a:p>
          <a:p/>
          <a:p>
            <a:r>
              <a:t>STRIPSは1971年のFikesとNilssonの研究．状態を論理的な事実で表し，行動に前提条件・追加される事実・削除される事実を定義して，目標へ至る行動列を探す．ここでの移動は教材用に簡略化したSTRIPS形式の例．</a:t>
            </a:r>
          </a:p>
          <a:p>
            <a:r>
              <a:t>前提はAt(A)と通路が開いていること．実行後はAt(B)を追加しAt(A)を削除する．通路の状態など，変更されない事実は保持する．第1回のフレーム問題と関連するが，この表現だけで現実の全ての変化を扱えるわけではない．</a:t>
            </a:r>
          </a:p>
          <a:p/>
          <a:p>
            <a:r>
              <a:t>参照資料（2026年10月7日確認）</a:t>
            </a:r>
          </a:p>
          <a:p>
            <a:r>
              <a:t>Fikes &amp; Nilsson（1971）：STRIPS</a:t>
            </a:r>
          </a:p>
          <a:p>
            <a:r>
              <a:t>https://doi.org/10.1016/0004-3702(71)90010-5</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SHRDLU：限定した世界で言葉と行動を結ぶ</a:t>
            </a:r>
          </a:p>
          <a:p>
            <a:r>
              <a:t>目安：2分／授業開始から 39〜41分</a:t>
            </a:r>
          </a:p>
          <a:p/>
          <a:p>
            <a:r>
              <a:t>Terry Winogradが開発した自然言語理解システム．積み木の世界という限定領域のモデルを持ち，英語の指示，質問，情報の入力を扱った．自然言語の解析と，対象物の知識，推論・計画を組み合わせた例．</a:t>
            </a:r>
          </a:p>
          <a:p>
            <a:r>
              <a:t>図と命令文は仕組みを説明する教材用の模式例で，原論文の対話や実行画面ではない．STRIPSとの比較は「行動列の計画方式」と「言語理解・対話を含むシステム」．どちらも現実世界全体を自由に扱えることを意味しない．</a:t>
            </a:r>
          </a:p>
          <a:p/>
          <a:p>
            <a:r>
              <a:t>参照資料（2026年10月7日確認）</a:t>
            </a:r>
          </a:p>
          <a:p>
            <a:r>
              <a:t>Winograd（1972）：Understanding Natural Language</a:t>
            </a:r>
          </a:p>
          <a:p>
            <a:r>
              <a:t>https://doi.org/10.1016/0010-0285(72)90002-3</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中間確認：正しいか，条件も含めて説明する</a:t>
            </a:r>
          </a:p>
          <a:p>
            <a:r>
              <a:t>目安：3分／授業開始から 41〜44分</a:t>
            </a:r>
          </a:p>
          <a:p/>
          <a:p>
            <a:r>
              <a:t>個人1分，隣同士で理由を説明1分，全体確認1分．正誤だけでなく，前提を言わせる．</a:t>
            </a:r>
          </a:p>
          <a:p>
            <a:r>
              <a:t>講師用正答：①○．②×，最小手数は保証されない．③×，同じ深さと評価関数なら根の値は同じ．④×，限定された積み木の世界を扱う．</a:t>
            </a:r>
          </a:p>
          <a:p/>
          <a:p>
            <a:r>
              <a:t>参照資料（2026年10月7日確認）</a:t>
            </a:r>
          </a:p>
          <a:p>
            <a:r>
              <a:t>第1回資料と本教材のために作成した例・設問．</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中間確認：解答</a:t>
            </a:r>
          </a:p>
          <a:p>
            <a:r>
              <a:t>目安：1分／授業開始から 44〜45分</a:t>
            </a:r>
          </a:p>
          <a:p/>
          <a:p>
            <a:r>
              <a:t>①では有限の分岐と有限深さの解という条件も確認する．③は探索深さや評価関数を変えれば結果が変わり得るので，条件を揃えて比較する．同点の手の選択はタイブレークに左右され得る．④は「限定された領域で達成したこと」と「一般の理解」を区別する．</a:t>
            </a:r>
          </a:p>
          <a:p/>
          <a:p>
            <a:r>
              <a:t>参照資料（2026年10月7日確認）</a:t>
            </a:r>
          </a:p>
          <a:p>
            <a:r>
              <a:t>第1回資料と本教材のために作成した例・設問．</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知識表現：事実や関係を機械で扱える形にする</a:t>
            </a:r>
          </a:p>
          <a:p>
            <a:r>
              <a:t>目安：2分／授業開始から 45〜47分</a:t>
            </a:r>
          </a:p>
          <a:p/>
          <a:p>
            <a:r>
              <a:t>記号や関係，ルールなどで知識を明示する考え方を説明する．事実の例は「室温が29度」，ルールの例は「室温が28度を超えたら換気を検討する」．この閾値は教材用で，実際の施設運用の基準ではない．</a:t>
            </a:r>
          </a:p>
          <a:p>
            <a:r>
              <a:t>機械で扱うには，室温の単位や換気という結論の意味などを明確にする必要がある．文字を保存するだけで内容を理解したことにはならない．推論は，こうして表した知識から結論を導く処理．</a:t>
            </a:r>
          </a:p>
          <a:p/>
          <a:p>
            <a:r>
              <a:t>参照資料（2026年10月7日確認）</a:t>
            </a:r>
          </a:p>
          <a:p>
            <a:r>
              <a:t>JDLA：G検定シラバス2024 第1.4版</a:t>
            </a:r>
          </a:p>
          <a:p>
            <a:r>
              <a:t>https://www.jdla.org/download/g%E6%A4%9C%E5%AE%9A%E3%81%AE%E8%A9%A6%E9%A8%93%E5%87%BA%E9%A1%8C%E7%AF%84%E5%9B%B2-%EF%BC%88%E3%82%B7%E3%83%A9%E3%83%90%E3%82%B9%EF%BC%89g20246%EF%BD%9Ev1-4/</a:t>
            </a:r>
          </a:p>
          <a:p>
            <a:r>
              <a:t>Noy &amp; McGuinness：Ontology Development 101</a:t>
            </a:r>
          </a:p>
          <a:p>
            <a:r>
              <a:t>https://protege.stanford.edu/publications/ontology_development/ontology101.pdf</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意味ネットワーク：概念を関係でつなぐ</a:t>
            </a:r>
          </a:p>
          <a:p>
            <a:r>
              <a:t>目安：3分／授業開始から 47〜50分</a:t>
            </a:r>
          </a:p>
          <a:p/>
          <a:p>
            <a:r>
              <a:t>意味ネットワークでは，概念や対象をノード，関係をラベル付きのリンクで表す．is-aは下位の種類から上位の種類へ，has-aは持つ対象へ，part-ofは部分から全体へ，という向きをこの図で確認する．</a:t>
            </a:r>
          </a:p>
          <a:p>
            <a:r>
              <a:t>注意：この教材ではhas-aを構成要素を持つ関係に絞って使う．has-aはより広い所有・属性の関係にも使われるため，全てのhas-aがpart-ofの逆とは限らない．クラス階層と個体の所属も区別する．図のis-aはクラス同士で，個体がクラスに属するinstance-ofとは別．</a:t>
            </a:r>
          </a:p>
          <a:p/>
          <a:p>
            <a:r>
              <a:t>参照資料（2026年10月7日確認）</a:t>
            </a:r>
          </a:p>
          <a:p>
            <a:r>
              <a:t>JDLA：G検定シラバス2024 第1.4版</a:t>
            </a:r>
          </a:p>
          <a:p>
            <a:r>
              <a:t>https://www.jdla.org/download/g%E6%A4%9C%E5%AE%9A%E3%81%AE%E8%A9%A6%E9%A8%93%E5%87%BA%E9%A1%8C%E7%AF%84%E5%9B%B2-%EF%BC%88%E3%82%B7%E3%83%A9%E3%83%90%E3%82%B9%EF%BC%89g20246%EF%BD%9Ev1-4/</a:t>
            </a:r>
          </a:p>
          <a:p>
            <a:r>
              <a:t>Noy &amp; McGuinness：Ontology Development 101</a:t>
            </a:r>
          </a:p>
          <a:p>
            <a:r>
              <a:t>https://protege.stanford.edu/publications/ontology_development/ontology101.pdf</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オントロジーとセマンティックWeb</a:t>
            </a:r>
          </a:p>
          <a:p>
            <a:r>
              <a:t>目安：3分／授業開始から 50〜53分</a:t>
            </a:r>
          </a:p>
          <a:p/>
          <a:p>
            <a:r>
              <a:t>オントロジーは概念・関係・制約などを明示し，共通の語彙を定義する．意味ネットワークの図は表現の一つで，図を描けば自動的にオントロジーの設計が完成するわけではない．</a:t>
            </a:r>
          </a:p>
          <a:p>
            <a:r>
              <a:t>セマンティックWebはWeb上の情報を機械で扱える意味・関係とともに共有する考え方．RDFとOWLはシラバスのこの節の必須キーワードではなく，理解の補足として示す．RDFは主語・述語・目的語の三つ組で事実を表せる．図の「学生Aは科目Xを履修する」は本教材の例で，実際の個人情報ではない．</a:t>
            </a:r>
          </a:p>
          <a:p/>
          <a:p>
            <a:r>
              <a:t>参照資料（2026年10月7日確認）</a:t>
            </a:r>
          </a:p>
          <a:p>
            <a:r>
              <a:t>Noy &amp; McGuinness：Ontology Development 101</a:t>
            </a:r>
          </a:p>
          <a:p>
            <a:r>
              <a:t>https://protege.stanford.edu/publications/ontology_development/ontology101.pdf</a:t>
            </a:r>
          </a:p>
          <a:p>
            <a:r>
              <a:t>W3C：RDF 1.1 Primer</a:t>
            </a:r>
          </a:p>
          <a:p>
            <a:r>
              <a:t>https://www.w3.org/TR/rdf11-primer/</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エキスパートシステム：知識と推論を分ける</a:t>
            </a:r>
          </a:p>
          <a:p>
            <a:r>
              <a:t>目安：2分／授業開始から 53〜55分</a:t>
            </a:r>
          </a:p>
          <a:p/>
          <a:p>
            <a:r>
              <a:t>特定領域の専門家の知識を使い，判断や助言を行うシステム．知識ベースは専門知識やルール，推論エンジンはその適用手続き．作業記憶は現在の入力や途中で得た事実を保持する．</a:t>
            </a:r>
          </a:p>
          <a:p>
            <a:r>
              <a:t>この図は代表的なルールベース構成を簡略化したもの．全ての歴史的システムが同一の構造という意味ではない．専門知識の更新と推論手続きの変更を分けて考えられる点を説明する．</a:t>
            </a:r>
          </a:p>
          <a:p/>
          <a:p>
            <a:r>
              <a:t>参照資料（2026年10月7日確認）</a:t>
            </a:r>
          </a:p>
          <a:p>
            <a:r>
              <a:t>Feigenbaum：Personal Commentary</a:t>
            </a:r>
          </a:p>
          <a:p>
            <a:r>
              <a:t>https://cs.stanford.edu/people/eaf/wordpress/eaf-commentary/</a:t>
            </a:r>
          </a:p>
          <a:p>
            <a:r>
              <a:t>McCarthy（1983）：Some Expert Systems Need Common Sense</a:t>
            </a:r>
          </a:p>
          <a:p>
            <a:r>
              <a:t>https://www-formal.stanford.edu/jmc/someneed/someneed.html</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ルールによる推論：前向きと後ろ向き</a:t>
            </a:r>
          </a:p>
          <a:p>
            <a:r>
              <a:t>目安：3分／授業開始から 55〜58分</a:t>
            </a:r>
          </a:p>
          <a:p/>
          <a:p>
            <a:r>
              <a:t>教材用ルールR1：高温なら換気候補．R2：換気候補かつ在室なら通知．事実は高温と在室．前向き推論は既知の事実を出発点にして適用できる規則で結論を増やす．後ろ向き推論は「通知できるか」という目標を出発点に，必要な条件を順に確かめる．</a:t>
            </a:r>
          </a:p>
          <a:p>
            <a:r>
              <a:t>後ろ向きでも論理的な含意の向きを逆にするわけではない．「通知だから在室」と結論するのではなく，通知を導くための前提を探す．ここは学生が誤解しやすいため強調する．</a:t>
            </a:r>
          </a:p>
          <a:p/>
          <a:p>
            <a:r>
              <a:t>参照資料（2026年10月7日確認）</a:t>
            </a:r>
          </a:p>
          <a:p>
            <a:r>
              <a:t>JDLA：G検定シラバス2024 第1.4版</a:t>
            </a:r>
          </a:p>
          <a:p>
            <a:r>
              <a:t>https://www.jdla.org/download/g%E6%A4%9C%E5%AE%9A%E3%81%AE%E8%A9%A6%E9%A8%93%E5%87%BA%E9%A1%8C%E7%AF%84%E5%9B%B2-%EF%BC%88%E3%82%B7%E3%83%A9%E3%83%90%E3%82%B9%EF%BC%89g20246%EF%BD%9Ev1-4/</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演習2：ルールを使って結論を導く</a:t>
            </a:r>
          </a:p>
          <a:p>
            <a:r>
              <a:t>目安：3分／授業開始から 58〜61分</a:t>
            </a:r>
          </a:p>
          <a:p/>
          <a:p>
            <a:r>
              <a:t>事実「煙がある」「高温である」と，R1からR3の規則だけを使う．実際の防災判断の基準ではなく，論理を追う教材用の作例．前向きで何が導かれるか，後ろ向きで通知を判断するために何を確認するかをペアで話す．</a:t>
            </a:r>
          </a:p>
          <a:p>
            <a:r>
              <a:t>正答：R1で異常候補，R2で要点検，R3で担当者へ通知．後ろ向きは通知→要点検→異常候補と高温→煙と高温を確認する．</a:t>
            </a:r>
          </a:p>
          <a:p/>
          <a:p>
            <a:r>
              <a:t>参照資料（2026年10月7日確認）</a:t>
            </a:r>
          </a:p>
          <a:p>
            <a:r>
              <a:t>第1回資料と本教材のために作成した例・設問．</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演習2：解答</a:t>
            </a:r>
          </a:p>
          <a:p>
            <a:r>
              <a:t>目安：1分／授業開始から 61〜62分</a:t>
            </a:r>
          </a:p>
          <a:p/>
          <a:p>
            <a:r>
              <a:t>R2は両方の条件を満たす必要がある．もし高温の事実が与えられていなければ，このルールだけでは要点検や通知を導けない．「高温の情報がない」と「高温ではない」は同じではない．知らない事実を勝手に補わないことを説明する．</a:t>
            </a:r>
          </a:p>
          <a:p/>
          <a:p>
            <a:r>
              <a:t>参照資料（2026年10月7日確認）</a:t>
            </a:r>
          </a:p>
          <a:p>
            <a:r>
              <a:t>第1回資料と本教材のために作成した例・設問．</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DENDRALとMYCIN：領域を絞った専門知識</a:t>
            </a:r>
          </a:p>
          <a:p>
            <a:r>
              <a:t>目安：2分／授業開始から 62〜64分</a:t>
            </a:r>
          </a:p>
          <a:p/>
          <a:p>
            <a:r>
              <a:t>DENDRALは質量分析などから有機化合物の構造を推定する研究で，1960年代に始まった．MYCINは1970年代の，細菌感染に関する診断や抗菌薬選択を支援する研究．専門家の知識を規則などで扱う代表例として整理する．</a:t>
            </a:r>
          </a:p>
          <a:p>
            <a:r>
              <a:t>MYCINの確信度（certainty factor）は不確実性を扱う補足．単純な確率そのものとは区別する．現在の医療でそのまま用いることや，一般のあらゆる病気を診断できることを意味しない．歴史的研究の説明に留める．</a:t>
            </a:r>
          </a:p>
          <a:p/>
          <a:p>
            <a:r>
              <a:t>参照資料（2026年10月7日確認）</a:t>
            </a:r>
          </a:p>
          <a:p>
            <a:r>
              <a:t>Feigenbaum：Personal Commentary</a:t>
            </a:r>
          </a:p>
          <a:p>
            <a:r>
              <a:t>https://cs.stanford.edu/people/eaf/wordpress/eaf-commentary/</a:t>
            </a:r>
          </a:p>
          <a:p>
            <a:r>
              <a:t>McCarthy（1983）：Some Expert Systems Need Common Sense</a:t>
            </a:r>
          </a:p>
          <a:p>
            <a:r>
              <a:t>https://www-formal.stanford.edu/jmc/someneed/someneed.html</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知識獲得：どこから知識を集めるか</a:t>
            </a:r>
          </a:p>
          <a:p>
            <a:r>
              <a:t>目安：2分／授業開始から 64〜66分</a:t>
            </a:r>
          </a:p>
          <a:p/>
          <a:p>
            <a:r>
              <a:t>専門家への聞き取りでは，例・判断理由・例外を確認してルールとして整理する．インタビューシステムは対話によって専門家の知識を取り出す作業を支援するもの．データマイニングはデータに潜むパターンを探し，ウェブマイニングはWeb上の文書・リンク・利用記録などを対象にする．</a:t>
            </a:r>
          </a:p>
          <a:p>
            <a:r>
              <a:t>これらは全て古典的エキスパートシステムの必須構成という意味ではなく，知識・情報を獲得する関連方法．抽出されたパターンが因果関係や正しい専門知識であるとは限らず，確認が必要．</a:t>
            </a:r>
          </a:p>
          <a:p/>
          <a:p>
            <a:r>
              <a:t>参照資料（2026年10月7日確認）</a:t>
            </a:r>
          </a:p>
          <a:p>
            <a:r>
              <a:t>JDLA：G検定シラバス2024 第1.4版</a:t>
            </a:r>
          </a:p>
          <a:p>
            <a:r>
              <a:t>https://www.jdla.org/download/g%E6%A4%9C%E5%AE%9A%E3%81%AE%E8%A9%A6%E9%A8%93%E5%87%BA%E9%A1%8C%E7%AF%84%E5%9B%B2-%EF%BC%88%E3%82%B7%E3%83%A9%E3%83%90%E3%82%B9%EF%BC%89g20246%EF%BD%9Ev1-4/</a:t>
            </a:r>
          </a:p>
          <a:p>
            <a:r>
              <a:t>Feigenbaum：Personal Commentary</a:t>
            </a:r>
          </a:p>
          <a:p>
            <a:r>
              <a:t>https://cs.stanford.edu/people/eaf/wordpress/eaf-commentary/</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知識獲得のボトルネックとCycプロジェクト</a:t>
            </a:r>
          </a:p>
          <a:p>
            <a:r>
              <a:t>目安：2分／授業開始から 66〜68分</a:t>
            </a:r>
          </a:p>
          <a:p/>
          <a:p>
            <a:r>
              <a:t>専門家が言葉にできない暗黙知，例外の増加，異なる専門家の判断の不一致，知識の更新・整合性管理などが，知識を増やす際の負担になる．知識獲得のボトルネックは単に計算機の速度の問題ではない．</a:t>
            </a:r>
          </a:p>
          <a:p>
            <a:r>
              <a:t>Cycは常識的な概念や関係，規則を知識ベースに蓄積する長期的な試み．「世界の全ての常識を完成させた」といった説明はしない．知識を大量に書けば一般的な知能が自動的に成立するわけでもない．</a:t>
            </a:r>
          </a:p>
          <a:p/>
          <a:p>
            <a:r>
              <a:t>参照資料（2026年10月7日確認）</a:t>
            </a:r>
          </a:p>
          <a:p>
            <a:r>
              <a:t>Feigenbaum：Personal Commentary</a:t>
            </a:r>
          </a:p>
          <a:p>
            <a:r>
              <a:t>https://cs.stanford.edu/people/eaf/wordpress/eaf-commentary/</a:t>
            </a:r>
          </a:p>
          <a:p>
            <a:r>
              <a:t>Cyc：FAQ／常識知識と推論</a:t>
            </a:r>
          </a:p>
          <a:p>
            <a:r>
              <a:t>https://cyc.com/faq/</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Question-Answering：問いに答えるシステム</a:t>
            </a:r>
          </a:p>
          <a:p>
            <a:r>
              <a:t>目安：2分／授業開始から 68〜70分</a:t>
            </a:r>
          </a:p>
          <a:p/>
          <a:p>
            <a:r>
              <a:t>Question-Answering（QA）は自然言語の問いに対し，知識や文書などから答えを求める課題．会話の形式と，質問に対して根拠のある答えを出す能力を区別する．</a:t>
            </a:r>
          </a:p>
          <a:p>
            <a:r>
              <a:t>WatsonはIBMのQAシステムで，2011年にJeopardy!で人間の代表選手に勝利した．自然言語処理，情報検索，回答候補の評価など複数技術を組み合わせており，純粋なルールだけのシステムと説明しない．東ロボくんはNIIが中心となり大学入試をベンチマークにした研究プロジェクト．入試全体の目標と個々の科目の成果を混同しない．</a:t>
            </a:r>
          </a:p>
          <a:p/>
          <a:p>
            <a:r>
              <a:t>参照資料（2026年10月7日確認）</a:t>
            </a:r>
          </a:p>
          <a:p>
            <a:r>
              <a:t>IBM：Watson, Jeopardy! champion</a:t>
            </a:r>
          </a:p>
          <a:p>
            <a:r>
              <a:t>https://www.ibm.com/history/watson-jeopardy</a:t>
            </a:r>
          </a:p>
          <a:p>
            <a:r>
              <a:t>国立情報学研究所：東ロボくんの研究発表</a:t>
            </a:r>
          </a:p>
          <a:p>
            <a:r>
              <a:t>https://www.nii.ac.jp/news/release/2013/1125.html</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ELIZA（イライザ）：対話らしさと理解</a:t>
            </a:r>
          </a:p>
          <a:p>
            <a:r>
              <a:t>目安：1分／授業開始から 70〜71分</a:t>
            </a:r>
          </a:p>
          <a:p/>
          <a:p>
            <a:r>
              <a:t>Weizenbaumが1966年に発表したELIZA．語句のパターンや応答の組み換えを利用して会話を行う．有名なDOCTORスクリプトは利用者の言葉を受けて質問を返す．例は教材用に作った日本語の模式例で，原論文の対話や実際のELIZAの日本語出力ではない．</a:t>
            </a:r>
          </a:p>
          <a:p>
            <a:r>
              <a:t>第1回のチューリングテスト，中国語の部屋とつなぎ，対話が自然に見えることと，対象についての知識や意味理解を備えることは同じ評価軸ではないと確認する．</a:t>
            </a:r>
          </a:p>
          <a:p/>
          <a:p>
            <a:r>
              <a:t>参照資料（2026年10月7日確認）</a:t>
            </a:r>
          </a:p>
          <a:p>
            <a:r>
              <a:t>Weizenbaum（1966）：ELIZA</a:t>
            </a:r>
          </a:p>
          <a:p>
            <a:r>
              <a:t>https://doi.org/10.1145/365153.365168</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ルールベースと機械学習を比較する</a:t>
            </a:r>
          </a:p>
          <a:p>
            <a:r>
              <a:t>目安：2分／授業開始から 71〜73分</a:t>
            </a:r>
          </a:p>
          <a:p/>
          <a:p>
            <a:r>
              <a:t>同じ問題を解く場合でも，ルールベースでは人が判断規則を明示し，機械学習では学習データからモデルのパラメータや規則性を得る．ここでの比較は典型的な違い．機械学習でも人が目的，入力，学習方法，評価などを設計する．</a:t>
            </a:r>
          </a:p>
          <a:p>
            <a:r>
              <a:t>ルールの根拠を追いやすい利点はあるが，ルール自体が誤れば結論も誤る．機械学習の汎化能力も学習・評価の条件次第．実際にはルール，検索，機械学習を組み合わせることもある．次の学習で教師あり・教師なし・強化学習の基礎へ進む足場にする．</a:t>
            </a:r>
          </a:p>
          <a:p/>
          <a:p>
            <a:r>
              <a:t>参照資料（2026年10月7日確認）</a:t>
            </a:r>
          </a:p>
          <a:p>
            <a:r>
              <a:t>JDLA：G検定シラバス2024 第1.4版</a:t>
            </a:r>
          </a:p>
          <a:p>
            <a:r>
              <a:t>https://www.jdla.org/download/g%E6%A4%9C%E5%AE%9A%E3%81%AE%E8%A9%A6%E9%A8%93%E5%87%BA%E9%A1%8C%E7%AF%84%E5%9B%B2-%EF%BC%88%E3%82%B7%E3%83%A9%E3%83%90%E3%82%B9%EF%BC%89g20246%EF%BD%9Ev1-4/</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混同しやすい用語を整理する</a:t>
            </a:r>
          </a:p>
          <a:p>
            <a:r>
              <a:t>目安：2分／授業開始から 73〜75分</a:t>
            </a:r>
          </a:p>
          <a:p/>
          <a:p>
            <a:r>
              <a:t>学生に各行を一言で説明してもらう．αβ法は同じ計算の結果を保って枝を省き，モンテカルロ法は試行による近似．STRIPSは計画，SHRDLUは限定領域の自然言語理解システム．is-aは種類，part-ofは部分．各システムの名前と用途を対応させる．</a:t>
            </a:r>
          </a:p>
          <a:p>
            <a:r>
              <a:t>公式の該当キーワードは，全て本資料内で扱っている．詳細な数学や実装は発展学習としてよい．</a:t>
            </a:r>
          </a:p>
          <a:p/>
          <a:p>
            <a:r>
              <a:t>参照資料（2026年10月7日確認）</a:t>
            </a:r>
          </a:p>
          <a:p>
            <a:r>
              <a:t>JDLA：G検定シラバス2024 第1.4版</a:t>
            </a:r>
          </a:p>
          <a:p>
            <a:r>
              <a:t>https://www.jdla.org/download/g%E6%A4%9C%E5%AE%9A%E3%81%AE%E8%A9%A6%E9%A8%93%E5%87%BA%E9%A1%8C%E7%AF%84%E5%9B%B2-%EF%BC%88%E3%82%B7%E3%83%A9%E3%83%90%E3%82%B9%EF%BC%89g20246%EF%BD%9Ev1-4/</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今日のまとめ：三つの問いで説明する</a:t>
            </a:r>
          </a:p>
          <a:p>
            <a:r>
              <a:t>目安：2分／授業開始から 75〜77分</a:t>
            </a:r>
          </a:p>
          <a:p/>
          <a:p>
            <a:r>
              <a:t>用語を列挙するだけでなく，「何を候補としているか」「どう判断するか」「何が難しいか」で手法を説明する練習をする．学生を数人指名し，それぞれ一つの手法について答えてもらう．</a:t>
            </a:r>
          </a:p>
          <a:p>
            <a:r>
              <a:t>探索と推論は組み合わせられる．ゲームで候補の手を探索し，知識や評価を使って手を選ぶこともできる．探索・知識・学習を相互に排他的な分類として固定しない．</a:t>
            </a:r>
          </a:p>
          <a:p/>
          <a:p>
            <a:r>
              <a:t>参照資料（2026年10月7日確認）</a:t>
            </a:r>
          </a:p>
          <a:p>
            <a:r>
              <a:t>第1回資料と本教材のために作成した例・設問．</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最終確認：選択肢と理由を答える</a:t>
            </a:r>
          </a:p>
          <a:p>
            <a:r>
              <a:t>目安：5分／授業開始から 77〜82分</a:t>
            </a:r>
          </a:p>
          <a:p/>
          <a:p>
            <a:r>
              <a:t>3問のオリジナル確認問題．公式問題ではない．個人で2分，隣同士で根拠を説明2分，全体で確認1分．</a:t>
            </a:r>
          </a:p>
          <a:p>
            <a:r>
              <a:t>講師用正答：①A，②B，③B．①の最小コストの保証は有限の分岐と有限深さの解を前提にし，枝のコストが等しい場合．②は同じ探索深さ・評価関数を条件とする．③は知識を明文化して集め，更新し続ける難しさ．</a:t>
            </a:r>
          </a:p>
          <a:p/>
          <a:p>
            <a:r>
              <a:t>参照資料（2026年10月7日確認）</a:t>
            </a:r>
          </a:p>
          <a:p>
            <a:r>
              <a:t>第1回資料と本教材のために作成した例・設問．</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最終確認：解答と解説</a:t>
            </a:r>
          </a:p>
          <a:p>
            <a:r>
              <a:t>目安：3分／授業開始から 82〜85分</a:t>
            </a:r>
          </a:p>
          <a:p/>
          <a:p>
            <a:r>
              <a:t>正答を答えるだけでなく誤答の理由を確認する．①最深の解を優先するのは深さ優先の方向で，最小コストと無関係．②試行で値を推定するのはモンテカルロ法．③計算資源の不足と，知識を集めて表す難しさは異なる課題．</a:t>
            </a:r>
          </a:p>
          <a:p>
            <a:r>
              <a:t>追加口頭質問：MYCINの主な領域は何か，has-aとis-aはどう違うか，後ろ向き推論は何から始めるか．正答：細菌感染に関する医療支援，所有・構成と種類，目標．</a:t>
            </a:r>
          </a:p>
          <a:p/>
          <a:p>
            <a:r>
              <a:t>参照資料（2026年10月7日確認）</a:t>
            </a:r>
          </a:p>
          <a:p>
            <a:r>
              <a:t>第1回資料と本教材のために作成した例・設問．</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振り返りと復習</a:t>
            </a:r>
          </a:p>
          <a:p>
            <a:r>
              <a:t>目安：5分／授業開始から 85〜90分</a:t>
            </a:r>
          </a:p>
          <a:p/>
          <a:p>
            <a:r>
              <a:t>最初の2分で復習課題を説明し，残り3分で出口課題を書かせる．出口課題：幅優先と深さ優先の違いを一文，知識獲得の課題を一文．この場で提出するかは講師の運用に合わせる．</a:t>
            </a:r>
          </a:p>
          <a:p>
            <a:r>
              <a:t>復習：演習1の目標をFに変えて訪問順序を書き直す．正答はBFS S,A,B,C,D,E,F，DFS S,A,C,G,H,D,B,E,F．演習2で高温の事実を外すと，異常候補までで，ルールだけでは通知を導けない．第1回のOCRは問題17〜23がAIの歴史・専門家システムに関連するため復習に利用できる．</a:t>
            </a:r>
          </a:p>
          <a:p>
            <a:r>
              <a:t>次に学ぶ機械学習では，データから判断規則を得る方法を考える．</a:t>
            </a:r>
          </a:p>
          <a:p/>
          <a:p>
            <a:r>
              <a:t>参照資料（2026年10月7日確認）</a:t>
            </a:r>
          </a:p>
          <a:p>
            <a:r>
              <a:t>第1回資料と本教材のために作成した例・設問．</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参考資料1：シラバス・探索・計画</a:t>
            </a:r>
          </a:p>
          <a:p>
            <a:r>
              <a:t>付録：授業時間には含めない</a:t>
            </a:r>
          </a:p>
          <a:p/>
          <a:p>
            <a:r>
              <a:t>参考資料のタイトルをクリックすると一次資料・大学公式教材へ移動する．表示内容は出典を要約して講義向けに構成したもの．図と数値，設問は本教材の作例．書籍ページ画像や原論文の図の転載は行っていない．公式シラバスは改訂され得るので，受験時にはJDLAの公開ページで確認する．</a:t>
            </a:r>
          </a:p>
          <a:p/>
          <a:p>
            <a:r>
              <a:t>参照資料（2026年10月7日確認）</a:t>
            </a:r>
          </a:p>
          <a:p>
            <a:r>
              <a:t>JDLA：G検定シラバス2024 第1.4版</a:t>
            </a:r>
          </a:p>
          <a:p>
            <a:r>
              <a:t>https://www.jdla.org/download/g%E6%A4%9C%E5%AE%9A%E3%81%AE%E8%A9%A6%E9%A8%93%E5%87%BA%E9%A1%8C%E7%AF%84%E5%9B%B2-%EF%BC%88%E3%82%B7%E3%83%A9%E3%83%90%E3%82%B9%EF%BC%89g20246%EF%BD%9Ev1-4/</a:t>
            </a:r>
          </a:p>
          <a:p>
            <a:r>
              <a:t>UC Berkeley CS188：Uninformed Search</a:t>
            </a:r>
          </a:p>
          <a:p>
            <a:r>
              <a:t>https://inst.eecs.berkeley.edu/~cs188/textbook/search/uninformed.html</a:t>
            </a:r>
          </a:p>
          <a:p>
            <a:r>
              <a:t>UC Berkeley CS188：Minimax／Alpha-Beta Pruning</a:t>
            </a:r>
          </a:p>
          <a:p>
            <a:r>
              <a:t>https://inst.eecs.berkeley.edu/~cs188/textbook/games/minimax.html</a:t>
            </a:r>
          </a:p>
          <a:p>
            <a:r>
              <a:t>UC Berkeley CS188：Monte Carlo Tree Search</a:t>
            </a:r>
          </a:p>
          <a:p>
            <a:r>
              <a:t>https://inst.eecs.berkeley.edu/~cs188/textbook/games/monte-carlo.html</a:t>
            </a:r>
          </a:p>
          <a:p>
            <a:r>
              <a:t>Fikes &amp; Nilsson（1971）：STRIPS</a:t>
            </a:r>
          </a:p>
          <a:p>
            <a:r>
              <a:t>https://doi.org/10.1016/0004-3702(71)90010-5</a:t>
            </a:r>
          </a:p>
          <a:p>
            <a:r>
              <a:t>Winograd（1972）：Understanding Natural Language</a:t>
            </a:r>
          </a:p>
          <a:p>
            <a:r>
              <a:t>https://doi.org/10.1016/0010-0285(72)90002-3</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参考資料2：知識表現・関連システム</a:t>
            </a:r>
          </a:p>
          <a:p>
            <a:r>
              <a:t>付録：授業時間には含めない</a:t>
            </a:r>
          </a:p>
          <a:p/>
          <a:p>
            <a:r>
              <a:t>以下は大学，標準化団体，研究者，開発主体の資料．各スライドの講師用ノートにも対応するリンクを記載した．オントロジーの原著資料，W3CのRDF解説，歴史的研究者の記録，Watsonと東ロボくんの公式情報を参照．ELIZAはWeizenbaumの原論文．</a:t>
            </a:r>
          </a:p>
          <a:p/>
          <a:p>
            <a:r>
              <a:t>参照資料（2026年10月7日確認）</a:t>
            </a:r>
          </a:p>
          <a:p>
            <a:r>
              <a:t>Noy &amp; McGuinness：Ontology Development 101</a:t>
            </a:r>
          </a:p>
          <a:p>
            <a:r>
              <a:t>https://protege.stanford.edu/publications/ontology_development/ontology101.pdf</a:t>
            </a:r>
          </a:p>
          <a:p>
            <a:r>
              <a:t>W3C：RDF 1.1 Primer</a:t>
            </a:r>
          </a:p>
          <a:p>
            <a:r>
              <a:t>https://www.w3.org/TR/rdf11-primer/</a:t>
            </a:r>
          </a:p>
          <a:p>
            <a:r>
              <a:t>Feigenbaum：Personal Commentary</a:t>
            </a:r>
          </a:p>
          <a:p>
            <a:r>
              <a:t>https://cs.stanford.edu/people/eaf/wordpress/eaf-commentary/</a:t>
            </a:r>
          </a:p>
          <a:p>
            <a:r>
              <a:t>McCarthy（1983）：Some Expert Systems Need Common Sense</a:t>
            </a:r>
          </a:p>
          <a:p>
            <a:r>
              <a:t>https://www-formal.stanford.edu/jmc/someneed/someneed.html</a:t>
            </a:r>
          </a:p>
          <a:p>
            <a:r>
              <a:t>Cyc：FAQ／常識知識と推論</a:t>
            </a:r>
          </a:p>
          <a:p>
            <a:r>
              <a:t>https://cyc.com/faq/</a:t>
            </a:r>
          </a:p>
          <a:p>
            <a:r>
              <a:t>IBM：Watson, Jeopardy! champion</a:t>
            </a:r>
          </a:p>
          <a:p>
            <a:r>
              <a:t>https://www.ibm.com/history/watson-jeopardy</a:t>
            </a:r>
          </a:p>
          <a:p>
            <a:r>
              <a:t>国立情報学研究所：東ロボくんの研究発表</a:t>
            </a:r>
          </a:p>
          <a:p>
            <a:r>
              <a:t>https://www.nii.ac.jp/news/release/2013/1125.html</a:t>
            </a:r>
          </a:p>
          <a:p>
            <a:r>
              <a:t>Weizenbaum（1966）：ELIZA</a:t>
            </a:r>
          </a:p>
          <a:p>
            <a:r>
              <a:t>https://doi.org/10.1145/365153.365168</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j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0.xml"/><Relationship Id="rId3" Type="http://schemas.openxmlformats.org/officeDocument/2006/relationships/hyperlink" Target="https://www.jdla.org/download/g%E6%A4%9C%E5%AE%9A%E3%81%AE%E8%A9%A6%E9%A8%93%E5%87%BA%E9%A1%8C%E7%AF%84%E5%9B%B2-%EF%BC%88%E3%82%B7%E3%83%A9%E3%83%90%E3%82%B9%EF%BC%89g20246%EF%BD%9Ev1-4/" TargetMode="External"/><Relationship Id="rId4" Type="http://schemas.openxmlformats.org/officeDocument/2006/relationships/hyperlink" Target="https://inst.eecs.berkeley.edu/~cs188/textbook/search/uninformed.html" TargetMode="External"/><Relationship Id="rId5" Type="http://schemas.openxmlformats.org/officeDocument/2006/relationships/hyperlink" Target="https://inst.eecs.berkeley.edu/~cs188/textbook/games/minimax.html" TargetMode="External"/><Relationship Id="rId6" Type="http://schemas.openxmlformats.org/officeDocument/2006/relationships/hyperlink" Target="https://inst.eecs.berkeley.edu/~cs188/textbook/games/monte-carlo.html" TargetMode="External"/><Relationship Id="rId7" Type="http://schemas.openxmlformats.org/officeDocument/2006/relationships/hyperlink" Target="https://doi.org/10.1016/0004-3702(71)90010-5" TargetMode="External"/><Relationship Id="rId8" Type="http://schemas.openxmlformats.org/officeDocument/2006/relationships/hyperlink" Target="https://doi.org/10.1016/0010-0285(72)90002-3"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1.xml"/><Relationship Id="rId3" Type="http://schemas.openxmlformats.org/officeDocument/2006/relationships/hyperlink" Target="https://protege.stanford.edu/publications/ontology_development/ontology101.pdf" TargetMode="External"/><Relationship Id="rId4" Type="http://schemas.openxmlformats.org/officeDocument/2006/relationships/hyperlink" Target="https://www.w3.org/TR/rdf11-primer/" TargetMode="External"/><Relationship Id="rId5" Type="http://schemas.openxmlformats.org/officeDocument/2006/relationships/hyperlink" Target="https://cs.stanford.edu/people/eaf/wordpress/eaf-commentary/" TargetMode="External"/><Relationship Id="rId6" Type="http://schemas.openxmlformats.org/officeDocument/2006/relationships/hyperlink" Target="https://www-formal.stanford.edu/jmc/someneed/someneed.html" TargetMode="External"/><Relationship Id="rId7" Type="http://schemas.openxmlformats.org/officeDocument/2006/relationships/hyperlink" Target="https://cyc.com/faq/" TargetMode="External"/><Relationship Id="rId8" Type="http://schemas.openxmlformats.org/officeDocument/2006/relationships/hyperlink" Target="https://www.ibm.com/history/watson-jeopardy" TargetMode="External"/><Relationship Id="rId9" Type="http://schemas.openxmlformats.org/officeDocument/2006/relationships/hyperlink" Target="https://www.nii.ac.jp/news/release/2013/1125.html" TargetMode="External"/><Relationship Id="rId10" Type="http://schemas.openxmlformats.org/officeDocument/2006/relationships/hyperlink" Target="https://doi.org/10.1145/365153.365168"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導入　1</a:t>
            </a:r>
            <a:endParaRPr lang="ja-JP" sz="1050"/>
          </a:p>
        </p:txBody>
      </p:sp>
      <p:sp>
        <p:nvSpPr>
          <p:cNvPr id="5" name="TextBox 4"/>
          <p:cNvSpPr txBox="1"/>
          <p:nvPr/>
        </p:nvSpPr>
        <p:spPr>
          <a:xfrm>
            <a:off x="310896" y="740664"/>
            <a:ext cx="8522208" cy="2048256"/>
          </a:xfrm>
          <a:prstGeom prst="rect">
            <a:avLst/>
          </a:prstGeom>
          <a:noFill/>
        </p:spPr>
        <p:txBody>
          <a:bodyPr wrap="square" anchor="t" lIns="0" rIns="0" tIns="0" bIns="0">
            <a:noAutofit/>
          </a:bodyPr>
          <a:lstStyle/>
          <a:p>
            <a:pPr algn="ctr">
              <a:lnSpc>
                <a:spcPct val="113000"/>
              </a:lnSpc>
              <a:spcAft>
                <a:spcPts val="0"/>
              </a:spcAft>
            </a:pPr>
            <a:r>
              <a:rPr sz="4400" b="0" lang="ja-JP">
                <a:solidFill>
                  <a:srgbClr val="000000"/>
                </a:solidFill>
                <a:latin typeface="Arial"/>
                <a:ea typeface="ＭＳ Ｐゴシック"/>
                <a:cs typeface="ＭＳ Ｐゴシック"/>
              </a:rPr>
              <a:t>情報技術者（民間資格）2</a:t>
            </a:r>
            <a:endParaRPr lang="ja-JP" sz="4400"/>
          </a:p>
          <a:p>
            <a:pPr algn="ctr">
              <a:lnSpc>
                <a:spcPct val="113000"/>
              </a:lnSpc>
              <a:spcAft>
                <a:spcPts val="0"/>
              </a:spcAft>
            </a:pPr>
            <a:r>
              <a:rPr sz="4400" b="0" lang="ja-JP">
                <a:solidFill>
                  <a:srgbClr val="000000"/>
                </a:solidFill>
                <a:latin typeface="Arial"/>
                <a:ea typeface="ＭＳ Ｐゴシック"/>
                <a:cs typeface="ＭＳ Ｐゴシック"/>
              </a:rPr>
              <a:t>G検定</a:t>
            </a:r>
            <a:endParaRPr lang="ja-JP" sz="4400"/>
          </a:p>
        </p:txBody>
      </p:sp>
      <p:sp>
        <p:nvSpPr>
          <p:cNvPr id="6" name="TextBox 5"/>
          <p:cNvSpPr txBox="1"/>
          <p:nvPr/>
        </p:nvSpPr>
        <p:spPr>
          <a:xfrm>
            <a:off x="457200" y="2907792"/>
            <a:ext cx="8229600" cy="1097280"/>
          </a:xfrm>
          <a:prstGeom prst="rect">
            <a:avLst/>
          </a:prstGeom>
          <a:noFill/>
        </p:spPr>
        <p:txBody>
          <a:bodyPr wrap="square" anchor="t" lIns="0" rIns="0" tIns="0" bIns="0">
            <a:noAutofit/>
          </a:bodyPr>
          <a:lstStyle/>
          <a:p>
            <a:pPr algn="ctr">
              <a:lnSpc>
                <a:spcPct val="113000"/>
              </a:lnSpc>
              <a:spcAft>
                <a:spcPts val="0"/>
              </a:spcAft>
            </a:pPr>
            <a:r>
              <a:rPr sz="2700" b="0" lang="ja-JP">
                <a:solidFill>
                  <a:srgbClr val="FF0000"/>
                </a:solidFill>
                <a:latin typeface="Arial"/>
                <a:ea typeface="ＭＳ Ｐゴシック"/>
                <a:cs typeface="ＭＳ Ｐゴシック"/>
              </a:rPr>
              <a:t>探索・推論と知識表現</a:t>
            </a:r>
            <a:endParaRPr lang="ja-JP" sz="2700"/>
          </a:p>
          <a:p>
            <a:pPr algn="ctr">
              <a:lnSpc>
                <a:spcPct val="113000"/>
              </a:lnSpc>
              <a:spcAft>
                <a:spcPts val="0"/>
              </a:spcAft>
            </a:pPr>
            <a:r>
              <a:rPr sz="2700" b="0" lang="ja-JP">
                <a:solidFill>
                  <a:srgbClr val="FF0000"/>
                </a:solidFill>
                <a:latin typeface="Arial"/>
                <a:ea typeface="ＭＳ Ｐゴシック"/>
                <a:cs typeface="ＭＳ Ｐゴシック"/>
              </a:rPr>
              <a:t>エキスパートシステム</a:t>
            </a:r>
            <a:endParaRPr lang="ja-JP" sz="2700"/>
          </a:p>
        </p:txBody>
      </p:sp>
      <p:sp>
        <p:nvSpPr>
          <p:cNvPr id="7" name="TextBox 6"/>
          <p:cNvSpPr txBox="1"/>
          <p:nvPr/>
        </p:nvSpPr>
        <p:spPr>
          <a:xfrm>
            <a:off x="457200" y="4297680"/>
            <a:ext cx="8229600" cy="274320"/>
          </a:xfrm>
          <a:prstGeom prst="rect">
            <a:avLst/>
          </a:prstGeom>
          <a:noFill/>
        </p:spPr>
        <p:txBody>
          <a:bodyPr wrap="square" anchor="t" lIns="0" rIns="0" tIns="0" bIns="0">
            <a:noAutofit/>
          </a:bodyPr>
          <a:lstStyle/>
          <a:p>
            <a:pPr algn="ctr">
              <a:lnSpc>
                <a:spcPct val="113000"/>
              </a:lnSpc>
              <a:spcAft>
                <a:spcPts val="0"/>
              </a:spcAft>
            </a:pPr>
            <a:r>
              <a:rPr sz="1600" b="0" lang="ja-JP">
                <a:solidFill>
                  <a:srgbClr val="707070"/>
                </a:solidFill>
                <a:latin typeface="Arial"/>
                <a:ea typeface="ＭＳ Ｐゴシック"/>
                <a:cs typeface="ＭＳ Ｐゴシック"/>
              </a:rPr>
              <a:t>第2回 ／ 90分</a:t>
            </a:r>
            <a:endParaRPr lang="ja-JP" sz="16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今日の到達目標</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参照：JDLA</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導入　2</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幅優先探索と深さ優先探索</a:t>
            </a:r>
            <a:r>
              <a:rPr sz="2000" b="0" lang="ja-JP">
                <a:solidFill>
                  <a:srgbClr val="404040"/>
                </a:solidFill>
                <a:latin typeface="Arial"/>
                <a:ea typeface="ＭＳ Ｐゴシック"/>
                <a:cs typeface="ＭＳ Ｐゴシック"/>
              </a:rPr>
              <a:t>を，探索順序で比較する．</a:t>
            </a:r>
            <a:endParaRPr lang="ja-JP" sz="2000"/>
          </a:p>
        </p:txBody>
      </p:sp>
      <p:sp>
        <p:nvSpPr>
          <p:cNvPr id="7" name="TextBox 6"/>
          <p:cNvSpPr txBox="1"/>
          <p:nvPr/>
        </p:nvSpPr>
        <p:spPr>
          <a:xfrm>
            <a:off x="502920" y="194310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11095"/>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Mini-Max法とαβ法</a:t>
            </a:r>
            <a:r>
              <a:rPr sz="2000" b="0" lang="ja-JP">
                <a:solidFill>
                  <a:srgbClr val="404040"/>
                </a:solidFill>
                <a:latin typeface="Arial"/>
                <a:ea typeface="ＭＳ Ｐゴシック"/>
                <a:cs typeface="ＭＳ Ｐゴシック"/>
              </a:rPr>
              <a:t>の計算を小さな探索木で追う．</a:t>
            </a:r>
            <a:endParaRPr lang="ja-JP" sz="2000"/>
          </a:p>
        </p:txBody>
      </p:sp>
      <p:sp>
        <p:nvSpPr>
          <p:cNvPr id="9" name="TextBox 8"/>
          <p:cNvSpPr txBox="1"/>
          <p:nvPr/>
        </p:nvSpPr>
        <p:spPr>
          <a:xfrm>
            <a:off x="502920" y="266547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33472"/>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意味ネットワークとルール</a:t>
            </a:r>
            <a:r>
              <a:rPr sz="2000" b="0" lang="ja-JP">
                <a:solidFill>
                  <a:srgbClr val="404040"/>
                </a:solidFill>
                <a:latin typeface="Arial"/>
                <a:ea typeface="ＭＳ Ｐゴシック"/>
                <a:cs typeface="ＭＳ Ｐゴシック"/>
              </a:rPr>
              <a:t>で，知識を表現する．</a:t>
            </a:r>
            <a:endParaRPr lang="ja-JP" sz="2000"/>
          </a:p>
        </p:txBody>
      </p:sp>
      <p:sp>
        <p:nvSpPr>
          <p:cNvPr id="11" name="TextBox 10"/>
          <p:cNvSpPr txBox="1"/>
          <p:nvPr/>
        </p:nvSpPr>
        <p:spPr>
          <a:xfrm>
            <a:off x="502920" y="338785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355848"/>
            <a:ext cx="7882127" cy="65836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代表的なシステムと知識獲得の課題</a:t>
            </a:r>
            <a:r>
              <a:rPr sz="2000" b="0" lang="ja-JP">
                <a:solidFill>
                  <a:srgbClr val="404040"/>
                </a:solidFill>
                <a:latin typeface="Arial"/>
                <a:ea typeface="ＭＳ Ｐゴシック"/>
                <a:cs typeface="ＭＳ Ｐゴシック"/>
              </a:rPr>
              <a:t>を対応させる．</a:t>
            </a:r>
            <a:endParaRPr lang="ja-JP" sz="2000"/>
          </a:p>
        </p:txBody>
      </p:sp>
      <p:sp>
        <p:nvSpPr>
          <p:cNvPr id="13" name="TextBox 12"/>
          <p:cNvSpPr txBox="1"/>
          <p:nvPr/>
        </p:nvSpPr>
        <p:spPr>
          <a:xfrm>
            <a:off x="502920" y="4370832"/>
            <a:ext cx="8138160" cy="36576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対応：シラバス2024 第1.4版「探索・推論」「知識表現とエキスパートシステム」</a:t>
            </a:r>
            <a:endParaRPr lang="ja-JP" sz="140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前回の復習：AIの発展と今回の位置</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導入　3</a:t>
            </a:r>
            <a:endParaRPr lang="ja-JP" sz="1050"/>
          </a:p>
        </p:txBody>
      </p:sp>
      <p:sp>
        <p:nvSpPr>
          <p:cNvPr id="5" name="Rectangle 4"/>
          <p:cNvSpPr/>
          <p:nvPr/>
        </p:nvSpPr>
        <p:spPr>
          <a:xfrm>
            <a:off x="365760" y="1188720"/>
            <a:ext cx="2240280" cy="66751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時期の目安</a:t>
            </a:r>
          </a:p>
        </p:txBody>
      </p:sp>
      <p:sp>
        <p:nvSpPr>
          <p:cNvPr id="6" name="Rectangle 5"/>
          <p:cNvSpPr/>
          <p:nvPr/>
        </p:nvSpPr>
        <p:spPr>
          <a:xfrm>
            <a:off x="2606040" y="1188720"/>
            <a:ext cx="3017520" cy="66751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中心となった考え方</a:t>
            </a:r>
          </a:p>
        </p:txBody>
      </p:sp>
      <p:sp>
        <p:nvSpPr>
          <p:cNvPr id="7" name="Rectangle 6"/>
          <p:cNvSpPr/>
          <p:nvPr/>
        </p:nvSpPr>
        <p:spPr>
          <a:xfrm>
            <a:off x="5623560" y="1188720"/>
            <a:ext cx="3108960" cy="66751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今回の内容</a:t>
            </a:r>
          </a:p>
        </p:txBody>
      </p:sp>
      <p:sp>
        <p:nvSpPr>
          <p:cNvPr id="8" name="Rectangle 7"/>
          <p:cNvSpPr/>
          <p:nvPr/>
        </p:nvSpPr>
        <p:spPr>
          <a:xfrm>
            <a:off x="365760" y="1856232"/>
            <a:ext cx="224028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第1次：1950〜60年代</a:t>
            </a:r>
          </a:p>
        </p:txBody>
      </p:sp>
      <p:sp>
        <p:nvSpPr>
          <p:cNvPr id="9" name="Rectangle 8"/>
          <p:cNvSpPr/>
          <p:nvPr/>
        </p:nvSpPr>
        <p:spPr>
          <a:xfrm>
            <a:off x="2606040" y="1856232"/>
            <a:ext cx="301752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探索・推論</a:t>
            </a:r>
          </a:p>
        </p:txBody>
      </p:sp>
      <p:sp>
        <p:nvSpPr>
          <p:cNvPr id="10" name="Rectangle 9"/>
          <p:cNvSpPr/>
          <p:nvPr/>
        </p:nvSpPr>
        <p:spPr>
          <a:xfrm>
            <a:off x="5623560" y="1856232"/>
            <a:ext cx="310896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候補を調べ，解を見つける</a:t>
            </a:r>
          </a:p>
        </p:txBody>
      </p:sp>
      <p:sp>
        <p:nvSpPr>
          <p:cNvPr id="11" name="Rectangle 10"/>
          <p:cNvSpPr/>
          <p:nvPr/>
        </p:nvSpPr>
        <p:spPr>
          <a:xfrm>
            <a:off x="365760" y="2523744"/>
            <a:ext cx="224028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第2次：1980年代</a:t>
            </a:r>
          </a:p>
        </p:txBody>
      </p:sp>
      <p:sp>
        <p:nvSpPr>
          <p:cNvPr id="12" name="Rectangle 11"/>
          <p:cNvSpPr/>
          <p:nvPr/>
        </p:nvSpPr>
        <p:spPr>
          <a:xfrm>
            <a:off x="2606040" y="2523744"/>
            <a:ext cx="301752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知識・エキスパートシステム</a:t>
            </a:r>
          </a:p>
        </p:txBody>
      </p:sp>
      <p:sp>
        <p:nvSpPr>
          <p:cNvPr id="13" name="Rectangle 12"/>
          <p:cNvSpPr/>
          <p:nvPr/>
        </p:nvSpPr>
        <p:spPr>
          <a:xfrm>
            <a:off x="5623560" y="2523744"/>
            <a:ext cx="310896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専門知識を表し，規則を使う</a:t>
            </a:r>
          </a:p>
        </p:txBody>
      </p:sp>
      <p:sp>
        <p:nvSpPr>
          <p:cNvPr id="14" name="Rectangle 13"/>
          <p:cNvSpPr/>
          <p:nvPr/>
        </p:nvSpPr>
        <p:spPr>
          <a:xfrm>
            <a:off x="365760" y="3191256"/>
            <a:ext cx="224028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第3次：2000年代以降</a:t>
            </a:r>
          </a:p>
        </p:txBody>
      </p:sp>
      <p:sp>
        <p:nvSpPr>
          <p:cNvPr id="15" name="Rectangle 14"/>
          <p:cNvSpPr/>
          <p:nvPr/>
        </p:nvSpPr>
        <p:spPr>
          <a:xfrm>
            <a:off x="2606040" y="3191256"/>
            <a:ext cx="301752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機械学習・深層学習</a:t>
            </a:r>
          </a:p>
        </p:txBody>
      </p:sp>
      <p:sp>
        <p:nvSpPr>
          <p:cNvPr id="16" name="Rectangle 15"/>
          <p:cNvSpPr/>
          <p:nvPr/>
        </p:nvSpPr>
        <p:spPr>
          <a:xfrm>
            <a:off x="5623560" y="3191256"/>
            <a:ext cx="3108960" cy="66751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データから規則性を学ぶ</a:t>
            </a:r>
          </a:p>
        </p:txBody>
      </p:sp>
      <p:sp>
        <p:nvSpPr>
          <p:cNvPr id="17" name="TextBox 16"/>
          <p:cNvSpPr txBox="1"/>
          <p:nvPr/>
        </p:nvSpPr>
        <p:spPr>
          <a:xfrm>
            <a:off x="502920" y="416052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今回は「探索する」「知識を使って推論する」を具体化する．</a:t>
            </a:r>
            <a:endParaRPr lang="ja-JP" sz="190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90分の進め方</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導入　4</a:t>
            </a:r>
            <a:endParaRPr lang="ja-JP" sz="1050"/>
          </a:p>
        </p:txBody>
      </p:sp>
      <p:sp>
        <p:nvSpPr>
          <p:cNvPr id="5" name="Rectangle 4"/>
          <p:cNvSpPr/>
          <p:nvPr/>
        </p:nvSpPr>
        <p:spPr>
          <a:xfrm>
            <a:off x="365760" y="1188720"/>
            <a:ext cx="1371600" cy="5029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時間</a:t>
            </a:r>
          </a:p>
        </p:txBody>
      </p:sp>
      <p:sp>
        <p:nvSpPr>
          <p:cNvPr id="6" name="Rectangle 5"/>
          <p:cNvSpPr/>
          <p:nvPr/>
        </p:nvSpPr>
        <p:spPr>
          <a:xfrm>
            <a:off x="1737360" y="1188720"/>
            <a:ext cx="3840480" cy="5029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内容</a:t>
            </a:r>
          </a:p>
        </p:txBody>
      </p:sp>
      <p:sp>
        <p:nvSpPr>
          <p:cNvPr id="7" name="Rectangle 6"/>
          <p:cNvSpPr/>
          <p:nvPr/>
        </p:nvSpPr>
        <p:spPr>
          <a:xfrm>
            <a:off x="5577840" y="1188720"/>
            <a:ext cx="3154680" cy="5029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活動</a:t>
            </a:r>
          </a:p>
        </p:txBody>
      </p:sp>
      <p:sp>
        <p:nvSpPr>
          <p:cNvPr id="8" name="Rectangle 7"/>
          <p:cNvSpPr/>
          <p:nvPr/>
        </p:nvSpPr>
        <p:spPr>
          <a:xfrm>
            <a:off x="365760" y="1691640"/>
            <a:ext cx="137160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0〜5分</a:t>
            </a:r>
          </a:p>
        </p:txBody>
      </p:sp>
      <p:sp>
        <p:nvSpPr>
          <p:cNvPr id="9" name="Rectangle 8"/>
          <p:cNvSpPr/>
          <p:nvPr/>
        </p:nvSpPr>
        <p:spPr>
          <a:xfrm>
            <a:off x="1737360" y="1691640"/>
            <a:ext cx="3840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前回の復習・到達目標</a:t>
            </a:r>
          </a:p>
        </p:txBody>
      </p:sp>
      <p:sp>
        <p:nvSpPr>
          <p:cNvPr id="10" name="Rectangle 9"/>
          <p:cNvSpPr/>
          <p:nvPr/>
        </p:nvSpPr>
        <p:spPr>
          <a:xfrm>
            <a:off x="5577840" y="1691640"/>
            <a:ext cx="31546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今回の位置を確認</a:t>
            </a:r>
          </a:p>
        </p:txBody>
      </p:sp>
      <p:sp>
        <p:nvSpPr>
          <p:cNvPr id="11" name="Rectangle 10"/>
          <p:cNvSpPr/>
          <p:nvPr/>
        </p:nvSpPr>
        <p:spPr>
          <a:xfrm>
            <a:off x="365760" y="2194560"/>
            <a:ext cx="137160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5〜23分</a:t>
            </a:r>
          </a:p>
        </p:txBody>
      </p:sp>
      <p:sp>
        <p:nvSpPr>
          <p:cNvPr id="12" name="Rectangle 11"/>
          <p:cNvSpPr/>
          <p:nvPr/>
        </p:nvSpPr>
        <p:spPr>
          <a:xfrm>
            <a:off x="1737360" y="2194560"/>
            <a:ext cx="3840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探索木・幅優先・深さ優先</a:t>
            </a:r>
          </a:p>
        </p:txBody>
      </p:sp>
      <p:sp>
        <p:nvSpPr>
          <p:cNvPr id="13" name="Rectangle 12"/>
          <p:cNvSpPr/>
          <p:nvPr/>
        </p:nvSpPr>
        <p:spPr>
          <a:xfrm>
            <a:off x="5577840" y="2194560"/>
            <a:ext cx="31546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探索順序を記入</a:t>
            </a:r>
          </a:p>
        </p:txBody>
      </p:sp>
      <p:sp>
        <p:nvSpPr>
          <p:cNvPr id="14" name="Rectangle 13"/>
          <p:cNvSpPr/>
          <p:nvPr/>
        </p:nvSpPr>
        <p:spPr>
          <a:xfrm>
            <a:off x="365760" y="2697480"/>
            <a:ext cx="137160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23〜45分</a:t>
            </a:r>
          </a:p>
        </p:txBody>
      </p:sp>
      <p:sp>
        <p:nvSpPr>
          <p:cNvPr id="15" name="Rectangle 14"/>
          <p:cNvSpPr/>
          <p:nvPr/>
        </p:nvSpPr>
        <p:spPr>
          <a:xfrm>
            <a:off x="1737360" y="2697480"/>
            <a:ext cx="3840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ゲーム探索・計画・確認問題</a:t>
            </a:r>
          </a:p>
        </p:txBody>
      </p:sp>
      <p:sp>
        <p:nvSpPr>
          <p:cNvPr id="16" name="Rectangle 15"/>
          <p:cNvSpPr/>
          <p:nvPr/>
        </p:nvSpPr>
        <p:spPr>
          <a:xfrm>
            <a:off x="5577840" y="2697480"/>
            <a:ext cx="31546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評価値と枝刈りを計算</a:t>
            </a:r>
          </a:p>
        </p:txBody>
      </p:sp>
      <p:sp>
        <p:nvSpPr>
          <p:cNvPr id="17" name="Rectangle 16"/>
          <p:cNvSpPr/>
          <p:nvPr/>
        </p:nvSpPr>
        <p:spPr>
          <a:xfrm>
            <a:off x="365760" y="3200400"/>
            <a:ext cx="137160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45〜73分</a:t>
            </a:r>
          </a:p>
        </p:txBody>
      </p:sp>
      <p:sp>
        <p:nvSpPr>
          <p:cNvPr id="18" name="Rectangle 17"/>
          <p:cNvSpPr/>
          <p:nvPr/>
        </p:nvSpPr>
        <p:spPr>
          <a:xfrm>
            <a:off x="1737360" y="3200400"/>
            <a:ext cx="3840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知識表現・エキスパートシステム</a:t>
            </a:r>
          </a:p>
        </p:txBody>
      </p:sp>
      <p:sp>
        <p:nvSpPr>
          <p:cNvPr id="19" name="Rectangle 18"/>
          <p:cNvSpPr/>
          <p:nvPr/>
        </p:nvSpPr>
        <p:spPr>
          <a:xfrm>
            <a:off x="5577840" y="3200400"/>
            <a:ext cx="31546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ルールを使って推論</a:t>
            </a:r>
          </a:p>
        </p:txBody>
      </p:sp>
      <p:sp>
        <p:nvSpPr>
          <p:cNvPr id="20" name="Rectangle 19"/>
          <p:cNvSpPr/>
          <p:nvPr/>
        </p:nvSpPr>
        <p:spPr>
          <a:xfrm>
            <a:off x="365760" y="3703320"/>
            <a:ext cx="137160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73〜90分</a:t>
            </a:r>
          </a:p>
        </p:txBody>
      </p:sp>
      <p:sp>
        <p:nvSpPr>
          <p:cNvPr id="21" name="Rectangle 20"/>
          <p:cNvSpPr/>
          <p:nvPr/>
        </p:nvSpPr>
        <p:spPr>
          <a:xfrm>
            <a:off x="1737360" y="3703320"/>
            <a:ext cx="3840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用語整理・確認問題・振り返り</a:t>
            </a:r>
          </a:p>
        </p:txBody>
      </p:sp>
      <p:sp>
        <p:nvSpPr>
          <p:cNvPr id="22" name="Rectangle 21"/>
          <p:cNvSpPr/>
          <p:nvPr/>
        </p:nvSpPr>
        <p:spPr>
          <a:xfrm>
            <a:off x="5577840" y="3703320"/>
            <a:ext cx="31546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根拠を説明</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探索：問題を「状態」と「行動」に分ける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5</a:t>
            </a:r>
            <a:endParaRPr lang="ja-JP" sz="1050"/>
          </a:p>
        </p:txBody>
      </p:sp>
      <p:sp>
        <p:nvSpPr>
          <p:cNvPr id="5" name="Rectangle 4"/>
          <p:cNvSpPr/>
          <p:nvPr/>
        </p:nvSpPr>
        <p:spPr>
          <a:xfrm>
            <a:off x="640080" y="1389888"/>
            <a:ext cx="2057400" cy="8778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初期状態</a:t>
            </a:r>
          </a:p>
          <a:p>
            <a:pPr algn="ctr">
              <a:lnSpc>
                <a:spcPct val="108000"/>
              </a:lnSpc>
              <a:spcAft>
                <a:spcPts val="0"/>
              </a:spcAft>
            </a:pPr>
            <a:r>
              <a:rPr sz="2200" b="0" lang="ja-JP">
                <a:solidFill>
                  <a:srgbClr val="404040"/>
                </a:solidFill>
                <a:latin typeface="Arial"/>
                <a:ea typeface="ＭＳ Ｐゴシック"/>
                <a:cs typeface="ＭＳ Ｐゴシック"/>
              </a:rPr>
              <a:t>部屋A</a:t>
            </a:r>
          </a:p>
        </p:txBody>
      </p:sp>
      <p:sp>
        <p:nvSpPr>
          <p:cNvPr id="6" name="Rectangle 5"/>
          <p:cNvSpPr/>
          <p:nvPr/>
        </p:nvSpPr>
        <p:spPr>
          <a:xfrm>
            <a:off x="3520440" y="1389888"/>
            <a:ext cx="2057400" cy="87782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行動</a:t>
            </a:r>
          </a:p>
          <a:p>
            <a:pPr algn="ctr">
              <a:lnSpc>
                <a:spcPct val="108000"/>
              </a:lnSpc>
              <a:spcAft>
                <a:spcPts val="0"/>
              </a:spcAft>
            </a:pPr>
            <a:r>
              <a:rPr sz="2200" b="0" lang="ja-JP">
                <a:solidFill>
                  <a:srgbClr val="404040"/>
                </a:solidFill>
                <a:latin typeface="Arial"/>
                <a:ea typeface="ＭＳ Ｐゴシック"/>
                <a:cs typeface="ＭＳ Ｐゴシック"/>
              </a:rPr>
              <a:t>通路を移動</a:t>
            </a:r>
          </a:p>
        </p:txBody>
      </p:sp>
      <p:sp>
        <p:nvSpPr>
          <p:cNvPr id="7" name="Rectangle 6"/>
          <p:cNvSpPr/>
          <p:nvPr/>
        </p:nvSpPr>
        <p:spPr>
          <a:xfrm>
            <a:off x="6400800" y="1389888"/>
            <a:ext cx="2057400" cy="87782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FF0000"/>
                </a:solidFill>
                <a:latin typeface="Arial"/>
                <a:ea typeface="ＭＳ Ｐゴシック"/>
                <a:cs typeface="ＭＳ Ｐゴシック"/>
              </a:rPr>
              <a:t>目標状態</a:t>
            </a:r>
          </a:p>
          <a:p>
            <a:pPr algn="ctr">
              <a:lnSpc>
                <a:spcPct val="108000"/>
              </a:lnSpc>
              <a:spcAft>
                <a:spcPts val="0"/>
              </a:spcAft>
            </a:pPr>
            <a:r>
              <a:rPr sz="2200" b="0" lang="ja-JP">
                <a:solidFill>
                  <a:srgbClr val="FF0000"/>
                </a:solidFill>
                <a:latin typeface="Arial"/>
                <a:ea typeface="ＭＳ Ｐゴシック"/>
                <a:cs typeface="ＭＳ Ｐゴシック"/>
              </a:rPr>
              <a:t>部屋C</a:t>
            </a:r>
          </a:p>
        </p:txBody>
      </p:sp>
      <p:cxnSp>
        <p:nvCxnSpPr>
          <p:cNvPr id="8" name="Connector 7"/>
          <p:cNvCxnSpPr/>
          <p:nvPr/>
        </p:nvCxnSpPr>
        <p:spPr>
          <a:xfrm>
            <a:off x="2743200" y="1828800"/>
            <a:ext cx="658368"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5650992" y="1828800"/>
            <a:ext cx="621792"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2920" y="268376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1" name="TextBox 10"/>
          <p:cNvSpPr txBox="1"/>
          <p:nvPr/>
        </p:nvSpPr>
        <p:spPr>
          <a:xfrm>
            <a:off x="850392" y="2651760"/>
            <a:ext cx="7882127" cy="484632"/>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状態：ある時点の問題の状況．</a:t>
            </a:r>
            <a:endParaRPr lang="ja-JP" sz="2000"/>
          </a:p>
        </p:txBody>
      </p:sp>
      <p:sp>
        <p:nvSpPr>
          <p:cNvPr id="12" name="TextBox 11"/>
          <p:cNvSpPr txBox="1"/>
          <p:nvPr/>
        </p:nvSpPr>
        <p:spPr>
          <a:xfrm>
            <a:off x="502920" y="323240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3" name="TextBox 12"/>
          <p:cNvSpPr txBox="1"/>
          <p:nvPr/>
        </p:nvSpPr>
        <p:spPr>
          <a:xfrm>
            <a:off x="850392" y="3200400"/>
            <a:ext cx="7882127" cy="484632"/>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遷移：行動によって，状態がどのように変わるか．</a:t>
            </a:r>
            <a:endParaRPr lang="ja-JP" sz="2000"/>
          </a:p>
        </p:txBody>
      </p:sp>
      <p:sp>
        <p:nvSpPr>
          <p:cNvPr id="14" name="TextBox 13"/>
          <p:cNvSpPr txBox="1"/>
          <p:nvPr/>
        </p:nvSpPr>
        <p:spPr>
          <a:xfrm>
            <a:off x="502920" y="378104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749039"/>
            <a:ext cx="7882127" cy="484632"/>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コスト：行動に必要な時間・距離・手数など．</a:t>
            </a:r>
            <a:endParaRPr lang="ja-JP" sz="2000"/>
          </a:p>
        </p:txBody>
      </p:sp>
      <p:sp>
        <p:nvSpPr>
          <p:cNvPr id="16" name="TextBox 15"/>
          <p:cNvSpPr txBox="1"/>
          <p:nvPr/>
        </p:nvSpPr>
        <p:spPr>
          <a:xfrm>
            <a:off x="502920" y="429768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何を解として探すのかを，最初に定める．</a:t>
            </a:r>
            <a:endParaRPr lang="ja-JP" sz="190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探索木：候補を枝分かれで表す</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6</a:t>
            </a:r>
            <a:endParaRPr lang="ja-JP" sz="1050"/>
          </a:p>
        </p:txBody>
      </p:sp>
      <p:cxnSp>
        <p:nvCxnSpPr>
          <p:cNvPr id="5" name="Connector 4"/>
          <p:cNvCxnSpPr/>
          <p:nvPr/>
        </p:nvCxnSpPr>
        <p:spPr>
          <a:xfrm flipH="1">
            <a:off x="1901952" y="1810512"/>
            <a:ext cx="13716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273552" y="1810512"/>
            <a:ext cx="16002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14983" y="2569464"/>
            <a:ext cx="886969"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01952" y="2569464"/>
            <a:ext cx="877824"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096512" y="2569464"/>
            <a:ext cx="77724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873752" y="2569464"/>
            <a:ext cx="73152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21792" y="3374136"/>
            <a:ext cx="39319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14983" y="3374136"/>
            <a:ext cx="50292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17520" y="1417320"/>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S</a:t>
            </a:r>
          </a:p>
        </p:txBody>
      </p:sp>
      <p:sp>
        <p:nvSpPr>
          <p:cNvPr id="14" name="Oval 13"/>
          <p:cNvSpPr/>
          <p:nvPr/>
        </p:nvSpPr>
        <p:spPr>
          <a:xfrm>
            <a:off x="16459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A</a:t>
            </a:r>
          </a:p>
        </p:txBody>
      </p:sp>
      <p:sp>
        <p:nvSpPr>
          <p:cNvPr id="15" name="Oval 14"/>
          <p:cNvSpPr/>
          <p:nvPr/>
        </p:nvSpPr>
        <p:spPr>
          <a:xfrm>
            <a:off x="46177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B</a:t>
            </a:r>
          </a:p>
        </p:txBody>
      </p:sp>
      <p:sp>
        <p:nvSpPr>
          <p:cNvPr id="16" name="Oval 15"/>
          <p:cNvSpPr/>
          <p:nvPr/>
        </p:nvSpPr>
        <p:spPr>
          <a:xfrm>
            <a:off x="758952"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C</a:t>
            </a:r>
          </a:p>
        </p:txBody>
      </p:sp>
      <p:sp>
        <p:nvSpPr>
          <p:cNvPr id="17" name="Oval 16"/>
          <p:cNvSpPr/>
          <p:nvPr/>
        </p:nvSpPr>
        <p:spPr>
          <a:xfrm>
            <a:off x="2523744"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D</a:t>
            </a:r>
          </a:p>
        </p:txBody>
      </p:sp>
      <p:sp>
        <p:nvSpPr>
          <p:cNvPr id="18" name="Oval 17"/>
          <p:cNvSpPr/>
          <p:nvPr/>
        </p:nvSpPr>
        <p:spPr>
          <a:xfrm>
            <a:off x="3840480"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E</a:t>
            </a:r>
          </a:p>
        </p:txBody>
      </p:sp>
      <p:sp>
        <p:nvSpPr>
          <p:cNvPr id="19" name="Oval 18"/>
          <p:cNvSpPr/>
          <p:nvPr/>
        </p:nvSpPr>
        <p:spPr>
          <a:xfrm>
            <a:off x="5349240"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F</a:t>
            </a:r>
          </a:p>
        </p:txBody>
      </p:sp>
      <p:sp>
        <p:nvSpPr>
          <p:cNvPr id="20" name="Oval 19"/>
          <p:cNvSpPr/>
          <p:nvPr/>
        </p:nvSpPr>
        <p:spPr>
          <a:xfrm>
            <a:off x="365760"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G</a:t>
            </a:r>
          </a:p>
        </p:txBody>
      </p:sp>
      <p:sp>
        <p:nvSpPr>
          <p:cNvPr id="21" name="Oval 20"/>
          <p:cNvSpPr/>
          <p:nvPr/>
        </p:nvSpPr>
        <p:spPr>
          <a:xfrm>
            <a:off x="1261872"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H</a:t>
            </a:r>
          </a:p>
        </p:txBody>
      </p:sp>
      <p:sp>
        <p:nvSpPr>
          <p:cNvPr id="22" name="TextBox 21"/>
          <p:cNvSpPr txBox="1"/>
          <p:nvPr/>
        </p:nvSpPr>
        <p:spPr>
          <a:xfrm>
            <a:off x="6263640" y="1417320"/>
            <a:ext cx="2377440" cy="24688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根：初期状態 S</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枝：選べる行動</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深さ：根からの枝数</a:t>
            </a:r>
            <a:endParaRPr lang="ja-JP" sz="1900"/>
          </a:p>
        </p:txBody>
      </p:sp>
      <p:sp>
        <p:nvSpPr>
          <p:cNvPr id="23" name="TextBox 22"/>
          <p:cNvSpPr txBox="1"/>
          <p:nvPr/>
        </p:nvSpPr>
        <p:spPr>
          <a:xfrm>
            <a:off x="6263640" y="3776472"/>
            <a:ext cx="2423160" cy="502920"/>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例：Eの深さは2</a:t>
            </a:r>
            <a:endParaRPr lang="ja-JP" sz="19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ハノイの塔：探索問題の例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題材：ハノイの塔／図：本教材の作例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7</a:t>
            </a:r>
            <a:endParaRPr lang="ja-JP" sz="1050"/>
          </a:p>
        </p:txBody>
      </p:sp>
      <p:cxnSp>
        <p:nvCxnSpPr>
          <p:cNvPr id="5" name="Connector 4"/>
          <p:cNvCxnSpPr/>
          <p:nvPr/>
        </p:nvCxnSpPr>
        <p:spPr>
          <a:xfrm>
            <a:off x="1115568" y="1463039"/>
            <a:ext cx="0" cy="987552"/>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713232" y="2468880"/>
            <a:ext cx="804672" cy="0"/>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23544" y="2560320"/>
            <a:ext cx="411480" cy="274320"/>
          </a:xfrm>
          <a:prstGeom prst="rect">
            <a:avLst/>
          </a:prstGeom>
          <a:noFill/>
        </p:spPr>
        <p:txBody>
          <a:bodyPr wrap="square" anchor="t" lIns="0" rIns="0" tIns="0" bIns="0">
            <a:noAutofit/>
          </a:bodyPr>
          <a:lstStyle/>
          <a:p>
            <a:pPr algn="ctr">
              <a:lnSpc>
                <a:spcPct val="113000"/>
              </a:lnSpc>
              <a:spcAft>
                <a:spcPts val="0"/>
              </a:spcAft>
            </a:pPr>
            <a:r>
              <a:rPr sz="1800" b="0" lang="ja-JP">
                <a:solidFill>
                  <a:srgbClr val="404040"/>
                </a:solidFill>
                <a:latin typeface="Arial"/>
                <a:ea typeface="ＭＳ Ｐゴシック"/>
                <a:cs typeface="ＭＳ Ｐゴシック"/>
              </a:rPr>
              <a:t>A</a:t>
            </a:r>
            <a:endParaRPr lang="ja-JP" sz="1800"/>
          </a:p>
        </p:txBody>
      </p:sp>
      <p:cxnSp>
        <p:nvCxnSpPr>
          <p:cNvPr id="8" name="Connector 7"/>
          <p:cNvCxnSpPr/>
          <p:nvPr/>
        </p:nvCxnSpPr>
        <p:spPr>
          <a:xfrm>
            <a:off x="2139696" y="1463039"/>
            <a:ext cx="0" cy="987552"/>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1737360" y="2468880"/>
            <a:ext cx="804672" cy="0"/>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947672" y="2560320"/>
            <a:ext cx="411480" cy="274320"/>
          </a:xfrm>
          <a:prstGeom prst="rect">
            <a:avLst/>
          </a:prstGeom>
          <a:noFill/>
        </p:spPr>
        <p:txBody>
          <a:bodyPr wrap="square" anchor="t" lIns="0" rIns="0" tIns="0" bIns="0">
            <a:noAutofit/>
          </a:bodyPr>
          <a:lstStyle/>
          <a:p>
            <a:pPr algn="ctr">
              <a:lnSpc>
                <a:spcPct val="113000"/>
              </a:lnSpc>
              <a:spcAft>
                <a:spcPts val="0"/>
              </a:spcAft>
            </a:pPr>
            <a:r>
              <a:rPr sz="1800" b="0" lang="ja-JP">
                <a:solidFill>
                  <a:srgbClr val="404040"/>
                </a:solidFill>
                <a:latin typeface="Arial"/>
                <a:ea typeface="ＭＳ Ｐゴシック"/>
                <a:cs typeface="ＭＳ Ｐゴシック"/>
              </a:rPr>
              <a:t>B</a:t>
            </a:r>
            <a:endParaRPr lang="ja-JP" sz="1800"/>
          </a:p>
        </p:txBody>
      </p:sp>
      <p:cxnSp>
        <p:nvCxnSpPr>
          <p:cNvPr id="11" name="Connector 10"/>
          <p:cNvCxnSpPr/>
          <p:nvPr/>
        </p:nvCxnSpPr>
        <p:spPr>
          <a:xfrm>
            <a:off x="3163824" y="1463039"/>
            <a:ext cx="0" cy="987552"/>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2761488" y="2468880"/>
            <a:ext cx="804672" cy="0"/>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971800" y="2560320"/>
            <a:ext cx="411480" cy="274320"/>
          </a:xfrm>
          <a:prstGeom prst="rect">
            <a:avLst/>
          </a:prstGeom>
          <a:noFill/>
        </p:spPr>
        <p:txBody>
          <a:bodyPr wrap="square" anchor="t" lIns="0" rIns="0" tIns="0" bIns="0">
            <a:noAutofit/>
          </a:bodyPr>
          <a:lstStyle/>
          <a:p>
            <a:pPr algn="ctr">
              <a:lnSpc>
                <a:spcPct val="113000"/>
              </a:lnSpc>
              <a:spcAft>
                <a:spcPts val="0"/>
              </a:spcAft>
            </a:pPr>
            <a:r>
              <a:rPr sz="1800" b="0" lang="ja-JP">
                <a:solidFill>
                  <a:srgbClr val="404040"/>
                </a:solidFill>
                <a:latin typeface="Arial"/>
                <a:ea typeface="ＭＳ Ｐゴシック"/>
                <a:cs typeface="ＭＳ Ｐゴシック"/>
              </a:rPr>
              <a:t>C</a:t>
            </a:r>
            <a:endParaRPr lang="ja-JP" sz="1800"/>
          </a:p>
        </p:txBody>
      </p:sp>
      <p:sp>
        <p:nvSpPr>
          <p:cNvPr id="14" name="Rectangle 13"/>
          <p:cNvSpPr/>
          <p:nvPr/>
        </p:nvSpPr>
        <p:spPr>
          <a:xfrm>
            <a:off x="672084" y="2313432"/>
            <a:ext cx="886968" cy="16459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5" name="Rectangle 14"/>
          <p:cNvSpPr/>
          <p:nvPr/>
        </p:nvSpPr>
        <p:spPr>
          <a:xfrm>
            <a:off x="786384" y="2112264"/>
            <a:ext cx="658368" cy="16459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16" name="Rectangle 15"/>
          <p:cNvSpPr/>
          <p:nvPr/>
        </p:nvSpPr>
        <p:spPr>
          <a:xfrm>
            <a:off x="905256" y="1911095"/>
            <a:ext cx="420624" cy="164592"/>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cxnSp>
        <p:nvCxnSpPr>
          <p:cNvPr id="17" name="Connector 16"/>
          <p:cNvCxnSpPr/>
          <p:nvPr/>
        </p:nvCxnSpPr>
        <p:spPr>
          <a:xfrm>
            <a:off x="5943600" y="1463039"/>
            <a:ext cx="0" cy="987552"/>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5541264" y="2468880"/>
            <a:ext cx="804672" cy="0"/>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751576" y="2560320"/>
            <a:ext cx="411480" cy="274320"/>
          </a:xfrm>
          <a:prstGeom prst="rect">
            <a:avLst/>
          </a:prstGeom>
          <a:noFill/>
        </p:spPr>
        <p:txBody>
          <a:bodyPr wrap="square" anchor="t" lIns="0" rIns="0" tIns="0" bIns="0">
            <a:noAutofit/>
          </a:bodyPr>
          <a:lstStyle/>
          <a:p>
            <a:pPr algn="ctr">
              <a:lnSpc>
                <a:spcPct val="113000"/>
              </a:lnSpc>
              <a:spcAft>
                <a:spcPts val="0"/>
              </a:spcAft>
            </a:pPr>
            <a:r>
              <a:rPr sz="1800" b="0" lang="ja-JP">
                <a:solidFill>
                  <a:srgbClr val="404040"/>
                </a:solidFill>
                <a:latin typeface="Arial"/>
                <a:ea typeface="ＭＳ Ｐゴシック"/>
                <a:cs typeface="ＭＳ Ｐゴシック"/>
              </a:rPr>
              <a:t>A</a:t>
            </a:r>
            <a:endParaRPr lang="ja-JP" sz="1800"/>
          </a:p>
        </p:txBody>
      </p:sp>
      <p:cxnSp>
        <p:nvCxnSpPr>
          <p:cNvPr id="20" name="Connector 19"/>
          <p:cNvCxnSpPr/>
          <p:nvPr/>
        </p:nvCxnSpPr>
        <p:spPr>
          <a:xfrm>
            <a:off x="6967728" y="1463039"/>
            <a:ext cx="0" cy="987552"/>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6565392" y="2468880"/>
            <a:ext cx="804672" cy="0"/>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775704" y="2560320"/>
            <a:ext cx="411480" cy="274320"/>
          </a:xfrm>
          <a:prstGeom prst="rect">
            <a:avLst/>
          </a:prstGeom>
          <a:noFill/>
        </p:spPr>
        <p:txBody>
          <a:bodyPr wrap="square" anchor="t" lIns="0" rIns="0" tIns="0" bIns="0">
            <a:noAutofit/>
          </a:bodyPr>
          <a:lstStyle/>
          <a:p>
            <a:pPr algn="ctr">
              <a:lnSpc>
                <a:spcPct val="113000"/>
              </a:lnSpc>
              <a:spcAft>
                <a:spcPts val="0"/>
              </a:spcAft>
            </a:pPr>
            <a:r>
              <a:rPr sz="1800" b="0" lang="ja-JP">
                <a:solidFill>
                  <a:srgbClr val="404040"/>
                </a:solidFill>
                <a:latin typeface="Arial"/>
                <a:ea typeface="ＭＳ Ｐゴシック"/>
                <a:cs typeface="ＭＳ Ｐゴシック"/>
              </a:rPr>
              <a:t>B</a:t>
            </a:r>
            <a:endParaRPr lang="ja-JP" sz="1800"/>
          </a:p>
        </p:txBody>
      </p:sp>
      <p:cxnSp>
        <p:nvCxnSpPr>
          <p:cNvPr id="23" name="Connector 22"/>
          <p:cNvCxnSpPr/>
          <p:nvPr/>
        </p:nvCxnSpPr>
        <p:spPr>
          <a:xfrm>
            <a:off x="7991856" y="1463039"/>
            <a:ext cx="0" cy="987552"/>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589520" y="2468880"/>
            <a:ext cx="804672" cy="0"/>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99831" y="2560320"/>
            <a:ext cx="411480" cy="274320"/>
          </a:xfrm>
          <a:prstGeom prst="rect">
            <a:avLst/>
          </a:prstGeom>
          <a:noFill/>
        </p:spPr>
        <p:txBody>
          <a:bodyPr wrap="square" anchor="t" lIns="0" rIns="0" tIns="0" bIns="0">
            <a:noAutofit/>
          </a:bodyPr>
          <a:lstStyle/>
          <a:p>
            <a:pPr algn="ctr">
              <a:lnSpc>
                <a:spcPct val="113000"/>
              </a:lnSpc>
              <a:spcAft>
                <a:spcPts val="0"/>
              </a:spcAft>
            </a:pPr>
            <a:r>
              <a:rPr sz="1800" b="0" lang="ja-JP">
                <a:solidFill>
                  <a:srgbClr val="404040"/>
                </a:solidFill>
                <a:latin typeface="Arial"/>
                <a:ea typeface="ＭＳ Ｐゴシック"/>
                <a:cs typeface="ＭＳ Ｐゴシック"/>
              </a:rPr>
              <a:t>C</a:t>
            </a:r>
            <a:endParaRPr lang="ja-JP" sz="1800"/>
          </a:p>
        </p:txBody>
      </p:sp>
      <p:sp>
        <p:nvSpPr>
          <p:cNvPr id="26" name="Rectangle 25"/>
          <p:cNvSpPr/>
          <p:nvPr/>
        </p:nvSpPr>
        <p:spPr>
          <a:xfrm>
            <a:off x="7548372" y="2313432"/>
            <a:ext cx="886968" cy="164592"/>
          </a:xfrm>
          <a:prstGeom prst="rect">
            <a:avLst/>
          </a:prstGeom>
          <a:solidFill>
            <a:srgbClr val="F3F3F3"/>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27" name="Rectangle 26"/>
          <p:cNvSpPr/>
          <p:nvPr/>
        </p:nvSpPr>
        <p:spPr>
          <a:xfrm>
            <a:off x="7662672" y="2112264"/>
            <a:ext cx="658368" cy="164592"/>
          </a:xfrm>
          <a:prstGeom prst="rect">
            <a:avLst/>
          </a:prstGeom>
          <a:solidFill>
            <a:srgbClr val="F3F3F3"/>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28" name="Rectangle 27"/>
          <p:cNvSpPr/>
          <p:nvPr/>
        </p:nvSpPr>
        <p:spPr>
          <a:xfrm>
            <a:off x="7781544" y="1911095"/>
            <a:ext cx="420624" cy="164592"/>
          </a:xfrm>
          <a:prstGeom prst="rect">
            <a:avLst/>
          </a:prstGeom>
          <a:solidFill>
            <a:srgbClr val="F3F3F3"/>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cxnSp>
        <p:nvCxnSpPr>
          <p:cNvPr id="29" name="Connector 28"/>
          <p:cNvCxnSpPr/>
          <p:nvPr/>
        </p:nvCxnSpPr>
        <p:spPr>
          <a:xfrm>
            <a:off x="3886200" y="1938528"/>
            <a:ext cx="1243584" cy="0"/>
          </a:xfrm>
          <a:prstGeom prst="line">
            <a:avLst/>
          </a:prstGeom>
          <a:ln w="25400">
            <a:solidFill>
              <a:srgbClr val="FF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1051560" y="2980944"/>
            <a:ext cx="2560320" cy="365760"/>
          </a:xfrm>
          <a:prstGeom prst="rect">
            <a:avLst/>
          </a:prstGeom>
          <a:noFill/>
        </p:spPr>
        <p:txBody>
          <a:bodyPr wrap="square" anchor="t" lIns="0" rIns="0" tIns="0" bIns="0">
            <a:noAutofit/>
          </a:bodyPr>
          <a:lstStyle/>
          <a:p>
            <a:pPr algn="ctr">
              <a:lnSpc>
                <a:spcPct val="113000"/>
              </a:lnSpc>
              <a:spcAft>
                <a:spcPts val="0"/>
              </a:spcAft>
            </a:pPr>
            <a:r>
              <a:rPr sz="1900" b="0" lang="ja-JP">
                <a:solidFill>
                  <a:srgbClr val="404040"/>
                </a:solidFill>
                <a:latin typeface="Arial"/>
                <a:ea typeface="ＭＳ Ｐゴシック"/>
                <a:cs typeface="ＭＳ Ｐゴシック"/>
              </a:rPr>
              <a:t>初期状態</a:t>
            </a:r>
            <a:endParaRPr lang="ja-JP" sz="1900"/>
          </a:p>
        </p:txBody>
      </p:sp>
      <p:sp>
        <p:nvSpPr>
          <p:cNvPr id="31" name="TextBox 30"/>
          <p:cNvSpPr txBox="1"/>
          <p:nvPr/>
        </p:nvSpPr>
        <p:spPr>
          <a:xfrm>
            <a:off x="5989320" y="2980944"/>
            <a:ext cx="2560320" cy="365760"/>
          </a:xfrm>
          <a:prstGeom prst="rect">
            <a:avLst/>
          </a:prstGeom>
          <a:noFill/>
        </p:spPr>
        <p:txBody>
          <a:bodyPr wrap="square" anchor="t" lIns="0" rIns="0" tIns="0" bIns="0">
            <a:noAutofit/>
          </a:bodyPr>
          <a:lstStyle/>
          <a:p>
            <a:pPr algn="ctr">
              <a:lnSpc>
                <a:spcPct val="113000"/>
              </a:lnSpc>
              <a:spcAft>
                <a:spcPts val="0"/>
              </a:spcAft>
            </a:pPr>
            <a:r>
              <a:rPr sz="1900" b="0" lang="ja-JP">
                <a:solidFill>
                  <a:srgbClr val="404040"/>
                </a:solidFill>
                <a:latin typeface="Arial"/>
                <a:ea typeface="ＭＳ Ｐゴシック"/>
                <a:cs typeface="ＭＳ Ｐゴシック"/>
              </a:rPr>
              <a:t>目標状態</a:t>
            </a:r>
            <a:endParaRPr lang="ja-JP" sz="1900"/>
          </a:p>
        </p:txBody>
      </p:sp>
      <p:sp>
        <p:nvSpPr>
          <p:cNvPr id="32" name="TextBox 31"/>
          <p:cNvSpPr txBox="1"/>
          <p:nvPr/>
        </p:nvSpPr>
        <p:spPr>
          <a:xfrm>
            <a:off x="502920" y="3584448"/>
            <a:ext cx="8229600" cy="54864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ルール：1枚ずつ動かす．小さい円盤の上に大きい円盤を置かない．</a:t>
            </a:r>
            <a:endParaRPr lang="ja-JP" sz="1900"/>
          </a:p>
        </p:txBody>
      </p:sp>
      <p:sp>
        <p:nvSpPr>
          <p:cNvPr id="33" name="TextBox 32"/>
          <p:cNvSpPr txBox="1"/>
          <p:nvPr/>
        </p:nvSpPr>
        <p:spPr>
          <a:xfrm>
            <a:off x="502920" y="429768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3枚の最小手数は7回．n枚では 2ⁿ − 1 回．</a:t>
            </a:r>
            <a:endParaRPr lang="ja-JP" sz="19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幅優先探索：浅いところから調べる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8</a:t>
            </a:r>
            <a:endParaRPr lang="ja-JP" sz="1050"/>
          </a:p>
        </p:txBody>
      </p:sp>
      <p:cxnSp>
        <p:nvCxnSpPr>
          <p:cNvPr id="5" name="Connector 4"/>
          <p:cNvCxnSpPr/>
          <p:nvPr/>
        </p:nvCxnSpPr>
        <p:spPr>
          <a:xfrm flipH="1">
            <a:off x="1901952" y="1810512"/>
            <a:ext cx="13716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273552" y="1810512"/>
            <a:ext cx="16002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14983" y="2569464"/>
            <a:ext cx="886969"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01952" y="2569464"/>
            <a:ext cx="877824"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096512" y="2569464"/>
            <a:ext cx="77724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873752" y="2569464"/>
            <a:ext cx="73152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21792" y="3374136"/>
            <a:ext cx="39319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14983" y="3374136"/>
            <a:ext cx="50292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17520" y="1417320"/>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S</a:t>
            </a:r>
          </a:p>
        </p:txBody>
      </p:sp>
      <p:sp>
        <p:nvSpPr>
          <p:cNvPr id="14" name="TextBox 13"/>
          <p:cNvSpPr txBox="1"/>
          <p:nvPr/>
        </p:nvSpPr>
        <p:spPr>
          <a:xfrm>
            <a:off x="3456432" y="1298448"/>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1</a:t>
            </a:r>
            <a:endParaRPr lang="ja-JP" sz="1200"/>
          </a:p>
        </p:txBody>
      </p:sp>
      <p:sp>
        <p:nvSpPr>
          <p:cNvPr id="15" name="Oval 14"/>
          <p:cNvSpPr/>
          <p:nvPr/>
        </p:nvSpPr>
        <p:spPr>
          <a:xfrm>
            <a:off x="16459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A</a:t>
            </a:r>
          </a:p>
        </p:txBody>
      </p:sp>
      <p:sp>
        <p:nvSpPr>
          <p:cNvPr id="16" name="TextBox 15"/>
          <p:cNvSpPr txBox="1"/>
          <p:nvPr/>
        </p:nvSpPr>
        <p:spPr>
          <a:xfrm>
            <a:off x="2084832" y="2057400"/>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2</a:t>
            </a:r>
            <a:endParaRPr lang="ja-JP" sz="1200"/>
          </a:p>
        </p:txBody>
      </p:sp>
      <p:sp>
        <p:nvSpPr>
          <p:cNvPr id="17" name="Oval 16"/>
          <p:cNvSpPr/>
          <p:nvPr/>
        </p:nvSpPr>
        <p:spPr>
          <a:xfrm>
            <a:off x="46177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B</a:t>
            </a:r>
          </a:p>
        </p:txBody>
      </p:sp>
      <p:sp>
        <p:nvSpPr>
          <p:cNvPr id="18" name="TextBox 17"/>
          <p:cNvSpPr txBox="1"/>
          <p:nvPr/>
        </p:nvSpPr>
        <p:spPr>
          <a:xfrm>
            <a:off x="5056631" y="2057400"/>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3</a:t>
            </a:r>
            <a:endParaRPr lang="ja-JP" sz="1200"/>
          </a:p>
        </p:txBody>
      </p:sp>
      <p:sp>
        <p:nvSpPr>
          <p:cNvPr id="19" name="Oval 18"/>
          <p:cNvSpPr/>
          <p:nvPr/>
        </p:nvSpPr>
        <p:spPr>
          <a:xfrm>
            <a:off x="758952"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C</a:t>
            </a:r>
          </a:p>
        </p:txBody>
      </p:sp>
      <p:sp>
        <p:nvSpPr>
          <p:cNvPr id="20" name="TextBox 19"/>
          <p:cNvSpPr txBox="1"/>
          <p:nvPr/>
        </p:nvSpPr>
        <p:spPr>
          <a:xfrm>
            <a:off x="1197864"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4</a:t>
            </a:r>
            <a:endParaRPr lang="ja-JP" sz="1200"/>
          </a:p>
        </p:txBody>
      </p:sp>
      <p:sp>
        <p:nvSpPr>
          <p:cNvPr id="21" name="Oval 20"/>
          <p:cNvSpPr/>
          <p:nvPr/>
        </p:nvSpPr>
        <p:spPr>
          <a:xfrm>
            <a:off x="2523744"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D</a:t>
            </a:r>
          </a:p>
        </p:txBody>
      </p:sp>
      <p:sp>
        <p:nvSpPr>
          <p:cNvPr id="22" name="TextBox 21"/>
          <p:cNvSpPr txBox="1"/>
          <p:nvPr/>
        </p:nvSpPr>
        <p:spPr>
          <a:xfrm>
            <a:off x="2962656"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5</a:t>
            </a:r>
            <a:endParaRPr lang="ja-JP" sz="1200"/>
          </a:p>
        </p:txBody>
      </p:sp>
      <p:sp>
        <p:nvSpPr>
          <p:cNvPr id="23" name="Oval 22"/>
          <p:cNvSpPr/>
          <p:nvPr/>
        </p:nvSpPr>
        <p:spPr>
          <a:xfrm>
            <a:off x="3840480"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E</a:t>
            </a:r>
          </a:p>
        </p:txBody>
      </p:sp>
      <p:sp>
        <p:nvSpPr>
          <p:cNvPr id="24" name="TextBox 23"/>
          <p:cNvSpPr txBox="1"/>
          <p:nvPr/>
        </p:nvSpPr>
        <p:spPr>
          <a:xfrm>
            <a:off x="4279392"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6</a:t>
            </a:r>
            <a:endParaRPr lang="ja-JP" sz="1200"/>
          </a:p>
        </p:txBody>
      </p:sp>
      <p:sp>
        <p:nvSpPr>
          <p:cNvPr id="25" name="Oval 24"/>
          <p:cNvSpPr/>
          <p:nvPr/>
        </p:nvSpPr>
        <p:spPr>
          <a:xfrm>
            <a:off x="5349240"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F</a:t>
            </a:r>
          </a:p>
        </p:txBody>
      </p:sp>
      <p:sp>
        <p:nvSpPr>
          <p:cNvPr id="26" name="TextBox 25"/>
          <p:cNvSpPr txBox="1"/>
          <p:nvPr/>
        </p:nvSpPr>
        <p:spPr>
          <a:xfrm>
            <a:off x="5788152"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7</a:t>
            </a:r>
            <a:endParaRPr lang="ja-JP" sz="1200"/>
          </a:p>
        </p:txBody>
      </p:sp>
      <p:sp>
        <p:nvSpPr>
          <p:cNvPr id="27" name="Oval 26"/>
          <p:cNvSpPr/>
          <p:nvPr/>
        </p:nvSpPr>
        <p:spPr>
          <a:xfrm>
            <a:off x="365760"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G</a:t>
            </a:r>
          </a:p>
        </p:txBody>
      </p:sp>
      <p:sp>
        <p:nvSpPr>
          <p:cNvPr id="28" name="TextBox 27"/>
          <p:cNvSpPr txBox="1"/>
          <p:nvPr/>
        </p:nvSpPr>
        <p:spPr>
          <a:xfrm>
            <a:off x="804672" y="3648456"/>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8</a:t>
            </a:r>
            <a:endParaRPr lang="ja-JP" sz="1200"/>
          </a:p>
        </p:txBody>
      </p:sp>
      <p:sp>
        <p:nvSpPr>
          <p:cNvPr id="29" name="Oval 28"/>
          <p:cNvSpPr/>
          <p:nvPr/>
        </p:nvSpPr>
        <p:spPr>
          <a:xfrm>
            <a:off x="1261872"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H</a:t>
            </a:r>
          </a:p>
        </p:txBody>
      </p:sp>
      <p:sp>
        <p:nvSpPr>
          <p:cNvPr id="30" name="TextBox 29"/>
          <p:cNvSpPr txBox="1"/>
          <p:nvPr/>
        </p:nvSpPr>
        <p:spPr>
          <a:xfrm>
            <a:off x="1700784" y="3648456"/>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9</a:t>
            </a:r>
            <a:endParaRPr lang="ja-JP" sz="1200"/>
          </a:p>
        </p:txBody>
      </p:sp>
      <p:sp>
        <p:nvSpPr>
          <p:cNvPr id="31" name="TextBox 30"/>
          <p:cNvSpPr txBox="1"/>
          <p:nvPr/>
        </p:nvSpPr>
        <p:spPr>
          <a:xfrm>
            <a:off x="6217920" y="1463040"/>
            <a:ext cx="2423160" cy="237744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深さ0 → 1 → 2 → 3</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先入れ先出し</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キュー（FIFO）</a:t>
            </a:r>
            <a:endParaRPr lang="ja-JP" sz="1900"/>
          </a:p>
        </p:txBody>
      </p:sp>
      <p:sp>
        <p:nvSpPr>
          <p:cNvPr id="32" name="TextBox 31"/>
          <p:cNvSpPr txBox="1"/>
          <p:nvPr/>
        </p:nvSpPr>
        <p:spPr>
          <a:xfrm>
            <a:off x="502920" y="4343400"/>
            <a:ext cx="8229600" cy="320040"/>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順序：S → A → B → C → D → E → F → G → H</a:t>
            </a:r>
            <a:endParaRPr lang="ja-JP" sz="180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深さ優先探索：一つの枝を深く調べる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9</a:t>
            </a:r>
            <a:endParaRPr lang="ja-JP" sz="1050"/>
          </a:p>
        </p:txBody>
      </p:sp>
      <p:cxnSp>
        <p:nvCxnSpPr>
          <p:cNvPr id="5" name="Connector 4"/>
          <p:cNvCxnSpPr/>
          <p:nvPr/>
        </p:nvCxnSpPr>
        <p:spPr>
          <a:xfrm flipH="1">
            <a:off x="1901952" y="1810512"/>
            <a:ext cx="13716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273552" y="1810512"/>
            <a:ext cx="16002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14983" y="2569464"/>
            <a:ext cx="886969"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01952" y="2569464"/>
            <a:ext cx="877824"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096512" y="2569464"/>
            <a:ext cx="77724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873752" y="2569464"/>
            <a:ext cx="73152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21792" y="3374136"/>
            <a:ext cx="39319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14983" y="3374136"/>
            <a:ext cx="50292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17520" y="1417320"/>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S</a:t>
            </a:r>
          </a:p>
        </p:txBody>
      </p:sp>
      <p:sp>
        <p:nvSpPr>
          <p:cNvPr id="14" name="TextBox 13"/>
          <p:cNvSpPr txBox="1"/>
          <p:nvPr/>
        </p:nvSpPr>
        <p:spPr>
          <a:xfrm>
            <a:off x="3456432" y="1298448"/>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1</a:t>
            </a:r>
            <a:endParaRPr lang="ja-JP" sz="1200"/>
          </a:p>
        </p:txBody>
      </p:sp>
      <p:sp>
        <p:nvSpPr>
          <p:cNvPr id="15" name="Oval 14"/>
          <p:cNvSpPr/>
          <p:nvPr/>
        </p:nvSpPr>
        <p:spPr>
          <a:xfrm>
            <a:off x="16459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A</a:t>
            </a:r>
          </a:p>
        </p:txBody>
      </p:sp>
      <p:sp>
        <p:nvSpPr>
          <p:cNvPr id="16" name="TextBox 15"/>
          <p:cNvSpPr txBox="1"/>
          <p:nvPr/>
        </p:nvSpPr>
        <p:spPr>
          <a:xfrm>
            <a:off x="2084832" y="2057400"/>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2</a:t>
            </a:r>
            <a:endParaRPr lang="ja-JP" sz="1200"/>
          </a:p>
        </p:txBody>
      </p:sp>
      <p:sp>
        <p:nvSpPr>
          <p:cNvPr id="17" name="Oval 16"/>
          <p:cNvSpPr/>
          <p:nvPr/>
        </p:nvSpPr>
        <p:spPr>
          <a:xfrm>
            <a:off x="46177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B</a:t>
            </a:r>
          </a:p>
        </p:txBody>
      </p:sp>
      <p:sp>
        <p:nvSpPr>
          <p:cNvPr id="18" name="TextBox 17"/>
          <p:cNvSpPr txBox="1"/>
          <p:nvPr/>
        </p:nvSpPr>
        <p:spPr>
          <a:xfrm>
            <a:off x="5056631" y="2057400"/>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7</a:t>
            </a:r>
            <a:endParaRPr lang="ja-JP" sz="1200"/>
          </a:p>
        </p:txBody>
      </p:sp>
      <p:sp>
        <p:nvSpPr>
          <p:cNvPr id="19" name="Oval 18"/>
          <p:cNvSpPr/>
          <p:nvPr/>
        </p:nvSpPr>
        <p:spPr>
          <a:xfrm>
            <a:off x="758952"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C</a:t>
            </a:r>
          </a:p>
        </p:txBody>
      </p:sp>
      <p:sp>
        <p:nvSpPr>
          <p:cNvPr id="20" name="TextBox 19"/>
          <p:cNvSpPr txBox="1"/>
          <p:nvPr/>
        </p:nvSpPr>
        <p:spPr>
          <a:xfrm>
            <a:off x="1197864"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3</a:t>
            </a:r>
            <a:endParaRPr lang="ja-JP" sz="1200"/>
          </a:p>
        </p:txBody>
      </p:sp>
      <p:sp>
        <p:nvSpPr>
          <p:cNvPr id="21" name="Oval 20"/>
          <p:cNvSpPr/>
          <p:nvPr/>
        </p:nvSpPr>
        <p:spPr>
          <a:xfrm>
            <a:off x="2523744"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D</a:t>
            </a:r>
          </a:p>
        </p:txBody>
      </p:sp>
      <p:sp>
        <p:nvSpPr>
          <p:cNvPr id="22" name="TextBox 21"/>
          <p:cNvSpPr txBox="1"/>
          <p:nvPr/>
        </p:nvSpPr>
        <p:spPr>
          <a:xfrm>
            <a:off x="2962656"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6</a:t>
            </a:r>
            <a:endParaRPr lang="ja-JP" sz="1200"/>
          </a:p>
        </p:txBody>
      </p:sp>
      <p:sp>
        <p:nvSpPr>
          <p:cNvPr id="23" name="Oval 22"/>
          <p:cNvSpPr/>
          <p:nvPr/>
        </p:nvSpPr>
        <p:spPr>
          <a:xfrm>
            <a:off x="3840480"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E</a:t>
            </a:r>
          </a:p>
        </p:txBody>
      </p:sp>
      <p:sp>
        <p:nvSpPr>
          <p:cNvPr id="24" name="TextBox 23"/>
          <p:cNvSpPr txBox="1"/>
          <p:nvPr/>
        </p:nvSpPr>
        <p:spPr>
          <a:xfrm>
            <a:off x="4279392"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8</a:t>
            </a:r>
            <a:endParaRPr lang="ja-JP" sz="1200"/>
          </a:p>
        </p:txBody>
      </p:sp>
      <p:sp>
        <p:nvSpPr>
          <p:cNvPr id="25" name="Oval 24"/>
          <p:cNvSpPr/>
          <p:nvPr/>
        </p:nvSpPr>
        <p:spPr>
          <a:xfrm>
            <a:off x="5349240"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F</a:t>
            </a:r>
          </a:p>
        </p:txBody>
      </p:sp>
      <p:sp>
        <p:nvSpPr>
          <p:cNvPr id="26" name="TextBox 25"/>
          <p:cNvSpPr txBox="1"/>
          <p:nvPr/>
        </p:nvSpPr>
        <p:spPr>
          <a:xfrm>
            <a:off x="5788152" y="2862072"/>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9</a:t>
            </a:r>
            <a:endParaRPr lang="ja-JP" sz="1200"/>
          </a:p>
        </p:txBody>
      </p:sp>
      <p:sp>
        <p:nvSpPr>
          <p:cNvPr id="27" name="Oval 26"/>
          <p:cNvSpPr/>
          <p:nvPr/>
        </p:nvSpPr>
        <p:spPr>
          <a:xfrm>
            <a:off x="365760"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G</a:t>
            </a:r>
          </a:p>
        </p:txBody>
      </p:sp>
      <p:sp>
        <p:nvSpPr>
          <p:cNvPr id="28" name="TextBox 27"/>
          <p:cNvSpPr txBox="1"/>
          <p:nvPr/>
        </p:nvSpPr>
        <p:spPr>
          <a:xfrm>
            <a:off x="804672" y="3648456"/>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4</a:t>
            </a:r>
            <a:endParaRPr lang="ja-JP" sz="1200"/>
          </a:p>
        </p:txBody>
      </p:sp>
      <p:sp>
        <p:nvSpPr>
          <p:cNvPr id="29" name="Oval 28"/>
          <p:cNvSpPr/>
          <p:nvPr/>
        </p:nvSpPr>
        <p:spPr>
          <a:xfrm>
            <a:off x="1261872"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H</a:t>
            </a:r>
          </a:p>
        </p:txBody>
      </p:sp>
      <p:sp>
        <p:nvSpPr>
          <p:cNvPr id="30" name="TextBox 29"/>
          <p:cNvSpPr txBox="1"/>
          <p:nvPr/>
        </p:nvSpPr>
        <p:spPr>
          <a:xfrm>
            <a:off x="1700784" y="3648456"/>
            <a:ext cx="27432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FF0000"/>
                </a:solidFill>
                <a:latin typeface="Arial"/>
                <a:ea typeface="ＭＳ Ｐゴシック"/>
                <a:cs typeface="ＭＳ Ｐゴシック"/>
              </a:rPr>
              <a:t>5</a:t>
            </a:r>
            <a:endParaRPr lang="ja-JP" sz="1200"/>
          </a:p>
        </p:txBody>
      </p:sp>
      <p:sp>
        <p:nvSpPr>
          <p:cNvPr id="31" name="TextBox 30"/>
          <p:cNvSpPr txBox="1"/>
          <p:nvPr/>
        </p:nvSpPr>
        <p:spPr>
          <a:xfrm>
            <a:off x="6217920" y="1463040"/>
            <a:ext cx="2423160" cy="237744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深く進む → 戻る</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後入れ先出し</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スタック（LIFO）</a:t>
            </a:r>
            <a:endParaRPr lang="ja-JP" sz="1900"/>
          </a:p>
        </p:txBody>
      </p:sp>
      <p:sp>
        <p:nvSpPr>
          <p:cNvPr id="32" name="TextBox 31"/>
          <p:cNvSpPr txBox="1"/>
          <p:nvPr/>
        </p:nvSpPr>
        <p:spPr>
          <a:xfrm>
            <a:off x="502920" y="4343400"/>
            <a:ext cx="8229600" cy="320040"/>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順序：S → A → C → G → H → D → B → E → F</a:t>
            </a:r>
            <a:endParaRPr lang="ja-JP" sz="18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幅優先と深さ優先：順序と保証を区別する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10</a:t>
            </a:r>
            <a:endParaRPr lang="ja-JP" sz="1050"/>
          </a:p>
        </p:txBody>
      </p:sp>
      <p:sp>
        <p:nvSpPr>
          <p:cNvPr id="5" name="Rectangle 4"/>
          <p:cNvSpPr/>
          <p:nvPr/>
        </p:nvSpPr>
        <p:spPr>
          <a:xfrm>
            <a:off x="365760" y="1188720"/>
            <a:ext cx="196596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比較点</a:t>
            </a:r>
          </a:p>
        </p:txBody>
      </p:sp>
      <p:sp>
        <p:nvSpPr>
          <p:cNvPr id="6" name="Rectangle 5"/>
          <p:cNvSpPr/>
          <p:nvPr/>
        </p:nvSpPr>
        <p:spPr>
          <a:xfrm>
            <a:off x="2331720" y="1188720"/>
            <a:ext cx="320040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幅優先探索</a:t>
            </a:r>
          </a:p>
        </p:txBody>
      </p:sp>
      <p:sp>
        <p:nvSpPr>
          <p:cNvPr id="7" name="Rectangle 6"/>
          <p:cNvSpPr/>
          <p:nvPr/>
        </p:nvSpPr>
        <p:spPr>
          <a:xfrm>
            <a:off x="5532120" y="1188720"/>
            <a:ext cx="3200400" cy="521207"/>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深さ優先探索</a:t>
            </a:r>
          </a:p>
        </p:txBody>
      </p:sp>
      <p:sp>
        <p:nvSpPr>
          <p:cNvPr id="8" name="Rectangle 7"/>
          <p:cNvSpPr/>
          <p:nvPr/>
        </p:nvSpPr>
        <p:spPr>
          <a:xfrm>
            <a:off x="365760" y="1709928"/>
            <a:ext cx="196596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優先する候補</a:t>
            </a:r>
          </a:p>
        </p:txBody>
      </p:sp>
      <p:sp>
        <p:nvSpPr>
          <p:cNvPr id="9" name="Rectangle 8"/>
          <p:cNvSpPr/>
          <p:nvPr/>
        </p:nvSpPr>
        <p:spPr>
          <a:xfrm>
            <a:off x="2331720" y="1709928"/>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深さが浅い</a:t>
            </a:r>
          </a:p>
        </p:txBody>
      </p:sp>
      <p:sp>
        <p:nvSpPr>
          <p:cNvPr id="10" name="Rectangle 9"/>
          <p:cNvSpPr/>
          <p:nvPr/>
        </p:nvSpPr>
        <p:spPr>
          <a:xfrm>
            <a:off x="5532120" y="1709928"/>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深さが深い</a:t>
            </a:r>
          </a:p>
        </p:txBody>
      </p:sp>
      <p:sp>
        <p:nvSpPr>
          <p:cNvPr id="11" name="Rectangle 10"/>
          <p:cNvSpPr/>
          <p:nvPr/>
        </p:nvSpPr>
        <p:spPr>
          <a:xfrm>
            <a:off x="365760" y="2231136"/>
            <a:ext cx="196596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管理の基本</a:t>
            </a:r>
          </a:p>
        </p:txBody>
      </p:sp>
      <p:sp>
        <p:nvSpPr>
          <p:cNvPr id="12" name="Rectangle 11"/>
          <p:cNvSpPr/>
          <p:nvPr/>
        </p:nvSpPr>
        <p:spPr>
          <a:xfrm>
            <a:off x="2331720" y="2231136"/>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キュー／FIFO</a:t>
            </a:r>
          </a:p>
        </p:txBody>
      </p:sp>
      <p:sp>
        <p:nvSpPr>
          <p:cNvPr id="13" name="Rectangle 12"/>
          <p:cNvSpPr/>
          <p:nvPr/>
        </p:nvSpPr>
        <p:spPr>
          <a:xfrm>
            <a:off x="5532120" y="2231136"/>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スタック／LIFO</a:t>
            </a:r>
          </a:p>
        </p:txBody>
      </p:sp>
      <p:sp>
        <p:nvSpPr>
          <p:cNvPr id="14" name="Rectangle 13"/>
          <p:cNvSpPr/>
          <p:nvPr/>
        </p:nvSpPr>
        <p:spPr>
          <a:xfrm>
            <a:off x="365760" y="2752344"/>
            <a:ext cx="196596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最小手数</a:t>
            </a:r>
          </a:p>
        </p:txBody>
      </p:sp>
      <p:sp>
        <p:nvSpPr>
          <p:cNvPr id="15" name="Rectangle 14"/>
          <p:cNvSpPr/>
          <p:nvPr/>
        </p:nvSpPr>
        <p:spPr>
          <a:xfrm>
            <a:off x="2331720" y="2752344"/>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保証あり※</a:t>
            </a:r>
          </a:p>
        </p:txBody>
      </p:sp>
      <p:sp>
        <p:nvSpPr>
          <p:cNvPr id="16" name="Rectangle 15"/>
          <p:cNvSpPr/>
          <p:nvPr/>
        </p:nvSpPr>
        <p:spPr>
          <a:xfrm>
            <a:off x="5532120" y="2752344"/>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保証なし</a:t>
            </a:r>
          </a:p>
        </p:txBody>
      </p:sp>
      <p:sp>
        <p:nvSpPr>
          <p:cNvPr id="17" name="Rectangle 16"/>
          <p:cNvSpPr/>
          <p:nvPr/>
        </p:nvSpPr>
        <p:spPr>
          <a:xfrm>
            <a:off x="365760" y="3273552"/>
            <a:ext cx="196596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探索待ち候補のメモリ</a:t>
            </a:r>
          </a:p>
        </p:txBody>
      </p:sp>
      <p:sp>
        <p:nvSpPr>
          <p:cNvPr id="18" name="Rectangle 17"/>
          <p:cNvSpPr/>
          <p:nvPr/>
        </p:nvSpPr>
        <p:spPr>
          <a:xfrm>
            <a:off x="2331720" y="3273552"/>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多くなりやすい</a:t>
            </a:r>
          </a:p>
        </p:txBody>
      </p:sp>
      <p:sp>
        <p:nvSpPr>
          <p:cNvPr id="19" name="Rectangle 18"/>
          <p:cNvSpPr/>
          <p:nvPr/>
        </p:nvSpPr>
        <p:spPr>
          <a:xfrm>
            <a:off x="5532120" y="3273552"/>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少なくしやすい</a:t>
            </a:r>
          </a:p>
        </p:txBody>
      </p:sp>
      <p:sp>
        <p:nvSpPr>
          <p:cNvPr id="20" name="Rectangle 19"/>
          <p:cNvSpPr/>
          <p:nvPr/>
        </p:nvSpPr>
        <p:spPr>
          <a:xfrm>
            <a:off x="365760" y="3794759"/>
            <a:ext cx="196596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注意点</a:t>
            </a:r>
          </a:p>
        </p:txBody>
      </p:sp>
      <p:sp>
        <p:nvSpPr>
          <p:cNvPr id="21" name="Rectangle 20"/>
          <p:cNvSpPr/>
          <p:nvPr/>
        </p:nvSpPr>
        <p:spPr>
          <a:xfrm>
            <a:off x="2331720" y="3794759"/>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最小手数と最小コストは別</a:t>
            </a:r>
          </a:p>
        </p:txBody>
      </p:sp>
      <p:sp>
        <p:nvSpPr>
          <p:cNvPr id="22" name="Rectangle 21"/>
          <p:cNvSpPr/>
          <p:nvPr/>
        </p:nvSpPr>
        <p:spPr>
          <a:xfrm>
            <a:off x="5532120" y="3794759"/>
            <a:ext cx="3200400" cy="521207"/>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循環・無限深さに対策が必要</a:t>
            </a:r>
          </a:p>
        </p:txBody>
      </p:sp>
      <p:sp>
        <p:nvSpPr>
          <p:cNvPr id="23" name="TextBox 22"/>
          <p:cNvSpPr txBox="1"/>
          <p:nvPr/>
        </p:nvSpPr>
        <p:spPr>
          <a:xfrm>
            <a:off x="502920" y="4443984"/>
            <a:ext cx="8229600" cy="237744"/>
          </a:xfrm>
          <a:prstGeom prst="rect">
            <a:avLst/>
          </a:prstGeom>
          <a:noFill/>
        </p:spPr>
        <p:txBody>
          <a:bodyPr wrap="square" anchor="t" lIns="0" rIns="0" tIns="0" bIns="0">
            <a:noAutofit/>
          </a:bodyPr>
          <a:lstStyle/>
          <a:p>
            <a:pPr algn="l">
              <a:lnSpc>
                <a:spcPct val="113000"/>
              </a:lnSpc>
              <a:spcAft>
                <a:spcPts val="0"/>
              </a:spcAft>
            </a:pPr>
            <a:r>
              <a:rPr sz="1250" b="0" lang="ja-JP">
                <a:solidFill>
                  <a:srgbClr val="707070"/>
                </a:solidFill>
                <a:latin typeface="Arial"/>
                <a:ea typeface="ＭＳ Ｐゴシック"/>
                <a:cs typeface="ＭＳ Ｐゴシック"/>
              </a:rPr>
              <a:t>※有限の分岐数・有限深さの解を前提．最小コストは，枝のコストが等しい場合．</a:t>
            </a:r>
            <a:endParaRPr lang="ja-JP" sz="125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演習1：Eを見つけるまでの順序</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11</a:t>
            </a:r>
            <a:endParaRPr lang="ja-JP" sz="1050"/>
          </a:p>
        </p:txBody>
      </p:sp>
      <p:cxnSp>
        <p:nvCxnSpPr>
          <p:cNvPr id="5" name="Connector 4"/>
          <p:cNvCxnSpPr/>
          <p:nvPr/>
        </p:nvCxnSpPr>
        <p:spPr>
          <a:xfrm flipH="1">
            <a:off x="1901952" y="1810512"/>
            <a:ext cx="13716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3273552" y="1810512"/>
            <a:ext cx="1600200" cy="36576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014983" y="2569464"/>
            <a:ext cx="886969"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1901952" y="2569464"/>
            <a:ext cx="877824"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096512" y="2569464"/>
            <a:ext cx="77724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873752" y="2569464"/>
            <a:ext cx="731520" cy="411480"/>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a:off x="621792" y="3374136"/>
            <a:ext cx="39319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014983" y="3374136"/>
            <a:ext cx="502921" cy="393192"/>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3017520" y="1417320"/>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S</a:t>
            </a:r>
          </a:p>
        </p:txBody>
      </p:sp>
      <p:sp>
        <p:nvSpPr>
          <p:cNvPr id="14" name="Oval 13"/>
          <p:cNvSpPr/>
          <p:nvPr/>
        </p:nvSpPr>
        <p:spPr>
          <a:xfrm>
            <a:off x="16459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A</a:t>
            </a:r>
          </a:p>
        </p:txBody>
      </p:sp>
      <p:sp>
        <p:nvSpPr>
          <p:cNvPr id="15" name="Oval 14"/>
          <p:cNvSpPr/>
          <p:nvPr/>
        </p:nvSpPr>
        <p:spPr>
          <a:xfrm>
            <a:off x="4617720" y="2176272"/>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B</a:t>
            </a:r>
          </a:p>
        </p:txBody>
      </p:sp>
      <p:sp>
        <p:nvSpPr>
          <p:cNvPr id="16" name="Oval 15"/>
          <p:cNvSpPr/>
          <p:nvPr/>
        </p:nvSpPr>
        <p:spPr>
          <a:xfrm>
            <a:off x="758952"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C</a:t>
            </a:r>
          </a:p>
        </p:txBody>
      </p:sp>
      <p:sp>
        <p:nvSpPr>
          <p:cNvPr id="17" name="Oval 16"/>
          <p:cNvSpPr/>
          <p:nvPr/>
        </p:nvSpPr>
        <p:spPr>
          <a:xfrm>
            <a:off x="2523744"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D</a:t>
            </a:r>
          </a:p>
        </p:txBody>
      </p:sp>
      <p:sp>
        <p:nvSpPr>
          <p:cNvPr id="18" name="Oval 17"/>
          <p:cNvSpPr/>
          <p:nvPr/>
        </p:nvSpPr>
        <p:spPr>
          <a:xfrm>
            <a:off x="3840480" y="2980944"/>
            <a:ext cx="512064" cy="393192"/>
          </a:xfrm>
          <a:prstGeom prst="ellipse">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FF0000"/>
                </a:solidFill>
                <a:latin typeface="Arial"/>
                <a:ea typeface="ＭＳ Ｐゴシック"/>
                <a:cs typeface="ＭＳ Ｐゴシック"/>
              </a:rPr>
              <a:t>E</a:t>
            </a:r>
          </a:p>
        </p:txBody>
      </p:sp>
      <p:sp>
        <p:nvSpPr>
          <p:cNvPr id="19" name="Oval 18"/>
          <p:cNvSpPr/>
          <p:nvPr/>
        </p:nvSpPr>
        <p:spPr>
          <a:xfrm>
            <a:off x="5349240" y="2980944"/>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F</a:t>
            </a:r>
          </a:p>
        </p:txBody>
      </p:sp>
      <p:sp>
        <p:nvSpPr>
          <p:cNvPr id="20" name="Oval 19"/>
          <p:cNvSpPr/>
          <p:nvPr/>
        </p:nvSpPr>
        <p:spPr>
          <a:xfrm>
            <a:off x="365760"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G</a:t>
            </a:r>
          </a:p>
        </p:txBody>
      </p:sp>
      <p:sp>
        <p:nvSpPr>
          <p:cNvPr id="21" name="Oval 20"/>
          <p:cNvSpPr/>
          <p:nvPr/>
        </p:nvSpPr>
        <p:spPr>
          <a:xfrm>
            <a:off x="1261872" y="3767328"/>
            <a:ext cx="512064" cy="393192"/>
          </a:xfrm>
          <a:prstGeom prst="ellipse">
            <a:avLst/>
          </a:prstGeom>
          <a:solidFill>
            <a:srgbClr val="FFFFFF"/>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H</a:t>
            </a:r>
          </a:p>
        </p:txBody>
      </p:sp>
      <p:sp>
        <p:nvSpPr>
          <p:cNvPr id="22" name="TextBox 21"/>
          <p:cNvSpPr txBox="1"/>
          <p:nvPr/>
        </p:nvSpPr>
        <p:spPr>
          <a:xfrm>
            <a:off x="6236208" y="1481328"/>
            <a:ext cx="2423160" cy="246888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① 幅優先の順序は？</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② 深さ優先の順序は？</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
            </a:r>
            <a:endParaRPr lang="ja-JP" sz="1900"/>
          </a:p>
          <a:p>
            <a:pPr algn="l">
              <a:lnSpc>
                <a:spcPct val="113000"/>
              </a:lnSpc>
              <a:spcAft>
                <a:spcPts val="0"/>
              </a:spcAft>
            </a:pPr>
            <a:r>
              <a:rPr sz="1900" b="0" lang="ja-JP">
                <a:solidFill>
                  <a:srgbClr val="404040"/>
                </a:solidFill>
                <a:latin typeface="Arial"/>
                <a:ea typeface="ＭＳ Ｐゴシック"/>
                <a:cs typeface="ＭＳ Ｐゴシック"/>
              </a:rPr>
              <a:t>③ 解の経路は？</a:t>
            </a:r>
            <a:endParaRPr lang="ja-JP" sz="1900"/>
          </a:p>
        </p:txBody>
      </p:sp>
      <p:sp>
        <p:nvSpPr>
          <p:cNvPr id="23" name="TextBox 22"/>
          <p:cNvSpPr txBox="1"/>
          <p:nvPr/>
        </p:nvSpPr>
        <p:spPr>
          <a:xfrm>
            <a:off x="502920" y="4343400"/>
            <a:ext cx="8229600" cy="347472"/>
          </a:xfrm>
          <a:prstGeom prst="rect">
            <a:avLst/>
          </a:prstGeom>
          <a:noFill/>
        </p:spPr>
        <p:txBody>
          <a:bodyPr wrap="square" anchor="t" lIns="0" rIns="0" tIns="0" bIns="0">
            <a:noAutofit/>
          </a:bodyPr>
          <a:lstStyle/>
          <a:p>
            <a:pPr algn="l">
              <a:lnSpc>
                <a:spcPct val="113000"/>
              </a:lnSpc>
              <a:spcAft>
                <a:spcPts val="0"/>
              </a:spcAft>
            </a:pPr>
            <a:r>
              <a:rPr sz="1700" b="0" lang="ja-JP">
                <a:solidFill>
                  <a:srgbClr val="FF0000"/>
                </a:solidFill>
                <a:latin typeface="Arial"/>
                <a:ea typeface="ＭＳ Ｐゴシック"/>
                <a:cs typeface="ＭＳ Ｐゴシック"/>
              </a:rPr>
              <a:t>約束：左の子を先に調べる．取り出した時点で目標を判定する．</a:t>
            </a:r>
            <a:endParaRPr lang="ja-JP" sz="170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演習1：解答と確認</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基本探索　12</a:t>
            </a:r>
            <a:endParaRPr lang="ja-JP" sz="1050"/>
          </a:p>
        </p:txBody>
      </p:sp>
      <p:sp>
        <p:nvSpPr>
          <p:cNvPr id="5" name="TextBox 4"/>
          <p:cNvSpPr txBox="1"/>
          <p:nvPr/>
        </p:nvSpPr>
        <p:spPr>
          <a:xfrm>
            <a:off x="594360" y="1307592"/>
            <a:ext cx="2743200" cy="347472"/>
          </a:xfrm>
          <a:prstGeom prst="rect">
            <a:avLst/>
          </a:prstGeom>
          <a:noFill/>
        </p:spPr>
        <p:txBody>
          <a:bodyPr wrap="square" anchor="t" lIns="0" rIns="0" tIns="0" bIns="0">
            <a:noAutofit/>
          </a:bodyPr>
          <a:lstStyle/>
          <a:p>
            <a:pPr algn="l">
              <a:lnSpc>
                <a:spcPct val="113000"/>
              </a:lnSpc>
              <a:spcAft>
                <a:spcPts val="0"/>
              </a:spcAft>
            </a:pPr>
            <a:r>
              <a:rPr sz="2200" b="0" lang="ja-JP">
                <a:solidFill>
                  <a:srgbClr val="000000"/>
                </a:solidFill>
                <a:latin typeface="Arial"/>
                <a:ea typeface="ＭＳ Ｐゴシック"/>
                <a:cs typeface="ＭＳ Ｐゴシック"/>
              </a:rPr>
              <a:t>幅優先探索</a:t>
            </a:r>
            <a:endParaRPr lang="ja-JP" sz="2200"/>
          </a:p>
        </p:txBody>
      </p:sp>
      <p:sp>
        <p:nvSpPr>
          <p:cNvPr id="6" name="TextBox 5"/>
          <p:cNvSpPr txBox="1"/>
          <p:nvPr/>
        </p:nvSpPr>
        <p:spPr>
          <a:xfrm>
            <a:off x="777240" y="1783080"/>
            <a:ext cx="7498079" cy="457200"/>
          </a:xfrm>
          <a:prstGeom prst="rect">
            <a:avLst/>
          </a:prstGeom>
          <a:noFill/>
        </p:spPr>
        <p:txBody>
          <a:bodyPr wrap="square" anchor="t" lIns="0" rIns="0" tIns="0" bIns="0">
            <a:noAutofit/>
          </a:bodyPr>
          <a:lstStyle/>
          <a:p>
            <a:pPr algn="l">
              <a:lnSpc>
                <a:spcPct val="113000"/>
              </a:lnSpc>
              <a:spcAft>
                <a:spcPts val="0"/>
              </a:spcAft>
            </a:pPr>
            <a:r>
              <a:rPr sz="2300" b="0" lang="ja-JP">
                <a:solidFill>
                  <a:srgbClr val="FF0000"/>
                </a:solidFill>
                <a:latin typeface="Arial"/>
                <a:ea typeface="ＭＳ Ｐゴシック"/>
                <a:cs typeface="ＭＳ Ｐゴシック"/>
              </a:rPr>
              <a:t>S → A → B → C → D → E</a:t>
            </a:r>
            <a:endParaRPr lang="ja-JP" sz="2300"/>
          </a:p>
        </p:txBody>
      </p:sp>
      <p:sp>
        <p:nvSpPr>
          <p:cNvPr id="7" name="TextBox 6"/>
          <p:cNvSpPr txBox="1"/>
          <p:nvPr/>
        </p:nvSpPr>
        <p:spPr>
          <a:xfrm>
            <a:off x="594360" y="2532888"/>
            <a:ext cx="2743200" cy="347472"/>
          </a:xfrm>
          <a:prstGeom prst="rect">
            <a:avLst/>
          </a:prstGeom>
          <a:noFill/>
        </p:spPr>
        <p:txBody>
          <a:bodyPr wrap="square" anchor="t" lIns="0" rIns="0" tIns="0" bIns="0">
            <a:noAutofit/>
          </a:bodyPr>
          <a:lstStyle/>
          <a:p>
            <a:pPr algn="l">
              <a:lnSpc>
                <a:spcPct val="113000"/>
              </a:lnSpc>
              <a:spcAft>
                <a:spcPts val="0"/>
              </a:spcAft>
            </a:pPr>
            <a:r>
              <a:rPr sz="2200" b="0" lang="ja-JP">
                <a:solidFill>
                  <a:srgbClr val="000000"/>
                </a:solidFill>
                <a:latin typeface="Arial"/>
                <a:ea typeface="ＭＳ Ｐゴシック"/>
                <a:cs typeface="ＭＳ Ｐゴシック"/>
              </a:rPr>
              <a:t>深さ優先探索</a:t>
            </a:r>
            <a:endParaRPr lang="ja-JP" sz="2200"/>
          </a:p>
        </p:txBody>
      </p:sp>
      <p:sp>
        <p:nvSpPr>
          <p:cNvPr id="8" name="TextBox 7"/>
          <p:cNvSpPr txBox="1"/>
          <p:nvPr/>
        </p:nvSpPr>
        <p:spPr>
          <a:xfrm>
            <a:off x="777240" y="2999232"/>
            <a:ext cx="7498079" cy="457200"/>
          </a:xfrm>
          <a:prstGeom prst="rect">
            <a:avLst/>
          </a:prstGeom>
          <a:noFill/>
        </p:spPr>
        <p:txBody>
          <a:bodyPr wrap="square" anchor="t" lIns="0" rIns="0" tIns="0" bIns="0">
            <a:noAutofit/>
          </a:bodyPr>
          <a:lstStyle/>
          <a:p>
            <a:pPr algn="l">
              <a:lnSpc>
                <a:spcPct val="113000"/>
              </a:lnSpc>
              <a:spcAft>
                <a:spcPts val="0"/>
              </a:spcAft>
            </a:pPr>
            <a:r>
              <a:rPr sz="2300" b="0" lang="ja-JP">
                <a:solidFill>
                  <a:srgbClr val="FF0000"/>
                </a:solidFill>
                <a:latin typeface="Arial"/>
                <a:ea typeface="ＭＳ Ｐゴシック"/>
                <a:cs typeface="ＭＳ Ｐゴシック"/>
              </a:rPr>
              <a:t>S → A → C → G → H → D → B → E</a:t>
            </a:r>
            <a:endParaRPr lang="ja-JP" sz="2300"/>
          </a:p>
        </p:txBody>
      </p:sp>
      <p:sp>
        <p:nvSpPr>
          <p:cNvPr id="9" name="TextBox 8"/>
          <p:cNvSpPr txBox="1"/>
          <p:nvPr/>
        </p:nvSpPr>
        <p:spPr>
          <a:xfrm>
            <a:off x="502920" y="4133087"/>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訪問順序と解の経路は別．解の経路は S → B → E．</a:t>
            </a:r>
            <a:endParaRPr lang="ja-JP" sz="190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組合せ爆発：全て調べると候補が増える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参照：JDLA／UC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ゲーム・計画　13</a:t>
            </a:r>
            <a:endParaRPr lang="ja-JP" sz="1050"/>
          </a:p>
        </p:txBody>
      </p:sp>
      <p:sp>
        <p:nvSpPr>
          <p:cNvPr id="5" name="TextBox 4"/>
          <p:cNvSpPr txBox="1"/>
          <p:nvPr/>
        </p:nvSpPr>
        <p:spPr>
          <a:xfrm>
            <a:off x="594360" y="1161288"/>
            <a:ext cx="7955279" cy="36576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ブルートフォース：候補を総当たりで調べる．</a:t>
            </a:r>
            <a:endParaRPr lang="ja-JP" sz="2000"/>
          </a:p>
        </p:txBody>
      </p:sp>
      <p:sp>
        <p:nvSpPr>
          <p:cNvPr id="6" name="Rectangle 5"/>
          <p:cNvSpPr/>
          <p:nvPr/>
        </p:nvSpPr>
        <p:spPr>
          <a:xfrm>
            <a:off x="365760" y="1709928"/>
            <a:ext cx="1920240" cy="44805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深さ</a:t>
            </a:r>
          </a:p>
        </p:txBody>
      </p:sp>
      <p:sp>
        <p:nvSpPr>
          <p:cNvPr id="7" name="Rectangle 6"/>
          <p:cNvSpPr/>
          <p:nvPr/>
        </p:nvSpPr>
        <p:spPr>
          <a:xfrm>
            <a:off x="2286000" y="1709928"/>
            <a:ext cx="6446520" cy="44805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その深さの候補数（分岐数10）</a:t>
            </a:r>
          </a:p>
        </p:txBody>
      </p:sp>
      <p:sp>
        <p:nvSpPr>
          <p:cNvPr id="8" name="Rectangle 7"/>
          <p:cNvSpPr/>
          <p:nvPr/>
        </p:nvSpPr>
        <p:spPr>
          <a:xfrm>
            <a:off x="365760" y="2157984"/>
            <a:ext cx="192024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1</a:t>
            </a:r>
          </a:p>
        </p:txBody>
      </p:sp>
      <p:sp>
        <p:nvSpPr>
          <p:cNvPr id="9" name="Rectangle 8"/>
          <p:cNvSpPr/>
          <p:nvPr/>
        </p:nvSpPr>
        <p:spPr>
          <a:xfrm>
            <a:off x="2286000" y="2157984"/>
            <a:ext cx="644652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10</a:t>
            </a:r>
          </a:p>
        </p:txBody>
      </p:sp>
      <p:sp>
        <p:nvSpPr>
          <p:cNvPr id="10" name="Rectangle 9"/>
          <p:cNvSpPr/>
          <p:nvPr/>
        </p:nvSpPr>
        <p:spPr>
          <a:xfrm>
            <a:off x="365760" y="2606040"/>
            <a:ext cx="192024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2</a:t>
            </a:r>
          </a:p>
        </p:txBody>
      </p:sp>
      <p:sp>
        <p:nvSpPr>
          <p:cNvPr id="11" name="Rectangle 10"/>
          <p:cNvSpPr/>
          <p:nvPr/>
        </p:nvSpPr>
        <p:spPr>
          <a:xfrm>
            <a:off x="2286000" y="2606040"/>
            <a:ext cx="644652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100</a:t>
            </a:r>
          </a:p>
        </p:txBody>
      </p:sp>
      <p:sp>
        <p:nvSpPr>
          <p:cNvPr id="12" name="Rectangle 11"/>
          <p:cNvSpPr/>
          <p:nvPr/>
        </p:nvSpPr>
        <p:spPr>
          <a:xfrm>
            <a:off x="365760" y="3054096"/>
            <a:ext cx="192024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4</a:t>
            </a:r>
          </a:p>
        </p:txBody>
      </p:sp>
      <p:sp>
        <p:nvSpPr>
          <p:cNvPr id="13" name="Rectangle 12"/>
          <p:cNvSpPr/>
          <p:nvPr/>
        </p:nvSpPr>
        <p:spPr>
          <a:xfrm>
            <a:off x="2286000" y="3054096"/>
            <a:ext cx="644652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10,000</a:t>
            </a:r>
          </a:p>
        </p:txBody>
      </p:sp>
      <p:sp>
        <p:nvSpPr>
          <p:cNvPr id="14" name="Rectangle 13"/>
          <p:cNvSpPr/>
          <p:nvPr/>
        </p:nvSpPr>
        <p:spPr>
          <a:xfrm>
            <a:off x="365760" y="3502152"/>
            <a:ext cx="192024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8</a:t>
            </a:r>
          </a:p>
        </p:txBody>
      </p:sp>
      <p:sp>
        <p:nvSpPr>
          <p:cNvPr id="15" name="Rectangle 14"/>
          <p:cNvSpPr/>
          <p:nvPr/>
        </p:nvSpPr>
        <p:spPr>
          <a:xfrm>
            <a:off x="2286000" y="3502152"/>
            <a:ext cx="6446520" cy="44805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100,000,000（1億）</a:t>
            </a:r>
          </a:p>
        </p:txBody>
      </p:sp>
      <p:sp>
        <p:nvSpPr>
          <p:cNvPr id="16" name="TextBox 15"/>
          <p:cNvSpPr txBox="1"/>
          <p:nvPr/>
        </p:nvSpPr>
        <p:spPr>
          <a:xfrm>
            <a:off x="594360" y="4242816"/>
            <a:ext cx="7955279" cy="402336"/>
          </a:xfrm>
          <a:prstGeom prst="rect">
            <a:avLst/>
          </a:prstGeom>
          <a:noFill/>
        </p:spPr>
        <p:txBody>
          <a:bodyPr wrap="square" anchor="t" lIns="0" rIns="0" tIns="0" bIns="0">
            <a:noAutofit/>
          </a:bodyPr>
          <a:lstStyle/>
          <a:p>
            <a:pPr algn="l">
              <a:lnSpc>
                <a:spcPct val="113000"/>
              </a:lnSpc>
              <a:spcAft>
                <a:spcPts val="0"/>
              </a:spcAft>
            </a:pPr>
            <a:r>
              <a:rPr sz="2100" b="0" lang="ja-JP">
                <a:solidFill>
                  <a:srgbClr val="FF0000"/>
                </a:solidFill>
                <a:latin typeface="Arial"/>
                <a:ea typeface="ＭＳ Ｐゴシック"/>
                <a:cs typeface="ＭＳ Ｐゴシック"/>
              </a:rPr>
              <a:t>1候補1ミリ秒なら，深さ8の葉だけで約27.8時間．</a:t>
            </a:r>
            <a:endParaRPr lang="ja-JP" sz="21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Mini-Max法：相手も最善を尽くすと考える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ゲーム・計画　14</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30936"/>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自分の番（MAX）</a:t>
            </a:r>
            <a:r>
              <a:rPr sz="2000" b="0" lang="ja-JP">
                <a:solidFill>
                  <a:srgbClr val="404040"/>
                </a:solidFill>
                <a:latin typeface="Arial"/>
                <a:ea typeface="ＭＳ Ｐゴシック"/>
                <a:cs typeface="ＭＳ Ｐゴシック"/>
              </a:rPr>
              <a:t>：自分の評価値を大きくする．</a:t>
            </a:r>
            <a:endParaRPr lang="ja-JP" sz="2000"/>
          </a:p>
        </p:txBody>
      </p:sp>
      <p:sp>
        <p:nvSpPr>
          <p:cNvPr id="7" name="TextBox 6"/>
          <p:cNvSpPr txBox="1"/>
          <p:nvPr/>
        </p:nvSpPr>
        <p:spPr>
          <a:xfrm>
            <a:off x="502920" y="191566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883664"/>
            <a:ext cx="7882127" cy="630936"/>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相手の番（MIN）</a:t>
            </a:r>
            <a:r>
              <a:rPr sz="2000" b="0" lang="ja-JP">
                <a:solidFill>
                  <a:srgbClr val="404040"/>
                </a:solidFill>
                <a:latin typeface="Arial"/>
                <a:ea typeface="ＭＳ Ｐゴシック"/>
                <a:cs typeface="ＭＳ Ｐゴシック"/>
              </a:rPr>
              <a:t>：自分の評価値を小さくする．</a:t>
            </a:r>
            <a:endParaRPr lang="ja-JP" sz="2000"/>
          </a:p>
        </p:txBody>
      </p:sp>
      <p:sp>
        <p:nvSpPr>
          <p:cNvPr id="9" name="TextBox 8"/>
          <p:cNvSpPr txBox="1"/>
          <p:nvPr/>
        </p:nvSpPr>
        <p:spPr>
          <a:xfrm>
            <a:off x="502920" y="261061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578608"/>
            <a:ext cx="7882127" cy="630936"/>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末端の評価値から，順番に値を根へ戻す．</a:t>
            </a:r>
            <a:endParaRPr lang="ja-JP" sz="2000"/>
          </a:p>
        </p:txBody>
      </p:sp>
      <p:sp>
        <p:nvSpPr>
          <p:cNvPr id="11" name="TextBox 10"/>
          <p:cNvSpPr txBox="1"/>
          <p:nvPr/>
        </p:nvSpPr>
        <p:spPr>
          <a:xfrm>
            <a:off x="502920" y="33055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273552"/>
            <a:ext cx="7882127" cy="630936"/>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先読みを途中で止める場合は，その局面を評価する．</a:t>
            </a:r>
            <a:endParaRPr lang="ja-JP" sz="2000"/>
          </a:p>
        </p:txBody>
      </p:sp>
      <p:sp>
        <p:nvSpPr>
          <p:cNvPr id="13" name="TextBox 12"/>
          <p:cNvSpPr txBox="1"/>
          <p:nvPr/>
        </p:nvSpPr>
        <p:spPr>
          <a:xfrm>
            <a:off x="502920" y="429768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相手が最も厳しい応手を選ぶ，という前提で手を決める．</a:t>
            </a:r>
            <a:endParaRPr lang="ja-JP" sz="1900"/>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Mini-Max法：評価値を下から戻す</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ゲーム・計画　15</a:t>
            </a:r>
            <a:endParaRPr lang="ja-JP" sz="1050"/>
          </a:p>
        </p:txBody>
      </p:sp>
      <p:cxnSp>
        <p:nvCxnSpPr>
          <p:cNvPr id="5" name="Connector 4"/>
          <p:cNvCxnSpPr/>
          <p:nvPr/>
        </p:nvCxnSpPr>
        <p:spPr>
          <a:xfrm flipH="1">
            <a:off x="2450591" y="1883664"/>
            <a:ext cx="2084833" cy="35661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35424" y="1883664"/>
            <a:ext cx="2084832" cy="35661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517904" y="2752344"/>
            <a:ext cx="932687" cy="44805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450591" y="2752344"/>
            <a:ext cx="932688" cy="44805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5687568" y="2752344"/>
            <a:ext cx="932688" cy="44805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620256" y="2752344"/>
            <a:ext cx="932688" cy="44805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187952" y="1371600"/>
            <a:ext cx="694944" cy="51206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3</a:t>
            </a:r>
          </a:p>
        </p:txBody>
      </p:sp>
      <p:sp>
        <p:nvSpPr>
          <p:cNvPr id="12" name="Rectangle 11"/>
          <p:cNvSpPr/>
          <p:nvPr/>
        </p:nvSpPr>
        <p:spPr>
          <a:xfrm>
            <a:off x="2103120" y="2240280"/>
            <a:ext cx="694944" cy="51206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3</a:t>
            </a:r>
          </a:p>
        </p:txBody>
      </p:sp>
      <p:sp>
        <p:nvSpPr>
          <p:cNvPr id="13" name="Rectangle 12"/>
          <p:cNvSpPr/>
          <p:nvPr/>
        </p:nvSpPr>
        <p:spPr>
          <a:xfrm>
            <a:off x="6272784" y="224028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2</a:t>
            </a:r>
          </a:p>
        </p:txBody>
      </p:sp>
      <p:sp>
        <p:nvSpPr>
          <p:cNvPr id="14" name="Rectangle 13"/>
          <p:cNvSpPr/>
          <p:nvPr/>
        </p:nvSpPr>
        <p:spPr>
          <a:xfrm>
            <a:off x="1170432" y="320040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3</a:t>
            </a:r>
          </a:p>
        </p:txBody>
      </p:sp>
      <p:sp>
        <p:nvSpPr>
          <p:cNvPr id="15" name="Rectangle 14"/>
          <p:cNvSpPr/>
          <p:nvPr/>
        </p:nvSpPr>
        <p:spPr>
          <a:xfrm>
            <a:off x="3035808" y="320040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5</a:t>
            </a:r>
          </a:p>
        </p:txBody>
      </p:sp>
      <p:sp>
        <p:nvSpPr>
          <p:cNvPr id="16" name="Rectangle 15"/>
          <p:cNvSpPr/>
          <p:nvPr/>
        </p:nvSpPr>
        <p:spPr>
          <a:xfrm>
            <a:off x="5340096" y="320040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2</a:t>
            </a:r>
          </a:p>
        </p:txBody>
      </p:sp>
      <p:sp>
        <p:nvSpPr>
          <p:cNvPr id="17" name="Rectangle 16"/>
          <p:cNvSpPr/>
          <p:nvPr/>
        </p:nvSpPr>
        <p:spPr>
          <a:xfrm>
            <a:off x="7205472" y="320040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9</a:t>
            </a:r>
          </a:p>
        </p:txBody>
      </p:sp>
      <p:sp>
        <p:nvSpPr>
          <p:cNvPr id="18" name="TextBox 17"/>
          <p:cNvSpPr txBox="1"/>
          <p:nvPr/>
        </p:nvSpPr>
        <p:spPr>
          <a:xfrm>
            <a:off x="502920" y="1481328"/>
            <a:ext cx="2194560" cy="36576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自分：MAX</a:t>
            </a:r>
            <a:endParaRPr lang="ja-JP" sz="2000"/>
          </a:p>
        </p:txBody>
      </p:sp>
      <p:sp>
        <p:nvSpPr>
          <p:cNvPr id="19" name="TextBox 18"/>
          <p:cNvSpPr txBox="1"/>
          <p:nvPr/>
        </p:nvSpPr>
        <p:spPr>
          <a:xfrm>
            <a:off x="502920" y="2340864"/>
            <a:ext cx="1828800" cy="36576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相手：MIN</a:t>
            </a:r>
            <a:endParaRPr lang="ja-JP" sz="2000"/>
          </a:p>
        </p:txBody>
      </p:sp>
      <p:sp>
        <p:nvSpPr>
          <p:cNvPr id="20" name="TextBox 19"/>
          <p:cNvSpPr txBox="1"/>
          <p:nvPr/>
        </p:nvSpPr>
        <p:spPr>
          <a:xfrm>
            <a:off x="502920" y="3291840"/>
            <a:ext cx="822960" cy="365760"/>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評価値</a:t>
            </a:r>
            <a:endParaRPr lang="ja-JP" sz="1800"/>
          </a:p>
        </p:txBody>
      </p:sp>
      <p:sp>
        <p:nvSpPr>
          <p:cNvPr id="21" name="TextBox 20"/>
          <p:cNvSpPr txBox="1"/>
          <p:nvPr/>
        </p:nvSpPr>
        <p:spPr>
          <a:xfrm>
            <a:off x="1371600" y="3858768"/>
            <a:ext cx="2560320" cy="34747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MIN(3, 5)＝3</a:t>
            </a:r>
            <a:endParaRPr lang="ja-JP" sz="1800"/>
          </a:p>
        </p:txBody>
      </p:sp>
      <p:sp>
        <p:nvSpPr>
          <p:cNvPr id="22" name="TextBox 21"/>
          <p:cNvSpPr txBox="1"/>
          <p:nvPr/>
        </p:nvSpPr>
        <p:spPr>
          <a:xfrm>
            <a:off x="5486400" y="3858768"/>
            <a:ext cx="2651760" cy="34747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MIN(2, 9)＝2</a:t>
            </a:r>
            <a:endParaRPr lang="ja-JP" sz="1800"/>
          </a:p>
        </p:txBody>
      </p:sp>
      <p:sp>
        <p:nvSpPr>
          <p:cNvPr id="23" name="TextBox 22"/>
          <p:cNvSpPr txBox="1"/>
          <p:nvPr/>
        </p:nvSpPr>
        <p:spPr>
          <a:xfrm>
            <a:off x="502920" y="429768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根は MAX(3, 2)＝3．自分は左の枝を選ぶ．</a:t>
            </a:r>
            <a:endParaRPr lang="ja-JP" sz="19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αβ法：結果に影響しない枝を省く</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ゲーム・計画　16</a:t>
            </a:r>
            <a:endParaRPr lang="ja-JP" sz="1050"/>
          </a:p>
        </p:txBody>
      </p:sp>
      <p:cxnSp>
        <p:nvCxnSpPr>
          <p:cNvPr id="5" name="Connector 4"/>
          <p:cNvCxnSpPr/>
          <p:nvPr/>
        </p:nvCxnSpPr>
        <p:spPr>
          <a:xfrm flipH="1">
            <a:off x="2450591" y="1883664"/>
            <a:ext cx="2084833" cy="35661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535424" y="1883664"/>
            <a:ext cx="2084832" cy="35661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1517904" y="2752344"/>
            <a:ext cx="932687" cy="44805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2450591" y="2752344"/>
            <a:ext cx="932688" cy="44805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5687568" y="2752344"/>
            <a:ext cx="932688" cy="448056"/>
          </a:xfrm>
          <a:prstGeom prst="line">
            <a:avLst/>
          </a:prstGeom>
          <a:ln w="16510">
            <a:solidFill>
              <a:srgbClr val="707070"/>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620256" y="2752344"/>
            <a:ext cx="932688" cy="448056"/>
          </a:xfrm>
          <a:prstGeom prst="line">
            <a:avLst/>
          </a:prstGeom>
          <a:ln w="16510">
            <a:solidFill>
              <a:srgbClr val="B8B8B8"/>
            </a:solidFill>
          </a:ln>
        </p:spPr>
        <p:style>
          <a:lnRef idx="2">
            <a:schemeClr val="accent1"/>
          </a:lnRef>
          <a:fillRef idx="0">
            <a:schemeClr val="accent1"/>
          </a:fillRef>
          <a:effectRef idx="1">
            <a:schemeClr val="accent1"/>
          </a:effectRef>
          <a:fontRef idx="minor">
            <a:schemeClr val="tx1"/>
          </a:fontRef>
        </p:style>
      </p:cxnSp>
      <p:sp>
        <p:nvSpPr>
          <p:cNvPr id="11" name="Rectangle 10"/>
          <p:cNvSpPr/>
          <p:nvPr/>
        </p:nvSpPr>
        <p:spPr>
          <a:xfrm>
            <a:off x="4187952" y="1371600"/>
            <a:ext cx="694944" cy="51206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3</a:t>
            </a:r>
          </a:p>
        </p:txBody>
      </p:sp>
      <p:sp>
        <p:nvSpPr>
          <p:cNvPr id="12" name="Rectangle 11"/>
          <p:cNvSpPr/>
          <p:nvPr/>
        </p:nvSpPr>
        <p:spPr>
          <a:xfrm>
            <a:off x="2103120" y="2240280"/>
            <a:ext cx="694944" cy="51206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3</a:t>
            </a:r>
          </a:p>
        </p:txBody>
      </p:sp>
      <p:sp>
        <p:nvSpPr>
          <p:cNvPr id="13" name="Rectangle 12"/>
          <p:cNvSpPr/>
          <p:nvPr/>
        </p:nvSpPr>
        <p:spPr>
          <a:xfrm>
            <a:off x="6272784" y="224028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≤2</a:t>
            </a:r>
          </a:p>
        </p:txBody>
      </p:sp>
      <p:sp>
        <p:nvSpPr>
          <p:cNvPr id="14" name="Rectangle 13"/>
          <p:cNvSpPr/>
          <p:nvPr/>
        </p:nvSpPr>
        <p:spPr>
          <a:xfrm>
            <a:off x="1170432" y="320040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3</a:t>
            </a:r>
          </a:p>
        </p:txBody>
      </p:sp>
      <p:sp>
        <p:nvSpPr>
          <p:cNvPr id="15" name="Rectangle 14"/>
          <p:cNvSpPr/>
          <p:nvPr/>
        </p:nvSpPr>
        <p:spPr>
          <a:xfrm>
            <a:off x="3035808" y="320040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5</a:t>
            </a:r>
          </a:p>
        </p:txBody>
      </p:sp>
      <p:sp>
        <p:nvSpPr>
          <p:cNvPr id="16" name="Rectangle 15"/>
          <p:cNvSpPr/>
          <p:nvPr/>
        </p:nvSpPr>
        <p:spPr>
          <a:xfrm>
            <a:off x="5340096" y="3200400"/>
            <a:ext cx="694944" cy="51206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2</a:t>
            </a:r>
          </a:p>
        </p:txBody>
      </p:sp>
      <p:sp>
        <p:nvSpPr>
          <p:cNvPr id="17" name="Rectangle 16"/>
          <p:cNvSpPr/>
          <p:nvPr/>
        </p:nvSpPr>
        <p:spPr>
          <a:xfrm>
            <a:off x="7205472" y="3200400"/>
            <a:ext cx="694944" cy="51206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a:t>
            </a:r>
          </a:p>
        </p:txBody>
      </p:sp>
      <p:sp>
        <p:nvSpPr>
          <p:cNvPr id="18" name="TextBox 17"/>
          <p:cNvSpPr txBox="1"/>
          <p:nvPr/>
        </p:nvSpPr>
        <p:spPr>
          <a:xfrm>
            <a:off x="502920" y="1481328"/>
            <a:ext cx="2194560" cy="36576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自分：MAX</a:t>
            </a:r>
            <a:endParaRPr lang="ja-JP" sz="2000"/>
          </a:p>
        </p:txBody>
      </p:sp>
      <p:sp>
        <p:nvSpPr>
          <p:cNvPr id="19" name="TextBox 18"/>
          <p:cNvSpPr txBox="1"/>
          <p:nvPr/>
        </p:nvSpPr>
        <p:spPr>
          <a:xfrm>
            <a:off x="502920" y="2340864"/>
            <a:ext cx="1828800" cy="36576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相手：MIN</a:t>
            </a:r>
            <a:endParaRPr lang="ja-JP" sz="2000"/>
          </a:p>
        </p:txBody>
      </p:sp>
      <p:sp>
        <p:nvSpPr>
          <p:cNvPr id="20" name="TextBox 19"/>
          <p:cNvSpPr txBox="1"/>
          <p:nvPr/>
        </p:nvSpPr>
        <p:spPr>
          <a:xfrm>
            <a:off x="502920" y="3291840"/>
            <a:ext cx="822960" cy="365760"/>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rPr>
              <a:t>評価値</a:t>
            </a:r>
            <a:endParaRPr lang="ja-JP" sz="1800"/>
          </a:p>
        </p:txBody>
      </p:sp>
      <p:cxnSp>
        <p:nvCxnSpPr>
          <p:cNvPr id="21" name="Connector 20"/>
          <p:cNvCxnSpPr/>
          <p:nvPr/>
        </p:nvCxnSpPr>
        <p:spPr>
          <a:xfrm>
            <a:off x="7168896" y="3108960"/>
            <a:ext cx="786383" cy="640079"/>
          </a:xfrm>
          <a:prstGeom prst="line">
            <a:avLst/>
          </a:prstGeom>
          <a:ln w="30480">
            <a:solidFill>
              <a:srgbClr val="FF000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973568" y="3273552"/>
            <a:ext cx="914400" cy="548640"/>
          </a:xfrm>
          <a:prstGeom prst="rect">
            <a:avLst/>
          </a:prstGeom>
          <a:noFill/>
        </p:spPr>
        <p:txBody>
          <a:bodyPr wrap="square" anchor="t" lIns="0" rIns="0" tIns="0" bIns="0">
            <a:noAutofit/>
          </a:bodyPr>
          <a:lstStyle/>
          <a:p>
            <a:pPr algn="l">
              <a:lnSpc>
                <a:spcPct val="113000"/>
              </a:lnSpc>
              <a:spcAft>
                <a:spcPts val="0"/>
              </a:spcAft>
            </a:pPr>
            <a:r>
              <a:rPr sz="1700" b="0" lang="ja-JP">
                <a:solidFill>
                  <a:srgbClr val="FF0000"/>
                </a:solidFill>
                <a:latin typeface="Arial"/>
                <a:ea typeface="ＭＳ Ｐゴシック"/>
                <a:cs typeface="ＭＳ Ｐゴシック"/>
              </a:rPr>
              <a:t>探索不要</a:t>
            </a:r>
            <a:endParaRPr lang="ja-JP" sz="1700"/>
          </a:p>
        </p:txBody>
      </p:sp>
      <p:sp>
        <p:nvSpPr>
          <p:cNvPr id="23" name="TextBox 22"/>
          <p:cNvSpPr txBox="1"/>
          <p:nvPr/>
        </p:nvSpPr>
        <p:spPr>
          <a:xfrm>
            <a:off x="4279392" y="1892807"/>
            <a:ext cx="1051560" cy="301752"/>
          </a:xfrm>
          <a:prstGeom prst="rect">
            <a:avLst/>
          </a:prstGeom>
          <a:noFill/>
        </p:spPr>
        <p:txBody>
          <a:bodyPr wrap="square" anchor="t" lIns="0" rIns="0" tIns="0" bIns="0">
            <a:noAutofit/>
          </a:bodyPr>
          <a:lstStyle/>
          <a:p>
            <a:pPr algn="l">
              <a:lnSpc>
                <a:spcPct val="113000"/>
              </a:lnSpc>
              <a:spcAft>
                <a:spcPts val="0"/>
              </a:spcAft>
            </a:pPr>
            <a:r>
              <a:rPr sz="1700" b="0" lang="ja-JP">
                <a:solidFill>
                  <a:srgbClr val="FF0000"/>
                </a:solidFill>
                <a:latin typeface="Arial"/>
                <a:ea typeface="ＭＳ Ｐゴシック"/>
                <a:cs typeface="ＭＳ Ｐゴシック"/>
              </a:rPr>
              <a:t>α＝3</a:t>
            </a:r>
            <a:endParaRPr lang="ja-JP" sz="1700"/>
          </a:p>
        </p:txBody>
      </p:sp>
      <p:sp>
        <p:nvSpPr>
          <p:cNvPr id="24" name="TextBox 23"/>
          <p:cNvSpPr txBox="1"/>
          <p:nvPr/>
        </p:nvSpPr>
        <p:spPr>
          <a:xfrm>
            <a:off x="7095744" y="2414016"/>
            <a:ext cx="1143000" cy="320040"/>
          </a:xfrm>
          <a:prstGeom prst="rect">
            <a:avLst/>
          </a:prstGeom>
          <a:noFill/>
        </p:spPr>
        <p:txBody>
          <a:bodyPr wrap="square" anchor="t" lIns="0" rIns="0" tIns="0" bIns="0">
            <a:noAutofit/>
          </a:bodyPr>
          <a:lstStyle/>
          <a:p>
            <a:pPr algn="l">
              <a:lnSpc>
                <a:spcPct val="113000"/>
              </a:lnSpc>
              <a:spcAft>
                <a:spcPts val="0"/>
              </a:spcAft>
            </a:pPr>
            <a:r>
              <a:rPr sz="1700" b="0" lang="ja-JP">
                <a:solidFill>
                  <a:srgbClr val="FF0000"/>
                </a:solidFill>
                <a:latin typeface="Arial"/>
                <a:ea typeface="ＭＳ Ｐゴシック"/>
                <a:cs typeface="ＭＳ Ｐゴシック"/>
              </a:rPr>
              <a:t>β＝2</a:t>
            </a:r>
            <a:endParaRPr lang="ja-JP" sz="1700"/>
          </a:p>
        </p:txBody>
      </p:sp>
      <p:sp>
        <p:nvSpPr>
          <p:cNvPr id="25" name="TextBox 24"/>
          <p:cNvSpPr txBox="1"/>
          <p:nvPr/>
        </p:nvSpPr>
        <p:spPr>
          <a:xfrm>
            <a:off x="502920" y="4242816"/>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右枝は2以下．左枝の3を超えないので，残りは探索不要．</a:t>
            </a:r>
            <a:endParaRPr lang="ja-JP" sz="1800"/>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モンテカルロ法：試行から値を推定する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参照：UC Berkeley CS188／JDLA</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ゲーム・計画　17</a:t>
            </a:r>
            <a:endParaRPr lang="ja-JP" sz="1050"/>
          </a:p>
        </p:txBody>
      </p:sp>
      <p:sp>
        <p:nvSpPr>
          <p:cNvPr id="5" name="Rectangle 4"/>
          <p:cNvSpPr/>
          <p:nvPr/>
        </p:nvSpPr>
        <p:spPr>
          <a:xfrm>
            <a:off x="365760" y="1188720"/>
            <a:ext cx="196596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候補の手</a:t>
            </a:r>
          </a:p>
        </p:txBody>
      </p:sp>
      <p:sp>
        <p:nvSpPr>
          <p:cNvPr id="6" name="Rectangle 5"/>
          <p:cNvSpPr/>
          <p:nvPr/>
        </p:nvSpPr>
        <p:spPr>
          <a:xfrm>
            <a:off x="2331720" y="1188720"/>
            <a:ext cx="393192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100回の仮想試行での勝利</a:t>
            </a:r>
          </a:p>
        </p:txBody>
      </p:sp>
      <p:sp>
        <p:nvSpPr>
          <p:cNvPr id="7" name="Rectangle 6"/>
          <p:cNvSpPr/>
          <p:nvPr/>
        </p:nvSpPr>
        <p:spPr>
          <a:xfrm>
            <a:off x="6263640" y="1188720"/>
            <a:ext cx="2468880" cy="68580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1" lang="ja-JP">
                <a:solidFill>
                  <a:srgbClr val="000000"/>
                </a:solidFill>
                <a:latin typeface="Arial"/>
                <a:ea typeface="ＭＳ Ｐゴシック"/>
                <a:cs typeface="ＭＳ Ｐゴシック"/>
              </a:rPr>
              <a:t>推定した割合</a:t>
            </a:r>
          </a:p>
        </p:txBody>
      </p:sp>
      <p:sp>
        <p:nvSpPr>
          <p:cNvPr id="8" name="Rectangle 7"/>
          <p:cNvSpPr/>
          <p:nvPr/>
        </p:nvSpPr>
        <p:spPr>
          <a:xfrm>
            <a:off x="365760" y="1874519"/>
            <a:ext cx="196596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A</a:t>
            </a:r>
          </a:p>
        </p:txBody>
      </p:sp>
      <p:sp>
        <p:nvSpPr>
          <p:cNvPr id="9" name="Rectangle 8"/>
          <p:cNvSpPr/>
          <p:nvPr/>
        </p:nvSpPr>
        <p:spPr>
          <a:xfrm>
            <a:off x="2331720" y="1874519"/>
            <a:ext cx="39319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68回</a:t>
            </a:r>
          </a:p>
        </p:txBody>
      </p:sp>
      <p:sp>
        <p:nvSpPr>
          <p:cNvPr id="10" name="Rectangle 9"/>
          <p:cNvSpPr/>
          <p:nvPr/>
        </p:nvSpPr>
        <p:spPr>
          <a:xfrm>
            <a:off x="6263640" y="1874519"/>
            <a:ext cx="246888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68％</a:t>
            </a:r>
          </a:p>
        </p:txBody>
      </p:sp>
      <p:sp>
        <p:nvSpPr>
          <p:cNvPr id="11" name="Rectangle 10"/>
          <p:cNvSpPr/>
          <p:nvPr/>
        </p:nvSpPr>
        <p:spPr>
          <a:xfrm>
            <a:off x="365760" y="2560320"/>
            <a:ext cx="196596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000000"/>
                </a:solidFill>
                <a:latin typeface="Arial"/>
                <a:ea typeface="ＭＳ Ｐゴシック"/>
                <a:cs typeface="ＭＳ Ｐゴシック"/>
              </a:rPr>
              <a:t>B</a:t>
            </a:r>
          </a:p>
        </p:txBody>
      </p:sp>
      <p:sp>
        <p:nvSpPr>
          <p:cNvPr id="12" name="Rectangle 11"/>
          <p:cNvSpPr/>
          <p:nvPr/>
        </p:nvSpPr>
        <p:spPr>
          <a:xfrm>
            <a:off x="2331720" y="2560320"/>
            <a:ext cx="393192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57回</a:t>
            </a:r>
          </a:p>
        </p:txBody>
      </p:sp>
      <p:sp>
        <p:nvSpPr>
          <p:cNvPr id="13" name="Rectangle 12"/>
          <p:cNvSpPr/>
          <p:nvPr/>
        </p:nvSpPr>
        <p:spPr>
          <a:xfrm>
            <a:off x="6263640" y="2560320"/>
            <a:ext cx="246888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57％</a:t>
            </a:r>
          </a:p>
        </p:txBody>
      </p:sp>
      <p:sp>
        <p:nvSpPr>
          <p:cNvPr id="14" name="TextBox 13"/>
          <p:cNvSpPr txBox="1"/>
          <p:nvPr/>
        </p:nvSpPr>
        <p:spPr>
          <a:xfrm>
            <a:off x="502920" y="347014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5" name="TextBox 14"/>
          <p:cNvSpPr txBox="1"/>
          <p:nvPr/>
        </p:nvSpPr>
        <p:spPr>
          <a:xfrm>
            <a:off x="850392" y="3438144"/>
            <a:ext cx="7882127" cy="448056"/>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全ての展開を調べず，試行結果から比較する．</a:t>
            </a:r>
            <a:endParaRPr lang="ja-JP" sz="1900"/>
          </a:p>
        </p:txBody>
      </p:sp>
      <p:sp>
        <p:nvSpPr>
          <p:cNvPr id="16" name="TextBox 15"/>
          <p:cNvSpPr txBox="1"/>
          <p:nvPr/>
        </p:nvSpPr>
        <p:spPr>
          <a:xfrm>
            <a:off x="502920" y="398221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7" name="TextBox 16"/>
          <p:cNvSpPr txBox="1"/>
          <p:nvPr/>
        </p:nvSpPr>
        <p:spPr>
          <a:xfrm>
            <a:off x="850392" y="3950208"/>
            <a:ext cx="7882127" cy="448056"/>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推定には誤差があり，最善手の保証はない．</a:t>
            </a:r>
            <a:endParaRPr lang="ja-JP" sz="1900"/>
          </a:p>
        </p:txBody>
      </p:sp>
      <p:sp>
        <p:nvSpPr>
          <p:cNvPr id="18" name="TextBox 17"/>
          <p:cNvSpPr txBox="1"/>
          <p:nvPr/>
        </p:nvSpPr>
        <p:spPr>
          <a:xfrm>
            <a:off x="502920" y="4443984"/>
            <a:ext cx="8138160" cy="256032"/>
          </a:xfrm>
          <a:prstGeom prst="rect">
            <a:avLst/>
          </a:prstGeom>
          <a:noFill/>
        </p:spPr>
        <p:txBody>
          <a:bodyPr wrap="square" anchor="t" lIns="0" rIns="0" tIns="0" bIns="0">
            <a:noAutofit/>
          </a:bodyPr>
          <a:lstStyle/>
          <a:p>
            <a:pPr algn="l">
              <a:lnSpc>
                <a:spcPct val="113000"/>
              </a:lnSpc>
              <a:spcAft>
                <a:spcPts val="0"/>
              </a:spcAft>
            </a:pPr>
            <a:r>
              <a:rPr sz="1500" b="0" lang="ja-JP">
                <a:solidFill>
                  <a:srgbClr val="707070"/>
                </a:solidFill>
                <a:latin typeface="Arial"/>
                <a:ea typeface="ＭＳ Ｐゴシック"/>
                <a:cs typeface="ＭＳ Ｐゴシック"/>
              </a:rPr>
              <a:t>補足：MCTSでは，探索木を育てながら試行を配分する．</a:t>
            </a:r>
            <a:endParaRPr lang="ja-JP" sz="1500"/>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STRIPS：目標を達成する行動列を計画する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参照：Fikes &amp; Nilsson（1971）</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ゲーム・計画　18</a:t>
            </a:r>
            <a:endParaRPr lang="ja-JP" sz="1050"/>
          </a:p>
        </p:txBody>
      </p:sp>
      <p:sp>
        <p:nvSpPr>
          <p:cNvPr id="5" name="Rectangle 4"/>
          <p:cNvSpPr/>
          <p:nvPr/>
        </p:nvSpPr>
        <p:spPr>
          <a:xfrm>
            <a:off x="365760" y="1188720"/>
            <a:ext cx="3017520" cy="612648"/>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行動「AからBへ移動」</a:t>
            </a:r>
          </a:p>
        </p:txBody>
      </p:sp>
      <p:sp>
        <p:nvSpPr>
          <p:cNvPr id="6" name="Rectangle 5"/>
          <p:cNvSpPr/>
          <p:nvPr/>
        </p:nvSpPr>
        <p:spPr>
          <a:xfrm>
            <a:off x="3383279" y="1188720"/>
            <a:ext cx="5349240" cy="612648"/>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1" lang="ja-JP">
                <a:solidFill>
                  <a:srgbClr val="000000"/>
                </a:solidFill>
                <a:latin typeface="Arial"/>
                <a:ea typeface="ＭＳ Ｐゴシック"/>
                <a:cs typeface="ＭＳ Ｐゴシック"/>
              </a:rPr>
              <a:t>内容</a:t>
            </a:r>
          </a:p>
        </p:txBody>
      </p:sp>
      <p:sp>
        <p:nvSpPr>
          <p:cNvPr id="7" name="Rectangle 6"/>
          <p:cNvSpPr/>
          <p:nvPr/>
        </p:nvSpPr>
        <p:spPr>
          <a:xfrm>
            <a:off x="365760" y="1801368"/>
            <a:ext cx="3017520" cy="61264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000000"/>
                </a:solidFill>
                <a:latin typeface="Arial"/>
                <a:ea typeface="ＭＳ Ｐゴシック"/>
                <a:cs typeface="ＭＳ Ｐゴシック"/>
              </a:rPr>
              <a:t>前提条件</a:t>
            </a:r>
          </a:p>
        </p:txBody>
      </p:sp>
      <p:sp>
        <p:nvSpPr>
          <p:cNvPr id="8" name="Rectangle 7"/>
          <p:cNvSpPr/>
          <p:nvPr/>
        </p:nvSpPr>
        <p:spPr>
          <a:xfrm>
            <a:off x="3383279" y="1801368"/>
            <a:ext cx="5349240" cy="61264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Aにいる／通路が開いている</a:t>
            </a:r>
          </a:p>
        </p:txBody>
      </p:sp>
      <p:sp>
        <p:nvSpPr>
          <p:cNvPr id="9" name="Rectangle 8"/>
          <p:cNvSpPr/>
          <p:nvPr/>
        </p:nvSpPr>
        <p:spPr>
          <a:xfrm>
            <a:off x="365760" y="2414016"/>
            <a:ext cx="3017520" cy="61264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000000"/>
                </a:solidFill>
                <a:latin typeface="Arial"/>
                <a:ea typeface="ＭＳ Ｐゴシック"/>
                <a:cs typeface="ＭＳ Ｐゴシック"/>
              </a:rPr>
              <a:t>追加する事実</a:t>
            </a:r>
          </a:p>
        </p:txBody>
      </p:sp>
      <p:sp>
        <p:nvSpPr>
          <p:cNvPr id="10" name="Rectangle 9"/>
          <p:cNvSpPr/>
          <p:nvPr/>
        </p:nvSpPr>
        <p:spPr>
          <a:xfrm>
            <a:off x="3383279" y="2414016"/>
            <a:ext cx="5349240" cy="61264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Bにいる</a:t>
            </a:r>
          </a:p>
        </p:txBody>
      </p:sp>
      <p:sp>
        <p:nvSpPr>
          <p:cNvPr id="11" name="Rectangle 10"/>
          <p:cNvSpPr/>
          <p:nvPr/>
        </p:nvSpPr>
        <p:spPr>
          <a:xfrm>
            <a:off x="365760" y="3026664"/>
            <a:ext cx="3017520" cy="61264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000000"/>
                </a:solidFill>
                <a:latin typeface="Arial"/>
                <a:ea typeface="ＭＳ Ｐゴシック"/>
                <a:cs typeface="ＭＳ Ｐゴシック"/>
              </a:rPr>
              <a:t>削除する事実</a:t>
            </a:r>
          </a:p>
        </p:txBody>
      </p:sp>
      <p:sp>
        <p:nvSpPr>
          <p:cNvPr id="12" name="Rectangle 11"/>
          <p:cNvSpPr/>
          <p:nvPr/>
        </p:nvSpPr>
        <p:spPr>
          <a:xfrm>
            <a:off x="3383279" y="3026664"/>
            <a:ext cx="5349240" cy="61264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Aにいる</a:t>
            </a:r>
          </a:p>
        </p:txBody>
      </p:sp>
      <p:sp>
        <p:nvSpPr>
          <p:cNvPr id="13" name="Rectangle 12"/>
          <p:cNvSpPr/>
          <p:nvPr/>
        </p:nvSpPr>
        <p:spPr>
          <a:xfrm>
            <a:off x="685800" y="3822191"/>
            <a:ext cx="1554480" cy="4572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初期状態</a:t>
            </a:r>
          </a:p>
        </p:txBody>
      </p:sp>
      <p:sp>
        <p:nvSpPr>
          <p:cNvPr id="14" name="Rectangle 13"/>
          <p:cNvSpPr/>
          <p:nvPr/>
        </p:nvSpPr>
        <p:spPr>
          <a:xfrm>
            <a:off x="2816352" y="3822191"/>
            <a:ext cx="3474720" cy="4572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行動1 → 行動2 → …</a:t>
            </a:r>
          </a:p>
        </p:txBody>
      </p:sp>
      <p:sp>
        <p:nvSpPr>
          <p:cNvPr id="15" name="Rectangle 14"/>
          <p:cNvSpPr/>
          <p:nvPr/>
        </p:nvSpPr>
        <p:spPr>
          <a:xfrm>
            <a:off x="6858000" y="3822191"/>
            <a:ext cx="1554480" cy="457200"/>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FF0000"/>
                </a:solidFill>
                <a:latin typeface="Arial"/>
                <a:ea typeface="ＭＳ Ｐゴシック"/>
                <a:cs typeface="ＭＳ Ｐゴシック"/>
              </a:rPr>
              <a:t>目標状態</a:t>
            </a:r>
          </a:p>
        </p:txBody>
      </p:sp>
      <p:cxnSp>
        <p:nvCxnSpPr>
          <p:cNvPr id="16" name="Connector 15"/>
          <p:cNvCxnSpPr/>
          <p:nvPr/>
        </p:nvCxnSpPr>
        <p:spPr>
          <a:xfrm>
            <a:off x="2286000" y="4059936"/>
            <a:ext cx="429768"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6345936" y="4059936"/>
            <a:ext cx="402336"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SHRDLU：限定した世界で言葉と行動を結ぶ</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参照：Winograd（1972）</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ゲーム・計画　19</a:t>
            </a:r>
            <a:endParaRPr lang="ja-JP" sz="1050"/>
          </a:p>
        </p:txBody>
      </p:sp>
      <p:sp>
        <p:nvSpPr>
          <p:cNvPr id="5" name="Rectangle 4"/>
          <p:cNvSpPr/>
          <p:nvPr/>
        </p:nvSpPr>
        <p:spPr>
          <a:xfrm>
            <a:off x="640080" y="1243584"/>
            <a:ext cx="7772400"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指示：赤い立方体を右へ移動する．</a:t>
            </a:r>
          </a:p>
        </p:txBody>
      </p:sp>
      <p:cxnSp>
        <p:nvCxnSpPr>
          <p:cNvPr id="6" name="Connector 5"/>
          <p:cNvCxnSpPr/>
          <p:nvPr/>
        </p:nvCxnSpPr>
        <p:spPr>
          <a:xfrm>
            <a:off x="914400" y="3337560"/>
            <a:ext cx="7223760" cy="0"/>
          </a:xfrm>
          <a:prstGeom prst="line">
            <a:avLst/>
          </a:prstGeom>
          <a:ln w="25400">
            <a:solidFill>
              <a:srgbClr val="707070"/>
            </a:solidFill>
          </a:ln>
        </p:spPr>
        <p:style>
          <a:lnRef idx="2">
            <a:schemeClr val="accent1"/>
          </a:lnRef>
          <a:fillRef idx="0">
            <a:schemeClr val="accent1"/>
          </a:fillRef>
          <a:effectRef idx="1">
            <a:schemeClr val="accent1"/>
          </a:effectRef>
          <a:fontRef idx="minor">
            <a:schemeClr val="tx1"/>
          </a:fontRef>
        </p:style>
      </p:cxnSp>
      <p:sp>
        <p:nvSpPr>
          <p:cNvPr id="7" name="Rectangle 6"/>
          <p:cNvSpPr/>
          <p:nvPr/>
        </p:nvSpPr>
        <p:spPr>
          <a:xfrm>
            <a:off x="1572768" y="2487168"/>
            <a:ext cx="795528" cy="795528"/>
          </a:xfrm>
          <a:prstGeom prst="rect">
            <a:avLst/>
          </a:prstGeom>
          <a:solidFill>
            <a:srgbClr val="FF0000"/>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8" name="Rectangle 7"/>
          <p:cNvSpPr/>
          <p:nvPr/>
        </p:nvSpPr>
        <p:spPr>
          <a:xfrm>
            <a:off x="4160520" y="2276856"/>
            <a:ext cx="1024128" cy="1024128"/>
          </a:xfrm>
          <a:prstGeom prst="rect">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sp>
        <p:nvSpPr>
          <p:cNvPr id="9" name="Isosceles Triangle 8"/>
          <p:cNvSpPr/>
          <p:nvPr/>
        </p:nvSpPr>
        <p:spPr>
          <a:xfrm>
            <a:off x="6537960" y="2377440"/>
            <a:ext cx="960120" cy="960120"/>
          </a:xfrm>
          <a:prstGeom prst="triangle">
            <a:avLst/>
          </a:prstGeom>
          <a:solidFill>
            <a:srgbClr val="F3F3F3"/>
          </a:solidFill>
          <a:ln w="12700">
            <a:solidFill>
              <a:srgbClr val="70707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
            </a:r>
          </a:p>
        </p:txBody>
      </p:sp>
      <p:cxnSp>
        <p:nvCxnSpPr>
          <p:cNvPr id="10" name="Connector 9"/>
          <p:cNvCxnSpPr/>
          <p:nvPr/>
        </p:nvCxnSpPr>
        <p:spPr>
          <a:xfrm>
            <a:off x="2606040" y="2871216"/>
            <a:ext cx="1051560" cy="0"/>
          </a:xfrm>
          <a:prstGeom prst="line">
            <a:avLst/>
          </a:prstGeom>
          <a:ln w="25400">
            <a:solidFill>
              <a:srgbClr val="FF0000"/>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3703320"/>
            <a:ext cx="7772400" cy="438912"/>
          </a:xfrm>
          <a:prstGeom prst="rect">
            <a:avLst/>
          </a:prstGeom>
          <a:noFill/>
        </p:spPr>
        <p:txBody>
          <a:bodyPr wrap="square" anchor="t" lIns="0" rIns="0" tIns="0" bIns="0">
            <a:noAutofit/>
          </a:bodyPr>
          <a:lstStyle/>
          <a:p>
            <a:pPr algn="ctr">
              <a:lnSpc>
                <a:spcPct val="113000"/>
              </a:lnSpc>
              <a:spcAft>
                <a:spcPts val="0"/>
              </a:spcAft>
            </a:pPr>
            <a:r>
              <a:rPr sz="2300" b="0" lang="ja-JP">
                <a:solidFill>
                  <a:srgbClr val="FF0000"/>
                </a:solidFill>
                <a:latin typeface="Arial"/>
                <a:ea typeface="ＭＳ Ｐゴシック"/>
                <a:cs typeface="ＭＳ Ｐゴシック"/>
              </a:rPr>
              <a:t>言葉の解析 ＋ 世界の知識 ＋ 推論・計画</a:t>
            </a:r>
            <a:endParaRPr lang="ja-JP" sz="2300"/>
          </a:p>
        </p:txBody>
      </p:sp>
      <p:sp>
        <p:nvSpPr>
          <p:cNvPr id="12" name="TextBox 11"/>
          <p:cNvSpPr txBox="1"/>
          <p:nvPr/>
        </p:nvSpPr>
        <p:spPr>
          <a:xfrm>
            <a:off x="594360" y="4379976"/>
            <a:ext cx="8046720" cy="320040"/>
          </a:xfrm>
          <a:prstGeom prst="rect">
            <a:avLst/>
          </a:prstGeom>
          <a:noFill/>
        </p:spPr>
        <p:txBody>
          <a:bodyPr wrap="square" anchor="t" lIns="0" rIns="0" tIns="0" bIns="0">
            <a:noAutofit/>
          </a:bodyPr>
          <a:lstStyle/>
          <a:p>
            <a:pPr algn="l">
              <a:lnSpc>
                <a:spcPct val="113000"/>
              </a:lnSpc>
              <a:spcAft>
                <a:spcPts val="0"/>
              </a:spcAft>
            </a:pPr>
            <a:r>
              <a:rPr sz="1600" b="0" lang="ja-JP">
                <a:solidFill>
                  <a:srgbClr val="707070"/>
                </a:solidFill>
                <a:latin typeface="Arial"/>
                <a:ea typeface="ＭＳ Ｐゴシック"/>
                <a:cs typeface="ＭＳ Ｐゴシック"/>
              </a:rPr>
              <a:t>積み木の世界を使った模式例．対象の領域を限定することが鍵．</a:t>
            </a:r>
            <a:endParaRPr lang="ja-JP" sz="16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中間確認：正しいか，条件も含めて説明する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確認　20</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4008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① 枝のコストが等しければ，幅優先は最小コストの解を見つける．</a:t>
            </a:r>
            <a:endParaRPr lang="ja-JP" sz="2000"/>
          </a:p>
        </p:txBody>
      </p:sp>
      <p:sp>
        <p:nvSpPr>
          <p:cNvPr id="7" name="TextBox 6"/>
          <p:cNvSpPr txBox="1"/>
          <p:nvPr/>
        </p:nvSpPr>
        <p:spPr>
          <a:xfrm>
            <a:off x="502920" y="192481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892808"/>
            <a:ext cx="7882127" cy="64008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② 深さ優先は，常に最小手数の解を見つける．</a:t>
            </a:r>
            <a:endParaRPr lang="ja-JP" sz="2000"/>
          </a:p>
        </p:txBody>
      </p:sp>
      <p:sp>
        <p:nvSpPr>
          <p:cNvPr id="9" name="TextBox 8"/>
          <p:cNvSpPr txBox="1"/>
          <p:nvPr/>
        </p:nvSpPr>
        <p:spPr>
          <a:xfrm>
            <a:off x="502920" y="262890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596896"/>
            <a:ext cx="7882127" cy="64008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③ αβ法は，枝を省くのでMini-Max法とは違う評価値になる．</a:t>
            </a:r>
            <a:endParaRPr lang="ja-JP" sz="2000"/>
          </a:p>
        </p:txBody>
      </p:sp>
      <p:sp>
        <p:nvSpPr>
          <p:cNvPr id="11" name="TextBox 10"/>
          <p:cNvSpPr txBox="1"/>
          <p:nvPr/>
        </p:nvSpPr>
        <p:spPr>
          <a:xfrm>
            <a:off x="502920" y="33329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300984"/>
            <a:ext cx="7882127" cy="640080"/>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④ SHRDLUは，任意の現実世界について自由に対話できる．</a:t>
            </a:r>
            <a:endParaRPr lang="ja-JP" sz="20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中間確認：解答</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確認　21</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① ○</a:t>
            </a:r>
            <a:r>
              <a:rPr sz="2000" b="0" lang="ja-JP">
                <a:solidFill>
                  <a:srgbClr val="404040"/>
                </a:solidFill>
                <a:latin typeface="Arial"/>
                <a:ea typeface="ＭＳ Ｐゴシック"/>
                <a:cs typeface="ＭＳ Ｐゴシック"/>
              </a:rPr>
              <a:t>　枝のコストが等しいとき，最小手数＝最小コスト．</a:t>
            </a:r>
            <a:endParaRPr lang="ja-JP" sz="2000"/>
          </a:p>
        </p:txBody>
      </p:sp>
      <p:sp>
        <p:nvSpPr>
          <p:cNvPr id="7" name="TextBox 6"/>
          <p:cNvSpPr txBox="1"/>
          <p:nvPr/>
        </p:nvSpPr>
        <p:spPr>
          <a:xfrm>
            <a:off x="502920" y="19339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01952"/>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② ×</a:t>
            </a:r>
            <a:r>
              <a:rPr sz="2000" b="0" lang="ja-JP">
                <a:solidFill>
                  <a:srgbClr val="404040"/>
                </a:solidFill>
                <a:latin typeface="Arial"/>
                <a:ea typeface="ＭＳ Ｐゴシック"/>
                <a:cs typeface="ＭＳ Ｐゴシック"/>
              </a:rPr>
              <a:t>　深さ優先には，最小手数の保証がない．</a:t>
            </a:r>
            <a:endParaRPr lang="ja-JP" sz="2000"/>
          </a:p>
        </p:txBody>
      </p:sp>
      <p:sp>
        <p:nvSpPr>
          <p:cNvPr id="9" name="TextBox 8"/>
          <p:cNvSpPr txBox="1"/>
          <p:nvPr/>
        </p:nvSpPr>
        <p:spPr>
          <a:xfrm>
            <a:off x="502920" y="264718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615184"/>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③ ×</a:t>
            </a:r>
            <a:r>
              <a:rPr sz="2000" b="0" lang="ja-JP">
                <a:solidFill>
                  <a:srgbClr val="404040"/>
                </a:solidFill>
                <a:latin typeface="Arial"/>
                <a:ea typeface="ＭＳ Ｐゴシック"/>
                <a:cs typeface="ＭＳ Ｐゴシック"/>
              </a:rPr>
              <a:t>　同じ深さ・評価関数なら，根の評価値を保つ．</a:t>
            </a:r>
            <a:endParaRPr lang="ja-JP" sz="2000"/>
          </a:p>
        </p:txBody>
      </p:sp>
      <p:sp>
        <p:nvSpPr>
          <p:cNvPr id="11" name="TextBox 10"/>
          <p:cNvSpPr txBox="1"/>
          <p:nvPr/>
        </p:nvSpPr>
        <p:spPr>
          <a:xfrm>
            <a:off x="502920" y="336042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328415"/>
            <a:ext cx="7882127" cy="6492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④ ×</a:t>
            </a:r>
            <a:r>
              <a:rPr sz="2000" b="0" lang="ja-JP">
                <a:solidFill>
                  <a:srgbClr val="404040"/>
                </a:solidFill>
                <a:latin typeface="Arial"/>
                <a:ea typeface="ＭＳ Ｐゴシック"/>
                <a:cs typeface="ＭＳ Ｐゴシック"/>
              </a:rPr>
              <a:t>　SHRDLUが扱ったのは，限定した積み木の世界．</a:t>
            </a:r>
            <a:endParaRPr lang="ja-JP" sz="20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知識表現：事実や関係を機械で扱える形にする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参照：JDLA／Noy &amp; McGuinness</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知識表現　22</a:t>
            </a:r>
            <a:endParaRPr lang="ja-JP" sz="1050"/>
          </a:p>
        </p:txBody>
      </p:sp>
      <p:sp>
        <p:nvSpPr>
          <p:cNvPr id="5" name="Rectangle 4"/>
          <p:cNvSpPr/>
          <p:nvPr/>
        </p:nvSpPr>
        <p:spPr>
          <a:xfrm>
            <a:off x="713232" y="1417320"/>
            <a:ext cx="2834640" cy="1042415"/>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事実</a:t>
            </a:r>
          </a:p>
          <a:p>
            <a:pPr algn="ctr">
              <a:lnSpc>
                <a:spcPct val="108000"/>
              </a:lnSpc>
              <a:spcAft>
                <a:spcPts val="0"/>
              </a:spcAft>
            </a:pPr>
            <a:r>
              <a:rPr sz="2300" b="0" lang="ja-JP">
                <a:solidFill>
                  <a:srgbClr val="404040"/>
                </a:solidFill>
                <a:latin typeface="Arial"/>
                <a:ea typeface="ＭＳ Ｐゴシック"/>
                <a:cs typeface="ＭＳ Ｐゴシック"/>
              </a:rPr>
              <a:t>室温：29度</a:t>
            </a:r>
          </a:p>
        </p:txBody>
      </p:sp>
      <p:sp>
        <p:nvSpPr>
          <p:cNvPr id="6" name="Rectangle 5"/>
          <p:cNvSpPr/>
          <p:nvPr/>
        </p:nvSpPr>
        <p:spPr>
          <a:xfrm>
            <a:off x="4087368" y="1417320"/>
            <a:ext cx="4334256" cy="1042415"/>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規則（教材用）</a:t>
            </a:r>
          </a:p>
          <a:p>
            <a:pPr algn="ctr">
              <a:lnSpc>
                <a:spcPct val="108000"/>
              </a:lnSpc>
              <a:spcAft>
                <a:spcPts val="0"/>
              </a:spcAft>
            </a:pPr>
            <a:r>
              <a:rPr sz="2200" b="0" lang="ja-JP">
                <a:solidFill>
                  <a:srgbClr val="404040"/>
                </a:solidFill>
                <a:latin typeface="Arial"/>
                <a:ea typeface="ＭＳ Ｐゴシック"/>
                <a:cs typeface="ＭＳ Ｐゴシック"/>
              </a:rPr>
              <a:t>室温 ＞ 28度 → 換気を検討</a:t>
            </a:r>
          </a:p>
        </p:txBody>
      </p:sp>
      <p:sp>
        <p:nvSpPr>
          <p:cNvPr id="7" name="TextBox 6"/>
          <p:cNvSpPr txBox="1"/>
          <p:nvPr/>
        </p:nvSpPr>
        <p:spPr>
          <a:xfrm>
            <a:off x="502920" y="280263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2770632"/>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概念：何を対象として扱うか．</a:t>
            </a:r>
            <a:endParaRPr lang="ja-JP" sz="2000"/>
          </a:p>
        </p:txBody>
      </p:sp>
      <p:sp>
        <p:nvSpPr>
          <p:cNvPr id="9" name="TextBox 8"/>
          <p:cNvSpPr txBox="1"/>
          <p:nvPr/>
        </p:nvSpPr>
        <p:spPr>
          <a:xfrm>
            <a:off x="502920" y="328726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3255263"/>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関係：対象同士がどのようにつながるか．</a:t>
            </a:r>
            <a:endParaRPr lang="ja-JP" sz="2000"/>
          </a:p>
        </p:txBody>
      </p:sp>
      <p:sp>
        <p:nvSpPr>
          <p:cNvPr id="11" name="TextBox 10"/>
          <p:cNvSpPr txBox="1"/>
          <p:nvPr/>
        </p:nvSpPr>
        <p:spPr>
          <a:xfrm>
            <a:off x="502920" y="377190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739896"/>
            <a:ext cx="7882127" cy="42062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規則：どの条件から，どの結論を導くか．</a:t>
            </a:r>
            <a:endParaRPr lang="ja-JP" sz="2000"/>
          </a:p>
        </p:txBody>
      </p:sp>
      <p:sp>
        <p:nvSpPr>
          <p:cNvPr id="13" name="TextBox 12"/>
          <p:cNvSpPr txBox="1"/>
          <p:nvPr/>
        </p:nvSpPr>
        <p:spPr>
          <a:xfrm>
            <a:off x="502920" y="4297680"/>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知識を表す方法と，その知識を使う処理を区別する．</a:t>
            </a:r>
            <a:endParaRPr lang="ja-JP" sz="19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意味ネットワーク：概念を関係でつなぐ</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参照：JDLA／Noy &amp; McGuinness</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知識表現　23</a:t>
            </a:r>
            <a:endParaRPr lang="ja-JP" sz="1050"/>
          </a:p>
        </p:txBody>
      </p:sp>
      <p:sp>
        <p:nvSpPr>
          <p:cNvPr id="5" name="Rectangle 4"/>
          <p:cNvSpPr/>
          <p:nvPr/>
        </p:nvSpPr>
        <p:spPr>
          <a:xfrm>
            <a:off x="594360" y="1353312"/>
            <a:ext cx="2176272"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電気自動車</a:t>
            </a:r>
          </a:p>
        </p:txBody>
      </p:sp>
      <p:sp>
        <p:nvSpPr>
          <p:cNvPr id="6" name="Rectangle 5"/>
          <p:cNvSpPr/>
          <p:nvPr/>
        </p:nvSpPr>
        <p:spPr>
          <a:xfrm>
            <a:off x="6144768" y="1353312"/>
            <a:ext cx="2377440"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自動車</a:t>
            </a:r>
          </a:p>
        </p:txBody>
      </p:sp>
      <p:cxnSp>
        <p:nvCxnSpPr>
          <p:cNvPr id="7" name="Connector 6"/>
          <p:cNvCxnSpPr/>
          <p:nvPr/>
        </p:nvCxnSpPr>
        <p:spPr>
          <a:xfrm>
            <a:off x="2834640" y="1664208"/>
            <a:ext cx="3200400"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3337560" y="1298448"/>
            <a:ext cx="2011680" cy="292608"/>
          </a:xfrm>
          <a:prstGeom prst="rect">
            <a:avLst/>
          </a:prstGeom>
          <a:noFill/>
        </p:spPr>
        <p:txBody>
          <a:bodyPr wrap="square" anchor="t" lIns="0" rIns="0" tIns="0" bIns="0">
            <a:noAutofit/>
          </a:bodyPr>
          <a:lstStyle/>
          <a:p>
            <a:pPr algn="ctr">
              <a:lnSpc>
                <a:spcPct val="113000"/>
              </a:lnSpc>
              <a:spcAft>
                <a:spcPts val="0"/>
              </a:spcAft>
            </a:pPr>
            <a:r>
              <a:rPr sz="1800" b="0" lang="ja-JP">
                <a:solidFill>
                  <a:srgbClr val="FF0000"/>
                </a:solidFill>
                <a:latin typeface="Arial"/>
                <a:ea typeface="ＭＳ Ｐゴシック"/>
                <a:cs typeface="ＭＳ Ｐゴシック"/>
              </a:rPr>
              <a:t>is-a</a:t>
            </a:r>
            <a:endParaRPr lang="ja-JP" sz="1800"/>
          </a:p>
        </p:txBody>
      </p:sp>
      <p:sp>
        <p:nvSpPr>
          <p:cNvPr id="9" name="TextBox 8"/>
          <p:cNvSpPr txBox="1"/>
          <p:nvPr/>
        </p:nvSpPr>
        <p:spPr>
          <a:xfrm>
            <a:off x="3108960" y="1746504"/>
            <a:ext cx="2560320" cy="283464"/>
          </a:xfrm>
          <a:prstGeom prst="rect">
            <a:avLst/>
          </a:prstGeom>
          <a:noFill/>
        </p:spPr>
        <p:txBody>
          <a:bodyPr wrap="square" anchor="t" lIns="0" rIns="0" tIns="0" bIns="0">
            <a:noAutofit/>
          </a:bodyPr>
          <a:lstStyle/>
          <a:p>
            <a:pPr algn="ctr">
              <a:lnSpc>
                <a:spcPct val="113000"/>
              </a:lnSpc>
              <a:spcAft>
                <a:spcPts val="0"/>
              </a:spcAft>
            </a:pPr>
            <a:r>
              <a:rPr sz="1700" b="0" lang="ja-JP">
                <a:solidFill>
                  <a:srgbClr val="404040"/>
                </a:solidFill>
                <a:latin typeface="Arial"/>
                <a:ea typeface="ＭＳ Ｐゴシック"/>
                <a:cs typeface="ＭＳ Ｐゴシック"/>
              </a:rPr>
              <a:t>〜の一種である</a:t>
            </a:r>
            <a:endParaRPr lang="ja-JP" sz="1700"/>
          </a:p>
        </p:txBody>
      </p:sp>
      <p:sp>
        <p:nvSpPr>
          <p:cNvPr id="10" name="Rectangle 9"/>
          <p:cNvSpPr/>
          <p:nvPr/>
        </p:nvSpPr>
        <p:spPr>
          <a:xfrm>
            <a:off x="594360" y="2423160"/>
            <a:ext cx="2176272"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この車</a:t>
            </a:r>
          </a:p>
        </p:txBody>
      </p:sp>
      <p:sp>
        <p:nvSpPr>
          <p:cNvPr id="11" name="Rectangle 10"/>
          <p:cNvSpPr/>
          <p:nvPr/>
        </p:nvSpPr>
        <p:spPr>
          <a:xfrm>
            <a:off x="6144768" y="2423160"/>
            <a:ext cx="2377440"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このタイヤ</a:t>
            </a:r>
          </a:p>
        </p:txBody>
      </p:sp>
      <p:cxnSp>
        <p:nvCxnSpPr>
          <p:cNvPr id="12" name="Connector 11"/>
          <p:cNvCxnSpPr/>
          <p:nvPr/>
        </p:nvCxnSpPr>
        <p:spPr>
          <a:xfrm>
            <a:off x="2834640" y="2734056"/>
            <a:ext cx="3200400"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337560" y="2368296"/>
            <a:ext cx="2011680" cy="292608"/>
          </a:xfrm>
          <a:prstGeom prst="rect">
            <a:avLst/>
          </a:prstGeom>
          <a:noFill/>
        </p:spPr>
        <p:txBody>
          <a:bodyPr wrap="square" anchor="t" lIns="0" rIns="0" tIns="0" bIns="0">
            <a:noAutofit/>
          </a:bodyPr>
          <a:lstStyle/>
          <a:p>
            <a:pPr algn="ctr">
              <a:lnSpc>
                <a:spcPct val="113000"/>
              </a:lnSpc>
              <a:spcAft>
                <a:spcPts val="0"/>
              </a:spcAft>
            </a:pPr>
            <a:r>
              <a:rPr sz="1800" b="0" lang="ja-JP">
                <a:solidFill>
                  <a:srgbClr val="FF0000"/>
                </a:solidFill>
                <a:latin typeface="Arial"/>
                <a:ea typeface="ＭＳ Ｐゴシック"/>
                <a:cs typeface="ＭＳ Ｐゴシック"/>
              </a:rPr>
              <a:t>has-a</a:t>
            </a:r>
            <a:endParaRPr lang="ja-JP" sz="1800"/>
          </a:p>
        </p:txBody>
      </p:sp>
      <p:sp>
        <p:nvSpPr>
          <p:cNvPr id="14" name="TextBox 13"/>
          <p:cNvSpPr txBox="1"/>
          <p:nvPr/>
        </p:nvSpPr>
        <p:spPr>
          <a:xfrm>
            <a:off x="3108960" y="2816352"/>
            <a:ext cx="2560320" cy="283464"/>
          </a:xfrm>
          <a:prstGeom prst="rect">
            <a:avLst/>
          </a:prstGeom>
          <a:noFill/>
        </p:spPr>
        <p:txBody>
          <a:bodyPr wrap="square" anchor="t" lIns="0" rIns="0" tIns="0" bIns="0">
            <a:noAutofit/>
          </a:bodyPr>
          <a:lstStyle/>
          <a:p>
            <a:pPr algn="ctr">
              <a:lnSpc>
                <a:spcPct val="113000"/>
              </a:lnSpc>
              <a:spcAft>
                <a:spcPts val="0"/>
              </a:spcAft>
            </a:pPr>
            <a:r>
              <a:rPr sz="1700" b="0" lang="ja-JP">
                <a:solidFill>
                  <a:srgbClr val="404040"/>
                </a:solidFill>
                <a:latin typeface="Arial"/>
                <a:ea typeface="ＭＳ Ｐゴシック"/>
                <a:cs typeface="ＭＳ Ｐゴシック"/>
              </a:rPr>
              <a:t>〜を持つ</a:t>
            </a:r>
            <a:endParaRPr lang="ja-JP" sz="1700"/>
          </a:p>
        </p:txBody>
      </p:sp>
      <p:sp>
        <p:nvSpPr>
          <p:cNvPr id="15" name="Rectangle 14"/>
          <p:cNvSpPr/>
          <p:nvPr/>
        </p:nvSpPr>
        <p:spPr>
          <a:xfrm>
            <a:off x="594360" y="3493008"/>
            <a:ext cx="2176272"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このタイヤ</a:t>
            </a:r>
          </a:p>
        </p:txBody>
      </p:sp>
      <p:sp>
        <p:nvSpPr>
          <p:cNvPr id="16" name="Rectangle 15"/>
          <p:cNvSpPr/>
          <p:nvPr/>
        </p:nvSpPr>
        <p:spPr>
          <a:xfrm>
            <a:off x="6144768" y="3493008"/>
            <a:ext cx="2377440"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この車</a:t>
            </a:r>
          </a:p>
        </p:txBody>
      </p:sp>
      <p:cxnSp>
        <p:nvCxnSpPr>
          <p:cNvPr id="17" name="Connector 16"/>
          <p:cNvCxnSpPr/>
          <p:nvPr/>
        </p:nvCxnSpPr>
        <p:spPr>
          <a:xfrm>
            <a:off x="2834640" y="3803904"/>
            <a:ext cx="3200400"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3337560" y="3438144"/>
            <a:ext cx="2011680" cy="292608"/>
          </a:xfrm>
          <a:prstGeom prst="rect">
            <a:avLst/>
          </a:prstGeom>
          <a:noFill/>
        </p:spPr>
        <p:txBody>
          <a:bodyPr wrap="square" anchor="t" lIns="0" rIns="0" tIns="0" bIns="0">
            <a:noAutofit/>
          </a:bodyPr>
          <a:lstStyle/>
          <a:p>
            <a:pPr algn="ctr">
              <a:lnSpc>
                <a:spcPct val="113000"/>
              </a:lnSpc>
              <a:spcAft>
                <a:spcPts val="0"/>
              </a:spcAft>
            </a:pPr>
            <a:r>
              <a:rPr sz="1800" b="0" lang="ja-JP">
                <a:solidFill>
                  <a:srgbClr val="FF0000"/>
                </a:solidFill>
                <a:latin typeface="Arial"/>
                <a:ea typeface="ＭＳ Ｐゴシック"/>
                <a:cs typeface="ＭＳ Ｐゴシック"/>
              </a:rPr>
              <a:t>part-of</a:t>
            </a:r>
            <a:endParaRPr lang="ja-JP" sz="1800"/>
          </a:p>
        </p:txBody>
      </p:sp>
      <p:sp>
        <p:nvSpPr>
          <p:cNvPr id="19" name="TextBox 18"/>
          <p:cNvSpPr txBox="1"/>
          <p:nvPr/>
        </p:nvSpPr>
        <p:spPr>
          <a:xfrm>
            <a:off x="3108960" y="3886200"/>
            <a:ext cx="2560320" cy="283464"/>
          </a:xfrm>
          <a:prstGeom prst="rect">
            <a:avLst/>
          </a:prstGeom>
          <a:noFill/>
        </p:spPr>
        <p:txBody>
          <a:bodyPr wrap="square" anchor="t" lIns="0" rIns="0" tIns="0" bIns="0">
            <a:noAutofit/>
          </a:bodyPr>
          <a:lstStyle/>
          <a:p>
            <a:pPr algn="ctr">
              <a:lnSpc>
                <a:spcPct val="113000"/>
              </a:lnSpc>
              <a:spcAft>
                <a:spcPts val="0"/>
              </a:spcAft>
            </a:pPr>
            <a:r>
              <a:rPr sz="1700" b="0" lang="ja-JP">
                <a:solidFill>
                  <a:srgbClr val="404040"/>
                </a:solidFill>
                <a:latin typeface="Arial"/>
                <a:ea typeface="ＭＳ Ｐゴシック"/>
                <a:cs typeface="ＭＳ Ｐゴシック"/>
              </a:rPr>
              <a:t>〜の一部である</a:t>
            </a:r>
            <a:endParaRPr lang="ja-JP" sz="1700"/>
          </a:p>
        </p:txBody>
      </p:sp>
      <p:sp>
        <p:nvSpPr>
          <p:cNvPr id="20" name="TextBox 19"/>
          <p:cNvSpPr txBox="1"/>
          <p:nvPr/>
        </p:nvSpPr>
        <p:spPr>
          <a:xfrm>
            <a:off x="502920" y="4498848"/>
            <a:ext cx="8229600" cy="210312"/>
          </a:xfrm>
          <a:prstGeom prst="rect">
            <a:avLst/>
          </a:prstGeom>
          <a:noFill/>
        </p:spPr>
        <p:txBody>
          <a:bodyPr wrap="square" anchor="t" lIns="0" rIns="0" tIns="0" bIns="0">
            <a:noAutofit/>
          </a:bodyPr>
          <a:lstStyle/>
          <a:p>
            <a:pPr algn="l">
              <a:lnSpc>
                <a:spcPct val="113000"/>
              </a:lnSpc>
              <a:spcAft>
                <a:spcPts val="0"/>
              </a:spcAft>
            </a:pPr>
            <a:r>
              <a:rPr sz="1200" b="0" lang="ja-JP">
                <a:solidFill>
                  <a:srgbClr val="707070"/>
                </a:solidFill>
                <a:latin typeface="Arial"/>
                <a:ea typeface="ＭＳ Ｐゴシック"/>
                <a:cs typeface="ＭＳ Ｐゴシック"/>
              </a:rPr>
              <a:t>この図では，has-aを「構成要素を持つ」という意味で使っている．</a:t>
            </a:r>
            <a:endParaRPr lang="ja-JP" sz="12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オントロジーとセマンティックWeb</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参照：Noy &amp; McGuinness／W3C</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知識表現　24</a:t>
            </a:r>
            <a:endParaRPr lang="ja-JP" sz="1050"/>
          </a:p>
        </p:txBody>
      </p:sp>
      <p:sp>
        <p:nvSpPr>
          <p:cNvPr id="5" name="TextBox 4"/>
          <p:cNvSpPr txBox="1"/>
          <p:nvPr/>
        </p:nvSpPr>
        <p:spPr>
          <a:xfrm>
            <a:off x="502920" y="124815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216152"/>
            <a:ext cx="7882127" cy="69494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オントロジー</a:t>
            </a:r>
            <a:r>
              <a:rPr sz="2000" b="0" lang="ja-JP">
                <a:solidFill>
                  <a:srgbClr val="404040"/>
                </a:solidFill>
                <a:latin typeface="Arial"/>
                <a:ea typeface="ＭＳ Ｐゴシック"/>
                <a:cs typeface="ＭＳ Ｐゴシック"/>
              </a:rPr>
              <a:t>：概念・関係・制約を定義し，共通の語彙を作る．</a:t>
            </a:r>
            <a:endParaRPr lang="ja-JP" sz="2000"/>
          </a:p>
        </p:txBody>
      </p:sp>
      <p:sp>
        <p:nvSpPr>
          <p:cNvPr id="7" name="TextBox 6"/>
          <p:cNvSpPr txBox="1"/>
          <p:nvPr/>
        </p:nvSpPr>
        <p:spPr>
          <a:xfrm>
            <a:off x="502920" y="2007108"/>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975104"/>
            <a:ext cx="7882127" cy="69494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
            </a:r>
            <a:r>
              <a:rPr sz="2000" b="0" lang="ja-JP">
                <a:solidFill>
                  <a:srgbClr val="FF0000"/>
                </a:solidFill>
                <a:latin typeface="Arial"/>
                <a:ea typeface="ＭＳ Ｐゴシック"/>
                <a:cs typeface="ＭＳ Ｐゴシック"/>
              </a:rPr>
              <a:t>セマンティックWeb</a:t>
            </a:r>
            <a:r>
              <a:rPr sz="2000" b="0" lang="ja-JP">
                <a:solidFill>
                  <a:srgbClr val="404040"/>
                </a:solidFill>
                <a:latin typeface="Arial"/>
                <a:ea typeface="ＭＳ Ｐゴシック"/>
                <a:cs typeface="ＭＳ Ｐゴシック"/>
              </a:rPr>
              <a:t>：Web上の意味や関係を機械で扱えるようにする．</a:t>
            </a:r>
            <a:endParaRPr lang="ja-JP" sz="2000"/>
          </a:p>
        </p:txBody>
      </p:sp>
      <p:sp>
        <p:nvSpPr>
          <p:cNvPr id="9" name="TextBox 8"/>
          <p:cNvSpPr txBox="1"/>
          <p:nvPr/>
        </p:nvSpPr>
        <p:spPr>
          <a:xfrm>
            <a:off x="612648" y="2971800"/>
            <a:ext cx="7772400" cy="365760"/>
          </a:xfrm>
          <a:prstGeom prst="rect">
            <a:avLst/>
          </a:prstGeom>
          <a:noFill/>
        </p:spPr>
        <p:txBody>
          <a:bodyPr wrap="square" anchor="t" lIns="0" rIns="0" tIns="0" bIns="0">
            <a:noAutofit/>
          </a:bodyPr>
          <a:lstStyle/>
          <a:p>
            <a:pPr algn="l">
              <a:lnSpc>
                <a:spcPct val="113000"/>
              </a:lnSpc>
              <a:spcAft>
                <a:spcPts val="0"/>
              </a:spcAft>
            </a:pPr>
            <a:r>
              <a:rPr sz="1800" b="0" lang="ja-JP">
                <a:solidFill>
                  <a:srgbClr val="707070"/>
                </a:solidFill>
                <a:latin typeface="Arial"/>
                <a:ea typeface="ＭＳ Ｐゴシック"/>
                <a:cs typeface="ＭＳ Ｐゴシック"/>
              </a:rPr>
              <a:t>補足：RDFの三つ組の模式例</a:t>
            </a:r>
            <a:endParaRPr lang="ja-JP" sz="1800"/>
          </a:p>
        </p:txBody>
      </p:sp>
      <p:sp>
        <p:nvSpPr>
          <p:cNvPr id="10" name="Rectangle 9"/>
          <p:cNvSpPr/>
          <p:nvPr/>
        </p:nvSpPr>
        <p:spPr>
          <a:xfrm>
            <a:off x="667512" y="3493008"/>
            <a:ext cx="2057400" cy="70408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主語</a:t>
            </a:r>
          </a:p>
          <a:p>
            <a:pPr algn="ctr">
              <a:lnSpc>
                <a:spcPct val="108000"/>
              </a:lnSpc>
              <a:spcAft>
                <a:spcPts val="0"/>
              </a:spcAft>
            </a:pPr>
            <a:r>
              <a:rPr sz="2100" b="0" lang="ja-JP">
                <a:solidFill>
                  <a:srgbClr val="404040"/>
                </a:solidFill>
                <a:latin typeface="Arial"/>
                <a:ea typeface="ＭＳ Ｐゴシック"/>
                <a:cs typeface="ＭＳ Ｐゴシック"/>
              </a:rPr>
              <a:t>学生A</a:t>
            </a:r>
          </a:p>
        </p:txBody>
      </p:sp>
      <p:sp>
        <p:nvSpPr>
          <p:cNvPr id="11" name="Rectangle 10"/>
          <p:cNvSpPr/>
          <p:nvPr/>
        </p:nvSpPr>
        <p:spPr>
          <a:xfrm>
            <a:off x="3529584" y="3493008"/>
            <a:ext cx="2057400" cy="70408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述語</a:t>
            </a:r>
          </a:p>
          <a:p>
            <a:pPr algn="ctr">
              <a:lnSpc>
                <a:spcPct val="108000"/>
              </a:lnSpc>
              <a:spcAft>
                <a:spcPts val="0"/>
              </a:spcAft>
            </a:pPr>
            <a:r>
              <a:rPr sz="2100" b="0" lang="ja-JP">
                <a:solidFill>
                  <a:srgbClr val="404040"/>
                </a:solidFill>
                <a:latin typeface="Arial"/>
                <a:ea typeface="ＭＳ Ｐゴシック"/>
                <a:cs typeface="ＭＳ Ｐゴシック"/>
              </a:rPr>
              <a:t>履修する</a:t>
            </a:r>
          </a:p>
        </p:txBody>
      </p:sp>
      <p:sp>
        <p:nvSpPr>
          <p:cNvPr id="12" name="Rectangle 11"/>
          <p:cNvSpPr/>
          <p:nvPr/>
        </p:nvSpPr>
        <p:spPr>
          <a:xfrm>
            <a:off x="6400800" y="3493008"/>
            <a:ext cx="2057400" cy="704088"/>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目的語</a:t>
            </a:r>
          </a:p>
          <a:p>
            <a:pPr algn="ctr">
              <a:lnSpc>
                <a:spcPct val="108000"/>
              </a:lnSpc>
              <a:spcAft>
                <a:spcPts val="0"/>
              </a:spcAft>
            </a:pPr>
            <a:r>
              <a:rPr sz="2100" b="0" lang="ja-JP">
                <a:solidFill>
                  <a:srgbClr val="404040"/>
                </a:solidFill>
                <a:latin typeface="Arial"/>
                <a:ea typeface="ＭＳ Ｐゴシック"/>
                <a:cs typeface="ＭＳ Ｐゴシック"/>
              </a:rPr>
              <a:t>科目X</a:t>
            </a:r>
          </a:p>
        </p:txBody>
      </p:sp>
      <p:cxnSp>
        <p:nvCxnSpPr>
          <p:cNvPr id="13" name="Connector 12"/>
          <p:cNvCxnSpPr/>
          <p:nvPr/>
        </p:nvCxnSpPr>
        <p:spPr>
          <a:xfrm>
            <a:off x="2761488" y="3840480"/>
            <a:ext cx="630936"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41848" y="3840480"/>
            <a:ext cx="621792"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502920" y="4434840"/>
            <a:ext cx="8229600" cy="256032"/>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RDF：事実の記述／OWL：概念・関係・制約などの記述（補足）</a:t>
            </a:r>
            <a:endParaRPr lang="ja-JP" sz="1400"/>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エキスパートシステム：知識と推論を分ける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参照：Feigenbaum／McCarthy（1983）</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専門家システム　25</a:t>
            </a:r>
            <a:endParaRPr lang="ja-JP" sz="1050"/>
          </a:p>
        </p:txBody>
      </p:sp>
      <p:sp>
        <p:nvSpPr>
          <p:cNvPr id="5" name="Rectangle 4"/>
          <p:cNvSpPr/>
          <p:nvPr/>
        </p:nvSpPr>
        <p:spPr>
          <a:xfrm>
            <a:off x="3127248" y="1280160"/>
            <a:ext cx="2898648"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知識ベース</a:t>
            </a:r>
          </a:p>
          <a:p>
            <a:pPr algn="ctr">
              <a:lnSpc>
                <a:spcPct val="108000"/>
              </a:lnSpc>
              <a:spcAft>
                <a:spcPts val="0"/>
              </a:spcAft>
            </a:pPr>
            <a:r>
              <a:rPr sz="2200" b="0" lang="ja-JP">
                <a:solidFill>
                  <a:srgbClr val="404040"/>
                </a:solidFill>
                <a:latin typeface="Arial"/>
                <a:ea typeface="ＭＳ Ｐゴシック"/>
                <a:cs typeface="ＭＳ Ｐゴシック"/>
              </a:rPr>
              <a:t>専門知識・ルール</a:t>
            </a:r>
          </a:p>
        </p:txBody>
      </p:sp>
      <p:sp>
        <p:nvSpPr>
          <p:cNvPr id="6" name="Rectangle 5"/>
          <p:cNvSpPr/>
          <p:nvPr/>
        </p:nvSpPr>
        <p:spPr>
          <a:xfrm>
            <a:off x="576072" y="2560320"/>
            <a:ext cx="1856231"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入力</a:t>
            </a:r>
          </a:p>
          <a:p>
            <a:pPr algn="ctr">
              <a:lnSpc>
                <a:spcPct val="108000"/>
              </a:lnSpc>
              <a:spcAft>
                <a:spcPts val="0"/>
              </a:spcAft>
            </a:pPr>
            <a:r>
              <a:rPr sz="2100" b="0" lang="ja-JP">
                <a:solidFill>
                  <a:srgbClr val="404040"/>
                </a:solidFill>
                <a:latin typeface="Arial"/>
                <a:ea typeface="ＭＳ Ｐゴシック"/>
                <a:cs typeface="ＭＳ Ｐゴシック"/>
              </a:rPr>
              <a:t>観測・質問</a:t>
            </a:r>
          </a:p>
        </p:txBody>
      </p:sp>
      <p:sp>
        <p:nvSpPr>
          <p:cNvPr id="7" name="Rectangle 6"/>
          <p:cNvSpPr/>
          <p:nvPr/>
        </p:nvSpPr>
        <p:spPr>
          <a:xfrm>
            <a:off x="3127248" y="2487168"/>
            <a:ext cx="2898648" cy="914400"/>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推論エンジン</a:t>
            </a:r>
          </a:p>
          <a:p>
            <a:pPr algn="ctr">
              <a:lnSpc>
                <a:spcPct val="108000"/>
              </a:lnSpc>
              <a:spcAft>
                <a:spcPts val="0"/>
              </a:spcAft>
            </a:pPr>
            <a:r>
              <a:rPr sz="2100" b="0" lang="ja-JP">
                <a:solidFill>
                  <a:srgbClr val="FF0000"/>
                </a:solidFill>
                <a:latin typeface="Arial"/>
                <a:ea typeface="ＭＳ Ｐゴシック"/>
                <a:cs typeface="ＭＳ Ｐゴシック"/>
              </a:rPr>
              <a:t>適用する規則を選ぶ</a:t>
            </a:r>
          </a:p>
        </p:txBody>
      </p:sp>
      <p:sp>
        <p:nvSpPr>
          <p:cNvPr id="8" name="Rectangle 7"/>
          <p:cNvSpPr/>
          <p:nvPr/>
        </p:nvSpPr>
        <p:spPr>
          <a:xfrm>
            <a:off x="6711696" y="2560320"/>
            <a:ext cx="1856231"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出力</a:t>
            </a:r>
          </a:p>
          <a:p>
            <a:pPr algn="ctr">
              <a:lnSpc>
                <a:spcPct val="108000"/>
              </a:lnSpc>
              <a:spcAft>
                <a:spcPts val="0"/>
              </a:spcAft>
            </a:pPr>
            <a:r>
              <a:rPr sz="2100" b="0" lang="ja-JP">
                <a:solidFill>
                  <a:srgbClr val="404040"/>
                </a:solidFill>
                <a:latin typeface="Arial"/>
                <a:ea typeface="ＭＳ Ｐゴシック"/>
                <a:cs typeface="ＭＳ Ｐゴシック"/>
              </a:rPr>
              <a:t>結論・助言</a:t>
            </a:r>
          </a:p>
        </p:txBody>
      </p:sp>
      <p:sp>
        <p:nvSpPr>
          <p:cNvPr id="9" name="Rectangle 8"/>
          <p:cNvSpPr/>
          <p:nvPr/>
        </p:nvSpPr>
        <p:spPr>
          <a:xfrm>
            <a:off x="3127248" y="3776472"/>
            <a:ext cx="2898648" cy="76809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作業記憶</a:t>
            </a:r>
          </a:p>
          <a:p>
            <a:pPr algn="ctr">
              <a:lnSpc>
                <a:spcPct val="108000"/>
              </a:lnSpc>
              <a:spcAft>
                <a:spcPts val="0"/>
              </a:spcAft>
            </a:pPr>
            <a:r>
              <a:rPr sz="1900" b="0" lang="ja-JP">
                <a:solidFill>
                  <a:srgbClr val="404040"/>
                </a:solidFill>
                <a:latin typeface="Arial"/>
                <a:ea typeface="ＭＳ Ｐゴシック"/>
                <a:cs typeface="ＭＳ Ｐゴシック"/>
              </a:rPr>
              <a:t>現在の事実・途中の結論</a:t>
            </a:r>
          </a:p>
        </p:txBody>
      </p:sp>
      <p:cxnSp>
        <p:nvCxnSpPr>
          <p:cNvPr id="10" name="Connector 9"/>
          <p:cNvCxnSpPr/>
          <p:nvPr/>
        </p:nvCxnSpPr>
        <p:spPr>
          <a:xfrm>
            <a:off x="4572000" y="2075688"/>
            <a:ext cx="0" cy="283464"/>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2514600" y="2953512"/>
            <a:ext cx="475488"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6108192" y="2953512"/>
            <a:ext cx="466344"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V="1">
            <a:off x="4572000" y="3483864"/>
            <a:ext cx="0" cy="210312"/>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ルールによる推論：前向きと後ろ向き</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説明・ルール：本教材の作例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専門家システム　26</a:t>
            </a:r>
            <a:endParaRPr lang="ja-JP" sz="1050"/>
          </a:p>
        </p:txBody>
      </p:sp>
      <p:sp>
        <p:nvSpPr>
          <p:cNvPr id="5" name="TextBox 4"/>
          <p:cNvSpPr txBox="1"/>
          <p:nvPr/>
        </p:nvSpPr>
        <p:spPr>
          <a:xfrm>
            <a:off x="502920" y="1207008"/>
            <a:ext cx="8229600" cy="566928"/>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ルール：R1 高温 → 換気候補　／　R2 換気候補 かつ 在室 → 通知</a:t>
            </a:r>
            <a:endParaRPr lang="ja-JP" sz="1900"/>
          </a:p>
        </p:txBody>
      </p:sp>
      <p:sp>
        <p:nvSpPr>
          <p:cNvPr id="6" name="TextBox 5"/>
          <p:cNvSpPr txBox="1"/>
          <p:nvPr/>
        </p:nvSpPr>
        <p:spPr>
          <a:xfrm>
            <a:off x="594360" y="2011680"/>
            <a:ext cx="7863840" cy="338328"/>
          </a:xfrm>
          <a:prstGeom prst="rect">
            <a:avLst/>
          </a:prstGeom>
          <a:noFill/>
        </p:spPr>
        <p:txBody>
          <a:bodyPr wrap="square" anchor="t" lIns="0" rIns="0" tIns="0" bIns="0">
            <a:noAutofit/>
          </a:bodyPr>
          <a:lstStyle/>
          <a:p>
            <a:pPr algn="l">
              <a:lnSpc>
                <a:spcPct val="113000"/>
              </a:lnSpc>
              <a:spcAft>
                <a:spcPts val="0"/>
              </a:spcAft>
            </a:pPr>
            <a:r>
              <a:rPr sz="2200" b="0" lang="ja-JP">
                <a:solidFill>
                  <a:srgbClr val="FF0000"/>
                </a:solidFill>
                <a:latin typeface="Arial"/>
                <a:ea typeface="ＭＳ Ｐゴシック"/>
                <a:cs typeface="ＭＳ Ｐゴシック"/>
              </a:rPr>
              <a:t>前向き：事実から始める</a:t>
            </a:r>
            <a:endParaRPr lang="ja-JP" sz="2200"/>
          </a:p>
        </p:txBody>
      </p:sp>
      <p:sp>
        <p:nvSpPr>
          <p:cNvPr id="7" name="Rectangle 6"/>
          <p:cNvSpPr/>
          <p:nvPr/>
        </p:nvSpPr>
        <p:spPr>
          <a:xfrm>
            <a:off x="640080" y="2542032"/>
            <a:ext cx="2148840" cy="5760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高温・在室</a:t>
            </a:r>
          </a:p>
        </p:txBody>
      </p:sp>
      <p:sp>
        <p:nvSpPr>
          <p:cNvPr id="8" name="Rectangle 7"/>
          <p:cNvSpPr/>
          <p:nvPr/>
        </p:nvSpPr>
        <p:spPr>
          <a:xfrm>
            <a:off x="3538728" y="2542032"/>
            <a:ext cx="2148840" cy="5760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換気候補</a:t>
            </a:r>
          </a:p>
        </p:txBody>
      </p:sp>
      <p:sp>
        <p:nvSpPr>
          <p:cNvPr id="9" name="Rectangle 8"/>
          <p:cNvSpPr/>
          <p:nvPr/>
        </p:nvSpPr>
        <p:spPr>
          <a:xfrm>
            <a:off x="6437376" y="2542032"/>
            <a:ext cx="2011680" cy="57607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404040"/>
                </a:solidFill>
                <a:latin typeface="Arial"/>
                <a:ea typeface="ＭＳ Ｐゴシック"/>
                <a:cs typeface="ＭＳ Ｐゴシック"/>
              </a:rPr>
              <a:t>通知</a:t>
            </a:r>
          </a:p>
        </p:txBody>
      </p:sp>
      <p:cxnSp>
        <p:nvCxnSpPr>
          <p:cNvPr id="10" name="Connector 9"/>
          <p:cNvCxnSpPr/>
          <p:nvPr/>
        </p:nvCxnSpPr>
        <p:spPr>
          <a:xfrm>
            <a:off x="2834640" y="2825496"/>
            <a:ext cx="566928"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733288" y="2825496"/>
            <a:ext cx="576072" cy="0"/>
          </a:xfrm>
          <a:prstGeom prst="line">
            <a:avLst/>
          </a:prstGeom>
          <a:ln w="16510">
            <a:solidFill>
              <a:srgbClr val="707070"/>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94360" y="3483864"/>
            <a:ext cx="7863840" cy="338328"/>
          </a:xfrm>
          <a:prstGeom prst="rect">
            <a:avLst/>
          </a:prstGeom>
          <a:noFill/>
        </p:spPr>
        <p:txBody>
          <a:bodyPr wrap="square" anchor="t" lIns="0" rIns="0" tIns="0" bIns="0">
            <a:noAutofit/>
          </a:bodyPr>
          <a:lstStyle/>
          <a:p>
            <a:pPr algn="l">
              <a:lnSpc>
                <a:spcPct val="113000"/>
              </a:lnSpc>
              <a:spcAft>
                <a:spcPts val="0"/>
              </a:spcAft>
            </a:pPr>
            <a:r>
              <a:rPr sz="2200" b="0" lang="ja-JP">
                <a:solidFill>
                  <a:srgbClr val="FF0000"/>
                </a:solidFill>
                <a:latin typeface="Arial"/>
                <a:ea typeface="ＭＳ Ｐゴシック"/>
                <a:cs typeface="ＭＳ Ｐゴシック"/>
              </a:rPr>
              <a:t>後ろ向き：目標に必要な条件を確認する</a:t>
            </a:r>
            <a:endParaRPr lang="ja-JP" sz="2200"/>
          </a:p>
        </p:txBody>
      </p:sp>
      <p:sp>
        <p:nvSpPr>
          <p:cNvPr id="13" name="TextBox 12"/>
          <p:cNvSpPr txBox="1"/>
          <p:nvPr/>
        </p:nvSpPr>
        <p:spPr>
          <a:xfrm>
            <a:off x="749808" y="4014215"/>
            <a:ext cx="7680960" cy="548640"/>
          </a:xfrm>
          <a:prstGeom prst="rect">
            <a:avLst/>
          </a:prstGeom>
          <a:noFill/>
        </p:spPr>
        <p:txBody>
          <a:bodyPr wrap="square" anchor="t" lIns="0" rIns="0" tIns="0" bIns="0">
            <a:noAutofit/>
          </a:bodyPr>
          <a:lstStyle/>
          <a:p>
            <a:pPr algn="l">
              <a:lnSpc>
                <a:spcPct val="113000"/>
              </a:lnSpc>
              <a:spcAft>
                <a:spcPts val="0"/>
              </a:spcAft>
            </a:pPr>
            <a:r>
              <a:rPr sz="1900" b="0" lang="ja-JP">
                <a:solidFill>
                  <a:srgbClr val="404040"/>
                </a:solidFill>
                <a:latin typeface="Arial"/>
                <a:ea typeface="ＭＳ Ｐゴシック"/>
                <a:cs typeface="ＭＳ Ｐゴシック"/>
              </a:rPr>
              <a:t>「通知できるか？」→「換気候補 かつ 在室か？」→「高温か？」</a:t>
            </a:r>
            <a:endParaRPr lang="ja-JP" sz="190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演習2：ルールを使って結論を導く</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専門家システム　27</a:t>
            </a:r>
            <a:endParaRPr lang="ja-JP" sz="1050"/>
          </a:p>
        </p:txBody>
      </p:sp>
      <p:sp>
        <p:nvSpPr>
          <p:cNvPr id="5" name="Rectangle 4"/>
          <p:cNvSpPr/>
          <p:nvPr/>
        </p:nvSpPr>
        <p:spPr>
          <a:xfrm>
            <a:off x="594360" y="1197864"/>
            <a:ext cx="7955279" cy="576072"/>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分かっている事実：煙がある／高温である</a:t>
            </a:r>
          </a:p>
        </p:txBody>
      </p:sp>
      <p:sp>
        <p:nvSpPr>
          <p:cNvPr id="6" name="Rectangle 5"/>
          <p:cNvSpPr/>
          <p:nvPr/>
        </p:nvSpPr>
        <p:spPr>
          <a:xfrm>
            <a:off x="365760" y="2011680"/>
            <a:ext cx="1097280" cy="5029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規則</a:t>
            </a:r>
          </a:p>
        </p:txBody>
      </p:sp>
      <p:sp>
        <p:nvSpPr>
          <p:cNvPr id="7" name="Rectangle 6"/>
          <p:cNvSpPr/>
          <p:nvPr/>
        </p:nvSpPr>
        <p:spPr>
          <a:xfrm>
            <a:off x="1463040" y="2011680"/>
            <a:ext cx="7269480" cy="5029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条件 → 結論</a:t>
            </a:r>
          </a:p>
        </p:txBody>
      </p:sp>
      <p:sp>
        <p:nvSpPr>
          <p:cNvPr id="8" name="Rectangle 7"/>
          <p:cNvSpPr/>
          <p:nvPr/>
        </p:nvSpPr>
        <p:spPr>
          <a:xfrm>
            <a:off x="365760" y="2514600"/>
            <a:ext cx="10972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R1</a:t>
            </a:r>
          </a:p>
        </p:txBody>
      </p:sp>
      <p:sp>
        <p:nvSpPr>
          <p:cNvPr id="9" name="Rectangle 8"/>
          <p:cNvSpPr/>
          <p:nvPr/>
        </p:nvSpPr>
        <p:spPr>
          <a:xfrm>
            <a:off x="1463040" y="2514600"/>
            <a:ext cx="7269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煙がある → 異常候補</a:t>
            </a:r>
          </a:p>
        </p:txBody>
      </p:sp>
      <p:sp>
        <p:nvSpPr>
          <p:cNvPr id="10" name="Rectangle 9"/>
          <p:cNvSpPr/>
          <p:nvPr/>
        </p:nvSpPr>
        <p:spPr>
          <a:xfrm>
            <a:off x="365760" y="3017520"/>
            <a:ext cx="10972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R2</a:t>
            </a:r>
          </a:p>
        </p:txBody>
      </p:sp>
      <p:sp>
        <p:nvSpPr>
          <p:cNvPr id="11" name="Rectangle 10"/>
          <p:cNvSpPr/>
          <p:nvPr/>
        </p:nvSpPr>
        <p:spPr>
          <a:xfrm>
            <a:off x="1463040" y="3017520"/>
            <a:ext cx="7269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異常候補 かつ 高温 → 要点検</a:t>
            </a:r>
          </a:p>
        </p:txBody>
      </p:sp>
      <p:sp>
        <p:nvSpPr>
          <p:cNvPr id="12" name="Rectangle 11"/>
          <p:cNvSpPr/>
          <p:nvPr/>
        </p:nvSpPr>
        <p:spPr>
          <a:xfrm>
            <a:off x="365760" y="3520440"/>
            <a:ext cx="10972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R3</a:t>
            </a:r>
          </a:p>
        </p:txBody>
      </p:sp>
      <p:sp>
        <p:nvSpPr>
          <p:cNvPr id="13" name="Rectangle 12"/>
          <p:cNvSpPr/>
          <p:nvPr/>
        </p:nvSpPr>
        <p:spPr>
          <a:xfrm>
            <a:off x="1463040" y="3520440"/>
            <a:ext cx="7269480" cy="5029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要点検 → 担当者へ通知</a:t>
            </a:r>
          </a:p>
        </p:txBody>
      </p:sp>
      <p:sp>
        <p:nvSpPr>
          <p:cNvPr id="14" name="TextBox 13"/>
          <p:cNvSpPr txBox="1"/>
          <p:nvPr/>
        </p:nvSpPr>
        <p:spPr>
          <a:xfrm>
            <a:off x="594360" y="4325112"/>
            <a:ext cx="7955279" cy="384048"/>
          </a:xfrm>
          <a:prstGeom prst="rect">
            <a:avLst/>
          </a:prstGeom>
          <a:noFill/>
        </p:spPr>
        <p:txBody>
          <a:bodyPr wrap="square" anchor="t" lIns="0" rIns="0" tIns="0" bIns="0">
            <a:noAutofit/>
          </a:bodyPr>
          <a:lstStyle/>
          <a:p>
            <a:pPr algn="l">
              <a:lnSpc>
                <a:spcPct val="113000"/>
              </a:lnSpc>
              <a:spcAft>
                <a:spcPts val="0"/>
              </a:spcAft>
            </a:pPr>
            <a:r>
              <a:rPr sz="1700" b="0" lang="ja-JP">
                <a:solidFill>
                  <a:srgbClr val="FF0000"/>
                </a:solidFill>
                <a:latin typeface="Arial"/>
                <a:ea typeface="ＭＳ Ｐゴシック"/>
                <a:cs typeface="ＭＳ Ｐゴシック"/>
              </a:rPr>
              <a:t>① 前向きで導く順序は？　② 通知を目標にした後ろ向きの確認は？</a:t>
            </a:r>
            <a:endParaRPr lang="ja-JP" sz="170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演習2：解答</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専門家システム　28</a:t>
            </a:r>
            <a:endParaRPr lang="ja-JP" sz="1050"/>
          </a:p>
        </p:txBody>
      </p:sp>
      <p:sp>
        <p:nvSpPr>
          <p:cNvPr id="5" name="TextBox 4"/>
          <p:cNvSpPr txBox="1"/>
          <p:nvPr/>
        </p:nvSpPr>
        <p:spPr>
          <a:xfrm>
            <a:off x="594360" y="1307592"/>
            <a:ext cx="7955279" cy="384048"/>
          </a:xfrm>
          <a:prstGeom prst="rect">
            <a:avLst/>
          </a:prstGeom>
          <a:noFill/>
        </p:spPr>
        <p:txBody>
          <a:bodyPr wrap="square" anchor="t" lIns="0" rIns="0" tIns="0" bIns="0">
            <a:noAutofit/>
          </a:bodyPr>
          <a:lstStyle/>
          <a:p>
            <a:pPr algn="l">
              <a:lnSpc>
                <a:spcPct val="113000"/>
              </a:lnSpc>
              <a:spcAft>
                <a:spcPts val="0"/>
              </a:spcAft>
            </a:pPr>
            <a:r>
              <a:rPr sz="2300" b="0" lang="ja-JP">
                <a:solidFill>
                  <a:srgbClr val="000000"/>
                </a:solidFill>
                <a:latin typeface="Arial"/>
                <a:ea typeface="ＭＳ Ｐゴシック"/>
                <a:cs typeface="ＭＳ Ｐゴシック"/>
              </a:rPr>
              <a:t>前向き推論</a:t>
            </a:r>
            <a:endParaRPr lang="ja-JP" sz="2300"/>
          </a:p>
        </p:txBody>
      </p:sp>
      <p:sp>
        <p:nvSpPr>
          <p:cNvPr id="6" name="TextBox 5"/>
          <p:cNvSpPr txBox="1"/>
          <p:nvPr/>
        </p:nvSpPr>
        <p:spPr>
          <a:xfrm>
            <a:off x="777240" y="1856231"/>
            <a:ext cx="7680960" cy="594360"/>
          </a:xfrm>
          <a:prstGeom prst="rect">
            <a:avLst/>
          </a:prstGeom>
          <a:noFill/>
        </p:spPr>
        <p:txBody>
          <a:bodyPr wrap="square" anchor="t" lIns="0" rIns="0" tIns="0" bIns="0">
            <a:noAutofit/>
          </a:bodyPr>
          <a:lstStyle/>
          <a:p>
            <a:pPr algn="l">
              <a:lnSpc>
                <a:spcPct val="113000"/>
              </a:lnSpc>
              <a:spcAft>
                <a:spcPts val="0"/>
              </a:spcAft>
            </a:pPr>
            <a:r>
              <a:rPr sz="2200" b="0" lang="ja-JP">
                <a:solidFill>
                  <a:srgbClr val="FF0000"/>
                </a:solidFill>
                <a:latin typeface="Arial"/>
                <a:ea typeface="ＭＳ Ｐゴシック"/>
                <a:cs typeface="ＭＳ Ｐゴシック"/>
              </a:rPr>
              <a:t>煙 → 異常候補 →（高温と合わせて）要点検 → 通知</a:t>
            </a:r>
            <a:endParaRPr lang="ja-JP" sz="2200"/>
          </a:p>
        </p:txBody>
      </p:sp>
      <p:sp>
        <p:nvSpPr>
          <p:cNvPr id="7" name="TextBox 6"/>
          <p:cNvSpPr txBox="1"/>
          <p:nvPr/>
        </p:nvSpPr>
        <p:spPr>
          <a:xfrm>
            <a:off x="594360" y="2761488"/>
            <a:ext cx="7955279" cy="384048"/>
          </a:xfrm>
          <a:prstGeom prst="rect">
            <a:avLst/>
          </a:prstGeom>
          <a:noFill/>
        </p:spPr>
        <p:txBody>
          <a:bodyPr wrap="square" anchor="t" lIns="0" rIns="0" tIns="0" bIns="0">
            <a:noAutofit/>
          </a:bodyPr>
          <a:lstStyle/>
          <a:p>
            <a:pPr algn="l">
              <a:lnSpc>
                <a:spcPct val="113000"/>
              </a:lnSpc>
              <a:spcAft>
                <a:spcPts val="0"/>
              </a:spcAft>
            </a:pPr>
            <a:r>
              <a:rPr sz="2300" b="0" lang="ja-JP">
                <a:solidFill>
                  <a:srgbClr val="000000"/>
                </a:solidFill>
                <a:latin typeface="Arial"/>
                <a:ea typeface="ＭＳ Ｐゴシック"/>
                <a:cs typeface="ＭＳ Ｐゴシック"/>
              </a:rPr>
              <a:t>後ろ向き推論</a:t>
            </a:r>
            <a:endParaRPr lang="ja-JP" sz="2300"/>
          </a:p>
        </p:txBody>
      </p:sp>
      <p:sp>
        <p:nvSpPr>
          <p:cNvPr id="8" name="TextBox 7"/>
          <p:cNvSpPr txBox="1"/>
          <p:nvPr/>
        </p:nvSpPr>
        <p:spPr>
          <a:xfrm>
            <a:off x="777240" y="3310128"/>
            <a:ext cx="7680960" cy="841248"/>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通知に必要な「要点検」を確かめる．</a:t>
            </a:r>
            <a:endParaRPr lang="ja-JP" sz="2100"/>
          </a:p>
          <a:p>
            <a:pPr algn="l">
              <a:lnSpc>
                <a:spcPct val="113000"/>
              </a:lnSpc>
              <a:spcAft>
                <a:spcPts val="0"/>
              </a:spcAft>
            </a:pPr>
            <a:r>
              <a:rPr sz="2100" b="0" lang="ja-JP">
                <a:solidFill>
                  <a:srgbClr val="404040"/>
                </a:solidFill>
                <a:latin typeface="Arial"/>
                <a:ea typeface="ＭＳ Ｐゴシック"/>
                <a:cs typeface="ＭＳ Ｐゴシック"/>
              </a:rPr>
              <a:t>次に「異常候補」と「高温」，さらに「煙」を確かめる．</a:t>
            </a:r>
            <a:endParaRPr lang="ja-JP" sz="2100"/>
          </a:p>
        </p:txBody>
      </p:sp>
      <p:sp>
        <p:nvSpPr>
          <p:cNvPr id="9" name="TextBox 8"/>
          <p:cNvSpPr txBox="1"/>
          <p:nvPr/>
        </p:nvSpPr>
        <p:spPr>
          <a:xfrm>
            <a:off x="594360" y="4416552"/>
            <a:ext cx="7955279" cy="274320"/>
          </a:xfrm>
          <a:prstGeom prst="rect">
            <a:avLst/>
          </a:prstGeom>
          <a:noFill/>
        </p:spPr>
        <p:txBody>
          <a:bodyPr wrap="square" anchor="t" lIns="0" rIns="0" tIns="0" bIns="0">
            <a:noAutofit/>
          </a:bodyPr>
          <a:lstStyle/>
          <a:p>
            <a:pPr algn="l">
              <a:lnSpc>
                <a:spcPct val="113000"/>
              </a:lnSpc>
              <a:spcAft>
                <a:spcPts val="0"/>
              </a:spcAft>
            </a:pPr>
            <a:r>
              <a:rPr sz="1600" b="0" lang="ja-JP">
                <a:solidFill>
                  <a:srgbClr val="707070"/>
                </a:solidFill>
                <a:latin typeface="Arial"/>
                <a:ea typeface="ＭＳ Ｐゴシック"/>
                <a:cs typeface="ＭＳ Ｐゴシック"/>
              </a:rPr>
              <a:t>高温の情報がなければ，このルールだけで通知までは導けない．</a:t>
            </a:r>
            <a:endParaRPr lang="ja-JP" sz="1600"/>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DENDRALとMYCIN：領域を絞った専門知識</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参照：Feigenbaum／McCarthy（1983）</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専門家システム　29</a:t>
            </a:r>
            <a:endParaRPr lang="ja-JP" sz="1050"/>
          </a:p>
        </p:txBody>
      </p:sp>
      <p:sp>
        <p:nvSpPr>
          <p:cNvPr id="5" name="Rectangle 4"/>
          <p:cNvSpPr/>
          <p:nvPr/>
        </p:nvSpPr>
        <p:spPr>
          <a:xfrm>
            <a:off x="365760" y="1188720"/>
            <a:ext cx="2057400" cy="86868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システム</a:t>
            </a:r>
          </a:p>
        </p:txBody>
      </p:sp>
      <p:sp>
        <p:nvSpPr>
          <p:cNvPr id="6" name="Rectangle 5"/>
          <p:cNvSpPr/>
          <p:nvPr/>
        </p:nvSpPr>
        <p:spPr>
          <a:xfrm>
            <a:off x="2423160" y="1188720"/>
            <a:ext cx="3767328" cy="86868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主な対象</a:t>
            </a:r>
          </a:p>
        </p:txBody>
      </p:sp>
      <p:sp>
        <p:nvSpPr>
          <p:cNvPr id="7" name="Rectangle 6"/>
          <p:cNvSpPr/>
          <p:nvPr/>
        </p:nvSpPr>
        <p:spPr>
          <a:xfrm>
            <a:off x="6190488" y="1188720"/>
            <a:ext cx="2542032" cy="86868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覚える対応</a:t>
            </a:r>
          </a:p>
        </p:txBody>
      </p:sp>
      <p:sp>
        <p:nvSpPr>
          <p:cNvPr id="8" name="Rectangle 7"/>
          <p:cNvSpPr/>
          <p:nvPr/>
        </p:nvSpPr>
        <p:spPr>
          <a:xfrm>
            <a:off x="365760" y="2057400"/>
            <a:ext cx="2057400"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DENDRAL</a:t>
            </a:r>
          </a:p>
        </p:txBody>
      </p:sp>
      <p:sp>
        <p:nvSpPr>
          <p:cNvPr id="9" name="Rectangle 8"/>
          <p:cNvSpPr/>
          <p:nvPr/>
        </p:nvSpPr>
        <p:spPr>
          <a:xfrm>
            <a:off x="2423160" y="2057400"/>
            <a:ext cx="3767328"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有機化合物の構造推定</a:t>
            </a:r>
          </a:p>
        </p:txBody>
      </p:sp>
      <p:sp>
        <p:nvSpPr>
          <p:cNvPr id="10" name="Rectangle 9"/>
          <p:cNvSpPr/>
          <p:nvPr/>
        </p:nvSpPr>
        <p:spPr>
          <a:xfrm>
            <a:off x="6190488" y="2057400"/>
            <a:ext cx="2542032"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化学の専門知識</a:t>
            </a:r>
          </a:p>
        </p:txBody>
      </p:sp>
      <p:sp>
        <p:nvSpPr>
          <p:cNvPr id="11" name="Rectangle 10"/>
          <p:cNvSpPr/>
          <p:nvPr/>
        </p:nvSpPr>
        <p:spPr>
          <a:xfrm>
            <a:off x="365760" y="2926080"/>
            <a:ext cx="2057400"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MYCIN</a:t>
            </a:r>
          </a:p>
          <a:p>
            <a:pPr algn="ctr">
              <a:lnSpc>
                <a:spcPct val="108000"/>
              </a:lnSpc>
              <a:spcAft>
                <a:spcPts val="0"/>
              </a:spcAft>
            </a:pPr>
            <a:r>
              <a:rPr sz="2000" b="0" lang="ja-JP">
                <a:solidFill>
                  <a:srgbClr val="000000"/>
                </a:solidFill>
                <a:latin typeface="Arial"/>
                <a:ea typeface="ＭＳ Ｐゴシック"/>
                <a:cs typeface="ＭＳ Ｐゴシック"/>
              </a:rPr>
              <a:t>（マイシン）</a:t>
            </a:r>
          </a:p>
        </p:txBody>
      </p:sp>
      <p:sp>
        <p:nvSpPr>
          <p:cNvPr id="12" name="Rectangle 11"/>
          <p:cNvSpPr/>
          <p:nvPr/>
        </p:nvSpPr>
        <p:spPr>
          <a:xfrm>
            <a:off x="2423160" y="2926080"/>
            <a:ext cx="3767328"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細菌感染に関する診断・治療支援</a:t>
            </a:r>
          </a:p>
        </p:txBody>
      </p:sp>
      <p:sp>
        <p:nvSpPr>
          <p:cNvPr id="13" name="Rectangle 12"/>
          <p:cNvSpPr/>
          <p:nvPr/>
        </p:nvSpPr>
        <p:spPr>
          <a:xfrm>
            <a:off x="6190488" y="2926080"/>
            <a:ext cx="2542032" cy="86868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医療の専門知識</a:t>
            </a:r>
          </a:p>
        </p:txBody>
      </p:sp>
      <p:sp>
        <p:nvSpPr>
          <p:cNvPr id="14" name="TextBox 13"/>
          <p:cNvSpPr txBox="1"/>
          <p:nvPr/>
        </p:nvSpPr>
        <p:spPr>
          <a:xfrm>
            <a:off x="594360" y="3895344"/>
            <a:ext cx="7955279" cy="603504"/>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補足：MYCINでは，不確かな知識を扱うために確信度を用いた．</a:t>
            </a:r>
            <a:endParaRPr lang="ja-JP" sz="2000"/>
          </a:p>
        </p:txBody>
      </p:sp>
      <p:sp>
        <p:nvSpPr>
          <p:cNvPr id="15" name="TextBox 14"/>
          <p:cNvSpPr txBox="1"/>
          <p:nvPr/>
        </p:nvSpPr>
        <p:spPr>
          <a:xfrm>
            <a:off x="502920" y="4434840"/>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何でも扱うのではなく，特定領域の知識を使う．</a:t>
            </a:r>
            <a:endParaRPr lang="ja-JP" sz="1800"/>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知識獲得：どこから知識を集めるか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参照：JDLA／Feigenbaum</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専門家システム　30</a:t>
            </a:r>
            <a:endParaRPr lang="ja-JP" sz="1050"/>
          </a:p>
        </p:txBody>
      </p:sp>
      <p:sp>
        <p:nvSpPr>
          <p:cNvPr id="5" name="Rectangle 4"/>
          <p:cNvSpPr/>
          <p:nvPr/>
        </p:nvSpPr>
        <p:spPr>
          <a:xfrm>
            <a:off x="365760" y="1188720"/>
            <a:ext cx="3072384" cy="58521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方法</a:t>
            </a:r>
          </a:p>
        </p:txBody>
      </p:sp>
      <p:sp>
        <p:nvSpPr>
          <p:cNvPr id="6" name="Rectangle 5"/>
          <p:cNvSpPr/>
          <p:nvPr/>
        </p:nvSpPr>
        <p:spPr>
          <a:xfrm>
            <a:off x="3438144" y="1188720"/>
            <a:ext cx="5294376" cy="58521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主な対象・働き</a:t>
            </a:r>
          </a:p>
        </p:txBody>
      </p:sp>
      <p:sp>
        <p:nvSpPr>
          <p:cNvPr id="7" name="Rectangle 6"/>
          <p:cNvSpPr/>
          <p:nvPr/>
        </p:nvSpPr>
        <p:spPr>
          <a:xfrm>
            <a:off x="365760" y="1773936"/>
            <a:ext cx="3072384"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専門家への聞き取り</a:t>
            </a:r>
          </a:p>
        </p:txBody>
      </p:sp>
      <p:sp>
        <p:nvSpPr>
          <p:cNvPr id="8" name="Rectangle 7"/>
          <p:cNvSpPr/>
          <p:nvPr/>
        </p:nvSpPr>
        <p:spPr>
          <a:xfrm>
            <a:off x="3438144" y="1773936"/>
            <a:ext cx="5294376"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経験・判断理由・例外を整理</a:t>
            </a:r>
          </a:p>
        </p:txBody>
      </p:sp>
      <p:sp>
        <p:nvSpPr>
          <p:cNvPr id="9" name="Rectangle 8"/>
          <p:cNvSpPr/>
          <p:nvPr/>
        </p:nvSpPr>
        <p:spPr>
          <a:xfrm>
            <a:off x="365760" y="2359152"/>
            <a:ext cx="3072384"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インタビューシステム</a:t>
            </a:r>
          </a:p>
        </p:txBody>
      </p:sp>
      <p:sp>
        <p:nvSpPr>
          <p:cNvPr id="10" name="Rectangle 9"/>
          <p:cNvSpPr/>
          <p:nvPr/>
        </p:nvSpPr>
        <p:spPr>
          <a:xfrm>
            <a:off x="3438144" y="2359152"/>
            <a:ext cx="5294376"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対話による知識の抽出を支援</a:t>
            </a:r>
          </a:p>
        </p:txBody>
      </p:sp>
      <p:sp>
        <p:nvSpPr>
          <p:cNvPr id="11" name="Rectangle 10"/>
          <p:cNvSpPr/>
          <p:nvPr/>
        </p:nvSpPr>
        <p:spPr>
          <a:xfrm>
            <a:off x="365760" y="2944368"/>
            <a:ext cx="3072384"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データマイニング</a:t>
            </a:r>
          </a:p>
        </p:txBody>
      </p:sp>
      <p:sp>
        <p:nvSpPr>
          <p:cNvPr id="12" name="Rectangle 11"/>
          <p:cNvSpPr/>
          <p:nvPr/>
        </p:nvSpPr>
        <p:spPr>
          <a:xfrm>
            <a:off x="3438144" y="2944368"/>
            <a:ext cx="5294376"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データから規則性・パターンを発見</a:t>
            </a:r>
          </a:p>
        </p:txBody>
      </p:sp>
      <p:sp>
        <p:nvSpPr>
          <p:cNvPr id="13" name="Rectangle 12"/>
          <p:cNvSpPr/>
          <p:nvPr/>
        </p:nvSpPr>
        <p:spPr>
          <a:xfrm>
            <a:off x="365760" y="3529584"/>
            <a:ext cx="3072384"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ウェブマイニング</a:t>
            </a:r>
          </a:p>
        </p:txBody>
      </p:sp>
      <p:sp>
        <p:nvSpPr>
          <p:cNvPr id="14" name="Rectangle 13"/>
          <p:cNvSpPr/>
          <p:nvPr/>
        </p:nvSpPr>
        <p:spPr>
          <a:xfrm>
            <a:off x="3438144" y="3529584"/>
            <a:ext cx="5294376" cy="58521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Web文書・リンク・利用記録などを分析</a:t>
            </a:r>
          </a:p>
        </p:txBody>
      </p:sp>
      <p:sp>
        <p:nvSpPr>
          <p:cNvPr id="15" name="TextBox 14"/>
          <p:cNvSpPr txBox="1"/>
          <p:nvPr/>
        </p:nvSpPr>
        <p:spPr>
          <a:xfrm>
            <a:off x="502920" y="4425696"/>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取り出した情報は，正しさ・適用範囲を確認する．</a:t>
            </a:r>
            <a:endParaRPr lang="ja-JP" sz="1800"/>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知識獲得のボトルネックとCycプロジェクト</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参照：Feigenbaum／Cyc</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専門家システム　31</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594359"/>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専門家の判断を，例外も含めて言葉にするのは難しい．</a:t>
            </a:r>
            <a:endParaRPr lang="ja-JP" sz="2000"/>
          </a:p>
        </p:txBody>
      </p:sp>
      <p:sp>
        <p:nvSpPr>
          <p:cNvPr id="7" name="TextBox 6"/>
          <p:cNvSpPr txBox="1"/>
          <p:nvPr/>
        </p:nvSpPr>
        <p:spPr>
          <a:xfrm>
            <a:off x="502920" y="1879092"/>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847088"/>
            <a:ext cx="7882127" cy="594359"/>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規則が増えると，矛盾や更新漏れを管理する負担が増える．</a:t>
            </a:r>
            <a:endParaRPr lang="ja-JP" sz="2000"/>
          </a:p>
        </p:txBody>
      </p:sp>
      <p:sp>
        <p:nvSpPr>
          <p:cNvPr id="9" name="TextBox 8"/>
          <p:cNvSpPr txBox="1"/>
          <p:nvPr/>
        </p:nvSpPr>
        <p:spPr>
          <a:xfrm>
            <a:off x="502920" y="253746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505456"/>
            <a:ext cx="7882127" cy="594359"/>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未登録の状況では，適切な結論を出せないことがある．</a:t>
            </a:r>
            <a:endParaRPr lang="ja-JP" sz="2000"/>
          </a:p>
        </p:txBody>
      </p:sp>
      <p:sp>
        <p:nvSpPr>
          <p:cNvPr id="11" name="Rectangle 10"/>
          <p:cNvSpPr/>
          <p:nvPr/>
        </p:nvSpPr>
        <p:spPr>
          <a:xfrm>
            <a:off x="594360" y="3547872"/>
            <a:ext cx="7955279" cy="877824"/>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100" b="0" lang="ja-JP">
                <a:solidFill>
                  <a:srgbClr val="FF0000"/>
                </a:solidFill>
                <a:latin typeface="Arial"/>
                <a:ea typeface="ＭＳ Ｐゴシック"/>
                <a:cs typeface="ＭＳ Ｐゴシック"/>
              </a:rPr>
              <a:t>Cycプロジェクト</a:t>
            </a:r>
          </a:p>
          <a:p>
            <a:pPr algn="ctr">
              <a:lnSpc>
                <a:spcPct val="108000"/>
              </a:lnSpc>
              <a:spcAft>
                <a:spcPts val="0"/>
              </a:spcAft>
            </a:pPr>
            <a:r>
              <a:rPr sz="2100" b="0" lang="ja-JP">
                <a:solidFill>
                  <a:srgbClr val="FF0000"/>
                </a:solidFill>
                <a:latin typeface="Arial"/>
                <a:ea typeface="ＭＳ Ｐゴシック"/>
                <a:cs typeface="ＭＳ Ｐゴシック"/>
              </a:rPr>
              <a:t>常識的な知識を明示し，知識ベースへ蓄積する試み</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Question-Answering：問いに答えるシステム</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参照：IBM／国立情報学研究所</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関連システム　32</a:t>
            </a:r>
            <a:endParaRPr lang="ja-JP" sz="1050"/>
          </a:p>
        </p:txBody>
      </p:sp>
      <p:sp>
        <p:nvSpPr>
          <p:cNvPr id="5" name="Rectangle 4"/>
          <p:cNvSpPr/>
          <p:nvPr/>
        </p:nvSpPr>
        <p:spPr>
          <a:xfrm>
            <a:off x="594360" y="1261872"/>
            <a:ext cx="7955279" cy="621792"/>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200" b="0" lang="ja-JP">
                <a:solidFill>
                  <a:srgbClr val="404040"/>
                </a:solidFill>
                <a:latin typeface="Arial"/>
                <a:ea typeface="ＭＳ Ｐゴシック"/>
                <a:cs typeface="ＭＳ Ｐゴシック"/>
              </a:rPr>
              <a:t>質問 → 言葉の解析 → 知識・文書の参照 → 回答</a:t>
            </a:r>
          </a:p>
        </p:txBody>
      </p:sp>
      <p:sp>
        <p:nvSpPr>
          <p:cNvPr id="6" name="Rectangle 5"/>
          <p:cNvSpPr/>
          <p:nvPr/>
        </p:nvSpPr>
        <p:spPr>
          <a:xfrm>
            <a:off x="365760" y="2331720"/>
            <a:ext cx="2688336" cy="72237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代表例</a:t>
            </a:r>
          </a:p>
        </p:txBody>
      </p:sp>
      <p:sp>
        <p:nvSpPr>
          <p:cNvPr id="7" name="Rectangle 6"/>
          <p:cNvSpPr/>
          <p:nvPr/>
        </p:nvSpPr>
        <p:spPr>
          <a:xfrm>
            <a:off x="3054096" y="2331720"/>
            <a:ext cx="5678424" cy="722376"/>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1" lang="ja-JP">
                <a:solidFill>
                  <a:srgbClr val="000000"/>
                </a:solidFill>
                <a:latin typeface="Arial"/>
                <a:ea typeface="ＭＳ Ｐゴシック"/>
                <a:cs typeface="ＭＳ Ｐゴシック"/>
              </a:rPr>
              <a:t>扱った課題</a:t>
            </a:r>
          </a:p>
        </p:txBody>
      </p:sp>
      <p:sp>
        <p:nvSpPr>
          <p:cNvPr id="8" name="Rectangle 7"/>
          <p:cNvSpPr/>
          <p:nvPr/>
        </p:nvSpPr>
        <p:spPr>
          <a:xfrm>
            <a:off x="365760" y="3054096"/>
            <a:ext cx="2688336"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ワトソン（Watson）</a:t>
            </a:r>
          </a:p>
        </p:txBody>
      </p:sp>
      <p:sp>
        <p:nvSpPr>
          <p:cNvPr id="9" name="Rectangle 8"/>
          <p:cNvSpPr/>
          <p:nvPr/>
        </p:nvSpPr>
        <p:spPr>
          <a:xfrm>
            <a:off x="3054096" y="3054096"/>
            <a:ext cx="5678424"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自然言語のクイズへの回答</a:t>
            </a:r>
          </a:p>
          <a:p>
            <a:pPr algn="ctr">
              <a:lnSpc>
                <a:spcPct val="108000"/>
              </a:lnSpc>
              <a:spcAft>
                <a:spcPts val="0"/>
              </a:spcAft>
            </a:pPr>
            <a:r>
              <a:rPr sz="1900" b="0" lang="ja-JP">
                <a:solidFill>
                  <a:srgbClr val="404040"/>
                </a:solidFill>
                <a:latin typeface="Arial"/>
                <a:ea typeface="ＭＳ Ｐゴシック"/>
                <a:cs typeface="ＭＳ Ｐゴシック"/>
              </a:rPr>
              <a:t>2011年，Jeopardy!で勝利</a:t>
            </a:r>
          </a:p>
        </p:txBody>
      </p:sp>
      <p:sp>
        <p:nvSpPr>
          <p:cNvPr id="10" name="Rectangle 9"/>
          <p:cNvSpPr/>
          <p:nvPr/>
        </p:nvSpPr>
        <p:spPr>
          <a:xfrm>
            <a:off x="365760" y="3776472"/>
            <a:ext cx="2688336"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000000"/>
                </a:solidFill>
                <a:latin typeface="Arial"/>
                <a:ea typeface="ＭＳ Ｐゴシック"/>
                <a:cs typeface="ＭＳ Ｐゴシック"/>
              </a:rPr>
              <a:t>東ロボくん</a:t>
            </a:r>
          </a:p>
        </p:txBody>
      </p:sp>
      <p:sp>
        <p:nvSpPr>
          <p:cNvPr id="11" name="Rectangle 10"/>
          <p:cNvSpPr/>
          <p:nvPr/>
        </p:nvSpPr>
        <p:spPr>
          <a:xfrm>
            <a:off x="3054096" y="3776472"/>
            <a:ext cx="5678424" cy="722376"/>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900" b="0" lang="ja-JP">
                <a:solidFill>
                  <a:srgbClr val="404040"/>
                </a:solidFill>
                <a:latin typeface="Arial"/>
                <a:ea typeface="ＭＳ Ｐゴシック"/>
                <a:cs typeface="ＭＳ Ｐゴシック"/>
              </a:rPr>
              <a:t>大学入試をベンチマークとした研究</a:t>
            </a:r>
          </a:p>
          <a:p>
            <a:pPr algn="ctr">
              <a:lnSpc>
                <a:spcPct val="108000"/>
              </a:lnSpc>
              <a:spcAft>
                <a:spcPts val="0"/>
              </a:spcAft>
            </a:pPr>
            <a:r>
              <a:rPr sz="1900" b="0" lang="ja-JP">
                <a:solidFill>
                  <a:srgbClr val="404040"/>
                </a:solidFill>
                <a:latin typeface="Arial"/>
                <a:ea typeface="ＭＳ Ｐゴシック"/>
                <a:cs typeface="ＭＳ Ｐゴシック"/>
              </a:rPr>
              <a:t>複数のAI技術を統合</a:t>
            </a:r>
          </a:p>
        </p:txBody>
      </p:sp>
      <p:sp>
        <p:nvSpPr>
          <p:cNvPr id="12" name="TextBox 11"/>
          <p:cNvSpPr txBox="1"/>
          <p:nvPr/>
        </p:nvSpPr>
        <p:spPr>
          <a:xfrm>
            <a:off x="502920" y="4572000"/>
            <a:ext cx="8229600" cy="219456"/>
          </a:xfrm>
          <a:prstGeom prst="rect">
            <a:avLst/>
          </a:prstGeom>
          <a:noFill/>
        </p:spPr>
        <p:txBody>
          <a:bodyPr wrap="square" anchor="t" lIns="0" rIns="0" tIns="0" bIns="0">
            <a:noAutofit/>
          </a:bodyPr>
          <a:lstStyle/>
          <a:p>
            <a:pPr algn="l">
              <a:lnSpc>
                <a:spcPct val="113000"/>
              </a:lnSpc>
              <a:spcAft>
                <a:spcPts val="0"/>
              </a:spcAft>
            </a:pPr>
            <a:r>
              <a:rPr sz="1300" b="0" lang="ja-JP">
                <a:solidFill>
                  <a:srgbClr val="707070"/>
                </a:solidFill>
                <a:latin typeface="Arial"/>
                <a:ea typeface="ＭＳ Ｐゴシック"/>
                <a:cs typeface="ＭＳ Ｐゴシック"/>
              </a:rPr>
              <a:t>複数の技術を組み合わせた例．古典的なルールだけで動くとは限らない．</a:t>
            </a:r>
            <a:endParaRPr lang="ja-JP" sz="1300"/>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ELIZA（イライザ）：対話らしさと理解</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参照：Weizenbaum（1966）</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関連システム　33</a:t>
            </a:r>
            <a:endParaRPr lang="ja-JP" sz="1050"/>
          </a:p>
        </p:txBody>
      </p:sp>
      <p:sp>
        <p:nvSpPr>
          <p:cNvPr id="5" name="Rectangle 4"/>
          <p:cNvSpPr/>
          <p:nvPr/>
        </p:nvSpPr>
        <p:spPr>
          <a:xfrm>
            <a:off x="731520" y="1463040"/>
            <a:ext cx="7680960" cy="68580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404040"/>
                </a:solidFill>
                <a:latin typeface="Arial"/>
                <a:ea typeface="ＭＳ Ｐゴシック"/>
                <a:cs typeface="ＭＳ Ｐゴシック"/>
              </a:rPr>
              <a:t>利用者：私は試験が心配です．</a:t>
            </a:r>
          </a:p>
        </p:txBody>
      </p:sp>
      <p:sp>
        <p:nvSpPr>
          <p:cNvPr id="6" name="Rectangle 5"/>
          <p:cNvSpPr/>
          <p:nvPr/>
        </p:nvSpPr>
        <p:spPr>
          <a:xfrm>
            <a:off x="731520" y="2450592"/>
            <a:ext cx="7680960" cy="685800"/>
          </a:xfrm>
          <a:prstGeom prst="rect">
            <a:avLst/>
          </a:prstGeom>
          <a:solidFill>
            <a:srgbClr val="FFFFFF"/>
          </a:solidFill>
          <a:ln w="12700">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300" b="0" lang="ja-JP">
                <a:solidFill>
                  <a:srgbClr val="FF0000"/>
                </a:solidFill>
                <a:latin typeface="Arial"/>
                <a:ea typeface="ＭＳ Ｐゴシック"/>
                <a:cs typeface="ＭＳ Ｐゴシック"/>
              </a:rPr>
              <a:t>応答：なぜ試験が心配なのですか？</a:t>
            </a:r>
          </a:p>
        </p:txBody>
      </p:sp>
      <p:sp>
        <p:nvSpPr>
          <p:cNvPr id="7" name="TextBox 6"/>
          <p:cNvSpPr txBox="1"/>
          <p:nvPr/>
        </p:nvSpPr>
        <p:spPr>
          <a:xfrm>
            <a:off x="731520" y="3456432"/>
            <a:ext cx="7680960" cy="475488"/>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語句のパターンや応答規則を使った対話の模式例．</a:t>
            </a:r>
            <a:endParaRPr lang="ja-JP" sz="2000"/>
          </a:p>
        </p:txBody>
      </p:sp>
      <p:sp>
        <p:nvSpPr>
          <p:cNvPr id="8" name="TextBox 7"/>
          <p:cNvSpPr txBox="1"/>
          <p:nvPr/>
        </p:nvSpPr>
        <p:spPr>
          <a:xfrm>
            <a:off x="502920" y="4343400"/>
            <a:ext cx="8229600" cy="384048"/>
          </a:xfrm>
          <a:prstGeom prst="rect">
            <a:avLst/>
          </a:prstGeom>
          <a:noFill/>
        </p:spPr>
        <p:txBody>
          <a:bodyPr wrap="square" anchor="t" lIns="0" rIns="0" tIns="0" bIns="0">
            <a:noAutofit/>
          </a:bodyPr>
          <a:lstStyle/>
          <a:p>
            <a:pPr algn="l">
              <a:lnSpc>
                <a:spcPct val="113000"/>
              </a:lnSpc>
              <a:spcAft>
                <a:spcPts val="0"/>
              </a:spcAft>
            </a:pPr>
            <a:r>
              <a:rPr sz="1800" b="0" lang="ja-JP">
                <a:solidFill>
                  <a:srgbClr val="FF0000"/>
                </a:solidFill>
                <a:latin typeface="Arial"/>
                <a:ea typeface="ＭＳ Ｐゴシック"/>
                <a:cs typeface="ＭＳ Ｐゴシック"/>
              </a:rPr>
              <a:t>自然な会話に見えることだけでは，意味理解は判断できない．</a:t>
            </a:r>
            <a:endParaRPr lang="ja-JP" sz="180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ルールベースと機械学習を比較する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参照：JDLA</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比較　34</a:t>
            </a:r>
            <a:endParaRPr lang="ja-JP" sz="1050"/>
          </a:p>
        </p:txBody>
      </p:sp>
      <p:sp>
        <p:nvSpPr>
          <p:cNvPr id="5" name="Rectangle 4"/>
          <p:cNvSpPr/>
          <p:nvPr/>
        </p:nvSpPr>
        <p:spPr>
          <a:xfrm>
            <a:off x="365760" y="1188720"/>
            <a:ext cx="1947672" cy="60350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比較点</a:t>
            </a:r>
          </a:p>
        </p:txBody>
      </p:sp>
      <p:sp>
        <p:nvSpPr>
          <p:cNvPr id="6" name="Rectangle 5"/>
          <p:cNvSpPr/>
          <p:nvPr/>
        </p:nvSpPr>
        <p:spPr>
          <a:xfrm>
            <a:off x="2313432" y="1188720"/>
            <a:ext cx="3209544" cy="60350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ルールベース</a:t>
            </a:r>
          </a:p>
        </p:txBody>
      </p:sp>
      <p:sp>
        <p:nvSpPr>
          <p:cNvPr id="7" name="Rectangle 6"/>
          <p:cNvSpPr/>
          <p:nvPr/>
        </p:nvSpPr>
        <p:spPr>
          <a:xfrm>
            <a:off x="5522975" y="1188720"/>
            <a:ext cx="3209544" cy="60350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1" lang="ja-JP">
                <a:solidFill>
                  <a:srgbClr val="000000"/>
                </a:solidFill>
                <a:latin typeface="Arial"/>
                <a:ea typeface="ＭＳ Ｐゴシック"/>
                <a:cs typeface="ＭＳ Ｐゴシック"/>
              </a:rPr>
              <a:t>機械学習</a:t>
            </a:r>
          </a:p>
        </p:txBody>
      </p:sp>
      <p:sp>
        <p:nvSpPr>
          <p:cNvPr id="8" name="Rectangle 7"/>
          <p:cNvSpPr/>
          <p:nvPr/>
        </p:nvSpPr>
        <p:spPr>
          <a:xfrm>
            <a:off x="365760" y="1792224"/>
            <a:ext cx="1947672"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判断の基準</a:t>
            </a:r>
          </a:p>
        </p:txBody>
      </p:sp>
      <p:sp>
        <p:nvSpPr>
          <p:cNvPr id="9" name="Rectangle 8"/>
          <p:cNvSpPr/>
          <p:nvPr/>
        </p:nvSpPr>
        <p:spPr>
          <a:xfrm>
            <a:off x="2313432" y="1792224"/>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人が知識・規則を記述</a:t>
            </a:r>
          </a:p>
        </p:txBody>
      </p:sp>
      <p:sp>
        <p:nvSpPr>
          <p:cNvPr id="10" name="Rectangle 9"/>
          <p:cNvSpPr/>
          <p:nvPr/>
        </p:nvSpPr>
        <p:spPr>
          <a:xfrm>
            <a:off x="5522975" y="1792224"/>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データからモデルを学習</a:t>
            </a:r>
          </a:p>
        </p:txBody>
      </p:sp>
      <p:sp>
        <p:nvSpPr>
          <p:cNvPr id="11" name="Rectangle 10"/>
          <p:cNvSpPr/>
          <p:nvPr/>
        </p:nvSpPr>
        <p:spPr>
          <a:xfrm>
            <a:off x="365760" y="2395728"/>
            <a:ext cx="1947672"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用意するもの</a:t>
            </a:r>
          </a:p>
        </p:txBody>
      </p:sp>
      <p:sp>
        <p:nvSpPr>
          <p:cNvPr id="12" name="Rectangle 11"/>
          <p:cNvSpPr/>
          <p:nvPr/>
        </p:nvSpPr>
        <p:spPr>
          <a:xfrm>
            <a:off x="2313432" y="2395728"/>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専門知識・事実・規則</a:t>
            </a:r>
          </a:p>
        </p:txBody>
      </p:sp>
      <p:sp>
        <p:nvSpPr>
          <p:cNvPr id="13" name="Rectangle 12"/>
          <p:cNvSpPr/>
          <p:nvPr/>
        </p:nvSpPr>
        <p:spPr>
          <a:xfrm>
            <a:off x="5522975" y="2395728"/>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学習データ・目的・学習方法</a:t>
            </a:r>
          </a:p>
        </p:txBody>
      </p:sp>
      <p:sp>
        <p:nvSpPr>
          <p:cNvPr id="14" name="Rectangle 13"/>
          <p:cNvSpPr/>
          <p:nvPr/>
        </p:nvSpPr>
        <p:spPr>
          <a:xfrm>
            <a:off x="365760" y="2999232"/>
            <a:ext cx="1947672"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主な課題</a:t>
            </a:r>
          </a:p>
        </p:txBody>
      </p:sp>
      <p:sp>
        <p:nvSpPr>
          <p:cNvPr id="15" name="Rectangle 14"/>
          <p:cNvSpPr/>
          <p:nvPr/>
        </p:nvSpPr>
        <p:spPr>
          <a:xfrm>
            <a:off x="2313432" y="2999232"/>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知識獲得・例外・更新</a:t>
            </a:r>
          </a:p>
        </p:txBody>
      </p:sp>
      <p:sp>
        <p:nvSpPr>
          <p:cNvPr id="16" name="Rectangle 15"/>
          <p:cNvSpPr/>
          <p:nvPr/>
        </p:nvSpPr>
        <p:spPr>
          <a:xfrm>
            <a:off x="5522975" y="2999232"/>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データ品質・偏り・汎化</a:t>
            </a:r>
          </a:p>
        </p:txBody>
      </p:sp>
      <p:sp>
        <p:nvSpPr>
          <p:cNvPr id="17" name="Rectangle 16"/>
          <p:cNvSpPr/>
          <p:nvPr/>
        </p:nvSpPr>
        <p:spPr>
          <a:xfrm>
            <a:off x="365760" y="3602736"/>
            <a:ext cx="1947672"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000000"/>
                </a:solidFill>
                <a:latin typeface="Arial"/>
                <a:ea typeface="ＭＳ Ｐゴシック"/>
                <a:cs typeface="ＭＳ Ｐゴシック"/>
              </a:rPr>
              <a:t>根拠の確認</a:t>
            </a:r>
          </a:p>
        </p:txBody>
      </p:sp>
      <p:sp>
        <p:nvSpPr>
          <p:cNvPr id="18" name="Rectangle 17"/>
          <p:cNvSpPr/>
          <p:nvPr/>
        </p:nvSpPr>
        <p:spPr>
          <a:xfrm>
            <a:off x="2313432" y="3602736"/>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適用規則を追いやすい</a:t>
            </a:r>
          </a:p>
        </p:txBody>
      </p:sp>
      <p:sp>
        <p:nvSpPr>
          <p:cNvPr id="19" name="Rectangle 18"/>
          <p:cNvSpPr/>
          <p:nvPr/>
        </p:nvSpPr>
        <p:spPr>
          <a:xfrm>
            <a:off x="5522975" y="3602736"/>
            <a:ext cx="3209544" cy="60350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800" b="0" lang="ja-JP">
                <a:solidFill>
                  <a:srgbClr val="404040"/>
                </a:solidFill>
                <a:latin typeface="Arial"/>
                <a:ea typeface="ＭＳ Ｐゴシック"/>
                <a:cs typeface="ＭＳ Ｐゴシック"/>
              </a:rPr>
              <a:t>モデルによって難しさが違う</a:t>
            </a:r>
          </a:p>
        </p:txBody>
      </p:sp>
      <p:sp>
        <p:nvSpPr>
          <p:cNvPr id="20" name="TextBox 19"/>
          <p:cNvSpPr txBox="1"/>
          <p:nvPr/>
        </p:nvSpPr>
        <p:spPr>
          <a:xfrm>
            <a:off x="502920" y="4434840"/>
            <a:ext cx="8229600" cy="384048"/>
          </a:xfrm>
          <a:prstGeom prst="rect">
            <a:avLst/>
          </a:prstGeom>
          <a:noFill/>
        </p:spPr>
        <p:txBody>
          <a:bodyPr wrap="square" anchor="t" lIns="0" rIns="0" tIns="0" bIns="0">
            <a:noAutofit/>
          </a:bodyPr>
          <a:lstStyle/>
          <a:p>
            <a:pPr algn="l">
              <a:lnSpc>
                <a:spcPct val="113000"/>
              </a:lnSpc>
              <a:spcAft>
                <a:spcPts val="0"/>
              </a:spcAft>
            </a:pPr>
            <a:r>
              <a:rPr sz="1700" b="0" lang="ja-JP">
                <a:solidFill>
                  <a:srgbClr val="FF0000"/>
                </a:solidFill>
                <a:latin typeface="Arial"/>
                <a:ea typeface="ＭＳ Ｐゴシック"/>
                <a:cs typeface="ＭＳ Ｐゴシック"/>
              </a:rPr>
              <a:t>どちらも設計・評価が必要．組み合わせて使うこともできる．</a:t>
            </a:r>
            <a:endParaRPr lang="ja-JP" sz="1700"/>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混同しやすい用語を整理する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参照：JDLA</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整理　35</a:t>
            </a:r>
            <a:endParaRPr lang="ja-JP" sz="1050"/>
          </a:p>
        </p:txBody>
      </p:sp>
      <p:sp>
        <p:nvSpPr>
          <p:cNvPr id="5" name="Rectangle 4"/>
          <p:cNvSpPr/>
          <p:nvPr/>
        </p:nvSpPr>
        <p:spPr>
          <a:xfrm>
            <a:off x="365760" y="1188720"/>
            <a:ext cx="2907792" cy="46634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組合せ</a:t>
            </a:r>
          </a:p>
        </p:txBody>
      </p:sp>
      <p:sp>
        <p:nvSpPr>
          <p:cNvPr id="6" name="Rectangle 5"/>
          <p:cNvSpPr/>
          <p:nvPr/>
        </p:nvSpPr>
        <p:spPr>
          <a:xfrm>
            <a:off x="3273552" y="1188720"/>
            <a:ext cx="5458968" cy="466344"/>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1" lang="ja-JP">
                <a:solidFill>
                  <a:srgbClr val="000000"/>
                </a:solidFill>
                <a:latin typeface="Arial"/>
                <a:ea typeface="ＭＳ Ｐゴシック"/>
                <a:cs typeface="ＭＳ Ｐゴシック"/>
              </a:rPr>
              <a:t>区別する点</a:t>
            </a:r>
          </a:p>
        </p:txBody>
      </p:sp>
      <p:sp>
        <p:nvSpPr>
          <p:cNvPr id="7" name="Rectangle 6"/>
          <p:cNvSpPr/>
          <p:nvPr/>
        </p:nvSpPr>
        <p:spPr>
          <a:xfrm>
            <a:off x="365760" y="1655064"/>
            <a:ext cx="2907792"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幅優先／深さ優先</a:t>
            </a:r>
          </a:p>
        </p:txBody>
      </p:sp>
      <p:sp>
        <p:nvSpPr>
          <p:cNvPr id="8" name="Rectangle 7"/>
          <p:cNvSpPr/>
          <p:nvPr/>
        </p:nvSpPr>
        <p:spPr>
          <a:xfrm>
            <a:off x="3273552" y="1655064"/>
            <a:ext cx="5458968"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浅い候補を優先／深い候補を優先</a:t>
            </a:r>
          </a:p>
        </p:txBody>
      </p:sp>
      <p:sp>
        <p:nvSpPr>
          <p:cNvPr id="9" name="Rectangle 8"/>
          <p:cNvSpPr/>
          <p:nvPr/>
        </p:nvSpPr>
        <p:spPr>
          <a:xfrm>
            <a:off x="365760" y="2121408"/>
            <a:ext cx="2907792"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αβ法／モンテカルロ法</a:t>
            </a:r>
          </a:p>
        </p:txBody>
      </p:sp>
      <p:sp>
        <p:nvSpPr>
          <p:cNvPr id="10" name="Rectangle 9"/>
          <p:cNvSpPr/>
          <p:nvPr/>
        </p:nvSpPr>
        <p:spPr>
          <a:xfrm>
            <a:off x="3273552" y="2121408"/>
            <a:ext cx="5458968"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結果を保つ枝刈り／試行による近似</a:t>
            </a:r>
          </a:p>
        </p:txBody>
      </p:sp>
      <p:sp>
        <p:nvSpPr>
          <p:cNvPr id="11" name="Rectangle 10"/>
          <p:cNvSpPr/>
          <p:nvPr/>
        </p:nvSpPr>
        <p:spPr>
          <a:xfrm>
            <a:off x="365760" y="2587752"/>
            <a:ext cx="2907792"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STRIPS／SHRDLU</a:t>
            </a:r>
          </a:p>
        </p:txBody>
      </p:sp>
      <p:sp>
        <p:nvSpPr>
          <p:cNvPr id="12" name="Rectangle 11"/>
          <p:cNvSpPr/>
          <p:nvPr/>
        </p:nvSpPr>
        <p:spPr>
          <a:xfrm>
            <a:off x="3273552" y="2587752"/>
            <a:ext cx="5458968"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行動列の計画／限定領域の言語理解</a:t>
            </a:r>
          </a:p>
        </p:txBody>
      </p:sp>
      <p:sp>
        <p:nvSpPr>
          <p:cNvPr id="13" name="Rectangle 12"/>
          <p:cNvSpPr/>
          <p:nvPr/>
        </p:nvSpPr>
        <p:spPr>
          <a:xfrm>
            <a:off x="365760" y="3054096"/>
            <a:ext cx="2907792"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is-a／part-of</a:t>
            </a:r>
          </a:p>
        </p:txBody>
      </p:sp>
      <p:sp>
        <p:nvSpPr>
          <p:cNvPr id="14" name="Rectangle 13"/>
          <p:cNvSpPr/>
          <p:nvPr/>
        </p:nvSpPr>
        <p:spPr>
          <a:xfrm>
            <a:off x="3273552" y="3054096"/>
            <a:ext cx="5458968"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種類の関係／部分と全体の関係</a:t>
            </a:r>
          </a:p>
        </p:txBody>
      </p:sp>
      <p:sp>
        <p:nvSpPr>
          <p:cNvPr id="15" name="Rectangle 14"/>
          <p:cNvSpPr/>
          <p:nvPr/>
        </p:nvSpPr>
        <p:spPr>
          <a:xfrm>
            <a:off x="365760" y="3520439"/>
            <a:ext cx="2907792"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DENDRAL／MYCIN</a:t>
            </a:r>
          </a:p>
        </p:txBody>
      </p:sp>
      <p:sp>
        <p:nvSpPr>
          <p:cNvPr id="16" name="Rectangle 15"/>
          <p:cNvSpPr/>
          <p:nvPr/>
        </p:nvSpPr>
        <p:spPr>
          <a:xfrm>
            <a:off x="3273552" y="3520439"/>
            <a:ext cx="5458968"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化学の専門知識／医療の専門知識</a:t>
            </a:r>
          </a:p>
        </p:txBody>
      </p:sp>
      <p:sp>
        <p:nvSpPr>
          <p:cNvPr id="17" name="Rectangle 16"/>
          <p:cNvSpPr/>
          <p:nvPr/>
        </p:nvSpPr>
        <p:spPr>
          <a:xfrm>
            <a:off x="365760" y="3986784"/>
            <a:ext cx="2907792"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000000"/>
                </a:solidFill>
                <a:latin typeface="Arial"/>
                <a:ea typeface="ＭＳ Ｐゴシック"/>
                <a:cs typeface="ＭＳ Ｐゴシック"/>
              </a:rPr>
              <a:t>QA／ELIZA型の応答</a:t>
            </a:r>
          </a:p>
        </p:txBody>
      </p:sp>
      <p:sp>
        <p:nvSpPr>
          <p:cNvPr id="18" name="Rectangle 17"/>
          <p:cNvSpPr/>
          <p:nvPr/>
        </p:nvSpPr>
        <p:spPr>
          <a:xfrm>
            <a:off x="3273552" y="3986784"/>
            <a:ext cx="5458968" cy="466344"/>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1700" b="0" lang="ja-JP">
                <a:solidFill>
                  <a:srgbClr val="404040"/>
                </a:solidFill>
                <a:latin typeface="Arial"/>
                <a:ea typeface="ＭＳ Ｐゴシック"/>
                <a:cs typeface="ＭＳ Ｐゴシック"/>
              </a:rPr>
              <a:t>問いへの回答／パターンを使った対話</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今日のまとめ：三つの問いで説明する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整理　36</a:t>
            </a:r>
            <a:endParaRPr lang="ja-JP" sz="1050"/>
          </a:p>
        </p:txBody>
      </p:sp>
      <p:sp>
        <p:nvSpPr>
          <p:cNvPr id="5" name="Rectangle 4"/>
          <p:cNvSpPr/>
          <p:nvPr/>
        </p:nvSpPr>
        <p:spPr>
          <a:xfrm>
            <a:off x="365760" y="1188720"/>
            <a:ext cx="1847088"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問い</a:t>
            </a:r>
          </a:p>
        </p:txBody>
      </p:sp>
      <p:sp>
        <p:nvSpPr>
          <p:cNvPr id="6" name="Rectangle 5"/>
          <p:cNvSpPr/>
          <p:nvPr/>
        </p:nvSpPr>
        <p:spPr>
          <a:xfrm>
            <a:off x="2212848" y="1188720"/>
            <a:ext cx="3246120"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探索</a:t>
            </a:r>
          </a:p>
        </p:txBody>
      </p:sp>
      <p:sp>
        <p:nvSpPr>
          <p:cNvPr id="7" name="Rectangle 6"/>
          <p:cNvSpPr/>
          <p:nvPr/>
        </p:nvSpPr>
        <p:spPr>
          <a:xfrm>
            <a:off x="5458968" y="1188720"/>
            <a:ext cx="3273552" cy="731520"/>
          </a:xfrm>
          <a:prstGeom prst="rect">
            <a:avLst/>
          </a:prstGeom>
          <a:solidFill>
            <a:srgbClr val="F3F3F3"/>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1" lang="ja-JP">
                <a:solidFill>
                  <a:srgbClr val="000000"/>
                </a:solidFill>
                <a:latin typeface="Arial"/>
                <a:ea typeface="ＭＳ Ｐゴシック"/>
                <a:cs typeface="ＭＳ Ｐゴシック"/>
              </a:rPr>
              <a:t>知識を使った推論</a:t>
            </a:r>
          </a:p>
        </p:txBody>
      </p:sp>
      <p:sp>
        <p:nvSpPr>
          <p:cNvPr id="8" name="Rectangle 7"/>
          <p:cNvSpPr/>
          <p:nvPr/>
        </p:nvSpPr>
        <p:spPr>
          <a:xfrm>
            <a:off x="365760" y="1920240"/>
            <a:ext cx="1847088"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何を扱う？</a:t>
            </a:r>
          </a:p>
        </p:txBody>
      </p:sp>
      <p:sp>
        <p:nvSpPr>
          <p:cNvPr id="9" name="Rectangle 8"/>
          <p:cNvSpPr/>
          <p:nvPr/>
        </p:nvSpPr>
        <p:spPr>
          <a:xfrm>
            <a:off x="2212848" y="1920240"/>
            <a:ext cx="3246120"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状態・行動・経路</a:t>
            </a:r>
          </a:p>
        </p:txBody>
      </p:sp>
      <p:sp>
        <p:nvSpPr>
          <p:cNvPr id="10" name="Rectangle 9"/>
          <p:cNvSpPr/>
          <p:nvPr/>
        </p:nvSpPr>
        <p:spPr>
          <a:xfrm>
            <a:off x="5458968" y="1920240"/>
            <a:ext cx="3273552"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事実・概念・関係・規則</a:t>
            </a:r>
          </a:p>
        </p:txBody>
      </p:sp>
      <p:sp>
        <p:nvSpPr>
          <p:cNvPr id="11" name="Rectangle 10"/>
          <p:cNvSpPr/>
          <p:nvPr/>
        </p:nvSpPr>
        <p:spPr>
          <a:xfrm>
            <a:off x="365760" y="2651760"/>
            <a:ext cx="1847088"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どう決める？</a:t>
            </a:r>
          </a:p>
        </p:txBody>
      </p:sp>
      <p:sp>
        <p:nvSpPr>
          <p:cNvPr id="12" name="Rectangle 11"/>
          <p:cNvSpPr/>
          <p:nvPr/>
        </p:nvSpPr>
        <p:spPr>
          <a:xfrm>
            <a:off x="2212848" y="2651760"/>
            <a:ext cx="3246120"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探索順序・評価・枝刈り</a:t>
            </a:r>
          </a:p>
        </p:txBody>
      </p:sp>
      <p:sp>
        <p:nvSpPr>
          <p:cNvPr id="13" name="Rectangle 12"/>
          <p:cNvSpPr/>
          <p:nvPr/>
        </p:nvSpPr>
        <p:spPr>
          <a:xfrm>
            <a:off x="5458968" y="2651760"/>
            <a:ext cx="3273552"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条件に合う知識を適用</a:t>
            </a:r>
          </a:p>
        </p:txBody>
      </p:sp>
      <p:sp>
        <p:nvSpPr>
          <p:cNvPr id="14" name="Rectangle 13"/>
          <p:cNvSpPr/>
          <p:nvPr/>
        </p:nvSpPr>
        <p:spPr>
          <a:xfrm>
            <a:off x="365760" y="3383280"/>
            <a:ext cx="1847088"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000000"/>
                </a:solidFill>
                <a:latin typeface="Arial"/>
                <a:ea typeface="ＭＳ Ｐゴシック"/>
                <a:cs typeface="ＭＳ Ｐゴシック"/>
              </a:rPr>
              <a:t>何が難しい？</a:t>
            </a:r>
          </a:p>
        </p:txBody>
      </p:sp>
      <p:sp>
        <p:nvSpPr>
          <p:cNvPr id="15" name="Rectangle 14"/>
          <p:cNvSpPr/>
          <p:nvPr/>
        </p:nvSpPr>
        <p:spPr>
          <a:xfrm>
            <a:off x="2212848" y="3383280"/>
            <a:ext cx="3246120"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組合せ爆発・計算資源</a:t>
            </a:r>
          </a:p>
        </p:txBody>
      </p:sp>
      <p:sp>
        <p:nvSpPr>
          <p:cNvPr id="16" name="Rectangle 15"/>
          <p:cNvSpPr/>
          <p:nvPr/>
        </p:nvSpPr>
        <p:spPr>
          <a:xfrm>
            <a:off x="5458968" y="3383280"/>
            <a:ext cx="3273552" cy="731520"/>
          </a:xfrm>
          <a:prstGeom prst="rect">
            <a:avLst/>
          </a:prstGeom>
          <a:solidFill>
            <a:srgbClr val="FFFFFF"/>
          </a:solidFill>
          <a:ln w="12700">
            <a:solidFill>
              <a:srgbClr val="B8B8B8"/>
            </a:solidFill>
          </a:ln>
        </p:spPr>
        <p:style>
          <a:lnRef idx="1">
            <a:schemeClr val="accent1"/>
          </a:lnRef>
          <a:fillRef idx="3">
            <a:schemeClr val="accent1"/>
          </a:fillRef>
          <a:effectRef idx="2">
            <a:schemeClr val="accent1"/>
          </a:effectRef>
          <a:fontRef idx="minor">
            <a:schemeClr val="lt1"/>
          </a:fontRef>
        </p:style>
        <p:txBody>
          <a:bodyPr rtlCol="0" anchor="ctr" wrap="square" lIns="64008" rIns="64008" tIns="36576" bIns="36576"/>
          <a:lstStyle/>
          <a:p>
            <a:pPr algn="ctr">
              <a:lnSpc>
                <a:spcPct val="108000"/>
              </a:lnSpc>
              <a:spcAft>
                <a:spcPts val="0"/>
              </a:spcAft>
            </a:pPr>
            <a:r>
              <a:rPr sz="2000" b="0" lang="ja-JP">
                <a:solidFill>
                  <a:srgbClr val="404040"/>
                </a:solidFill>
                <a:latin typeface="Arial"/>
                <a:ea typeface="ＭＳ Ｐゴシック"/>
                <a:cs typeface="ＭＳ Ｐゴシック"/>
              </a:rPr>
              <a:t>知識獲得・例外・整合性</a:t>
            </a:r>
          </a:p>
        </p:txBody>
      </p:sp>
      <p:sp>
        <p:nvSpPr>
          <p:cNvPr id="17" name="TextBox 16"/>
          <p:cNvSpPr txBox="1"/>
          <p:nvPr/>
        </p:nvSpPr>
        <p:spPr>
          <a:xfrm>
            <a:off x="502920" y="4315968"/>
            <a:ext cx="8229600" cy="384048"/>
          </a:xfrm>
          <a:prstGeom prst="rect">
            <a:avLst/>
          </a:prstGeom>
          <a:noFill/>
        </p:spPr>
        <p:txBody>
          <a:bodyPr wrap="square" anchor="t" lIns="0" rIns="0" tIns="0" bIns="0">
            <a:noAutofit/>
          </a:bodyPr>
          <a:lstStyle/>
          <a:p>
            <a:pPr algn="l">
              <a:lnSpc>
                <a:spcPct val="113000"/>
              </a:lnSpc>
              <a:spcAft>
                <a:spcPts val="0"/>
              </a:spcAft>
            </a:pPr>
            <a:r>
              <a:rPr sz="1900" b="0" lang="ja-JP">
                <a:solidFill>
                  <a:srgbClr val="FF0000"/>
                </a:solidFill>
                <a:latin typeface="Arial"/>
                <a:ea typeface="ＭＳ Ｐゴシック"/>
                <a:cs typeface="ＭＳ Ｐゴシック"/>
              </a:rPr>
              <a:t>手法の名前だけでなく，前提・働き・限界を説明する．</a:t>
            </a:r>
            <a:endParaRPr lang="ja-JP" sz="1900"/>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最終確認：選択肢と理由を答える</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確認　37</a:t>
            </a:r>
            <a:endParaRPr lang="ja-JP" sz="1050"/>
          </a:p>
        </p:txBody>
      </p:sp>
      <p:sp>
        <p:nvSpPr>
          <p:cNvPr id="5" name="TextBox 4"/>
          <p:cNvSpPr txBox="1"/>
          <p:nvPr/>
        </p:nvSpPr>
        <p:spPr>
          <a:xfrm>
            <a:off x="566928" y="1188720"/>
            <a:ext cx="8046720" cy="457200"/>
          </a:xfrm>
          <a:prstGeom prst="rect">
            <a:avLst/>
          </a:prstGeom>
          <a:noFill/>
        </p:spPr>
        <p:txBody>
          <a:bodyPr wrap="square" anchor="t" lIns="0" rIns="0" tIns="0" bIns="0">
            <a:noAutofit/>
          </a:bodyPr>
          <a:lstStyle/>
          <a:p>
            <a:pPr algn="l">
              <a:lnSpc>
                <a:spcPct val="113000"/>
              </a:lnSpc>
              <a:spcAft>
                <a:spcPts val="0"/>
              </a:spcAft>
            </a:pPr>
            <a:r>
              <a:rPr sz="2000" b="0" lang="ja-JP">
                <a:solidFill>
                  <a:srgbClr val="000000"/>
                </a:solidFill>
                <a:latin typeface="Arial"/>
                <a:ea typeface="ＭＳ Ｐゴシック"/>
                <a:cs typeface="ＭＳ Ｐゴシック"/>
              </a:rPr>
              <a:t>① 幅優先探索で最小コストが保証される条件は？</a:t>
            </a:r>
            <a:endParaRPr lang="ja-JP" sz="2000"/>
          </a:p>
        </p:txBody>
      </p:sp>
      <p:sp>
        <p:nvSpPr>
          <p:cNvPr id="6" name="TextBox 5"/>
          <p:cNvSpPr txBox="1"/>
          <p:nvPr/>
        </p:nvSpPr>
        <p:spPr>
          <a:xfrm>
            <a:off x="795528" y="1636776"/>
            <a:ext cx="7726679" cy="594360"/>
          </a:xfrm>
          <a:prstGeom prst="rect">
            <a:avLst/>
          </a:prstGeom>
          <a:noFill/>
        </p:spPr>
        <p:txBody>
          <a:bodyPr wrap="square" anchor="t" lIns="0" rIns="0" tIns="0" bIns="0">
            <a:noAutofit/>
          </a:bodyPr>
          <a:lstStyle/>
          <a:p>
            <a:pPr algn="l">
              <a:lnSpc>
                <a:spcPct val="113000"/>
              </a:lnSpc>
              <a:spcAft>
                <a:spcPts val="0"/>
              </a:spcAft>
            </a:pPr>
            <a:r>
              <a:rPr sz="1700" b="0" lang="ja-JP">
                <a:solidFill>
                  <a:srgbClr val="404040"/>
                </a:solidFill>
                <a:latin typeface="Arial"/>
                <a:ea typeface="ＭＳ Ｐゴシック"/>
                <a:cs typeface="ＭＳ Ｐゴシック"/>
              </a:rPr>
              <a:t>A 枝のコストが等しい　B 解が最深部　C 訪問数が少ない　D ランダム探索</a:t>
            </a:r>
            <a:endParaRPr lang="ja-JP" sz="1700"/>
          </a:p>
        </p:txBody>
      </p:sp>
      <p:sp>
        <p:nvSpPr>
          <p:cNvPr id="7" name="TextBox 6"/>
          <p:cNvSpPr txBox="1"/>
          <p:nvPr/>
        </p:nvSpPr>
        <p:spPr>
          <a:xfrm>
            <a:off x="566928" y="2322576"/>
            <a:ext cx="8046720" cy="457200"/>
          </a:xfrm>
          <a:prstGeom prst="rect">
            <a:avLst/>
          </a:prstGeom>
          <a:noFill/>
        </p:spPr>
        <p:txBody>
          <a:bodyPr wrap="square" anchor="t" lIns="0" rIns="0" tIns="0" bIns="0">
            <a:noAutofit/>
          </a:bodyPr>
          <a:lstStyle/>
          <a:p>
            <a:pPr algn="l">
              <a:lnSpc>
                <a:spcPct val="113000"/>
              </a:lnSpc>
              <a:spcAft>
                <a:spcPts val="0"/>
              </a:spcAft>
            </a:pPr>
            <a:r>
              <a:rPr sz="2000" b="0" lang="ja-JP">
                <a:solidFill>
                  <a:srgbClr val="000000"/>
                </a:solidFill>
                <a:latin typeface="Arial"/>
                <a:ea typeface="ＭＳ Ｐゴシック"/>
                <a:cs typeface="ＭＳ Ｐゴシック"/>
              </a:rPr>
              <a:t>② αβ法の働きは？</a:t>
            </a:r>
            <a:endParaRPr lang="ja-JP" sz="2000"/>
          </a:p>
        </p:txBody>
      </p:sp>
      <p:sp>
        <p:nvSpPr>
          <p:cNvPr id="8" name="TextBox 7"/>
          <p:cNvSpPr txBox="1"/>
          <p:nvPr/>
        </p:nvSpPr>
        <p:spPr>
          <a:xfrm>
            <a:off x="795528" y="2770632"/>
            <a:ext cx="7726679" cy="594360"/>
          </a:xfrm>
          <a:prstGeom prst="rect">
            <a:avLst/>
          </a:prstGeom>
          <a:noFill/>
        </p:spPr>
        <p:txBody>
          <a:bodyPr wrap="square" anchor="t" lIns="0" rIns="0" tIns="0" bIns="0">
            <a:noAutofit/>
          </a:bodyPr>
          <a:lstStyle/>
          <a:p>
            <a:pPr algn="l">
              <a:lnSpc>
                <a:spcPct val="113000"/>
              </a:lnSpc>
              <a:spcAft>
                <a:spcPts val="0"/>
              </a:spcAft>
            </a:pPr>
            <a:r>
              <a:rPr sz="1700" b="0" lang="ja-JP">
                <a:solidFill>
                  <a:srgbClr val="404040"/>
                </a:solidFill>
                <a:latin typeface="Arial"/>
                <a:ea typeface="ＭＳ Ｐゴシック"/>
                <a:cs typeface="ＭＳ Ｐゴシック"/>
              </a:rPr>
              <a:t>A 全候補を列挙　B 結果を保ち枝を省く　C 勝率を近似　D 知識を獲得</a:t>
            </a:r>
            <a:endParaRPr lang="ja-JP" sz="1700"/>
          </a:p>
        </p:txBody>
      </p:sp>
      <p:sp>
        <p:nvSpPr>
          <p:cNvPr id="9" name="TextBox 8"/>
          <p:cNvSpPr txBox="1"/>
          <p:nvPr/>
        </p:nvSpPr>
        <p:spPr>
          <a:xfrm>
            <a:off x="566928" y="3456432"/>
            <a:ext cx="8046720" cy="457200"/>
          </a:xfrm>
          <a:prstGeom prst="rect">
            <a:avLst/>
          </a:prstGeom>
          <a:noFill/>
        </p:spPr>
        <p:txBody>
          <a:bodyPr wrap="square" anchor="t" lIns="0" rIns="0" tIns="0" bIns="0">
            <a:noAutofit/>
          </a:bodyPr>
          <a:lstStyle/>
          <a:p>
            <a:pPr algn="l">
              <a:lnSpc>
                <a:spcPct val="113000"/>
              </a:lnSpc>
              <a:spcAft>
                <a:spcPts val="0"/>
              </a:spcAft>
            </a:pPr>
            <a:r>
              <a:rPr sz="2000" b="0" lang="ja-JP">
                <a:solidFill>
                  <a:srgbClr val="000000"/>
                </a:solidFill>
                <a:latin typeface="Arial"/>
                <a:ea typeface="ＭＳ Ｐゴシック"/>
                <a:cs typeface="ＭＳ Ｐゴシック"/>
              </a:rPr>
              <a:t>③ 知識獲得のボトルネックとは？</a:t>
            </a:r>
            <a:endParaRPr lang="ja-JP" sz="2000"/>
          </a:p>
        </p:txBody>
      </p:sp>
      <p:sp>
        <p:nvSpPr>
          <p:cNvPr id="10" name="TextBox 9"/>
          <p:cNvSpPr txBox="1"/>
          <p:nvPr/>
        </p:nvSpPr>
        <p:spPr>
          <a:xfrm>
            <a:off x="795528" y="3904487"/>
            <a:ext cx="7726679" cy="594360"/>
          </a:xfrm>
          <a:prstGeom prst="rect">
            <a:avLst/>
          </a:prstGeom>
          <a:noFill/>
        </p:spPr>
        <p:txBody>
          <a:bodyPr wrap="square" anchor="t" lIns="0" rIns="0" tIns="0" bIns="0">
            <a:noAutofit/>
          </a:bodyPr>
          <a:lstStyle/>
          <a:p>
            <a:pPr algn="l">
              <a:lnSpc>
                <a:spcPct val="113000"/>
              </a:lnSpc>
              <a:spcAft>
                <a:spcPts val="0"/>
              </a:spcAft>
            </a:pPr>
            <a:r>
              <a:rPr sz="1700" b="0" lang="ja-JP">
                <a:solidFill>
                  <a:srgbClr val="404040"/>
                </a:solidFill>
                <a:latin typeface="Arial"/>
                <a:ea typeface="ＭＳ Ｐゴシック"/>
                <a:cs typeface="ＭＳ Ｐゴシック"/>
              </a:rPr>
              <a:t>A GPU不足　B 知識の明文化・収集・更新の難しさ　C 回線不足　D 学習率</a:t>
            </a:r>
            <a:endParaRPr lang="ja-JP" sz="1700"/>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最終確認：解答と解説</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確認　38</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987551"/>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
            </a:r>
            <a:r>
              <a:rPr sz="2100" b="0" lang="ja-JP">
                <a:solidFill>
                  <a:srgbClr val="FF0000"/>
                </a:solidFill>
                <a:latin typeface="Arial"/>
                <a:ea typeface="ＭＳ Ｐゴシック"/>
                <a:cs typeface="ＭＳ Ｐゴシック"/>
              </a:rPr>
              <a:t>① A</a:t>
            </a:r>
            <a:r>
              <a:rPr sz="2100" b="0" lang="ja-JP">
                <a:solidFill>
                  <a:srgbClr val="404040"/>
                </a:solidFill>
                <a:latin typeface="Arial"/>
                <a:ea typeface="ＭＳ Ｐゴシック"/>
                <a:cs typeface="ＭＳ Ｐゴシック"/>
              </a:rPr>
              <a:t>　枝のコストが等しい場合．
最小手数の経路が最小コストになる．</a:t>
            </a:r>
            <a:endParaRPr lang="ja-JP" sz="2100"/>
          </a:p>
        </p:txBody>
      </p:sp>
      <p:sp>
        <p:nvSpPr>
          <p:cNvPr id="7" name="TextBox 6"/>
          <p:cNvSpPr txBox="1"/>
          <p:nvPr/>
        </p:nvSpPr>
        <p:spPr>
          <a:xfrm>
            <a:off x="502920" y="227228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2240280"/>
            <a:ext cx="7882127" cy="987551"/>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
            </a:r>
            <a:r>
              <a:rPr sz="2100" b="0" lang="ja-JP">
                <a:solidFill>
                  <a:srgbClr val="FF0000"/>
                </a:solidFill>
                <a:latin typeface="Arial"/>
                <a:ea typeface="ＭＳ Ｐゴシック"/>
                <a:cs typeface="ＭＳ Ｐゴシック"/>
              </a:rPr>
              <a:t>② B</a:t>
            </a:r>
            <a:r>
              <a:rPr sz="2100" b="0" lang="ja-JP">
                <a:solidFill>
                  <a:srgbClr val="404040"/>
                </a:solidFill>
                <a:latin typeface="Arial"/>
                <a:ea typeface="ＭＳ Ｐゴシック"/>
                <a:cs typeface="ＭＳ Ｐゴシック"/>
              </a:rPr>
              <a:t>　同じ深さ・評価関数で，根の評価値を保つ．
探索順序によって省ける量は変わる．</a:t>
            </a:r>
            <a:endParaRPr lang="ja-JP" sz="2100"/>
          </a:p>
        </p:txBody>
      </p:sp>
      <p:sp>
        <p:nvSpPr>
          <p:cNvPr id="9" name="TextBox 8"/>
          <p:cNvSpPr txBox="1"/>
          <p:nvPr/>
        </p:nvSpPr>
        <p:spPr>
          <a:xfrm>
            <a:off x="502920" y="332384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3291839"/>
            <a:ext cx="7882127" cy="987551"/>
          </a:xfrm>
          <a:prstGeom prst="rect">
            <a:avLst/>
          </a:prstGeom>
          <a:noFill/>
        </p:spPr>
        <p:txBody>
          <a:bodyPr wrap="square" anchor="t" lIns="0" rIns="0" tIns="0" bIns="0">
            <a:noAutofit/>
          </a:bodyPr>
          <a:lstStyle/>
          <a:p>
            <a:pPr algn="l">
              <a:lnSpc>
                <a:spcPct val="113000"/>
              </a:lnSpc>
              <a:spcAft>
                <a:spcPts val="0"/>
              </a:spcAft>
            </a:pPr>
            <a:r>
              <a:rPr sz="2100" b="0" lang="ja-JP">
                <a:solidFill>
                  <a:srgbClr val="404040"/>
                </a:solidFill>
                <a:latin typeface="Arial"/>
                <a:ea typeface="ＭＳ Ｐゴシック"/>
                <a:cs typeface="ＭＳ Ｐゴシック"/>
              </a:rPr>
              <a:t/>
            </a:r>
            <a:r>
              <a:rPr sz="2100" b="0" lang="ja-JP">
                <a:solidFill>
                  <a:srgbClr val="FF0000"/>
                </a:solidFill>
                <a:latin typeface="Arial"/>
                <a:ea typeface="ＭＳ Ｐゴシック"/>
                <a:cs typeface="ＭＳ Ｐゴシック"/>
              </a:rPr>
              <a:t>③ B</a:t>
            </a:r>
            <a:r>
              <a:rPr sz="2100" b="0" lang="ja-JP">
                <a:solidFill>
                  <a:srgbClr val="404040"/>
                </a:solidFill>
                <a:latin typeface="Arial"/>
                <a:ea typeface="ＭＳ Ｐゴシック"/>
                <a:cs typeface="ＭＳ Ｐゴシック"/>
              </a:rPr>
              <a:t>　専門家の知識や例外を明文化し，
集めて更新し続けることが難しい．</a:t>
            </a:r>
            <a:endParaRPr lang="ja-JP" sz="2100"/>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振り返りと復習</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図・設問：本教材の作例</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振り返り　39</a:t>
            </a:r>
            <a:endParaRPr lang="ja-JP" sz="1050"/>
          </a:p>
        </p:txBody>
      </p:sp>
      <p:sp>
        <p:nvSpPr>
          <p:cNvPr id="5" name="TextBox 4"/>
          <p:cNvSpPr txBox="1"/>
          <p:nvPr/>
        </p:nvSpPr>
        <p:spPr>
          <a:xfrm>
            <a:off x="502920" y="1220724"/>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6" name="TextBox 5"/>
          <p:cNvSpPr txBox="1"/>
          <p:nvPr/>
        </p:nvSpPr>
        <p:spPr>
          <a:xfrm>
            <a:off x="850392" y="1188720"/>
            <a:ext cx="7882127" cy="612647"/>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出口課題①：幅優先と深さ優先の違いを，一文で書く．</a:t>
            </a:r>
            <a:endParaRPr lang="ja-JP" sz="2000"/>
          </a:p>
        </p:txBody>
      </p:sp>
      <p:sp>
        <p:nvSpPr>
          <p:cNvPr id="7" name="TextBox 6"/>
          <p:cNvSpPr txBox="1"/>
          <p:nvPr/>
        </p:nvSpPr>
        <p:spPr>
          <a:xfrm>
            <a:off x="502920" y="1897380"/>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8" name="TextBox 7"/>
          <p:cNvSpPr txBox="1"/>
          <p:nvPr/>
        </p:nvSpPr>
        <p:spPr>
          <a:xfrm>
            <a:off x="850392" y="1865376"/>
            <a:ext cx="7882127" cy="612647"/>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出口課題②：知識獲得が難しくなる理由を，一つ書く．</a:t>
            </a:r>
            <a:endParaRPr lang="ja-JP" sz="2000"/>
          </a:p>
        </p:txBody>
      </p:sp>
      <p:sp>
        <p:nvSpPr>
          <p:cNvPr id="9" name="TextBox 8"/>
          <p:cNvSpPr txBox="1"/>
          <p:nvPr/>
        </p:nvSpPr>
        <p:spPr>
          <a:xfrm>
            <a:off x="502920" y="2574036"/>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0" name="TextBox 9"/>
          <p:cNvSpPr txBox="1"/>
          <p:nvPr/>
        </p:nvSpPr>
        <p:spPr>
          <a:xfrm>
            <a:off x="850392" y="2542032"/>
            <a:ext cx="7882127" cy="612647"/>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復習①：演習1の目標をFに変えて，訪問順序を求める．</a:t>
            </a:r>
            <a:endParaRPr lang="ja-JP" sz="2000"/>
          </a:p>
        </p:txBody>
      </p:sp>
      <p:sp>
        <p:nvSpPr>
          <p:cNvPr id="11" name="TextBox 10"/>
          <p:cNvSpPr txBox="1"/>
          <p:nvPr/>
        </p:nvSpPr>
        <p:spPr>
          <a:xfrm>
            <a:off x="502920" y="3250691"/>
            <a:ext cx="256032" cy="27432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a:t>
            </a:r>
            <a:endParaRPr lang="ja-JP" sz="1400"/>
          </a:p>
        </p:txBody>
      </p:sp>
      <p:sp>
        <p:nvSpPr>
          <p:cNvPr id="12" name="TextBox 11"/>
          <p:cNvSpPr txBox="1"/>
          <p:nvPr/>
        </p:nvSpPr>
        <p:spPr>
          <a:xfrm>
            <a:off x="850392" y="3218687"/>
            <a:ext cx="7882127" cy="612647"/>
          </a:xfrm>
          <a:prstGeom prst="rect">
            <a:avLst/>
          </a:prstGeom>
          <a:noFill/>
        </p:spPr>
        <p:txBody>
          <a:bodyPr wrap="square" anchor="t" lIns="0" rIns="0" tIns="0" bIns="0">
            <a:noAutofit/>
          </a:bodyPr>
          <a:lstStyle/>
          <a:p>
            <a:pPr algn="l">
              <a:lnSpc>
                <a:spcPct val="113000"/>
              </a:lnSpc>
              <a:spcAft>
                <a:spcPts val="0"/>
              </a:spcAft>
            </a:pPr>
            <a:r>
              <a:rPr sz="2000" b="0" lang="ja-JP">
                <a:solidFill>
                  <a:srgbClr val="404040"/>
                </a:solidFill>
                <a:latin typeface="Arial"/>
                <a:ea typeface="ＭＳ Ｐゴシック"/>
                <a:cs typeface="ＭＳ Ｐゴシック"/>
              </a:rPr>
              <a:t>復習②：演習2で「高温」の事実を外すと，何を導けるか．</a:t>
            </a:r>
            <a:endParaRPr lang="ja-JP" sz="2000"/>
          </a:p>
        </p:txBody>
      </p:sp>
      <p:sp>
        <p:nvSpPr>
          <p:cNvPr id="13" name="TextBox 12"/>
          <p:cNvSpPr txBox="1"/>
          <p:nvPr/>
        </p:nvSpPr>
        <p:spPr>
          <a:xfrm>
            <a:off x="502920" y="4370832"/>
            <a:ext cx="8229600" cy="320040"/>
          </a:xfrm>
          <a:prstGeom prst="rect">
            <a:avLst/>
          </a:prstGeom>
          <a:noFill/>
        </p:spPr>
        <p:txBody>
          <a:bodyPr wrap="square" anchor="t" lIns="0" rIns="0" tIns="0" bIns="0">
            <a:noAutofit/>
          </a:bodyPr>
          <a:lstStyle/>
          <a:p>
            <a:pPr algn="l">
              <a:lnSpc>
                <a:spcPct val="113000"/>
              </a:lnSpc>
              <a:spcAft>
                <a:spcPts val="0"/>
              </a:spcAft>
            </a:pPr>
            <a:r>
              <a:rPr sz="1400" b="0" lang="ja-JP">
                <a:solidFill>
                  <a:srgbClr val="707070"/>
                </a:solidFill>
                <a:latin typeface="Arial"/>
                <a:ea typeface="ＭＳ Ｐゴシック"/>
                <a:cs typeface="ＭＳ Ｐゴシック"/>
              </a:rPr>
              <a:t>関連する復習資料：01/ocr.md（AIの歴史・エキスパートシステムの問題）</a:t>
            </a:r>
            <a:endParaRPr lang="ja-JP" sz="140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参考資料1：シラバス・探索・計画</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出典リンク：各項目をクリック／講師用ノートにも記載</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参考資料　40</a:t>
            </a:r>
            <a:endParaRPr lang="ja-JP" sz="1050"/>
          </a:p>
        </p:txBody>
      </p:sp>
      <p:sp>
        <p:nvSpPr>
          <p:cNvPr id="5" name="TextBox 4"/>
          <p:cNvSpPr txBox="1"/>
          <p:nvPr/>
        </p:nvSpPr>
        <p:spPr>
          <a:xfrm>
            <a:off x="566928" y="1188720"/>
            <a:ext cx="8046720" cy="43891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3"/>
              </a:rPr>
              <a:t>● JDLA：G検定シラバス2024 第1.4版</a:t>
            </a:r>
            <a:endParaRPr lang="ja-JP" sz="1800"/>
          </a:p>
        </p:txBody>
      </p:sp>
      <p:sp>
        <p:nvSpPr>
          <p:cNvPr id="6" name="TextBox 5"/>
          <p:cNvSpPr txBox="1"/>
          <p:nvPr/>
        </p:nvSpPr>
        <p:spPr>
          <a:xfrm>
            <a:off x="566928" y="1700784"/>
            <a:ext cx="8046720" cy="43891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4"/>
              </a:rPr>
              <a:t>● UC Berkeley CS188：Uninformed Search</a:t>
            </a:r>
            <a:endParaRPr lang="ja-JP" sz="1800"/>
          </a:p>
        </p:txBody>
      </p:sp>
      <p:sp>
        <p:nvSpPr>
          <p:cNvPr id="7" name="TextBox 6"/>
          <p:cNvSpPr txBox="1"/>
          <p:nvPr/>
        </p:nvSpPr>
        <p:spPr>
          <a:xfrm>
            <a:off x="566928" y="2212848"/>
            <a:ext cx="8046720" cy="43891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5"/>
              </a:rPr>
              <a:t>● UC Berkeley CS188：Minimax／Alpha-Beta Pruning</a:t>
            </a:r>
            <a:endParaRPr lang="ja-JP" sz="1800"/>
          </a:p>
        </p:txBody>
      </p:sp>
      <p:sp>
        <p:nvSpPr>
          <p:cNvPr id="8" name="TextBox 7"/>
          <p:cNvSpPr txBox="1"/>
          <p:nvPr/>
        </p:nvSpPr>
        <p:spPr>
          <a:xfrm>
            <a:off x="566928" y="2724912"/>
            <a:ext cx="8046720" cy="43891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6"/>
              </a:rPr>
              <a:t>● UC Berkeley CS188：Monte Carlo Tree Search</a:t>
            </a:r>
            <a:endParaRPr lang="ja-JP" sz="1800"/>
          </a:p>
        </p:txBody>
      </p:sp>
      <p:sp>
        <p:nvSpPr>
          <p:cNvPr id="9" name="TextBox 8"/>
          <p:cNvSpPr txBox="1"/>
          <p:nvPr/>
        </p:nvSpPr>
        <p:spPr>
          <a:xfrm>
            <a:off x="566928" y="3236976"/>
            <a:ext cx="8046720" cy="43891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7"/>
              </a:rPr>
              <a:t>● Fikes &amp; Nilsson（1971）：STRIPS</a:t>
            </a:r>
            <a:endParaRPr lang="ja-JP" sz="1800"/>
          </a:p>
        </p:txBody>
      </p:sp>
      <p:sp>
        <p:nvSpPr>
          <p:cNvPr id="10" name="TextBox 9"/>
          <p:cNvSpPr txBox="1"/>
          <p:nvPr/>
        </p:nvSpPr>
        <p:spPr>
          <a:xfrm>
            <a:off x="566928" y="3749040"/>
            <a:ext cx="8046720" cy="438912"/>
          </a:xfrm>
          <a:prstGeom prst="rect">
            <a:avLst/>
          </a:prstGeom>
          <a:noFill/>
        </p:spPr>
        <p:txBody>
          <a:bodyPr wrap="square" anchor="t" lIns="0" rIns="0" tIns="0" bIns="0">
            <a:noAutofit/>
          </a:bodyPr>
          <a:lstStyle/>
          <a:p>
            <a:pPr algn="l">
              <a:lnSpc>
                <a:spcPct val="113000"/>
              </a:lnSpc>
              <a:spcAft>
                <a:spcPts val="0"/>
              </a:spcAft>
            </a:pPr>
            <a:r>
              <a:rPr sz="1800" b="0" lang="ja-JP">
                <a:solidFill>
                  <a:srgbClr val="404040"/>
                </a:solidFill>
                <a:latin typeface="Arial"/>
                <a:ea typeface="ＭＳ Ｐゴシック"/>
                <a:cs typeface="ＭＳ Ｐゴシック"/>
                <a:hlinkClick r:id="rId8"/>
              </a:rPr>
              <a:t>● Winograd（1972）：Understanding Natural Language</a:t>
            </a:r>
            <a:endParaRPr lang="ja-JP" sz="1800"/>
          </a:p>
        </p:txBody>
      </p:sp>
      <p:sp>
        <p:nvSpPr>
          <p:cNvPr id="11" name="TextBox 10"/>
          <p:cNvSpPr txBox="1"/>
          <p:nvPr/>
        </p:nvSpPr>
        <p:spPr>
          <a:xfrm>
            <a:off x="502920" y="4471416"/>
            <a:ext cx="8229600" cy="246888"/>
          </a:xfrm>
          <a:prstGeom prst="rect">
            <a:avLst/>
          </a:prstGeom>
          <a:noFill/>
        </p:spPr>
        <p:txBody>
          <a:bodyPr wrap="square" anchor="t" lIns="0" rIns="0" tIns="0" bIns="0">
            <a:noAutofit/>
          </a:bodyPr>
          <a:lstStyle/>
          <a:p>
            <a:pPr algn="l">
              <a:lnSpc>
                <a:spcPct val="113000"/>
              </a:lnSpc>
              <a:spcAft>
                <a:spcPts val="0"/>
              </a:spcAft>
            </a:pPr>
            <a:r>
              <a:rPr sz="1300" b="0" lang="ja-JP">
                <a:solidFill>
                  <a:srgbClr val="707070"/>
                </a:solidFill>
                <a:latin typeface="Arial"/>
                <a:ea typeface="ＭＳ Ｐゴシック"/>
                <a:cs typeface="ＭＳ Ｐゴシック"/>
              </a:rPr>
              <a:t>確認日：2026年10月7日／シラバス2024 第1.4版（2026年5月11日改訂）</a:t>
            </a:r>
            <a:endParaRPr lang="ja-JP" sz="1300"/>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448056"/>
            <a:ext cx="8522208" cy="594360"/>
          </a:xfrm>
          <a:prstGeom prst="rect">
            <a:avLst/>
          </a:prstGeom>
          <a:noFill/>
        </p:spPr>
        <p:txBody>
          <a:bodyPr wrap="square" anchor="t" lIns="0" rIns="0" tIns="0" bIns="0">
            <a:noAutofit/>
          </a:bodyPr>
          <a:lstStyle/>
          <a:p>
            <a:pPr algn="l">
              <a:lnSpc>
                <a:spcPct val="113000"/>
              </a:lnSpc>
              <a:spcAft>
                <a:spcPts val="0"/>
              </a:spcAft>
            </a:pPr>
            <a:r>
              <a:rPr sz="2800" b="0" lang="ja-JP">
                <a:solidFill>
                  <a:srgbClr val="000000"/>
                </a:solidFill>
                <a:latin typeface="Arial"/>
                <a:ea typeface="ＭＳ Ｐゴシック"/>
                <a:cs typeface="ＭＳ Ｐゴシック"/>
              </a:rPr>
              <a:t>参考資料2：知識表現・関連システム</a:t>
            </a:r>
            <a:endParaRPr lang="ja-JP" sz="2800"/>
          </a:p>
        </p:txBody>
      </p:sp>
      <p:sp>
        <p:nvSpPr>
          <p:cNvPr id="3" name="TextBox 2"/>
          <p:cNvSpPr txBox="1"/>
          <p:nvPr/>
        </p:nvSpPr>
        <p:spPr>
          <a:xfrm>
            <a:off x="365760" y="4828032"/>
            <a:ext cx="6812280" cy="164592"/>
          </a:xfrm>
          <a:prstGeom prst="rect">
            <a:avLst/>
          </a:prstGeom>
          <a:noFill/>
        </p:spPr>
        <p:txBody>
          <a:bodyPr wrap="square" anchor="t" lIns="0" rIns="0" tIns="0" bIns="0">
            <a:noAutofit/>
          </a:bodyPr>
          <a:lstStyle/>
          <a:p>
            <a:pPr algn="l">
              <a:lnSpc>
                <a:spcPct val="113000"/>
              </a:lnSpc>
              <a:spcAft>
                <a:spcPts val="0"/>
              </a:spcAft>
            </a:pPr>
            <a:r>
              <a:rPr sz="1050" b="0" lang="ja-JP">
                <a:solidFill>
                  <a:srgbClr val="707070"/>
                </a:solidFill>
                <a:latin typeface="Arial"/>
                <a:ea typeface="ＭＳ Ｐゴシック"/>
                <a:cs typeface="ＭＳ Ｐゴシック"/>
              </a:rPr>
              <a:t>出典リンク：各項目をクリック／講師用ノートにも記載</a:t>
            </a:r>
            <a:endParaRPr lang="ja-JP" sz="1050"/>
          </a:p>
        </p:txBody>
      </p:sp>
      <p:sp>
        <p:nvSpPr>
          <p:cNvPr id="4" name="TextBox 3"/>
          <p:cNvSpPr txBox="1"/>
          <p:nvPr/>
        </p:nvSpPr>
        <p:spPr>
          <a:xfrm>
            <a:off x="6537960" y="4800600"/>
            <a:ext cx="2240280" cy="210312"/>
          </a:xfrm>
          <a:prstGeom prst="rect">
            <a:avLst/>
          </a:prstGeom>
          <a:noFill/>
        </p:spPr>
        <p:txBody>
          <a:bodyPr wrap="square" anchor="t" lIns="0" rIns="0" tIns="0" bIns="0">
            <a:noAutofit/>
          </a:bodyPr>
          <a:lstStyle/>
          <a:p>
            <a:pPr algn="r">
              <a:lnSpc>
                <a:spcPct val="113000"/>
              </a:lnSpc>
              <a:spcAft>
                <a:spcPts val="0"/>
              </a:spcAft>
            </a:pPr>
            <a:r>
              <a:rPr sz="1050" b="0" lang="ja-JP">
                <a:solidFill>
                  <a:srgbClr val="707070"/>
                </a:solidFill>
                <a:latin typeface="Arial"/>
                <a:ea typeface="ＭＳ Ｐゴシック"/>
                <a:cs typeface="ＭＳ Ｐゴシック"/>
              </a:rPr>
              <a:t>第2回　参考資料　41</a:t>
            </a:r>
            <a:endParaRPr lang="ja-JP" sz="1050"/>
          </a:p>
        </p:txBody>
      </p:sp>
      <p:sp>
        <p:nvSpPr>
          <p:cNvPr id="5" name="TextBox 4"/>
          <p:cNvSpPr txBox="1"/>
          <p:nvPr/>
        </p:nvSpPr>
        <p:spPr>
          <a:xfrm>
            <a:off x="566928" y="1143000"/>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3"/>
              </a:rPr>
              <a:t>● Noy &amp; McGuinness：Ontology Development 101</a:t>
            </a:r>
            <a:endParaRPr lang="ja-JP" sz="1650"/>
          </a:p>
        </p:txBody>
      </p:sp>
      <p:sp>
        <p:nvSpPr>
          <p:cNvPr id="6" name="TextBox 5"/>
          <p:cNvSpPr txBox="1"/>
          <p:nvPr/>
        </p:nvSpPr>
        <p:spPr>
          <a:xfrm>
            <a:off x="566928" y="1563624"/>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4"/>
              </a:rPr>
              <a:t>● W3C：RDF 1.1 Primer</a:t>
            </a:r>
            <a:endParaRPr lang="ja-JP" sz="1650"/>
          </a:p>
        </p:txBody>
      </p:sp>
      <p:sp>
        <p:nvSpPr>
          <p:cNvPr id="7" name="TextBox 6"/>
          <p:cNvSpPr txBox="1"/>
          <p:nvPr/>
        </p:nvSpPr>
        <p:spPr>
          <a:xfrm>
            <a:off x="566928" y="1984248"/>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5"/>
              </a:rPr>
              <a:t>● Feigenbaum：Personal Commentary</a:t>
            </a:r>
            <a:endParaRPr lang="ja-JP" sz="1650"/>
          </a:p>
        </p:txBody>
      </p:sp>
      <p:sp>
        <p:nvSpPr>
          <p:cNvPr id="8" name="TextBox 7"/>
          <p:cNvSpPr txBox="1"/>
          <p:nvPr/>
        </p:nvSpPr>
        <p:spPr>
          <a:xfrm>
            <a:off x="566928" y="2404872"/>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6"/>
              </a:rPr>
              <a:t>● McCarthy（1983）：Some Expert Systems Need Common Sense</a:t>
            </a:r>
            <a:endParaRPr lang="ja-JP" sz="1650"/>
          </a:p>
        </p:txBody>
      </p:sp>
      <p:sp>
        <p:nvSpPr>
          <p:cNvPr id="9" name="TextBox 8"/>
          <p:cNvSpPr txBox="1"/>
          <p:nvPr/>
        </p:nvSpPr>
        <p:spPr>
          <a:xfrm>
            <a:off x="566928" y="2825496"/>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7"/>
              </a:rPr>
              <a:t>● Cyc：FAQ／常識知識と推論</a:t>
            </a:r>
            <a:endParaRPr lang="ja-JP" sz="1650"/>
          </a:p>
        </p:txBody>
      </p:sp>
      <p:sp>
        <p:nvSpPr>
          <p:cNvPr id="10" name="TextBox 9"/>
          <p:cNvSpPr txBox="1"/>
          <p:nvPr/>
        </p:nvSpPr>
        <p:spPr>
          <a:xfrm>
            <a:off x="566928" y="3246120"/>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8"/>
              </a:rPr>
              <a:t>● IBM：Watson, Jeopardy! champion</a:t>
            </a:r>
            <a:endParaRPr lang="ja-JP" sz="1650"/>
          </a:p>
        </p:txBody>
      </p:sp>
      <p:sp>
        <p:nvSpPr>
          <p:cNvPr id="11" name="TextBox 10"/>
          <p:cNvSpPr txBox="1"/>
          <p:nvPr/>
        </p:nvSpPr>
        <p:spPr>
          <a:xfrm>
            <a:off x="566928" y="3666744"/>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9"/>
              </a:rPr>
              <a:t>● 国立情報学研究所：東ロボくんの研究発表</a:t>
            </a:r>
            <a:endParaRPr lang="ja-JP" sz="1650"/>
          </a:p>
        </p:txBody>
      </p:sp>
      <p:sp>
        <p:nvSpPr>
          <p:cNvPr id="12" name="TextBox 11"/>
          <p:cNvSpPr txBox="1"/>
          <p:nvPr/>
        </p:nvSpPr>
        <p:spPr>
          <a:xfrm>
            <a:off x="566928" y="4087368"/>
            <a:ext cx="8046720" cy="384048"/>
          </a:xfrm>
          <a:prstGeom prst="rect">
            <a:avLst/>
          </a:prstGeom>
          <a:noFill/>
        </p:spPr>
        <p:txBody>
          <a:bodyPr wrap="square" anchor="t" lIns="0" rIns="0" tIns="0" bIns="0">
            <a:noAutofit/>
          </a:bodyPr>
          <a:lstStyle/>
          <a:p>
            <a:pPr algn="l">
              <a:lnSpc>
                <a:spcPct val="113000"/>
              </a:lnSpc>
              <a:spcAft>
                <a:spcPts val="0"/>
              </a:spcAft>
            </a:pPr>
            <a:r>
              <a:rPr sz="1650" b="0" lang="ja-JP">
                <a:solidFill>
                  <a:srgbClr val="404040"/>
                </a:solidFill>
                <a:latin typeface="Arial"/>
                <a:ea typeface="ＭＳ Ｐゴシック"/>
                <a:cs typeface="ＭＳ Ｐゴシック"/>
                <a:hlinkClick r:id="rId10"/>
              </a:rPr>
              <a:t>● Weizenbaum（1966）：ELIZA</a:t>
            </a:r>
            <a:endParaRPr lang="ja-JP" sz="1650"/>
          </a:p>
        </p:txBody>
      </p:sp>
      <p:sp>
        <p:nvSpPr>
          <p:cNvPr id="13" name="TextBox 12"/>
          <p:cNvSpPr txBox="1"/>
          <p:nvPr/>
        </p:nvSpPr>
        <p:spPr>
          <a:xfrm>
            <a:off x="502920" y="4572000"/>
            <a:ext cx="8229600" cy="228600"/>
          </a:xfrm>
          <a:prstGeom prst="rect">
            <a:avLst/>
          </a:prstGeom>
          <a:noFill/>
        </p:spPr>
        <p:txBody>
          <a:bodyPr wrap="square" anchor="t" lIns="0" rIns="0" tIns="0" bIns="0">
            <a:noAutofit/>
          </a:bodyPr>
          <a:lstStyle/>
          <a:p>
            <a:pPr algn="l">
              <a:lnSpc>
                <a:spcPct val="113000"/>
              </a:lnSpc>
              <a:spcAft>
                <a:spcPts val="0"/>
              </a:spcAft>
            </a:pPr>
            <a:r>
              <a:rPr sz="1200" b="0" lang="ja-JP">
                <a:solidFill>
                  <a:srgbClr val="707070"/>
                </a:solidFill>
                <a:latin typeface="Arial"/>
                <a:ea typeface="ＭＳ Ｐゴシック"/>
                <a:cs typeface="ＭＳ Ｐゴシック"/>
              </a:rPr>
              <a:t>確認日：2026年10月7日／リンクは各スライドのノートにも記載</a:t>
            </a:r>
            <a:endParaRPr lang="ja-JP"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情報技術者（民間資格）2：探索・推論と知識表現・エキスパートシステム</dc:title>
  <cp:lastModifiedBy>python-pptx</cp:lastModifiedBy>
  <cp:revision>1</cp:revision>
  <dcterms:modified xsi:type="dcterms:W3CDTF">2026-10-07T05:51:44Z</dcterms:modified>
  <dc:subject>G検定対策・90分授業／シラバス2024 第1.4版</dc:subject>
  <dc:creator>眞田嵩大</dc:creator>
  <cp:keywords>G検定, 探索, 推論, 知識表現, エキスパートシステム</cp:keywords>
  <dc:description>第1回のPowerPointのテーマ・画面比率を引き継いだ第2回講義資料．図と確認問題は本教材のための作例．</dc:description>
</cp:coreProperties>
</file>