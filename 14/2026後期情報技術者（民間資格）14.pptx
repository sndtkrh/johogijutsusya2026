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d66dfc04594f35" /><Relationship Type="http://schemas.openxmlformats.org/officeDocument/2006/relationships/extended-properties" Target="/docProps/app.xml" Id="R10159a79ff074521" /><Relationship Type="http://schemas.openxmlformats.org/officeDocument/2006/relationships/officeDocument" Target="/ppt/presentation.xml" Id="R755b3841eba9428f" /></Relationships>
</file>

<file path=ppt/presentation.xml><?xml version="1.0" encoding="utf-8"?>
<p:presentation xmlns:p="http://schemas.openxmlformats.org/presentationml/2006/main">
  <p:sldMasterIdLst>
    <p:sldMasterId xmlns:r="http://schemas.openxmlformats.org/officeDocument/2006/relationships" id="2147483648" r:id="Rc1eed13e89cc4f28"/>
  </p:sldMasterIdLst>
  <p:notesMasterIdLst>
    <p:notesMasterId xmlns:r="http://schemas.openxmlformats.org/officeDocument/2006/relationships" r:id="Rb6299bd6ab3e43c6"/>
  </p:notesMasterIdLst>
  <p:sldIdLst>
    <p:sldId xmlns:r="http://schemas.openxmlformats.org/officeDocument/2006/relationships" id="256" r:id="Rec7fec989bfc47c2"/>
    <p:sldId xmlns:r="http://schemas.openxmlformats.org/officeDocument/2006/relationships" id="257" r:id="Re078ae7220d6420c"/>
    <p:sldId xmlns:r="http://schemas.openxmlformats.org/officeDocument/2006/relationships" id="258" r:id="Rdadb3f3a377b4da5"/>
    <p:sldId xmlns:r="http://schemas.openxmlformats.org/officeDocument/2006/relationships" id="259" r:id="Re97cf6a3b4e24e34"/>
    <p:sldId xmlns:r="http://schemas.openxmlformats.org/officeDocument/2006/relationships" id="260" r:id="R49919952bec44b0e"/>
    <p:sldId xmlns:r="http://schemas.openxmlformats.org/officeDocument/2006/relationships" id="261" r:id="R9151db7867164d32"/>
    <p:sldId xmlns:r="http://schemas.openxmlformats.org/officeDocument/2006/relationships" id="262" r:id="R375e5e007a7343fc"/>
    <p:sldId xmlns:r="http://schemas.openxmlformats.org/officeDocument/2006/relationships" id="263" r:id="R1219e04167f14036"/>
    <p:sldId xmlns:r="http://schemas.openxmlformats.org/officeDocument/2006/relationships" id="264" r:id="R19245d73ebee4d1a"/>
    <p:sldId xmlns:r="http://schemas.openxmlformats.org/officeDocument/2006/relationships" id="265" r:id="R15665cfedfec460d"/>
    <p:sldId xmlns:r="http://schemas.openxmlformats.org/officeDocument/2006/relationships" id="266" r:id="R30af74e87ff8401b"/>
    <p:sldId xmlns:r="http://schemas.openxmlformats.org/officeDocument/2006/relationships" id="267" r:id="Re149429e929e4bcb"/>
    <p:sldId xmlns:r="http://schemas.openxmlformats.org/officeDocument/2006/relationships" id="268" r:id="R0d7743179fdc44e7"/>
    <p:sldId xmlns:r="http://schemas.openxmlformats.org/officeDocument/2006/relationships" id="269" r:id="R207be7fadb3d4a5d"/>
    <p:sldId xmlns:r="http://schemas.openxmlformats.org/officeDocument/2006/relationships" id="270" r:id="R2c62384581bb4fbb"/>
    <p:sldId xmlns:r="http://schemas.openxmlformats.org/officeDocument/2006/relationships" id="271" r:id="Rf423590ac7ba4e61"/>
    <p:sldId xmlns:r="http://schemas.openxmlformats.org/officeDocument/2006/relationships" id="272" r:id="Rb9f553c5638a4016"/>
    <p:sldId xmlns:r="http://schemas.openxmlformats.org/officeDocument/2006/relationships" id="273" r:id="Ra51aca120dd348ed"/>
    <p:sldId xmlns:r="http://schemas.openxmlformats.org/officeDocument/2006/relationships" id="274" r:id="Re6da41b3949d4ca1"/>
    <p:sldId xmlns:r="http://schemas.openxmlformats.org/officeDocument/2006/relationships" id="275" r:id="R67b8797c5ce94d59"/>
    <p:sldId xmlns:r="http://schemas.openxmlformats.org/officeDocument/2006/relationships" id="276" r:id="R0ad0877e06c44853"/>
    <p:sldId xmlns:r="http://schemas.openxmlformats.org/officeDocument/2006/relationships" id="277" r:id="Re317a17391134a37"/>
    <p:sldId xmlns:r="http://schemas.openxmlformats.org/officeDocument/2006/relationships" id="278" r:id="R31d2f3d53e694312"/>
    <p:sldId xmlns:r="http://schemas.openxmlformats.org/officeDocument/2006/relationships" id="279" r:id="R6595b025589449f1"/>
    <p:sldId xmlns:r="http://schemas.openxmlformats.org/officeDocument/2006/relationships" id="280" r:id="R58e1bbc144ea419b"/>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f18548dda8ad4f01" /><Relationship Type="http://schemas.openxmlformats.org/officeDocument/2006/relationships/slideMaster" Target="/ppt/slideMasters/slideMaster1.xml" Id="Rc1eed13e89cc4f28" /><Relationship Type="http://schemas.openxmlformats.org/officeDocument/2006/relationships/notesMaster" Target="/ppt/notesMasters/notesMaster1.xml" Id="Rb6299bd6ab3e43c6" /><Relationship Type="http://schemas.openxmlformats.org/officeDocument/2006/relationships/presProps" Target="/ppt/presProps.xml" Id="Rc1f53ff1ec6446d3" /><Relationship Type="http://schemas.openxmlformats.org/officeDocument/2006/relationships/viewProps" Target="/ppt/viewProps.xml" Id="R6942fe82b3ea4ed8" /><Relationship Type="http://schemas.openxmlformats.org/officeDocument/2006/relationships/tableStyles" Target="/ppt/tableStyles.xml" Id="R5c8afab52a6e46d5" /><Relationship Type="http://schemas.openxmlformats.org/officeDocument/2006/relationships/slide" Target="/ppt/slides/slide1.xml" Id="Rec7fec989bfc47c2" /><Relationship Type="http://schemas.openxmlformats.org/officeDocument/2006/relationships/slide" Target="/ppt/slides/slide2.xml" Id="Re078ae7220d6420c" /><Relationship Type="http://schemas.openxmlformats.org/officeDocument/2006/relationships/slide" Target="/ppt/slides/slide3.xml" Id="Rdadb3f3a377b4da5" /><Relationship Type="http://schemas.openxmlformats.org/officeDocument/2006/relationships/slide" Target="/ppt/slides/slide4.xml" Id="Re97cf6a3b4e24e34" /><Relationship Type="http://schemas.openxmlformats.org/officeDocument/2006/relationships/slide" Target="/ppt/slides/slide5.xml" Id="R49919952bec44b0e" /><Relationship Type="http://schemas.openxmlformats.org/officeDocument/2006/relationships/slide" Target="/ppt/slides/slide6.xml" Id="R9151db7867164d32" /><Relationship Type="http://schemas.openxmlformats.org/officeDocument/2006/relationships/slide" Target="/ppt/slides/slide7.xml" Id="R375e5e007a7343fc" /><Relationship Type="http://schemas.openxmlformats.org/officeDocument/2006/relationships/slide" Target="/ppt/slides/slide8.xml" Id="R1219e04167f14036" /><Relationship Type="http://schemas.openxmlformats.org/officeDocument/2006/relationships/slide" Target="/ppt/slides/slide9.xml" Id="R19245d73ebee4d1a" /><Relationship Type="http://schemas.openxmlformats.org/officeDocument/2006/relationships/slide" Target="/ppt/slides/slide10.xml" Id="R15665cfedfec460d" /><Relationship Type="http://schemas.openxmlformats.org/officeDocument/2006/relationships/slide" Target="/ppt/slides/slide11.xml" Id="R30af74e87ff8401b" /><Relationship Type="http://schemas.openxmlformats.org/officeDocument/2006/relationships/slide" Target="/ppt/slides/slide12.xml" Id="Re149429e929e4bcb" /><Relationship Type="http://schemas.openxmlformats.org/officeDocument/2006/relationships/slide" Target="/ppt/slides/slide13.xml" Id="R0d7743179fdc44e7" /><Relationship Type="http://schemas.openxmlformats.org/officeDocument/2006/relationships/slide" Target="/ppt/slides/slide14.xml" Id="R207be7fadb3d4a5d" /><Relationship Type="http://schemas.openxmlformats.org/officeDocument/2006/relationships/slide" Target="/ppt/slides/slide15.xml" Id="R2c62384581bb4fbb" /><Relationship Type="http://schemas.openxmlformats.org/officeDocument/2006/relationships/slide" Target="/ppt/slides/slide16.xml" Id="Rf423590ac7ba4e61" /><Relationship Type="http://schemas.openxmlformats.org/officeDocument/2006/relationships/slide" Target="/ppt/slides/slide17.xml" Id="Rb9f553c5638a4016" /><Relationship Type="http://schemas.openxmlformats.org/officeDocument/2006/relationships/slide" Target="/ppt/slides/slide18.xml" Id="Ra51aca120dd348ed" /><Relationship Type="http://schemas.openxmlformats.org/officeDocument/2006/relationships/slide" Target="/ppt/slides/slide19.xml" Id="Re6da41b3949d4ca1" /><Relationship Type="http://schemas.openxmlformats.org/officeDocument/2006/relationships/slide" Target="/ppt/slides/slide20.xml" Id="R67b8797c5ce94d59" /><Relationship Type="http://schemas.openxmlformats.org/officeDocument/2006/relationships/slide" Target="/ppt/slides/slide21.xml" Id="R0ad0877e06c44853" /><Relationship Type="http://schemas.openxmlformats.org/officeDocument/2006/relationships/slide" Target="/ppt/slides/slide22.xml" Id="Re317a17391134a37" /><Relationship Type="http://schemas.openxmlformats.org/officeDocument/2006/relationships/slide" Target="/ppt/slides/slide23.xml" Id="R31d2f3d53e694312" /><Relationship Type="http://schemas.openxmlformats.org/officeDocument/2006/relationships/slide" Target="/ppt/slides/slide24.xml" Id="R6595b025589449f1" /><Relationship Type="http://schemas.openxmlformats.org/officeDocument/2006/relationships/slide" Target="/ppt/slides/slide25.xml" Id="R58e1bbc144ea41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4dabae7d6746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9c4f40200b4605" /><Relationship Type="http://schemas.openxmlformats.org/officeDocument/2006/relationships/notesMaster" Target="/ppt/notesMasters/notesMaster1.xml" Id="Rb338a14417844e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b3440997d54a18" /><Relationship Type="http://schemas.openxmlformats.org/officeDocument/2006/relationships/notesMaster" Target="/ppt/notesMasters/notesMaster1.xml" Id="Rb78f6e744aa144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1a6c54f15b4d16" /><Relationship Type="http://schemas.openxmlformats.org/officeDocument/2006/relationships/notesMaster" Target="/ppt/notesMasters/notesMaster1.xml" Id="R59af0fa7cd4e4a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ef4eca54874fa5" /><Relationship Type="http://schemas.openxmlformats.org/officeDocument/2006/relationships/notesMaster" Target="/ppt/notesMasters/notesMaster1.xml" Id="R504a66df38a241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32769fb9644388" /><Relationship Type="http://schemas.openxmlformats.org/officeDocument/2006/relationships/notesMaster" Target="/ppt/notesMasters/notesMaster1.xml" Id="R9c903f4f010041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f02b6359ea4172" /><Relationship Type="http://schemas.openxmlformats.org/officeDocument/2006/relationships/notesMaster" Target="/ppt/notesMasters/notesMaster1.xml" Id="Rda1703cb953a4f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8f90f490744f18" /><Relationship Type="http://schemas.openxmlformats.org/officeDocument/2006/relationships/notesMaster" Target="/ppt/notesMasters/notesMaster1.xml" Id="R8987626572fd45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aa3101c7314c2b" /><Relationship Type="http://schemas.openxmlformats.org/officeDocument/2006/relationships/notesMaster" Target="/ppt/notesMasters/notesMaster1.xml" Id="R9a5fda8e041a4f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29a025d75740c2" /><Relationship Type="http://schemas.openxmlformats.org/officeDocument/2006/relationships/notesMaster" Target="/ppt/notesMasters/notesMaster1.xml" Id="R84a41c3d183446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935ebf1f214641" /><Relationship Type="http://schemas.openxmlformats.org/officeDocument/2006/relationships/notesMaster" Target="/ppt/notesMasters/notesMaster1.xml" Id="Rfffbe11273cc42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52d4c24d5c412e" /><Relationship Type="http://schemas.openxmlformats.org/officeDocument/2006/relationships/notesMaster" Target="/ppt/notesMasters/notesMaster1.xml" Id="R7790b50361d74e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82713f2e4df417b" /><Relationship Type="http://schemas.openxmlformats.org/officeDocument/2006/relationships/notesMaster" Target="/ppt/notesMasters/notesMaster1.xml" Id="R0f853a9d121c4f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0d365b260114baa" /><Relationship Type="http://schemas.openxmlformats.org/officeDocument/2006/relationships/notesMaster" Target="/ppt/notesMasters/notesMaster1.xml" Id="R6790fffda26a4a8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98e0d3498604f5a" /><Relationship Type="http://schemas.openxmlformats.org/officeDocument/2006/relationships/notesMaster" Target="/ppt/notesMasters/notesMaster1.xml" Id="R6f2167bf89694df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1481569f5c140df" /><Relationship Type="http://schemas.openxmlformats.org/officeDocument/2006/relationships/notesMaster" Target="/ppt/notesMasters/notesMaster1.xml" Id="Rdd93467c3dc541d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aa972c920ac47bd" /><Relationship Type="http://schemas.openxmlformats.org/officeDocument/2006/relationships/notesMaster" Target="/ppt/notesMasters/notesMaster1.xml" Id="Rdc0315fb1877414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30e3c2feae1415c" /><Relationship Type="http://schemas.openxmlformats.org/officeDocument/2006/relationships/notesMaster" Target="/ppt/notesMasters/notesMaster1.xml" Id="Rf684eab887b947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1cf908bbb4a46c6" /><Relationship Type="http://schemas.openxmlformats.org/officeDocument/2006/relationships/notesMaster" Target="/ppt/notesMasters/notesMaster1.xml" Id="Rd62cd14c5a8a48d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56fff658e94fa1" /><Relationship Type="http://schemas.openxmlformats.org/officeDocument/2006/relationships/notesMaster" Target="/ppt/notesMasters/notesMaster1.xml" Id="Rfc9fcdb3f454474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c0e81d2d71f4831" /><Relationship Type="http://schemas.openxmlformats.org/officeDocument/2006/relationships/notesMaster" Target="/ppt/notesMasters/notesMaster1.xml" Id="Rcdf33f1f02b64d8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e3999fa03244fe8" /><Relationship Type="http://schemas.openxmlformats.org/officeDocument/2006/relationships/notesMaster" Target="/ppt/notesMasters/notesMaster1.xml" Id="R3a7224b5b037447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260d4517f564ca4" /><Relationship Type="http://schemas.openxmlformats.org/officeDocument/2006/relationships/notesMaster" Target="/ppt/notesMasters/notesMaster1.xml" Id="Rb75cc2f70a274fd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7b0d760d02f4646" /><Relationship Type="http://schemas.openxmlformats.org/officeDocument/2006/relationships/notesMaster" Target="/ppt/notesMasters/notesMaster1.xml" Id="Rfcb8e9c143724e8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e5bf947363143b8" /><Relationship Type="http://schemas.openxmlformats.org/officeDocument/2006/relationships/notesMaster" Target="/ppt/notesMasters/notesMaster1.xml" Id="Rcedf992cc37d457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b2b7e7f6d194bbf" /><Relationship Type="http://schemas.openxmlformats.org/officeDocument/2006/relationships/notesMaster" Target="/ppt/notesMasters/notesMaster1.xml" Id="R64231048d41746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AI倫理とガバナンス</a:t>
            </a:r>
          </a:p>
          <a:p xmlns:a="http://schemas.openxmlformats.org/drawingml/2006/main">
            <a:r>
              <a:t/>
            </a:r>
          </a:p>
          <a:p xmlns:a="http://schemas.openxmlformats.org/drawingml/2006/main">
            <a:r>
              <a:t>目安：1分／授業開始から0〜1分</a:t>
            </a:r>
          </a:p>
          <a:p xmlns:a="http://schemas.openxmlformats.org/drawingml/2006/main">
            <a:r>
              <a:t/>
            </a:r>
          </a:p>
          <a:p xmlns:a="http://schemas.openxmlformats.org/drawingml/2006/main">
            <a:r>
              <a:t>AIの利用が人へ与える影響を，公平性・安全性・透明性・責任の観点から考える．原則を覚えるだけでなく，担当と手順へ具体化する．2026年10月8日に公式資料を確認．</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経済産業省：AI事業者ガイドライン第1.2版</a:t>
            </a:r>
          </a:p>
          <a:p xmlns:a="http://schemas.openxmlformats.org/drawingml/2006/main">
            <a:r>
              <a:t>https://www.meti.go.jp/shingikai/mono_info_service/ai_shakai_jisso/20260331_report.html</a:t>
            </a:r>
          </a:p>
          <a:p xmlns:a="http://schemas.openxmlformats.org/drawingml/2006/main">
            <a:r>
              <a:t/>
            </a:r>
          </a:p>
          <a:p xmlns:a="http://schemas.openxmlformats.org/drawingml/2006/main">
            <a:r>
              <a:t>NIST：AI Risk Management Framework</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今日の到達目標</a:t>
            </a:r>
          </a:p>
          <a:p xmlns:a="http://schemas.openxmlformats.org/drawingml/2006/main">
            <a:r>
              <a:t/>
            </a:r>
          </a:p>
          <a:p xmlns:a="http://schemas.openxmlformats.org/drawingml/2006/main">
            <a:r>
              <a:t>目安：4分／授業開始から1〜5分</a:t>
            </a:r>
          </a:p>
          <a:p xmlns:a="http://schemas.openxmlformats.org/drawingml/2006/main">
            <a:r>
              <a:t/>
            </a:r>
          </a:p>
          <a:p xmlns:a="http://schemas.openxmlformats.org/drawingml/2006/main">
            <a:r>
              <a:t>第13回の法令・契約を土台に，社会への影響を考える．技術担当だけの問題として扱わない．</a:t>
            </a:r>
          </a:p>
          <a:p xmlns:a="http://schemas.openxmlformats.org/drawingml/2006/main">
            <a:r>
              <a:t/>
            </a:r>
          </a:p>
          <a:p xmlns:a="http://schemas.openxmlformats.org/drawingml/2006/main">
            <a:r>
              <a:t>精度以外に，AIが人へ与える影響を挙げる．</a:t>
            </a:r>
          </a:p>
          <a:p xmlns:a="http://schemas.openxmlformats.org/drawingml/2006/main">
            <a:r>
              <a:t/>
            </a:r>
          </a:p>
          <a:p xmlns:a="http://schemas.openxmlformats.org/drawingml/2006/main">
            <a:r>
              <a:t>公平性・透明性・安全性の確認方法を考える．</a:t>
            </a:r>
          </a:p>
          <a:p xmlns:a="http://schemas.openxmlformats.org/drawingml/2006/main">
            <a:r>
              <a:t/>
            </a:r>
          </a:p>
          <a:p xmlns:a="http://schemas.openxmlformats.org/drawingml/2006/main">
            <a:r>
              <a:t>担当・記録・見直しを，運用へ組み込む．</a:t>
            </a:r>
          </a:p>
          <a:p xmlns:a="http://schemas.openxmlformats.org/drawingml/2006/main">
            <a:r>
              <a:t/>
            </a:r>
          </a:p>
          <a:p xmlns:a="http://schemas.openxmlformats.org/drawingml/2006/main">
            <a:r>
              <a:t>参照資料（2026年10月8日確認）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法律・倫理・ガバナンス</a:t>
            </a:r>
          </a:p>
          <a:p xmlns:a="http://schemas.openxmlformats.org/drawingml/2006/main">
            <a:r>
              <a:t/>
            </a:r>
          </a:p>
          <a:p xmlns:a="http://schemas.openxmlformats.org/drawingml/2006/main">
            <a:r>
              <a:t>目安：4分／授業開始から5〜9分</a:t>
            </a:r>
          </a:p>
          <a:p xmlns:a="http://schemas.openxmlformats.org/drawingml/2006/main">
            <a:r>
              <a:t/>
            </a:r>
          </a:p>
          <a:p xmlns:a="http://schemas.openxmlformats.org/drawingml/2006/main">
            <a:r>
              <a:t>合法かどうかだけで影響を全て評価できるわけではない．倫理の原則が運用の仕組みに落ちているかを確認する．ガイドラインは法律と同じ位置づけではなく，法令上の義務は別途確認する．</a:t>
            </a:r>
          </a:p>
          <a:p xmlns:a="http://schemas.openxmlformats.org/drawingml/2006/main">
            <a:r>
              <a:t/>
            </a:r>
          </a:p>
          <a:p xmlns:a="http://schemas.openxmlformats.org/drawingml/2006/main">
            <a:r>
              <a:t>法律 ／ 制度上の義務や権利を満たすか</a:t>
            </a:r>
          </a:p>
          <a:p xmlns:a="http://schemas.openxmlformats.org/drawingml/2006/main">
            <a:r>
              <a:t>倫理 ／ 人の尊厳や公平性などに配慮できるか</a:t>
            </a:r>
          </a:p>
          <a:p xmlns:a="http://schemas.openxmlformats.org/drawingml/2006/main">
            <a:r>
              <a:t>ガバナンス ／ 誰が判断し，確認し，見直すか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経済産業省：AI事業者ガイドライン第1.2版</a:t>
            </a:r>
          </a:p>
          <a:p xmlns:a="http://schemas.openxmlformats.org/drawingml/2006/main">
            <a:r>
              <a:t>https://www.meti.go.jp/shingikai/mono_info_service/ai_shakai_jisso/20260331_report.html</a:t>
            </a:r>
          </a:p>
          <a:p xmlns:a="http://schemas.openxmlformats.org/drawingml/2006/main">
            <a:r>
              <a:t/>
            </a:r>
          </a:p>
          <a:p xmlns:a="http://schemas.openxmlformats.org/drawingml/2006/main">
            <a:r>
              <a:t>NIST：AI Risk Management Framework</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影響を受ける人を考える</a:t>
            </a:r>
          </a:p>
          <a:p xmlns:a="http://schemas.openxmlformats.org/drawingml/2006/main">
            <a:r>
              <a:t/>
            </a:r>
          </a:p>
          <a:p xmlns:a="http://schemas.openxmlformats.org/drawingml/2006/main">
            <a:r>
              <a:t>目安：4分／授業開始から9〜13分</a:t>
            </a:r>
          </a:p>
          <a:p xmlns:a="http://schemas.openxmlformats.org/drawingml/2006/main">
            <a:r>
              <a:t/>
            </a:r>
          </a:p>
          <a:p xmlns:a="http://schemas.openxmlformats.org/drawingml/2006/main">
            <a:r>
              <a:t>採用支援なら応募者，採用担当，組織，データ提供者など．利用者にとって効率的でも，応募者が説明を得られない影響がある．架空の例を用い，実在の応募者データは使わない．</a:t>
            </a:r>
          </a:p>
          <a:p xmlns:a="http://schemas.openxmlformats.org/drawingml/2006/main">
            <a:r>
              <a:t/>
            </a:r>
          </a:p>
          <a:p xmlns:a="http://schemas.openxmlformats.org/drawingml/2006/main">
            <a:r>
              <a:t>使う人だけでなく，評価・分類される人も考える．</a:t>
            </a:r>
          </a:p>
          <a:p xmlns:a="http://schemas.openxmlformats.org/drawingml/2006/main">
            <a:r>
              <a:t/>
            </a:r>
          </a:p>
          <a:p xmlns:a="http://schemas.openxmlformats.org/drawingml/2006/main">
            <a:r>
              <a:t>不利益が生じた人が，結果を知り訂正を求められるか．</a:t>
            </a:r>
          </a:p>
          <a:p xmlns:a="http://schemas.openxmlformats.org/drawingml/2006/main">
            <a:r>
              <a:t/>
            </a:r>
          </a:p>
          <a:p xmlns:a="http://schemas.openxmlformats.org/drawingml/2006/main">
            <a:r>
              <a:t>利益と負担が，どの人へ配分されるかを考える．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NIST：AI Risk Management Framework</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原則を具体的な確認へつなげる</a:t>
            </a:r>
          </a:p>
          <a:p xmlns:a="http://schemas.openxmlformats.org/drawingml/2006/main">
            <a:r>
              <a:t/>
            </a:r>
          </a:p>
          <a:p xmlns:a="http://schemas.openxmlformats.org/drawingml/2006/main">
            <a:r>
              <a:t>目安：4分／授業開始から13〜17分</a:t>
            </a:r>
          </a:p>
          <a:p xmlns:a="http://schemas.openxmlformats.org/drawingml/2006/main">
            <a:r>
              <a:t/>
            </a:r>
          </a:p>
          <a:p xmlns:a="http://schemas.openxmlformats.org/drawingml/2006/main">
            <a:r>
              <a:t>総務省・経済産業省AI事業者ガイドライン第1.2版の共通指針の一部を，授業の問いにまとめたもの．10項目全てを暗記させない．教育・リテラシー，公正競争，イノベーションなども指針に含む．</a:t>
            </a:r>
          </a:p>
          <a:p xmlns:a="http://schemas.openxmlformats.org/drawingml/2006/main">
            <a:r>
              <a:t/>
            </a:r>
          </a:p>
          <a:p xmlns:a="http://schemas.openxmlformats.org/drawingml/2006/main">
            <a:r>
              <a:t>人間中心・公平性 ／ 誰の選択や機会に影響するか</a:t>
            </a:r>
          </a:p>
          <a:p xmlns:a="http://schemas.openxmlformats.org/drawingml/2006/main">
            <a:r>
              <a:t>安全性・プライバシー ／ 誤りや情報の扱いが害を生まないか</a:t>
            </a:r>
          </a:p>
          <a:p xmlns:a="http://schemas.openxmlformats.org/drawingml/2006/main">
            <a:r>
              <a:t>透明性・説明責任 ／ 必要な情報を伝え，対応できるか</a:t>
            </a:r>
          </a:p>
          <a:p xmlns:a="http://schemas.openxmlformats.org/drawingml/2006/main">
            <a:r>
              <a:t/>
            </a:r>
          </a:p>
          <a:p xmlns:a="http://schemas.openxmlformats.org/drawingml/2006/main">
            <a:r>
              <a:t>原則ごとに，実際に確かめることを決める．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経済産業省：AI事業者ガイドライン第1.2版</a:t>
            </a:r>
          </a:p>
          <a:p xmlns:a="http://schemas.openxmlformats.org/drawingml/2006/main">
            <a:r>
              <a:t>https://www.meti.go.jp/shingikai/mono_info_service/ai_shakai_jisso/20260331_report.html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偏りが入る場所</a:t>
            </a:r>
          </a:p>
          <a:p xmlns:a="http://schemas.openxmlformats.org/drawingml/2006/main">
            <a:r>
              <a:t/>
            </a:r>
          </a:p>
          <a:p xmlns:a="http://schemas.openxmlformats.org/drawingml/2006/main">
            <a:r>
              <a:t>目安：4分／授業開始から17〜21分</a:t>
            </a:r>
          </a:p>
          <a:p xmlns:a="http://schemas.openxmlformats.org/drawingml/2006/main">
            <a:r>
              <a:t/>
            </a:r>
          </a:p>
          <a:p xmlns:a="http://schemas.openxmlformats.org/drawingml/2006/main">
            <a:r>
              <a:t>データ，アルゴリズム，運用の全体を見る．多数派の例を増やすだけでは少数の集団の評価に必要な情報が増えないこともある．</a:t>
            </a:r>
          </a:p>
          <a:p xmlns:a="http://schemas.openxmlformats.org/drawingml/2006/main">
            <a:r>
              <a:t/>
            </a:r>
          </a:p>
          <a:p xmlns:a="http://schemas.openxmlformats.org/drawingml/2006/main">
            <a:r>
              <a:t>データ収集 ／ 特定の人や環境の例が少ない</a:t>
            </a:r>
          </a:p>
          <a:p xmlns:a="http://schemas.openxmlformats.org/drawingml/2006/main">
            <a:r>
              <a:t>正解ラベル ／ 過去の判断に偏りが含まれる</a:t>
            </a:r>
          </a:p>
          <a:p xmlns:a="http://schemas.openxmlformats.org/drawingml/2006/main">
            <a:r>
              <a:t>モデル・評価 ／ 全体の指標で一部の誤りを見落とす</a:t>
            </a:r>
          </a:p>
          <a:p xmlns:a="http://schemas.openxmlformats.org/drawingml/2006/main">
            <a:r>
              <a:t>利用・運用 ／ 当初と違う対象へ適用する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Google：Machine learning fairness</a:t>
            </a:r>
          </a:p>
          <a:p xmlns:a="http://schemas.openxmlformats.org/drawingml/2006/main">
            <a:r>
              <a:t>https://developers.google.com/machine-learning/crash-course/fairness</a:t>
            </a:r>
          </a:p>
          <a:p xmlns:a="http://schemas.openxmlformats.org/drawingml/2006/main">
            <a:r>
              <a:t/>
            </a:r>
          </a:p>
          <a:p xmlns:a="http://schemas.openxmlformats.org/drawingml/2006/main">
            <a:r>
              <a:t>NIST：AI Risk Management Framework</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演習1：集団ごとの見逃し</a:t>
            </a:r>
          </a:p>
          <a:p xmlns:a="http://schemas.openxmlformats.org/drawingml/2006/main">
            <a:r>
              <a:t/>
            </a:r>
          </a:p>
          <a:p xmlns:a="http://schemas.openxmlformats.org/drawingml/2006/main">
            <a:r>
              <a:t>目安：4分／授業開始から21〜25分</a:t>
            </a:r>
          </a:p>
          <a:p xmlns:a="http://schemas.openxmlformats.org/drawingml/2006/main">
            <a:r>
              <a:t/>
            </a:r>
          </a:p>
          <a:p xmlns:a="http://schemas.openxmlformats.org/drawingml/2006/main">
            <a:r>
              <a:t>架空の採用支援の評価データ．二集団で，適性ありの人のうち推薦した割合を求め，何を追加で調べるかを話す．ラベルの「適性あり」という評価自体が妥当かも疑う．全体の人数や誤推薦の人数はこの表にはない．</a:t>
            </a:r>
          </a:p>
          <a:p xmlns:a="http://schemas.openxmlformats.org/drawingml/2006/main">
            <a:r>
              <a:t/>
            </a:r>
          </a:p>
          <a:p xmlns:a="http://schemas.openxmlformats.org/drawingml/2006/main">
            <a:r>
              <a:t>A ／ 20 ／ 16</a:t>
            </a:r>
          </a:p>
          <a:p xmlns:a="http://schemas.openxmlformats.org/drawingml/2006/main">
            <a:r>
              <a:t>B ／ 20 ／ 10</a:t>
            </a:r>
          </a:p>
          <a:p xmlns:a="http://schemas.openxmlformats.org/drawingml/2006/main">
            <a:r>
              <a:t/>
            </a:r>
          </a:p>
          <a:p xmlns:a="http://schemas.openxmlformats.org/drawingml/2006/main">
            <a:r>
              <a:t>同じ指標を，集団ごとにも確かめる．</a:t>
            </a:r>
          </a:p>
          <a:p xmlns:a="http://schemas.openxmlformats.org/drawingml/2006/main">
            <a:r>
              <a:t/>
            </a:r>
          </a:p>
          <a:p xmlns:a="http://schemas.openxmlformats.org/drawingml/2006/main">
            <a:r>
              <a:t>参照資料（2026年10月8日確認）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演習1：解答と追加の問い</a:t>
            </a:r>
          </a:p>
          <a:p xmlns:a="http://schemas.openxmlformats.org/drawingml/2006/main">
            <a:r>
              <a:t/>
            </a:r>
          </a:p>
          <a:p xmlns:a="http://schemas.openxmlformats.org/drawingml/2006/main">
            <a:r>
              <a:t>目安：5分／授業開始から25〜30分</a:t>
            </a:r>
          </a:p>
          <a:p xmlns:a="http://schemas.openxmlformats.org/drawingml/2006/main">
            <a:r>
              <a:t/>
            </a:r>
          </a:p>
          <a:p xmlns:a="http://schemas.openxmlformats.org/drawingml/2006/main">
            <a:r>
              <a:t>差は30ポイント．この小さな表だけで差別の原因や適法性を断定できない．本人属性，条件，データの代表性，統計的なばらつき，閾値等を調べる．計算と討議を合わせて5分程度．</a:t>
            </a:r>
          </a:p>
          <a:p xmlns:a="http://schemas.openxmlformats.org/drawingml/2006/main">
            <a:r>
              <a:t/>
            </a:r>
          </a:p>
          <a:p xmlns:a="http://schemas.openxmlformats.org/drawingml/2006/main">
            <a:r>
              <a:t>Aの再現率＝16÷20＝80％</a:t>
            </a:r>
          </a:p>
          <a:p xmlns:a="http://schemas.openxmlformats.org/drawingml/2006/main">
            <a:r>
              <a:t/>
            </a:r>
          </a:p>
          <a:p xmlns:a="http://schemas.openxmlformats.org/drawingml/2006/main">
            <a:r>
              <a:t>Bの再現率＝10÷20＝50％</a:t>
            </a:r>
          </a:p>
          <a:p xmlns:a="http://schemas.openxmlformats.org/drawingml/2006/main">
            <a:r>
              <a:t/>
            </a:r>
          </a:p>
          <a:p xmlns:a="http://schemas.openxmlformats.org/drawingml/2006/main">
            <a:r>
              <a:t>差の原因，ラベルの妥当性，母数や誤推薦も調べる．</a:t>
            </a:r>
          </a:p>
          <a:p xmlns:a="http://schemas.openxmlformats.org/drawingml/2006/main">
            <a:r>
              <a:t/>
            </a:r>
          </a:p>
          <a:p xmlns:a="http://schemas.openxmlformats.org/drawingml/2006/main">
            <a:r>
              <a:t>数字の差と，その原因・影響を区別する．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Google：Machine learning fairness</a:t>
            </a:r>
          </a:p>
          <a:p xmlns:a="http://schemas.openxmlformats.org/drawingml/2006/main">
            <a:r>
              <a:t>https://developers.google.com/machine-learning/crash-course/fairness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公平性には複数の考え方がある</a:t>
            </a:r>
          </a:p>
          <a:p xmlns:a="http://schemas.openxmlformats.org/drawingml/2006/main">
            <a:r>
              <a:t/>
            </a:r>
          </a:p>
          <a:p xmlns:a="http://schemas.openxmlformats.org/drawingml/2006/main">
            <a:r>
              <a:t>目安：4分／授業開始から30〜34分</a:t>
            </a:r>
          </a:p>
          <a:p xmlns:a="http://schemas.openxmlformats.org/drawingml/2006/main">
            <a:r>
              <a:t/>
            </a:r>
          </a:p>
          <a:p xmlns:a="http://schemas.openxmlformats.org/drawingml/2006/main">
            <a:r>
              <a:t>demographic parityと機会の平等に関わる指標の直感．基準率が異なる等の条件では複数の基準を同時に満たせない場合がある．一つの数値が全ての公平性を表すと教えない．</a:t>
            </a:r>
          </a:p>
          <a:p xmlns:a="http://schemas.openxmlformats.org/drawingml/2006/main">
            <a:r>
              <a:t/>
            </a:r>
          </a:p>
          <a:p xmlns:a="http://schemas.openxmlformats.org/drawingml/2006/main">
            <a:r>
              <a:t>候補にする割合を，集団間で比べる方法がある．</a:t>
            </a:r>
          </a:p>
          <a:p xmlns:a="http://schemas.openxmlformats.org/drawingml/2006/main">
            <a:r>
              <a:t/>
            </a:r>
          </a:p>
          <a:p xmlns:a="http://schemas.openxmlformats.org/drawingml/2006/main">
            <a:r>
              <a:t>適性のある人の見逃しを，比べる方法もある．</a:t>
            </a:r>
          </a:p>
          <a:p xmlns:a="http://schemas.openxmlformats.org/drawingml/2006/main">
            <a:r>
              <a:t/>
            </a:r>
          </a:p>
          <a:p xmlns:a="http://schemas.openxmlformats.org/drawingml/2006/main">
            <a:r>
              <a:t>目的と影響に合わせ，基準と理由を説明する．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Google：Machine learning fairness</a:t>
            </a:r>
          </a:p>
          <a:p xmlns:a="http://schemas.openxmlformats.org/drawingml/2006/main">
            <a:r>
              <a:t>https://developers.google.com/machine-learning/crash-course/fairness</a:t>
            </a:r>
          </a:p>
          <a:p xmlns:a="http://schemas.openxmlformats.org/drawingml/2006/main">
            <a:r>
              <a:t/>
            </a:r>
          </a:p>
          <a:p xmlns:a="http://schemas.openxmlformats.org/drawingml/2006/main">
            <a:r>
              <a:t>NIST：AI Risk Management Framework</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属性を消すだけでは解決しない</a:t>
            </a:r>
          </a:p>
          <a:p xmlns:a="http://schemas.openxmlformats.org/drawingml/2006/main">
            <a:r>
              <a:t/>
            </a:r>
          </a:p>
          <a:p xmlns:a="http://schemas.openxmlformats.org/drawingml/2006/main">
            <a:r>
              <a:t>目安：4分／授業開始から34〜38分</a:t>
            </a:r>
          </a:p>
          <a:p xmlns:a="http://schemas.openxmlformats.org/drawingml/2006/main">
            <a:r>
              <a:t/>
            </a:r>
          </a:p>
          <a:p xmlns:a="http://schemas.openxmlformats.org/drawingml/2006/main">
            <a:r>
              <a:t>属性を消す方法と公平性を評価するための情報の扱いにはトレードオフがある．個人情報の収集を無条件に増やさず，必要性と取扱いを確認する．</a:t>
            </a:r>
          </a:p>
          <a:p xmlns:a="http://schemas.openxmlformats.org/drawingml/2006/main">
            <a:r>
              <a:t/>
            </a:r>
          </a:p>
          <a:p xmlns:a="http://schemas.openxmlformats.org/drawingml/2006/main">
            <a:r>
              <a:t>居住地や経歴などが，別の属性の手がかりになる場合がある．</a:t>
            </a:r>
          </a:p>
          <a:p xmlns:a="http://schemas.openxmlformats.org/drawingml/2006/main">
            <a:r>
              <a:t/>
            </a:r>
          </a:p>
          <a:p xmlns:a="http://schemas.openxmlformats.org/drawingml/2006/main">
            <a:r>
              <a:t>正解ラベルや，利用の仕方にも偏りが残る．</a:t>
            </a:r>
          </a:p>
          <a:p xmlns:a="http://schemas.openxmlformats.org/drawingml/2006/main">
            <a:r>
              <a:t/>
            </a:r>
          </a:p>
          <a:p xmlns:a="http://schemas.openxmlformats.org/drawingml/2006/main">
            <a:r>
              <a:t>使う目的と，結果の差を継続して確認する．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Google：Machine learning fairness</a:t>
            </a:r>
          </a:p>
          <a:p xmlns:a="http://schemas.openxmlformats.org/drawingml/2006/main">
            <a:r>
              <a:t>https://developers.google.com/machine-learning/crash-course/fairness</a:t>
            </a:r>
          </a:p>
          <a:p xmlns:a="http://schemas.openxmlformats.org/drawingml/2006/main">
            <a:r>
              <a:t/>
            </a:r>
          </a:p>
          <a:p xmlns:a="http://schemas.openxmlformats.org/drawingml/2006/main">
            <a:r>
              <a:t>個人情報保護委員会：通則編</a:t>
            </a:r>
          </a:p>
          <a:p xmlns:a="http://schemas.openxmlformats.org/drawingml/2006/main">
            <a:r>
              <a:t>https://www.ppc.go.jp/personalinfo/legal/guidelines_tsusoku/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プライバシーとデータの必要性</a:t>
            </a:r>
          </a:p>
          <a:p xmlns:a="http://schemas.openxmlformats.org/drawingml/2006/main">
            <a:r>
              <a:t/>
            </a:r>
          </a:p>
          <a:p xmlns:a="http://schemas.openxmlformats.org/drawingml/2006/main">
            <a:r>
              <a:t>目安：4分／授業開始から38〜42分</a:t>
            </a:r>
          </a:p>
          <a:p xmlns:a="http://schemas.openxmlformats.org/drawingml/2006/main">
            <a:r>
              <a:t/>
            </a:r>
          </a:p>
          <a:p xmlns:a="http://schemas.openxmlformats.org/drawingml/2006/main">
            <a:r>
              <a:t>第13回の法的な条件も確認する．匿名のように見える情報でも再識別の可能性がある．属性の推測や目的外の利用が本人の期待を損なう場合を考える．</a:t>
            </a:r>
          </a:p>
          <a:p xmlns:a="http://schemas.openxmlformats.org/drawingml/2006/main">
            <a:r>
              <a:t/>
            </a:r>
          </a:p>
          <a:p xmlns:a="http://schemas.openxmlformats.org/drawingml/2006/main">
            <a:r>
              <a:t>目的に必要な情報と，保管期間を決める．</a:t>
            </a:r>
          </a:p>
          <a:p xmlns:a="http://schemas.openxmlformats.org/drawingml/2006/main">
            <a:r>
              <a:t/>
            </a:r>
          </a:p>
          <a:p xmlns:a="http://schemas.openxmlformats.org/drawingml/2006/main">
            <a:r>
              <a:t>組合せによる識別や，出力からの漏えいも考える．</a:t>
            </a:r>
          </a:p>
          <a:p xmlns:a="http://schemas.openxmlformats.org/drawingml/2006/main">
            <a:r>
              <a:t/>
            </a:r>
          </a:p>
          <a:p xmlns:a="http://schemas.openxmlformats.org/drawingml/2006/main">
            <a:r>
              <a:t>便利さと，人の期待や不利益を合わせて見る．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個人情報保護委員会：通則編</a:t>
            </a:r>
          </a:p>
          <a:p xmlns:a="http://schemas.openxmlformats.org/drawingml/2006/main">
            <a:r>
              <a:t>https://www.ppc.go.jp/personalinfo/legal/guidelines_tsusoku/</a:t>
            </a:r>
          </a:p>
          <a:p xmlns:a="http://schemas.openxmlformats.org/drawingml/2006/main">
            <a:r>
              <a:t/>
            </a:r>
          </a:p>
          <a:p xmlns:a="http://schemas.openxmlformats.org/drawingml/2006/main">
            <a:r>
              <a:t>NIST：AI Risk Management Framework</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透明性：何を伝えるか</a:t>
            </a:r>
          </a:p>
          <a:p xmlns:a="http://schemas.openxmlformats.org/drawingml/2006/main">
            <a:r>
              <a:t/>
            </a:r>
          </a:p>
          <a:p xmlns:a="http://schemas.openxmlformats.org/drawingml/2006/main">
            <a:r>
              <a:t>目安：4分／授業開始から42〜46分</a:t>
            </a:r>
          </a:p>
          <a:p xmlns:a="http://schemas.openxmlformats.org/drawingml/2006/main">
            <a:r>
              <a:t/>
            </a:r>
          </a:p>
          <a:p xmlns:a="http://schemas.openxmlformats.org/drawingml/2006/main">
            <a:r>
              <a:t>透明性は全ての内部情報や個人情報を公開することではない．関係者に必要な情報を適切に渡す．技術的説明が読めることと，異議申立てができることは別に設計する．</a:t>
            </a:r>
          </a:p>
          <a:p xmlns:a="http://schemas.openxmlformats.org/drawingml/2006/main">
            <a:r>
              <a:t/>
            </a:r>
          </a:p>
          <a:p xmlns:a="http://schemas.openxmlformats.org/drawingml/2006/main">
            <a:r>
              <a:t>AIをどこで使っているかを，必要な相手へ伝える．</a:t>
            </a:r>
          </a:p>
          <a:p xmlns:a="http://schemas.openxmlformats.org/drawingml/2006/main">
            <a:r>
              <a:t/>
            </a:r>
          </a:p>
          <a:p xmlns:a="http://schemas.openxmlformats.org/drawingml/2006/main">
            <a:r>
              <a:t>目的，主な限界，想定する利用範囲を説明する．</a:t>
            </a:r>
          </a:p>
          <a:p xmlns:a="http://schemas.openxmlformats.org/drawingml/2006/main">
            <a:r>
              <a:t/>
            </a:r>
          </a:p>
          <a:p xmlns:a="http://schemas.openxmlformats.org/drawingml/2006/main">
            <a:r>
              <a:t>質問や訂正を求める窓口を示す．</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経済産業省：AI事業者ガイドライン第1.2版</a:t>
            </a:r>
          </a:p>
          <a:p xmlns:a="http://schemas.openxmlformats.org/drawingml/2006/main">
            <a:r>
              <a:t>https://www.meti.go.jp/shingikai/mono_info_service/ai_shakai_jisso/20260331_report.html</a:t>
            </a:r>
          </a:p>
          <a:p xmlns:a="http://schemas.openxmlformats.org/drawingml/2006/main">
            <a:r>
              <a:t/>
            </a:r>
          </a:p>
          <a:p xmlns:a="http://schemas.openxmlformats.org/drawingml/2006/main">
            <a:r>
              <a:t>NIST：AI Risk Management Framework</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モデルの情報を記録する</a:t>
            </a:r>
          </a:p>
          <a:p xmlns:a="http://schemas.openxmlformats.org/drawingml/2006/main">
            <a:r>
              <a:t/>
            </a:r>
          </a:p>
          <a:p xmlns:a="http://schemas.openxmlformats.org/drawingml/2006/main">
            <a:r>
              <a:t>目安：4分／授業開始から46〜50分</a:t>
            </a:r>
          </a:p>
          <a:p xmlns:a="http://schemas.openxmlformats.org/drawingml/2006/main">
            <a:r>
              <a:t/>
            </a:r>
          </a:p>
          <a:p xmlns:a="http://schemas.openxmlformats.org/drawingml/2006/main">
            <a:r>
              <a:t>Model Cardはモデルの用途，評価，限界等を記録して共有する考え方．記録があるだけでモデルの安全性が保証されるわけではない．サービス全体の運用記録も合わせる．</a:t>
            </a:r>
          </a:p>
          <a:p xmlns:a="http://schemas.openxmlformats.org/drawingml/2006/main">
            <a:r>
              <a:t/>
            </a:r>
          </a:p>
          <a:p xmlns:a="http://schemas.openxmlformats.org/drawingml/2006/main">
            <a:r>
              <a:t>目的・対象 ／ 想定する用途と利用者</a:t>
            </a:r>
          </a:p>
          <a:p xmlns:a="http://schemas.openxmlformats.org/drawingml/2006/main">
            <a:r>
              <a:t>データ・評価 ／ 由来，期間，指標，集団ごとの結果</a:t>
            </a:r>
          </a:p>
          <a:p xmlns:a="http://schemas.openxmlformats.org/drawingml/2006/main">
            <a:r>
              <a:t>限界 ／ 未確認の条件，不向きな用途</a:t>
            </a:r>
          </a:p>
          <a:p xmlns:a="http://schemas.openxmlformats.org/drawingml/2006/main">
            <a:r>
              <a:t>更新 ／ 版，変更理由，連絡先</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Mitchell et al.：Model Cards for Model Reporting</a:t>
            </a:r>
          </a:p>
          <a:p xmlns:a="http://schemas.openxmlformats.org/drawingml/2006/main">
            <a:r>
              <a:t>https://arxiv.org/abs/1810.03993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安全性：失敗を先に考える</a:t>
            </a:r>
          </a:p>
          <a:p xmlns:a="http://schemas.openxmlformats.org/drawingml/2006/main">
            <a:r>
              <a:t/>
            </a:r>
          </a:p>
          <a:p xmlns:a="http://schemas.openxmlformats.org/drawingml/2006/main">
            <a:r>
              <a:t>目安：4分／授業開始から50〜54分</a:t>
            </a:r>
          </a:p>
          <a:p xmlns:a="http://schemas.openxmlformats.org/drawingml/2006/main">
            <a:r>
              <a:t/>
            </a:r>
          </a:p>
          <a:p xmlns:a="http://schemas.openxmlformats.org/drawingml/2006/main">
            <a:r>
              <a:t>NIST AI RMFはリスクを状況とライフサイクルで管理する．平均精度だけで身体や権利への重大な影響を判断しない．医療や交通などでは分野固有のルールや専門的検証が加わる．</a:t>
            </a:r>
          </a:p>
          <a:p xmlns:a="http://schemas.openxmlformats.org/drawingml/2006/main">
            <a:r>
              <a:t/>
            </a:r>
          </a:p>
          <a:p xmlns:a="http://schemas.openxmlformats.org/drawingml/2006/main">
            <a:r>
              <a:t>どんな誤りで，誰にどの程度の害が出るかを考える．</a:t>
            </a:r>
          </a:p>
          <a:p xmlns:a="http://schemas.openxmlformats.org/drawingml/2006/main">
            <a:r>
              <a:t/>
            </a:r>
          </a:p>
          <a:p xmlns:a="http://schemas.openxmlformats.org/drawingml/2006/main">
            <a:r>
              <a:t>想定する環境と，起こり得る変化で試す．</a:t>
            </a:r>
          </a:p>
          <a:p xmlns:a="http://schemas.openxmlformats.org/drawingml/2006/main">
            <a:r>
              <a:t/>
            </a:r>
          </a:p>
          <a:p xmlns:a="http://schemas.openxmlformats.org/drawingml/2006/main">
            <a:r>
              <a:t>使えない場合の代替手順と，停止条件を決める．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NIST：AI Risk Management Framework</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セキュリティ：AIの前後も守る</a:t>
            </a:r>
          </a:p>
          <a:p xmlns:a="http://schemas.openxmlformats.org/drawingml/2006/main">
            <a:r>
              <a:t/>
            </a:r>
          </a:p>
          <a:p xmlns:a="http://schemas.openxmlformats.org/drawingml/2006/main">
            <a:r>
              <a:t>目安：4分／授業開始から54〜58分</a:t>
            </a:r>
          </a:p>
          <a:p xmlns:a="http://schemas.openxmlformats.org/drawingml/2006/main">
            <a:r>
              <a:t/>
            </a:r>
          </a:p>
          <a:p xmlns:a="http://schemas.openxmlformats.org/drawingml/2006/main">
            <a:r>
              <a:t>生成AIのプロンプトインジェクションは，資料の内容を操作の指示として扱ってしまう例．学習データの汚染などもある．一つの検知機能で全て防げると教えない．AIシステム全体の権限と信頼の境界を考える．</a:t>
            </a:r>
          </a:p>
          <a:p xmlns:a="http://schemas.openxmlformats.org/drawingml/2006/main">
            <a:r>
              <a:t/>
            </a:r>
          </a:p>
          <a:p xmlns:a="http://schemas.openxmlformats.org/drawingml/2006/main">
            <a:r>
              <a:t>データ，モデル，アカウントのアクセスを管理する．</a:t>
            </a:r>
          </a:p>
          <a:p xmlns:a="http://schemas.openxmlformats.org/drawingml/2006/main">
            <a:r>
              <a:t/>
            </a:r>
          </a:p>
          <a:p xmlns:a="http://schemas.openxmlformats.org/drawingml/2006/main">
            <a:r>
              <a:t>外部資料中の不正な指示や，情報の持ち出しを考える．</a:t>
            </a:r>
          </a:p>
          <a:p xmlns:a="http://schemas.openxmlformats.org/drawingml/2006/main">
            <a:r>
              <a:t/>
            </a:r>
          </a:p>
          <a:p xmlns:a="http://schemas.openxmlformats.org/drawingml/2006/main">
            <a:r>
              <a:t>権限を絞り，重要な操作の確認と記録を設ける．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NIST：AI Risk Management Framework</a:t>
            </a:r>
          </a:p>
          <a:p xmlns:a="http://schemas.openxmlformats.org/drawingml/2006/main">
            <a:r>
              <a:t>https://www.nist.gov/itl/ai-risk-management-framework</a:t>
            </a:r>
          </a:p>
          <a:p xmlns:a="http://schemas.openxmlformats.org/drawingml/2006/main">
            <a:r>
              <a:t/>
            </a:r>
          </a:p>
          <a:p xmlns:a="http://schemas.openxmlformats.org/drawingml/2006/main">
            <a:r>
              <a:t>経済産業省：AI事業者ガイドライン第1.2版</a:t>
            </a:r>
          </a:p>
          <a:p xmlns:a="http://schemas.openxmlformats.org/drawingml/2006/main">
            <a:r>
              <a:t>https://www.meti.go.jp/shingikai/mono_info_service/ai_shakai_jisso/20260331_report.html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人が確認する仕組みの条件</a:t>
            </a:r>
          </a:p>
          <a:p xmlns:a="http://schemas.openxmlformats.org/drawingml/2006/main">
            <a:r>
              <a:t/>
            </a:r>
          </a:p>
          <a:p xmlns:a="http://schemas.openxmlformats.org/drawingml/2006/main">
            <a:r>
              <a:t>目安：4分／授業開始から58〜62分</a:t>
            </a:r>
          </a:p>
          <a:p xmlns:a="http://schemas.openxmlformats.org/drawingml/2006/main">
            <a:r>
              <a:t/>
            </a:r>
          </a:p>
          <a:p xmlns:a="http://schemas.openxmlformats.org/drawingml/2006/main">
            <a:r>
              <a:t>human oversightを形式的な承認ボタンにしない．自動化バイアスや確認の疲労を考える．確認役の知識，責任範囲，作業量を運用で確かめる．</a:t>
            </a:r>
          </a:p>
          <a:p xmlns:a="http://schemas.openxmlformats.org/drawingml/2006/main">
            <a:r>
              <a:t/>
            </a:r>
          </a:p>
          <a:p xmlns:a="http://schemas.openxmlformats.org/drawingml/2006/main">
            <a:r>
              <a:t>担当者に，判断に必要な情報と時間を渡す．</a:t>
            </a:r>
          </a:p>
          <a:p xmlns:a="http://schemas.openxmlformats.org/drawingml/2006/main">
            <a:r>
              <a:t/>
            </a:r>
          </a:p>
          <a:p xmlns:a="http://schemas.openxmlformats.org/drawingml/2006/main">
            <a:r>
              <a:t>AIの結果を訂正・拒否・停止できるようにする．</a:t>
            </a:r>
          </a:p>
          <a:p xmlns:a="http://schemas.openxmlformats.org/drawingml/2006/main">
            <a:r>
              <a:t/>
            </a:r>
          </a:p>
          <a:p xmlns:a="http://schemas.openxmlformats.org/drawingml/2006/main">
            <a:r>
              <a:t>AIの答えを，そのまま信じる傾向にも注意する．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経済産業省：AI事業者ガイドライン第1.2版</a:t>
            </a:r>
          </a:p>
          <a:p xmlns:a="http://schemas.openxmlformats.org/drawingml/2006/main">
            <a:r>
              <a:t>https://www.meti.go.jp/shingikai/mono_info_service/ai_shakai_jisso/20260331_report.html</a:t>
            </a:r>
          </a:p>
          <a:p xmlns:a="http://schemas.openxmlformats.org/drawingml/2006/main">
            <a:r>
              <a:t/>
            </a:r>
          </a:p>
          <a:p xmlns:a="http://schemas.openxmlformats.org/drawingml/2006/main">
            <a:r>
              <a:t>NIST：AI Risk Management Framework</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説明責任：対応できる体制</a:t>
            </a:r>
          </a:p>
          <a:p xmlns:a="http://schemas.openxmlformats.org/drawingml/2006/main">
            <a:r>
              <a:t/>
            </a:r>
          </a:p>
          <a:p xmlns:a="http://schemas.openxmlformats.org/drawingml/2006/main">
            <a:r>
              <a:t>目安：4分／授業開始から62〜66分</a:t>
            </a:r>
          </a:p>
          <a:p xmlns:a="http://schemas.openxmlformats.org/drawingml/2006/main">
            <a:r>
              <a:t/>
            </a:r>
          </a:p>
          <a:p xmlns:a="http://schemas.openxmlformats.org/drawingml/2006/main">
            <a:r>
              <a:t>AIが決めたからと責任を空白にしない．モデル開発，サービス提供，業務利用で担当が違う場合を想定する．必要な記録を残しつつ個人情報の保存を無期限に増やさない．</a:t>
            </a:r>
          </a:p>
          <a:p xmlns:a="http://schemas.openxmlformats.org/drawingml/2006/main">
            <a:r>
              <a:t/>
            </a:r>
          </a:p>
          <a:p xmlns:a="http://schemas.openxmlformats.org/drawingml/2006/main">
            <a:r>
              <a:t>誰が導入を決め，運用を担当するかを明確にする．</a:t>
            </a:r>
          </a:p>
          <a:p xmlns:a="http://schemas.openxmlformats.org/drawingml/2006/main">
            <a:r>
              <a:t/>
            </a:r>
          </a:p>
          <a:p xmlns:a="http://schemas.openxmlformats.org/drawingml/2006/main">
            <a:r>
              <a:t>判断の根拠と，変更や問題への対応を記録する．</a:t>
            </a:r>
          </a:p>
          <a:p xmlns:a="http://schemas.openxmlformats.org/drawingml/2006/main">
            <a:r>
              <a:t/>
            </a:r>
          </a:p>
          <a:p xmlns:a="http://schemas.openxmlformats.org/drawingml/2006/main">
            <a:r>
              <a:t>提供者と利用者の間で，責任と連絡経路を決める．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経済産業省：AI事業者ガイドライン第1.2版</a:t>
            </a:r>
          </a:p>
          <a:p xmlns:a="http://schemas.openxmlformats.org/drawingml/2006/main">
            <a:r>
              <a:t>https://www.meti.go.jp/shingikai/mono_info_service/ai_shakai_jisso/20260331_report.html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ガバナンスを継続する</a:t>
            </a:r>
          </a:p>
          <a:p xmlns:a="http://schemas.openxmlformats.org/drawingml/2006/main">
            <a:r>
              <a:t/>
            </a:r>
          </a:p>
          <a:p xmlns:a="http://schemas.openxmlformats.org/drawingml/2006/main">
            <a:r>
              <a:t>目安：4分／授業開始から66〜70分</a:t>
            </a:r>
          </a:p>
          <a:p xmlns:a="http://schemas.openxmlformats.org/drawingml/2006/main">
            <a:r>
              <a:t/>
            </a:r>
          </a:p>
          <a:p xmlns:a="http://schemas.openxmlformats.org/drawingml/2006/main">
            <a:r>
              <a:t>NISTのGOVERN，MAP，MEASURE，MANAGEに対応する考え方を授業用に三段階へまとめた図．原文の四機能の名前そのものではない．関係者の対話や組織の責任を全段階に置く．</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NIST：AI Risk Management Framework</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開発・提供・利用で役割を分ける</a:t>
            </a:r>
          </a:p>
          <a:p xmlns:a="http://schemas.openxmlformats.org/drawingml/2006/main">
            <a:r>
              <a:t/>
            </a:r>
          </a:p>
          <a:p xmlns:a="http://schemas.openxmlformats.org/drawingml/2006/main">
            <a:r>
              <a:t>目安：4分／授業開始から70〜74分</a:t>
            </a:r>
          </a:p>
          <a:p xmlns:a="http://schemas.openxmlformats.org/drawingml/2006/main">
            <a:r>
              <a:t/>
            </a:r>
          </a:p>
          <a:p xmlns:a="http://schemas.openxmlformats.org/drawingml/2006/main">
            <a:r>
              <a:t>一つの組織が複数の役割を持つこともある．AI事業者ガイドラインの対象者の区分を直感的に説明する．全てのリスクを利用者へ押し付ける体制をよしとしない．</a:t>
            </a:r>
          </a:p>
          <a:p xmlns:a="http://schemas.openxmlformats.org/drawingml/2006/main">
            <a:r>
              <a:t/>
            </a:r>
          </a:p>
          <a:p xmlns:a="http://schemas.openxmlformats.org/drawingml/2006/main">
            <a:r>
              <a:t>開発者 ／ データとモデルを検証し，限界を記録する</a:t>
            </a:r>
          </a:p>
          <a:p xmlns:a="http://schemas.openxmlformats.org/drawingml/2006/main">
            <a:r>
              <a:t>提供者 ／ サービスの条件を示し，安全に運用する</a:t>
            </a:r>
          </a:p>
          <a:p xmlns:a="http://schemas.openxmlformats.org/drawingml/2006/main">
            <a:r>
              <a:t>利用者 ／ 用途に合うかを判断し，出力を確認する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経済産業省：AI事業者ガイドライン第1.2版</a:t>
            </a:r>
          </a:p>
          <a:p xmlns:a="http://schemas.openxmlformats.org/drawingml/2006/main">
            <a:r>
              <a:t>https://www.meti.go.jp/shingikai/mono_info_service/ai_shakai_jisso/20260331_report.html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問題が起きたときの対応</a:t>
            </a:r>
          </a:p>
          <a:p xmlns:a="http://schemas.openxmlformats.org/drawingml/2006/main">
            <a:r>
              <a:t/>
            </a:r>
          </a:p>
          <a:p xmlns:a="http://schemas.openxmlformats.org/drawingml/2006/main">
            <a:r>
              <a:t>目安：4分／授業開始から74〜78分</a:t>
            </a:r>
          </a:p>
          <a:p xmlns:a="http://schemas.openxmlformats.org/drawingml/2006/main">
            <a:r>
              <a:t/>
            </a:r>
          </a:p>
          <a:p xmlns:a="http://schemas.openxmlformats.org/drawingml/2006/main">
            <a:r>
              <a:t>法令上の報告・通知の義務がある場合も，別途満たす．技術的な修正だけで終わらず，利用者や評価された人の救済を考える．</a:t>
            </a:r>
          </a:p>
          <a:p xmlns:a="http://schemas.openxmlformats.org/drawingml/2006/main">
            <a:r>
              <a:t/>
            </a:r>
          </a:p>
          <a:p xmlns:a="http://schemas.openxmlformats.org/drawingml/2006/main">
            <a:r>
              <a:t>把握・抑制 ／ 影響と範囲を確かめ，必要なら利用を止める</a:t>
            </a:r>
          </a:p>
          <a:p xmlns:a="http://schemas.openxmlformats.org/drawingml/2006/main">
            <a:r>
              <a:t>連絡・支援 ／ 担当へ連絡し，影響を受けた人へ対応する</a:t>
            </a:r>
          </a:p>
          <a:p xmlns:a="http://schemas.openxmlformats.org/drawingml/2006/main">
            <a:r>
              <a:t>分析・改善 ／ 原因と対応を記録し，再評価して見直す</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NIST：AI Risk Management Framework</a:t>
            </a:r>
          </a:p>
          <a:p xmlns:a="http://schemas.openxmlformats.org/drawingml/2006/main">
            <a:r>
              <a:t>https://www.nist.gov/itl/ai-risk-management-framework</a:t>
            </a:r>
          </a:p>
          <a:p xmlns:a="http://schemas.openxmlformats.org/drawingml/2006/main">
            <a:r>
              <a:t/>
            </a:r>
          </a:p>
          <a:p xmlns:a="http://schemas.openxmlformats.org/drawingml/2006/main">
            <a:r>
              <a:t>Google：Production ML systems</a:t>
            </a:r>
          </a:p>
          <a:p xmlns:a="http://schemas.openxmlformats.org/drawingml/2006/main">
            <a:r>
              <a:t>https://developers.google.com/machine-learning/crash-course/production-ml-systems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演習2：採用支援の利用案を見直す</a:t>
            </a:r>
          </a:p>
          <a:p xmlns:a="http://schemas.openxmlformats.org/drawingml/2006/main">
            <a:r>
              <a:t/>
            </a:r>
          </a:p>
          <a:p xmlns:a="http://schemas.openxmlformats.org/drawingml/2006/main">
            <a:r>
              <a:t>目安：6分／授業開始から78〜84分</a:t>
            </a:r>
          </a:p>
          <a:p xmlns:a="http://schemas.openxmlformats.org/drawingml/2006/main">
            <a:r>
              <a:t/>
            </a:r>
          </a:p>
          <a:p xmlns:a="http://schemas.openxmlformats.org/drawingml/2006/main">
            <a:r>
              <a:t>架空の事例．ペアで6分．過去の採用を適性の正解とみなす問題，順位の低い人を人が全く読まない問題，説明や訂正がない問題を整理する．実在人物の採用判断は行わない．</a:t>
            </a:r>
          </a:p>
          <a:p xmlns:a="http://schemas.openxmlformats.org/drawingml/2006/main">
            <a:r>
              <a:t/>
            </a:r>
          </a:p>
          <a:p xmlns:a="http://schemas.openxmlformats.org/drawingml/2006/main">
            <a:r>
              <a:t>過去の採用記録で学習したAIが，応募者を順位付けする．</a:t>
            </a:r>
          </a:p>
          <a:p xmlns:a="http://schemas.openxmlformats.org/drawingml/2006/main">
            <a:r>
              <a:t/>
            </a:r>
          </a:p>
          <a:p xmlns:a="http://schemas.openxmlformats.org/drawingml/2006/main">
            <a:r>
              <a:t>上位だけを担当者が確認し，不採用の理由は示さない．</a:t>
            </a:r>
          </a:p>
          <a:p xmlns:a="http://schemas.openxmlformats.org/drawingml/2006/main">
            <a:r>
              <a:t/>
            </a:r>
          </a:p>
          <a:p xmlns:a="http://schemas.openxmlformats.org/drawingml/2006/main">
            <a:r>
              <a:t>データ，評価，人による確認，問い合わせの対策を考える．</a:t>
            </a:r>
          </a:p>
          <a:p xmlns:a="http://schemas.openxmlformats.org/drawingml/2006/main">
            <a:r>
              <a:t/>
            </a:r>
          </a:p>
          <a:p xmlns:a="http://schemas.openxmlformats.org/drawingml/2006/main">
            <a:r>
              <a:t>関係者の不利益と，改善の担当を具体化する．</a:t>
            </a:r>
          </a:p>
          <a:p xmlns:a="http://schemas.openxmlformats.org/drawingml/2006/main">
            <a:r>
              <a:t/>
            </a:r>
          </a:p>
          <a:p xmlns:a="http://schemas.openxmlformats.org/drawingml/2006/main">
            <a:r>
              <a:t>参照資料（2026年10月8日確認）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演習2：対策の例</a:t>
            </a:r>
          </a:p>
          <a:p xmlns:a="http://schemas.openxmlformats.org/drawingml/2006/main">
            <a:r>
              <a:t/>
            </a:r>
          </a:p>
          <a:p xmlns:a="http://schemas.openxmlformats.org/drawingml/2006/main">
            <a:r>
              <a:t>目安：3分／授業開始から84〜87分</a:t>
            </a:r>
          </a:p>
          <a:p xmlns:a="http://schemas.openxmlformats.org/drawingml/2006/main">
            <a:r>
              <a:t/>
            </a:r>
          </a:p>
          <a:p xmlns:a="http://schemas.openxmlformats.org/drawingml/2006/main">
            <a:r>
              <a:t>唯一の正解ではない．効果，費用，残るリスクを検証する．十分な対策ができない場合には利用範囲を縮小する判断もある．誰がいつ確認するかまで書けているかを評価する．</a:t>
            </a:r>
          </a:p>
          <a:p xmlns:a="http://schemas.openxmlformats.org/drawingml/2006/main">
            <a:r>
              <a:t/>
            </a:r>
          </a:p>
          <a:p xmlns:a="http://schemas.openxmlformats.org/drawingml/2006/main">
            <a:r>
              <a:t>過去の判断の偏り ／ ラベルと代表性を調べ，集団別にも評価する</a:t>
            </a:r>
          </a:p>
          <a:p xmlns:a="http://schemas.openxmlformats.org/drawingml/2006/main">
            <a:r>
              <a:t>上位だけを見る ／ 用途を限定し，見逃しを人が確認する手順を設ける</a:t>
            </a:r>
          </a:p>
          <a:p xmlns:a="http://schemas.openxmlformats.org/drawingml/2006/main">
            <a:r>
              <a:t>理由・窓口がない ／ 限界を伝え，説明と訂正の経路を設ける</a:t>
            </a:r>
          </a:p>
          <a:p xmlns:a="http://schemas.openxmlformats.org/drawingml/2006/main">
            <a:r>
              <a:t/>
            </a:r>
          </a:p>
          <a:p xmlns:a="http://schemas.openxmlformats.org/drawingml/2006/main">
            <a:r>
              <a:t>対策を提案した後も，効果を確かめる．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Google：Machine learning fairness</a:t>
            </a:r>
          </a:p>
          <a:p xmlns:a="http://schemas.openxmlformats.org/drawingml/2006/main">
            <a:r>
              <a:t>https://developers.google.com/machine-learning/crash-course/fairness</a:t>
            </a:r>
          </a:p>
          <a:p xmlns:a="http://schemas.openxmlformats.org/drawingml/2006/main">
            <a:r>
              <a:t/>
            </a:r>
          </a:p>
          <a:p xmlns:a="http://schemas.openxmlformats.org/drawingml/2006/main">
            <a:r>
              <a:t>経済産業省：AI事業者ガイドライン第1.2版</a:t>
            </a:r>
          </a:p>
          <a:p xmlns:a="http://schemas.openxmlformats.org/drawingml/2006/main">
            <a:r>
              <a:t>https://www.meti.go.jp/shingikai/mono_info_service/ai_shakai_jisso/20260331_report.html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まとめ・振り返り</a:t>
            </a:r>
          </a:p>
          <a:p xmlns:a="http://schemas.openxmlformats.org/drawingml/2006/main">
            <a:r>
              <a:t/>
            </a:r>
          </a:p>
          <a:p xmlns:a="http://schemas.openxmlformats.org/drawingml/2006/main">
            <a:r>
              <a:t>目安：3分／授業開始から87〜90分</a:t>
            </a:r>
          </a:p>
          <a:p xmlns:a="http://schemas.openxmlformats.org/drawingml/2006/main">
            <a:r>
              <a:t/>
            </a:r>
          </a:p>
          <a:p xmlns:a="http://schemas.openxmlformats.org/drawingml/2006/main">
            <a:r>
              <a:t>出口課題：身近なAIの影響を一つ挙げ，誰が何を確認するかを書く．次回は技術，法律，倫理を横断した確認問題で復習する．</a:t>
            </a:r>
          </a:p>
          <a:p xmlns:a="http://schemas.openxmlformats.org/drawingml/2006/main">
            <a:r>
              <a:t/>
            </a:r>
          </a:p>
          <a:p xmlns:a="http://schemas.openxmlformats.org/drawingml/2006/main">
            <a:r>
              <a:t>精度だけでなく，人への利益と不利益を見る．</a:t>
            </a:r>
          </a:p>
          <a:p xmlns:a="http://schemas.openxmlformats.org/drawingml/2006/main">
            <a:r>
              <a:t/>
            </a:r>
          </a:p>
          <a:p xmlns:a="http://schemas.openxmlformats.org/drawingml/2006/main">
            <a:r>
              <a:t>目的に合う公平性・透明性・安全性を確かめる．</a:t>
            </a:r>
          </a:p>
          <a:p xmlns:a="http://schemas.openxmlformats.org/drawingml/2006/main">
            <a:r>
              <a:t/>
            </a:r>
          </a:p>
          <a:p xmlns:a="http://schemas.openxmlformats.org/drawingml/2006/main">
            <a:r>
              <a:t>担当，記録，問い合わせ，見直しを運用へ組み込む．</a:t>
            </a:r>
          </a:p>
          <a:p xmlns:a="http://schemas.openxmlformats.org/drawingml/2006/main">
            <a:r>
              <a:t/>
            </a:r>
          </a:p>
          <a:p xmlns:a="http://schemas.openxmlformats.org/drawingml/2006/main">
            <a:r>
              <a:t>次回：総復習・G検定対策</a:t>
            </a:r>
          </a:p>
          <a:p xmlns:a="http://schemas.openxmlformats.org/drawingml/2006/main">
            <a:r>
              <a:t/>
            </a:r>
          </a:p>
          <a:p xmlns:a="http://schemas.openxmlformats.org/drawingml/2006/main">
            <a:r>
              <a:t>参照資料（2026年10月8日確認）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参考資料1</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授業内容の参考資料．図・数値・設問は出典を別途示したものを除き，本講義の作例．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経済産業省：AI事業者ガイドライン第1.2版</a:t>
            </a:r>
          </a:p>
          <a:p xmlns:a="http://schemas.openxmlformats.org/drawingml/2006/main">
            <a:r>
              <a:t>https://www.meti.go.jp/shingikai/mono_info_service/ai_shakai_jisso/20260331_report.html</a:t>
            </a:r>
          </a:p>
          <a:p xmlns:a="http://schemas.openxmlformats.org/drawingml/2006/main">
            <a:r>
              <a:t/>
            </a:r>
          </a:p>
          <a:p xmlns:a="http://schemas.openxmlformats.org/drawingml/2006/main">
            <a:r>
              <a:t>NIST：AI Risk Management Framework</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参考資料2</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本文の補足と参考資料．演習は講義用の作例で，公式試験問題ではない．</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経済産業省：AI事業者ガイドライン第1.2版</a:t>
            </a:r>
          </a:p>
          <a:p xmlns:a="http://schemas.openxmlformats.org/drawingml/2006/main">
            <a:r>
              <a:t>https://www.meti.go.jp/shingikai/mono_info_service/ai_shakai_jisso/20260331_report.html</a:t>
            </a:r>
          </a:p>
          <a:p xmlns:a="http://schemas.openxmlformats.org/drawingml/2006/main">
            <a:r>
              <a:t/>
            </a:r>
          </a:p>
          <a:p xmlns:a="http://schemas.openxmlformats.org/drawingml/2006/main">
            <a:r>
              <a:t>NIST：AI Risk Management Framework</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174d064dd449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552edbff8242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8b79fb544648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c1cadcb82a464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64b1c38df842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4dd499de58418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54d55646bce433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663621a1461458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89f83beb90e422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2b61d2dd47a439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b87bd7df7b3481b"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97F7A9FC-42F9-4272-8061-420BE7C155B3}"/>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DF9B35A9-3FE9-4BFF-B656-B4D6A3DC0A39}"/>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2EE4E9B5-D82D-45CC-A6B5-C4CEFF56E3C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BFD5D03B-80CF-46D0-B675-64FA89A7F4ED}"/>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E87C2054-8E80-4D76-8DEF-3392908A464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A48A6AB9-704A-4EBC-BC7C-E63FA18B1C9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D7215D3D-AF97-4F0E-9656-152FBCF3D28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DF7B5FDE-C912-4BA0-875F-484DCB7B2ED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B16BA528-8965-4793-9AC8-05865DDFC09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0E39A5F4-B176-4DAE-9CB7-A203335062A5}"/>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7E172536-B60A-4A31-A2FA-7BA7BF19B8E0}"/>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2C24B9CB-9CE1-4429-8F38-7501BA6A20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A50B932F-4A9D-4C20-9484-8CF9B39F52C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10A4A5C6-0B08-48A3-9AF9-3CC6EB89A40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7B5EE8FA-8AA8-4DEE-8C01-771682B3C21F}"/>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A6C772D8-01E9-4327-9C03-7A26C992D7EA}"/>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929D0ACB-6748-4C74-A363-D9CD1769135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EB4C4AB4-01B0-4B64-8073-04A7A1310B4C}"/>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F925D32E-2AA0-42B4-B90E-E867F36D20D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73D0385D-11D1-44BD-9DCD-3C92F13D1130}"/>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A0351056-57DF-4898-A954-791E5DBBAAB6}"/>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5D8E1582-629C-417E-97AF-90F193595A5C}"/>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9DF51F9B-459E-40E6-BF85-67159A6AAE8F}"/>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8784D298-F9D4-481C-A581-8DD66EEBFE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90CDD5AF-DC6A-4D21-B2D6-412F53B788F0}"/>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FBC7FC0E-748E-4525-B97C-CEA11BA1A0E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DF82A840-592C-4A06-880C-CBB4FCCE248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FA60046D-6491-4CEE-A2BA-C9D70926FC6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009999C1-0D75-43B3-B331-E10DC6D3308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EA545E12-B334-450B-8E0B-4F79F102D5C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96ee1916e24306" /><Relationship Type="http://schemas.openxmlformats.org/officeDocument/2006/relationships/slideLayout" Target="/ppt/slideLayouts/slideLayout1.xml" Id="R5e3554a654bc4ee4" /><Relationship Type="http://schemas.openxmlformats.org/officeDocument/2006/relationships/slideLayout" Target="/ppt/slideLayouts/slideLayout2.xml" Id="R3911cb90017e41d1" /><Relationship Type="http://schemas.openxmlformats.org/officeDocument/2006/relationships/slideLayout" Target="/ppt/slideLayouts/slideLayout3.xml" Id="Ree60dcdab12145db" /><Relationship Type="http://schemas.openxmlformats.org/officeDocument/2006/relationships/slideLayout" Target="/ppt/slideLayouts/slideLayout4.xml" Id="Rda3e01576bf54b0f" /><Relationship Type="http://schemas.openxmlformats.org/officeDocument/2006/relationships/slideLayout" Target="/ppt/slideLayouts/slideLayout5.xml" Id="Ra23d78a210224f51" /><Relationship Type="http://schemas.openxmlformats.org/officeDocument/2006/relationships/slideLayout" Target="/ppt/slideLayouts/slideLayout6.xml" Id="R4efd660459e44ab9" /><Relationship Type="http://schemas.openxmlformats.org/officeDocument/2006/relationships/slideLayout" Target="/ppt/slideLayouts/slideLayout7.xml" Id="R17c162f2ec274af2" /><Relationship Type="http://schemas.openxmlformats.org/officeDocument/2006/relationships/slideLayout" Target="/ppt/slideLayouts/slideLayout8.xml" Id="R7c1e2024add9492f" /><Relationship Type="http://schemas.openxmlformats.org/officeDocument/2006/relationships/slideLayout" Target="/ppt/slideLayouts/slideLayout9.xml" Id="Rc708009bbd8c4fd4" /><Relationship Type="http://schemas.openxmlformats.org/officeDocument/2006/relationships/slideLayout" Target="/ppt/slideLayouts/slideLayout10.xml" Id="R62459f22fbfa4474" /><Relationship Type="http://schemas.openxmlformats.org/officeDocument/2006/relationships/slideLayout" Target="/ppt/slideLayouts/slideLayout11.xml" Id="Rd188eff7659e4de1"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F74A3540-C64F-46E3-B616-206CF115CDB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E08F150-A23F-4348-8C7A-55D3B350A20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4D6018B7-7DF8-468E-A6FA-83523D47D8F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e3554a654bc4ee4"/>
    <p:sldLayoutId xmlns:r="http://schemas.openxmlformats.org/officeDocument/2006/relationships" id="2147483650" r:id="R3911cb90017e41d1"/>
    <p:sldLayoutId xmlns:r="http://schemas.openxmlformats.org/officeDocument/2006/relationships" id="2147483651" r:id="Ree60dcdab12145db"/>
    <p:sldLayoutId xmlns:r="http://schemas.openxmlformats.org/officeDocument/2006/relationships" id="2147483652" r:id="Rda3e01576bf54b0f"/>
    <p:sldLayoutId xmlns:r="http://schemas.openxmlformats.org/officeDocument/2006/relationships" id="2147483653" r:id="Ra23d78a210224f51"/>
    <p:sldLayoutId xmlns:r="http://schemas.openxmlformats.org/officeDocument/2006/relationships" id="2147483654" r:id="R4efd660459e44ab9"/>
    <p:sldLayoutId xmlns:r="http://schemas.openxmlformats.org/officeDocument/2006/relationships" id="2147483655" r:id="R17c162f2ec274af2"/>
    <p:sldLayoutId xmlns:r="http://schemas.openxmlformats.org/officeDocument/2006/relationships" id="2147483656" r:id="R7c1e2024add9492f"/>
    <p:sldLayoutId xmlns:r="http://schemas.openxmlformats.org/officeDocument/2006/relationships" id="2147483657" r:id="Rc708009bbd8c4fd4"/>
    <p:sldLayoutId xmlns:r="http://schemas.openxmlformats.org/officeDocument/2006/relationships" id="2147483658" r:id="R62459f22fbfa4474"/>
    <p:sldLayoutId xmlns:r="http://schemas.openxmlformats.org/officeDocument/2006/relationships" id="2147483659" r:id="Rd188eff7659e4de1"/>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1.xml" Id="R0576dc315bf24760" /><Relationship Type="http://schemas.openxmlformats.org/officeDocument/2006/relationships/notesSlide" Target="/ppt/notesSlides/notesSlide1.xml" Id="R52c00e57b3cc4b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1.xml" Id="Rc4f366ec322c4428" /><Relationship Type="http://schemas.openxmlformats.org/officeDocument/2006/relationships/notesSlide" Target="/ppt/notesSlides/notesSlide2.xml" Id="Rdb3e9ca0dcca4d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1824cd0c4aea44b9" /><Relationship Type="http://schemas.openxmlformats.org/officeDocument/2006/relationships/notesSlide" Target="/ppt/notesSlides/notesSlide3.xml" Id="Rcc8fea4b80ad44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1.xml" Id="Rcec8657c32ce4849" /><Relationship Type="http://schemas.openxmlformats.org/officeDocument/2006/relationships/notesSlide" Target="/ppt/notesSlides/notesSlide4.xml" Id="R403d04067c9d47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5e1e8e6b029d4ec5" /><Relationship Type="http://schemas.openxmlformats.org/officeDocument/2006/relationships/notesSlide" Target="/ppt/notesSlides/notesSlide5.xml" Id="R6f9a667d33d84c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1.xml" Id="R77d8336257c84f51" /><Relationship Type="http://schemas.openxmlformats.org/officeDocument/2006/relationships/notesSlide" Target="/ppt/notesSlides/notesSlide6.xml" Id="Rab98259bad2a45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079ce93069c04aae" /><Relationship Type="http://schemas.openxmlformats.org/officeDocument/2006/relationships/notesSlide" Target="/ppt/notesSlides/notesSlide7.xml" Id="Rcdd1b4c812fa40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1.xml" Id="Rd43a03d9cb3a4a0d" /><Relationship Type="http://schemas.openxmlformats.org/officeDocument/2006/relationships/notesSlide" Target="/ppt/notesSlides/notesSlide8.xml" Id="R27a5c3a8138a40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1.xml" Id="R7e9a7df2b7e14c68" /><Relationship Type="http://schemas.openxmlformats.org/officeDocument/2006/relationships/notesSlide" Target="/ppt/notesSlides/notesSlide9.xml" Id="R15e5fa64991147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77fa01e378d74948" /><Relationship Type="http://schemas.openxmlformats.org/officeDocument/2006/relationships/notesSlide" Target="/ppt/notesSlides/notesSlide10.xml" Id="R8e517210c54748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8ea219ccf82d4efa" /><Relationship Type="http://schemas.openxmlformats.org/officeDocument/2006/relationships/notesSlide" Target="/ppt/notesSlides/notesSlide11.xml" Id="Rbec935e583244b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1.xml" Id="Rf1d4f734ac17457f" /><Relationship Type="http://schemas.openxmlformats.org/officeDocument/2006/relationships/notesSlide" Target="/ppt/notesSlides/notesSlide12.xml" Id="Rbf1766330a4d4f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1.xml" Id="Rbf6d2eba98014916" /><Relationship Type="http://schemas.openxmlformats.org/officeDocument/2006/relationships/notesSlide" Target="/ppt/notesSlides/notesSlide13.xml" Id="Rb4ffcfe0eaf141e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1.xml" Id="R1ed3b2a68fb840e2" /><Relationship Type="http://schemas.openxmlformats.org/officeDocument/2006/relationships/notesSlide" Target="/ppt/notesSlides/notesSlide14.xml" Id="R66ddcfaadd37488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1.xml" Id="R23f54e500213472e" /><Relationship Type="http://schemas.openxmlformats.org/officeDocument/2006/relationships/notesSlide" Target="/ppt/notesSlides/notesSlide15.xml" Id="Re113a141694245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1.xml" Id="R11e96bd774094d99" /><Relationship Type="http://schemas.openxmlformats.org/officeDocument/2006/relationships/notesSlide" Target="/ppt/notesSlides/notesSlide16.xml" Id="Rb1e8681cbe794d4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1.xml" Id="R0e0e1618aefa4d67" /><Relationship Type="http://schemas.openxmlformats.org/officeDocument/2006/relationships/notesSlide" Target="/ppt/notesSlides/notesSlide17.xml" Id="R0f30e49de5d4468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1.xml" Id="Rf9e304e07b9b43fd" /><Relationship Type="http://schemas.openxmlformats.org/officeDocument/2006/relationships/notesSlide" Target="/ppt/notesSlides/notesSlide18.xml" Id="R0524507e68d34a3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1.xml" Id="Rc9df8a022b9044df" /><Relationship Type="http://schemas.openxmlformats.org/officeDocument/2006/relationships/notesSlide" Target="/ppt/notesSlides/notesSlide19.xml" Id="R7d5cfc8608d146b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1.xml" Id="R63b5402995c74fa8" /><Relationship Type="http://schemas.openxmlformats.org/officeDocument/2006/relationships/notesSlide" Target="/ppt/notesSlides/notesSlide20.xml" Id="Ra9f156880fd24f2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1.xml" Id="R3d42b6fea4e24138" /><Relationship Type="http://schemas.openxmlformats.org/officeDocument/2006/relationships/notesSlide" Target="/ppt/notesSlides/notesSlide21.xml" Id="R8372983d13cf424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1.xml" Id="Rb52579d7d3d34fb3" /><Relationship Type="http://schemas.openxmlformats.org/officeDocument/2006/relationships/notesSlide" Target="/ppt/notesSlides/notesSlide22.xml" Id="R86e7cfaea3bb443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1.xml" Id="Rbfbbb61d152c4052" /><Relationship Type="http://schemas.openxmlformats.org/officeDocument/2006/relationships/notesSlide" Target="/ppt/notesSlides/notesSlide23.xml" Id="R6e6948c182dc4ee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1.xml" Id="R2940ff64e266496e" /><Relationship Type="http://schemas.openxmlformats.org/officeDocument/2006/relationships/hyperlink" Target="https://www.meti.go.jp/shingikai/mono_info_service/ai_shakai_jisso/20260331_report.html" TargetMode="External" Id="R842de015660a4707" /><Relationship Type="http://schemas.openxmlformats.org/officeDocument/2006/relationships/hyperlink" Target="https://www.nist.gov/itl/ai-risk-management-framework" TargetMode="External" Id="R6f48a3cc526d4dab" /><Relationship Type="http://schemas.openxmlformats.org/officeDocument/2006/relationships/hyperlink" Target="https://developers.google.com/machine-learning/crash-course/fairness" TargetMode="External" Id="R68aaf7d36a774839" /><Relationship Type="http://schemas.openxmlformats.org/officeDocument/2006/relationships/notesSlide" Target="/ppt/notesSlides/notesSlide24.xml" Id="R36e7a4efc3244ff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1.xml" Id="R987cdb17512e444f" /><Relationship Type="http://schemas.openxmlformats.org/officeDocument/2006/relationships/hyperlink" Target="https://arxiv.org/abs/1810.03993" TargetMode="External" Id="R8f67a8c142e54dec" /><Relationship Type="http://schemas.openxmlformats.org/officeDocument/2006/relationships/hyperlink" Target="https://developers.google.com/machine-learning/crash-course/production-ml-systems" TargetMode="External" Id="Rd8306ba24cf84628" /><Relationship Type="http://schemas.openxmlformats.org/officeDocument/2006/relationships/hyperlink" Target="https://www.ppc.go.jp/personalinfo/legal/guidelines_tsusoku/" TargetMode="External" Id="Rd9e74f664bc84a76" /><Relationship Type="http://schemas.openxmlformats.org/officeDocument/2006/relationships/notesSlide" Target="/ppt/notesSlides/notesSlide25.xml" Id="Rff007b3b6d3d49d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情報技術者（民間資格）14&#10;G検定">
            <a:extLst xmlns:a="http://schemas.openxmlformats.org/drawingml/2006/main">
              <a:ext uri="{FF2B5EF4-FFF2-40B4-BE49-F238E27FC236}">
                <a16:creationId xmlns:a16="http://schemas.microsoft.com/office/drawing/2014/main" id="{242EDB2F-7502-4187-8625-1257B01ED3CF}"/>
              </a:ext>
            </a:extLst>
          </p:cNvPr>
          <p:cNvSpPr>
            <a:spLocks xmlns:a="http://schemas.openxmlformats.org/drawingml/2006/main" noGrp="1"/>
          </p:cNvSpPr>
          <p:nvPr/>
        </p:nvSpPr>
        <p:spPr>
          <a:xfrm xmlns:a="http://schemas.openxmlformats.org/drawingml/2006/main">
            <a:off x="310896" y="740664"/>
            <a:ext cx="8522208" cy="20482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情報技術者（民間資格）14</a:t>
            </a:r>
          </a:p>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G検定</a:t>
            </a:r>
          </a:p>
        </p:txBody>
      </p:sp>
      <p:sp>
        <p:nvSpPr>
          <p:cNvPr id="2" name="AI倫理とガバナンス">
            <a:extLst xmlns:a="http://schemas.openxmlformats.org/drawingml/2006/main">
              <a:ext uri="{FF2B5EF4-FFF2-40B4-BE49-F238E27FC236}">
                <a16:creationId xmlns:a16="http://schemas.microsoft.com/office/drawing/2014/main" id="{CDFB61EA-FBF6-4B1D-83E1-F439E4584B84}"/>
              </a:ext>
            </a:extLst>
          </p:cNvPr>
          <p:cNvSpPr>
            <a:spLocks xmlns:a="http://schemas.openxmlformats.org/drawingml/2006/main" noGrp="1"/>
          </p:cNvSpPr>
          <p:nvPr/>
        </p:nvSpPr>
        <p:spPr>
          <a:xfrm xmlns:a="http://schemas.openxmlformats.org/drawingml/2006/main">
            <a:off x="457200" y="2971800"/>
            <a:ext cx="82296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900" b="0" lang="ja-JP">
                <a:solidFill>
                  <a:srgbClr val="FF0000"/>
                </a:solidFill>
                <a:latin typeface="Arial"/>
                <a:ea typeface="ＭＳ Ｐゴシック"/>
                <a:cs typeface="ＭＳ Ｐゴシック"/>
              </a:defRPr>
            </a:pPr>
            <a:r>
              <a:rPr sz="2900" b="0" lang="ja-JP">
                <a:solidFill>
                  <a:srgbClr val="FF0000"/>
                </a:solidFill>
                <a:latin typeface="Arial"/>
                <a:ea typeface="ＭＳ Ｐゴシック"/>
                <a:cs typeface="ＭＳ Ｐゴシック"/>
              </a:rPr>
              <a:t>AI倫理とガバナンス</a:t>
            </a:r>
          </a:p>
        </p:txBody>
      </p:sp>
      <p:sp>
        <p:nvSpPr>
          <p:cNvPr id="3" name="第14回 ／ 90分 ／ 全25枚">
            <a:extLst xmlns:a="http://schemas.openxmlformats.org/drawingml/2006/main">
              <a:ext uri="{FF2B5EF4-FFF2-40B4-BE49-F238E27FC236}">
                <a16:creationId xmlns:a16="http://schemas.microsoft.com/office/drawing/2014/main" id="{24678667-AEA1-4C8B-8DA7-DAD061D5E986}"/>
              </a:ext>
            </a:extLst>
          </p:cNvPr>
          <p:cNvSpPr>
            <a:spLocks xmlns:a="http://schemas.openxmlformats.org/drawingml/2006/main" noGrp="1"/>
          </p:cNvSpPr>
          <p:nvPr/>
        </p:nvSpPr>
        <p:spPr>
          <a:xfrm xmlns:a="http://schemas.openxmlformats.org/drawingml/2006/main">
            <a:off x="457200" y="4215384"/>
            <a:ext cx="82296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00" b="0" lang="ja-JP">
                <a:solidFill>
                  <a:srgbClr val="707070"/>
                </a:solidFill>
                <a:latin typeface="Arial"/>
                <a:ea typeface="ＭＳ Ｐゴシック"/>
                <a:cs typeface="ＭＳ Ｐゴシック"/>
              </a:defRPr>
            </a:pPr>
            <a:r>
              <a:rPr sz="1600" b="0" lang="ja-JP">
                <a:solidFill>
                  <a:srgbClr val="707070"/>
                </a:solidFill>
                <a:latin typeface="Arial"/>
                <a:ea typeface="ＭＳ Ｐゴシック"/>
                <a:cs typeface="ＭＳ Ｐゴシック"/>
              </a:rPr>
              <a:t>第14回 ／ 90分 ／ 全25枚</a:t>
            </a:r>
          </a:p>
        </p:txBody>
      </p:sp>
      <p:sp>
        <p:nvSpPr>
          <p:cNvPr id="4" name="参照：経済産業省／NIST">
            <a:extLst xmlns:a="http://schemas.openxmlformats.org/drawingml/2006/main">
              <a:ext uri="{FF2B5EF4-FFF2-40B4-BE49-F238E27FC236}">
                <a16:creationId xmlns:a16="http://schemas.microsoft.com/office/drawing/2014/main" id="{9818D3D9-69C5-4068-A85F-8B8457ADC90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参照：経済産業省／NIST</a:t>
            </a:r>
          </a:p>
        </p:txBody>
      </p:sp>
      <p:sp>
        <p:nvSpPr>
          <p:cNvPr id="5" name="第14回　1">
            <a:extLst xmlns:a="http://schemas.openxmlformats.org/drawingml/2006/main">
              <a:ext uri="{FF2B5EF4-FFF2-40B4-BE49-F238E27FC236}">
                <a16:creationId xmlns:a16="http://schemas.microsoft.com/office/drawing/2014/main" id="{B932268B-D6C8-4DFE-A9A4-14101585548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1</a:t>
            </a:r>
          </a:p>
        </p:txBody>
      </p:sp>
    </p:spTree>
    <p:extLst>
      <p:ext uri="{BB962C8B-B14F-4D97-AF65-F5344CB8AC3E}">
        <p14:creationId xmlns:p14="http://schemas.microsoft.com/office/powerpoint/2010/main" val="16054507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今日の到達目標">
            <a:extLst xmlns:a="http://schemas.openxmlformats.org/drawingml/2006/main">
              <a:ext uri="{FF2B5EF4-FFF2-40B4-BE49-F238E27FC236}">
                <a16:creationId xmlns:a16="http://schemas.microsoft.com/office/drawing/2014/main" id="{5376839A-CDA5-4EBB-9235-D3DE4D80D99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今日の到達目標</a:t>
            </a:r>
          </a:p>
        </p:txBody>
      </p:sp>
      <p:sp>
        <p:nvSpPr>
          <p:cNvPr id="2" name="">
            <a:extLst xmlns:a="http://schemas.openxmlformats.org/drawingml/2006/main">
              <a:ext uri="{FF2B5EF4-FFF2-40B4-BE49-F238E27FC236}">
                <a16:creationId xmlns:a16="http://schemas.microsoft.com/office/drawing/2014/main" id="{CD2E1C97-220E-4D7B-9F49-A4C03C04F77D}"/>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精度以外に，AIが人へ与える影響を挙げる．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公平性・透明性・安全性の確認方法を考える．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担当・記録・見直しを，運用へ組み込む．</a:t>
            </a:r>
          </a:p>
        </p:txBody>
      </p:sp>
      <p:sp>
        <p:nvSpPr>
          <p:cNvPr id="3" name="図・設問：本教材の作例">
            <a:extLst xmlns:a="http://schemas.openxmlformats.org/drawingml/2006/main">
              <a:ext uri="{FF2B5EF4-FFF2-40B4-BE49-F238E27FC236}">
                <a16:creationId xmlns:a16="http://schemas.microsoft.com/office/drawing/2014/main" id="{AB35F126-FA55-418E-A085-A5CAFB68368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4" name="第14回　2">
            <a:extLst xmlns:a="http://schemas.openxmlformats.org/drawingml/2006/main">
              <a:ext uri="{FF2B5EF4-FFF2-40B4-BE49-F238E27FC236}">
                <a16:creationId xmlns:a16="http://schemas.microsoft.com/office/drawing/2014/main" id="{82CC5010-4FD9-43AE-8EF9-38B844336192}"/>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2</a:t>
            </a:r>
          </a:p>
        </p:txBody>
      </p:sp>
    </p:spTree>
    <p:extLst>
      <p:ext uri="{BB962C8B-B14F-4D97-AF65-F5344CB8AC3E}">
        <p14:creationId xmlns:p14="http://schemas.microsoft.com/office/powerpoint/2010/main" val="12643315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法律・倫理・ガバナンス">
            <a:extLst xmlns:a="http://schemas.openxmlformats.org/drawingml/2006/main">
              <a:ext uri="{FF2B5EF4-FFF2-40B4-BE49-F238E27FC236}">
                <a16:creationId xmlns:a16="http://schemas.microsoft.com/office/drawing/2014/main" id="{84DDF48E-C3C7-4CB7-BB29-14A2BC0AE8E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法律・倫理・ガバナンス</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観点</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考えること</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法律</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制度上の義務や権利を満たすか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倫理</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人の尊厳や公平性などに配慮できるか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ガバナンス</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誰が判断し，確認し，見直すか</a:t>
                      </a:r>
                    </a:p>
                  </a:txBody>
                  <a:tcPr marL="76200" marR="76200" marT="47625" marB="47625" anchor="ctr">
                    <a:solidFill>
                      <a:srgbClr val="FFFFFF"/>
                    </a:solidFill>
                  </a:tcPr>
                </a:tc>
              </a:tr>
            </a:tbl>
          </a:graphicData>
        </a:graphic>
      </p:graphicFrame>
      <p:sp>
        <p:nvSpPr>
          <p:cNvPr id="3" name="参照：経済産業省／NIST">
            <a:extLst xmlns:a="http://schemas.openxmlformats.org/drawingml/2006/main">
              <a:ext uri="{FF2B5EF4-FFF2-40B4-BE49-F238E27FC236}">
                <a16:creationId xmlns:a16="http://schemas.microsoft.com/office/drawing/2014/main" id="{A0589EBD-48EE-4349-8849-1879F527540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参照：経済産業省／NIST</a:t>
            </a:r>
          </a:p>
        </p:txBody>
      </p:sp>
      <p:sp>
        <p:nvSpPr>
          <p:cNvPr id="4" name="第14回　3">
            <a:extLst xmlns:a="http://schemas.openxmlformats.org/drawingml/2006/main">
              <a:ext uri="{FF2B5EF4-FFF2-40B4-BE49-F238E27FC236}">
                <a16:creationId xmlns:a16="http://schemas.microsoft.com/office/drawing/2014/main" id="{059D65BC-2427-44B4-8BA2-AC42AEB103F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3</a:t>
            </a:r>
          </a:p>
        </p:txBody>
      </p:sp>
    </p:spTree>
    <p:extLst>
      <p:ext uri="{BB962C8B-B14F-4D97-AF65-F5344CB8AC3E}">
        <p14:creationId xmlns:p14="http://schemas.microsoft.com/office/powerpoint/2010/main" val="4787635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影響を受ける人を考える">
            <a:extLst xmlns:a="http://schemas.openxmlformats.org/drawingml/2006/main">
              <a:ext uri="{FF2B5EF4-FFF2-40B4-BE49-F238E27FC236}">
                <a16:creationId xmlns:a16="http://schemas.microsoft.com/office/drawing/2014/main" id="{8C3335E3-7DAB-49A3-911B-2DE827F2AF59}"/>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影響を受ける人を考える</a:t>
            </a:r>
          </a:p>
        </p:txBody>
      </p:sp>
      <p:sp>
        <p:nvSpPr>
          <p:cNvPr id="2" name="">
            <a:extLst xmlns:a="http://schemas.openxmlformats.org/drawingml/2006/main">
              <a:ext uri="{FF2B5EF4-FFF2-40B4-BE49-F238E27FC236}">
                <a16:creationId xmlns:a16="http://schemas.microsoft.com/office/drawing/2014/main" id="{ED4F4352-BE74-46DD-98C0-C6B0BED7E1CC}"/>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使う人だけでなく，評価・分類される人も考える．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不利益が生じた人が，結果を知り訂正を求められるか．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利益と負担が，どの人へ配分されるかを考える．</a:t>
            </a:r>
          </a:p>
        </p:txBody>
      </p:sp>
      <p:sp>
        <p:nvSpPr>
          <p:cNvPr id="3" name="参照：NIST">
            <a:extLst xmlns:a="http://schemas.openxmlformats.org/drawingml/2006/main">
              <a:ext uri="{FF2B5EF4-FFF2-40B4-BE49-F238E27FC236}">
                <a16:creationId xmlns:a16="http://schemas.microsoft.com/office/drawing/2014/main" id="{4C2D5465-F6C6-49D5-BA79-570A88D91A73}"/>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参照：NIST</a:t>
            </a:r>
          </a:p>
        </p:txBody>
      </p:sp>
      <p:sp>
        <p:nvSpPr>
          <p:cNvPr id="4" name="第14回　4">
            <a:extLst xmlns:a="http://schemas.openxmlformats.org/drawingml/2006/main">
              <a:ext uri="{FF2B5EF4-FFF2-40B4-BE49-F238E27FC236}">
                <a16:creationId xmlns:a16="http://schemas.microsoft.com/office/drawing/2014/main" id="{607E61D9-091D-4CBE-B4FA-977A5796EEF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4</a:t>
            </a:r>
          </a:p>
        </p:txBody>
      </p:sp>
    </p:spTree>
    <p:extLst>
      <p:ext uri="{BB962C8B-B14F-4D97-AF65-F5344CB8AC3E}">
        <p14:creationId xmlns:p14="http://schemas.microsoft.com/office/powerpoint/2010/main" val="20866757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原則を具体的な確認へつなげる">
            <a:extLst xmlns:a="http://schemas.openxmlformats.org/drawingml/2006/main">
              <a:ext uri="{FF2B5EF4-FFF2-40B4-BE49-F238E27FC236}">
                <a16:creationId xmlns:a16="http://schemas.microsoft.com/office/drawing/2014/main" id="{2875FCDE-73A3-4650-B876-9B5BF718B27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原則を具体的な確認へつなげる</a:t>
            </a:r>
          </a:p>
        </p:txBody>
      </p:sp>
      <p:graphicFrame>
        <p:nvGraphicFramePr>
          <p:cNvPr id="7"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観点</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確認の問いの例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人間中心・公平性</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誰の選択や機会に影響するか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安全性・プライバシー</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誤りや情報の扱いが害を生まないか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透明性・説明責任</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必要な情報を伝え，対応できるか</a:t>
                      </a:r>
                    </a:p>
                  </a:txBody>
                  <a:tcPr marL="76200" marR="76200" marT="47625" marB="47625" anchor="ctr">
                    <a:solidFill>
                      <a:srgbClr val="FFFFFF"/>
                    </a:solidFill>
                  </a:tcPr>
                </a:tc>
              </a:tr>
            </a:tbl>
          </a:graphicData>
        </a:graphic>
      </p:graphicFrame>
      <p:sp>
        <p:nvSpPr>
          <p:cNvPr id="3" name="原則ごとに，実際に確かめることを決める．">
            <a:extLst xmlns:a="http://schemas.openxmlformats.org/drawingml/2006/main">
              <a:ext uri="{FF2B5EF4-FFF2-40B4-BE49-F238E27FC236}">
                <a16:creationId xmlns:a16="http://schemas.microsoft.com/office/drawing/2014/main" id="{8A5E8E40-296C-4AAA-812F-92940582D72E}"/>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原則ごとに，実際に確かめることを決める．</a:t>
            </a:r>
          </a:p>
        </p:txBody>
      </p:sp>
      <p:sp>
        <p:nvSpPr>
          <p:cNvPr id="4" name="参照：経済産業省">
            <a:extLst xmlns:a="http://schemas.openxmlformats.org/drawingml/2006/main">
              <a:ext uri="{FF2B5EF4-FFF2-40B4-BE49-F238E27FC236}">
                <a16:creationId xmlns:a16="http://schemas.microsoft.com/office/drawing/2014/main" id="{3F6839AA-B461-4D71-B227-9FED1501E0B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参照：経済産業省</a:t>
            </a:r>
          </a:p>
        </p:txBody>
      </p:sp>
      <p:sp>
        <p:nvSpPr>
          <p:cNvPr id="5" name="第14回　5">
            <a:extLst xmlns:a="http://schemas.openxmlformats.org/drawingml/2006/main">
              <a:ext uri="{FF2B5EF4-FFF2-40B4-BE49-F238E27FC236}">
                <a16:creationId xmlns:a16="http://schemas.microsoft.com/office/drawing/2014/main" id="{7728C08A-8244-490B-BA54-FAFCABFB441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5</a:t>
            </a:r>
          </a:p>
        </p:txBody>
      </p:sp>
    </p:spTree>
    <p:extLst>
      <p:ext uri="{BB962C8B-B14F-4D97-AF65-F5344CB8AC3E}">
        <p14:creationId xmlns:p14="http://schemas.microsoft.com/office/powerpoint/2010/main" val="10093116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偏りが入る場所">
            <a:extLst xmlns:a="http://schemas.openxmlformats.org/drawingml/2006/main">
              <a:ext uri="{FF2B5EF4-FFF2-40B4-BE49-F238E27FC236}">
                <a16:creationId xmlns:a16="http://schemas.microsoft.com/office/drawing/2014/main" id="{5409BE41-DABF-4596-A94D-4704F47981FD}"/>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偏りが入る場所</a:t>
            </a:r>
          </a:p>
        </p:txBody>
      </p:sp>
      <p:graphicFrame>
        <p:nvGraphicFramePr>
          <p:cNvPr id="6" name=""/>
          <p:cNvGraphicFramePr/>
          <p:nvPr/>
        </p:nvGraphicFramePr>
        <p:xfrm>
          <a:off xmlns:a="http://schemas.openxmlformats.org/drawingml/2006/main" x="365760" y="1243584"/>
          <a:ext xmlns:a="http://schemas.openxmlformats.org/drawingml/2006/main" cx="8366760" cy="2953512"/>
        </p:xfrm>
        <a:graphic xmlns:a="http://schemas.openxmlformats.org/drawingml/2006/main">
          <a:graphicData uri="http://schemas.openxmlformats.org/drawingml/2006/table">
            <a:tbl>
              <a:tblPr firstRow="0" bandRow="0"/>
              <a:tblGrid>
                <a:gridCol w="4183380"/>
                <a:gridCol w="4183380"/>
              </a:tblGrid>
              <a:tr h="590702">
                <a:tc>
                  <a:txBody>
                    <a:bodyPr>
                      <a:noAutofit/>
                    </a:bodyPr>
                    <a:lstStyle/>
                    <a:p>
                      <a:pPr algn="ctr"/>
                      <a:r>
                        <a:rPr sz="1800" b="1" lang="ja-JP">
                          <a:solidFill>
                            <a:srgbClr val="000000"/>
                          </a:solidFill>
                          <a:latin typeface="Arial"/>
                          <a:ea typeface="ＭＳ Ｐゴシック"/>
                          <a:cs typeface="ＭＳ Ｐゴシック"/>
                        </a:rPr>
                        <a:t>場所</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起こり得ること</a:t>
                      </a:r>
                    </a:p>
                  </a:txBody>
                  <a:tcPr marL="76200" marR="76200" marT="47625" marB="47625" anchor="ctr">
                    <a:solidFill>
                      <a:srgbClr val="F3F3F3"/>
                    </a:solidFill>
                  </a:tcPr>
                </a:tc>
              </a:tr>
              <a:tr h="590702">
                <a:tc>
                  <a:txBody>
                    <a:bodyPr>
                      <a:noAutofit/>
                    </a:bodyPr>
                    <a:lstStyle/>
                    <a:p>
                      <a:pPr algn="ctr"/>
                      <a:r>
                        <a:rPr sz="1800" b="0" lang="ja-JP">
                          <a:solidFill>
                            <a:srgbClr val="404040"/>
                          </a:solidFill>
                          <a:latin typeface="Arial"/>
                          <a:ea typeface="ＭＳ Ｐゴシック"/>
                          <a:cs typeface="ＭＳ Ｐゴシック"/>
                        </a:rPr>
                        <a:t>データ収集</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特定の人や環境の例が少ない</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正解ラベル</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過去の判断に偏りが含まれる</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モデル・評価</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全体の指標で一部の誤りを見落とす</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利用・運用</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当初と違う対象へ適用する</a:t>
                      </a:r>
                    </a:p>
                  </a:txBody>
                  <a:tcPr marL="76200" marR="76200" marT="47625" marB="47625" anchor="ctr">
                    <a:solidFill>
                      <a:srgbClr val="FFFFFF"/>
                    </a:solidFill>
                  </a:tcPr>
                </a:tc>
              </a:tr>
            </a:tbl>
          </a:graphicData>
        </a:graphic>
      </p:graphicFrame>
      <p:sp>
        <p:nvSpPr>
          <p:cNvPr id="3" name="参照：Google／NIST">
            <a:extLst xmlns:a="http://schemas.openxmlformats.org/drawingml/2006/main">
              <a:ext uri="{FF2B5EF4-FFF2-40B4-BE49-F238E27FC236}">
                <a16:creationId xmlns:a16="http://schemas.microsoft.com/office/drawing/2014/main" id="{79C2D982-CDA6-447A-AEC9-23096D4BCADD}"/>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参照：Google／NIST</a:t>
            </a:r>
          </a:p>
        </p:txBody>
      </p:sp>
      <p:sp>
        <p:nvSpPr>
          <p:cNvPr id="4" name="第14回　6">
            <a:extLst xmlns:a="http://schemas.openxmlformats.org/drawingml/2006/main">
              <a:ext uri="{FF2B5EF4-FFF2-40B4-BE49-F238E27FC236}">
                <a16:creationId xmlns:a16="http://schemas.microsoft.com/office/drawing/2014/main" id="{C63AB376-D5B2-4E18-9934-96237B230A6D}"/>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6</a:t>
            </a:r>
          </a:p>
        </p:txBody>
      </p:sp>
    </p:spTree>
    <p:extLst>
      <p:ext uri="{BB962C8B-B14F-4D97-AF65-F5344CB8AC3E}">
        <p14:creationId xmlns:p14="http://schemas.microsoft.com/office/powerpoint/2010/main" val="20656126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1：集団ごとの見逃し">
            <a:extLst xmlns:a="http://schemas.openxmlformats.org/drawingml/2006/main">
              <a:ext uri="{FF2B5EF4-FFF2-40B4-BE49-F238E27FC236}">
                <a16:creationId xmlns:a16="http://schemas.microsoft.com/office/drawing/2014/main" id="{CAE41420-5F0E-4F92-9C9F-539E00D3AEB9}"/>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演習1：集団ごとの見逃し</a:t>
            </a:r>
          </a:p>
        </p:txBody>
      </p:sp>
      <p:graphicFrame>
        <p:nvGraphicFramePr>
          <p:cNvPr id="7" name=""/>
          <p:cNvGraphicFramePr/>
          <p:nvPr/>
        </p:nvGraphicFramePr>
        <p:xfrm>
          <a:off xmlns:a="http://schemas.openxmlformats.org/drawingml/2006/main" x="365760" y="1243584"/>
          <a:ext xmlns:a="http://schemas.openxmlformats.org/drawingml/2006/main" cx="8366760" cy="1892808"/>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架空の集団</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適性ありの人数</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そのうち推薦した人数</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A</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20</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16</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B</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20</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10</a:t>
                      </a:r>
                    </a:p>
                  </a:txBody>
                  <a:tcPr marL="76200" marR="76200" marT="47625" marB="47625" anchor="ctr">
                    <a:solidFill>
                      <a:srgbClr val="FFFFFF"/>
                    </a:solidFill>
                  </a:tcPr>
                </a:tc>
              </a:tr>
            </a:tbl>
          </a:graphicData>
        </a:graphic>
      </p:graphicFrame>
      <p:sp>
        <p:nvSpPr>
          <p:cNvPr id="3" name="同じ指標を，集団ごとにも確かめる．">
            <a:extLst xmlns:a="http://schemas.openxmlformats.org/drawingml/2006/main">
              <a:ext uri="{FF2B5EF4-FFF2-40B4-BE49-F238E27FC236}">
                <a16:creationId xmlns:a16="http://schemas.microsoft.com/office/drawing/2014/main" id="{D056C9A5-5123-4039-B7C1-EDFD4C735F41}"/>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同じ指標を，集団ごとにも確かめる．</a:t>
            </a:r>
          </a:p>
        </p:txBody>
      </p:sp>
      <p:sp>
        <p:nvSpPr>
          <p:cNvPr id="4" name="図・設問：本教材の作例">
            <a:extLst xmlns:a="http://schemas.openxmlformats.org/drawingml/2006/main">
              <a:ext uri="{FF2B5EF4-FFF2-40B4-BE49-F238E27FC236}">
                <a16:creationId xmlns:a16="http://schemas.microsoft.com/office/drawing/2014/main" id="{AC1EF7F5-2090-464C-A561-92F069ED793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4回　7">
            <a:extLst xmlns:a="http://schemas.openxmlformats.org/drawingml/2006/main">
              <a:ext uri="{FF2B5EF4-FFF2-40B4-BE49-F238E27FC236}">
                <a16:creationId xmlns:a16="http://schemas.microsoft.com/office/drawing/2014/main" id="{B47280D6-C080-4EB1-8408-113E977A196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7</a:t>
            </a:r>
          </a:p>
        </p:txBody>
      </p:sp>
    </p:spTree>
    <p:extLst>
      <p:ext uri="{BB962C8B-B14F-4D97-AF65-F5344CB8AC3E}">
        <p14:creationId xmlns:p14="http://schemas.microsoft.com/office/powerpoint/2010/main" val="15997468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1：解答と追加の問い">
            <a:extLst xmlns:a="http://schemas.openxmlformats.org/drawingml/2006/main">
              <a:ext uri="{FF2B5EF4-FFF2-40B4-BE49-F238E27FC236}">
                <a16:creationId xmlns:a16="http://schemas.microsoft.com/office/drawing/2014/main" id="{F7134A83-12A9-4E0B-B67B-BA4A73C76A2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演習1：解答と追加の問い</a:t>
            </a:r>
          </a:p>
        </p:txBody>
      </p:sp>
      <p:sp>
        <p:nvSpPr>
          <p:cNvPr id="2" name="">
            <a:extLst xmlns:a="http://schemas.openxmlformats.org/drawingml/2006/main">
              <a:ext uri="{FF2B5EF4-FFF2-40B4-BE49-F238E27FC236}">
                <a16:creationId xmlns:a16="http://schemas.microsoft.com/office/drawing/2014/main" id="{6ABC943E-AE9D-47B7-96FB-1CCDC196A40F}"/>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Aの再現率＝16÷20＝80％</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Bの再現率＝10÷20＝50％</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差の原因，ラベルの妥当性，母数や誤推薦も調べる．</a:t>
            </a:r>
          </a:p>
        </p:txBody>
      </p:sp>
      <p:sp>
        <p:nvSpPr>
          <p:cNvPr id="3" name="数字の差と，その原因・影響を区別する．">
            <a:extLst xmlns:a="http://schemas.openxmlformats.org/drawingml/2006/main">
              <a:ext uri="{FF2B5EF4-FFF2-40B4-BE49-F238E27FC236}">
                <a16:creationId xmlns:a16="http://schemas.microsoft.com/office/drawing/2014/main" id="{ADBB13D8-BB6B-489B-A623-08BAC8B5E717}"/>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数字の差と，その原因・影響を区別する．</a:t>
            </a:r>
          </a:p>
        </p:txBody>
      </p:sp>
      <p:sp>
        <p:nvSpPr>
          <p:cNvPr id="4" name="参照：Google">
            <a:extLst xmlns:a="http://schemas.openxmlformats.org/drawingml/2006/main">
              <a:ext uri="{FF2B5EF4-FFF2-40B4-BE49-F238E27FC236}">
                <a16:creationId xmlns:a16="http://schemas.microsoft.com/office/drawing/2014/main" id="{F17ECB31-1F1D-456F-A076-52A246416C8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5" name="第14回　8">
            <a:extLst xmlns:a="http://schemas.openxmlformats.org/drawingml/2006/main">
              <a:ext uri="{FF2B5EF4-FFF2-40B4-BE49-F238E27FC236}">
                <a16:creationId xmlns:a16="http://schemas.microsoft.com/office/drawing/2014/main" id="{615045F4-140E-445D-99AF-88932E23F8F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8</a:t>
            </a:r>
          </a:p>
        </p:txBody>
      </p:sp>
    </p:spTree>
    <p:extLst>
      <p:ext uri="{BB962C8B-B14F-4D97-AF65-F5344CB8AC3E}">
        <p14:creationId xmlns:p14="http://schemas.microsoft.com/office/powerpoint/2010/main" val="9325570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公平性には複数の考え方がある">
            <a:extLst xmlns:a="http://schemas.openxmlformats.org/drawingml/2006/main">
              <a:ext uri="{FF2B5EF4-FFF2-40B4-BE49-F238E27FC236}">
                <a16:creationId xmlns:a16="http://schemas.microsoft.com/office/drawing/2014/main" id="{B2B84798-A4BE-4D06-813E-A7D0F04EFF2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公平性には複数の考え方がある</a:t>
            </a:r>
          </a:p>
        </p:txBody>
      </p:sp>
      <p:sp>
        <p:nvSpPr>
          <p:cNvPr id="2" name="">
            <a:extLst xmlns:a="http://schemas.openxmlformats.org/drawingml/2006/main">
              <a:ext uri="{FF2B5EF4-FFF2-40B4-BE49-F238E27FC236}">
                <a16:creationId xmlns:a16="http://schemas.microsoft.com/office/drawing/2014/main" id="{BCF2BDC4-8864-4B1F-A41B-1FA37F7604FC}"/>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候補にする割合を，集団間で比べる方法がある．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適性のある人の見逃しを，比べる方法もある．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目的と影響に合わせ，基準と理由を説明する．</a:t>
            </a:r>
          </a:p>
        </p:txBody>
      </p:sp>
      <p:sp>
        <p:nvSpPr>
          <p:cNvPr id="3" name="参照：Google／NIST">
            <a:extLst xmlns:a="http://schemas.openxmlformats.org/drawingml/2006/main">
              <a:ext uri="{FF2B5EF4-FFF2-40B4-BE49-F238E27FC236}">
                <a16:creationId xmlns:a16="http://schemas.microsoft.com/office/drawing/2014/main" id="{79590B1C-92CD-4452-9537-9424A6D1469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参照：Google／NIST</a:t>
            </a:r>
          </a:p>
        </p:txBody>
      </p:sp>
      <p:sp>
        <p:nvSpPr>
          <p:cNvPr id="4" name="第14回　9">
            <a:extLst xmlns:a="http://schemas.openxmlformats.org/drawingml/2006/main">
              <a:ext uri="{FF2B5EF4-FFF2-40B4-BE49-F238E27FC236}">
                <a16:creationId xmlns:a16="http://schemas.microsoft.com/office/drawing/2014/main" id="{77FA946A-39D6-4237-87ED-9EFA5DBCD03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9</a:t>
            </a:r>
          </a:p>
        </p:txBody>
      </p:sp>
    </p:spTree>
    <p:extLst>
      <p:ext uri="{BB962C8B-B14F-4D97-AF65-F5344CB8AC3E}">
        <p14:creationId xmlns:p14="http://schemas.microsoft.com/office/powerpoint/2010/main" val="207441104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属性を消すだけでは解決しない">
            <a:extLst xmlns:a="http://schemas.openxmlformats.org/drawingml/2006/main">
              <a:ext uri="{FF2B5EF4-FFF2-40B4-BE49-F238E27FC236}">
                <a16:creationId xmlns:a16="http://schemas.microsoft.com/office/drawing/2014/main" id="{08B1FFF6-DCBB-47ED-BB69-BC5F365BA67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属性を消すだけでは解決しない</a:t>
            </a:r>
          </a:p>
        </p:txBody>
      </p:sp>
      <p:sp>
        <p:nvSpPr>
          <p:cNvPr id="2" name="">
            <a:extLst xmlns:a="http://schemas.openxmlformats.org/drawingml/2006/main">
              <a:ext uri="{FF2B5EF4-FFF2-40B4-BE49-F238E27FC236}">
                <a16:creationId xmlns:a16="http://schemas.microsoft.com/office/drawing/2014/main" id="{50A9843F-CCCA-452E-81F8-E9739C16A38D}"/>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居住地や経歴などが，別の属性の手がかりになる場合がある．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正解ラベルや，利用の仕方にも偏りが残る．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使う目的と，結果の差を継続して確認する．</a:t>
            </a:r>
          </a:p>
        </p:txBody>
      </p:sp>
      <p:sp>
        <p:nvSpPr>
          <p:cNvPr id="3" name="参照：Google／個人情報保護委員会">
            <a:extLst xmlns:a="http://schemas.openxmlformats.org/drawingml/2006/main">
              <a:ext uri="{FF2B5EF4-FFF2-40B4-BE49-F238E27FC236}">
                <a16:creationId xmlns:a16="http://schemas.microsoft.com/office/drawing/2014/main" id="{4BA1E565-35C4-4F03-9A26-396F24E0FF4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参照：Google／個人情報保護委員会</a:t>
            </a:r>
          </a:p>
        </p:txBody>
      </p:sp>
      <p:sp>
        <p:nvSpPr>
          <p:cNvPr id="4" name="第14回　10">
            <a:extLst xmlns:a="http://schemas.openxmlformats.org/drawingml/2006/main">
              <a:ext uri="{FF2B5EF4-FFF2-40B4-BE49-F238E27FC236}">
                <a16:creationId xmlns:a16="http://schemas.microsoft.com/office/drawing/2014/main" id="{7EADAD65-9048-4084-B35F-66988A286F0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10</a:t>
            </a:r>
          </a:p>
        </p:txBody>
      </p:sp>
    </p:spTree>
    <p:extLst>
      <p:ext uri="{BB962C8B-B14F-4D97-AF65-F5344CB8AC3E}">
        <p14:creationId xmlns:p14="http://schemas.microsoft.com/office/powerpoint/2010/main" val="8203919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プライバシーとデータの必要性">
            <a:extLst xmlns:a="http://schemas.openxmlformats.org/drawingml/2006/main">
              <a:ext uri="{FF2B5EF4-FFF2-40B4-BE49-F238E27FC236}">
                <a16:creationId xmlns:a16="http://schemas.microsoft.com/office/drawing/2014/main" id="{C7C177A2-1269-4548-803F-C35C3DE5F26C}"/>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プライバシーとデータの必要性</a:t>
            </a:r>
          </a:p>
        </p:txBody>
      </p:sp>
      <p:sp>
        <p:nvSpPr>
          <p:cNvPr id="2" name="">
            <a:extLst xmlns:a="http://schemas.openxmlformats.org/drawingml/2006/main">
              <a:ext uri="{FF2B5EF4-FFF2-40B4-BE49-F238E27FC236}">
                <a16:creationId xmlns:a16="http://schemas.microsoft.com/office/drawing/2014/main" id="{6DB72898-E428-45D4-A7CC-E511F40BC883}"/>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目的に必要な情報と，保管期間を決める．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組合せによる識別や，出力からの漏えいも考える．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便利さと，人の期待や不利益を合わせて見る．</a:t>
            </a:r>
          </a:p>
        </p:txBody>
      </p:sp>
      <p:sp>
        <p:nvSpPr>
          <p:cNvPr id="3" name="参照：個人情報保護委員会／NIST">
            <a:extLst xmlns:a="http://schemas.openxmlformats.org/drawingml/2006/main">
              <a:ext uri="{FF2B5EF4-FFF2-40B4-BE49-F238E27FC236}">
                <a16:creationId xmlns:a16="http://schemas.microsoft.com/office/drawing/2014/main" id="{42B7A809-1614-4BE0-BCBF-873F5812E5FA}"/>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参照：個人情報保護委員会／NIST</a:t>
            </a:r>
          </a:p>
        </p:txBody>
      </p:sp>
      <p:sp>
        <p:nvSpPr>
          <p:cNvPr id="4" name="第14回　11">
            <a:extLst xmlns:a="http://schemas.openxmlformats.org/drawingml/2006/main">
              <a:ext uri="{FF2B5EF4-FFF2-40B4-BE49-F238E27FC236}">
                <a16:creationId xmlns:a16="http://schemas.microsoft.com/office/drawing/2014/main" id="{1D69C68E-417E-4ECB-B70C-D06CE051276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11</a:t>
            </a:r>
          </a:p>
        </p:txBody>
      </p:sp>
    </p:spTree>
    <p:extLst>
      <p:ext uri="{BB962C8B-B14F-4D97-AF65-F5344CB8AC3E}">
        <p14:creationId xmlns:p14="http://schemas.microsoft.com/office/powerpoint/2010/main" val="1317922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透明性：何を伝えるか">
            <a:extLst xmlns:a="http://schemas.openxmlformats.org/drawingml/2006/main">
              <a:ext uri="{FF2B5EF4-FFF2-40B4-BE49-F238E27FC236}">
                <a16:creationId xmlns:a16="http://schemas.microsoft.com/office/drawing/2014/main" id="{02927719-6DC4-4E88-80F0-53DDA126BD0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透明性：何を伝えるか</a:t>
            </a:r>
          </a:p>
        </p:txBody>
      </p:sp>
      <p:sp>
        <p:nvSpPr>
          <p:cNvPr id="2" name="">
            <a:extLst xmlns:a="http://schemas.openxmlformats.org/drawingml/2006/main">
              <a:ext uri="{FF2B5EF4-FFF2-40B4-BE49-F238E27FC236}">
                <a16:creationId xmlns:a16="http://schemas.microsoft.com/office/drawing/2014/main" id="{9325FEAD-0BAF-450B-A4D1-A0AE4E2B0CF7}"/>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AIをどこで使っているかを，必要な相手へ伝える．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目的，主な限界，想定する利用範囲を説明する．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質問や訂正を求める窓口を示す．</a:t>
            </a:r>
          </a:p>
        </p:txBody>
      </p:sp>
      <p:sp>
        <p:nvSpPr>
          <p:cNvPr id="3" name="参照：経済産業省／NIST">
            <a:extLst xmlns:a="http://schemas.openxmlformats.org/drawingml/2006/main">
              <a:ext uri="{FF2B5EF4-FFF2-40B4-BE49-F238E27FC236}">
                <a16:creationId xmlns:a16="http://schemas.microsoft.com/office/drawing/2014/main" id="{3B98EE54-DFAC-4AAF-8DF3-4E9D02D5A0D6}"/>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参照：経済産業省／NIST</a:t>
            </a:r>
          </a:p>
        </p:txBody>
      </p:sp>
      <p:sp>
        <p:nvSpPr>
          <p:cNvPr id="4" name="第14回　12">
            <a:extLst xmlns:a="http://schemas.openxmlformats.org/drawingml/2006/main">
              <a:ext uri="{FF2B5EF4-FFF2-40B4-BE49-F238E27FC236}">
                <a16:creationId xmlns:a16="http://schemas.microsoft.com/office/drawing/2014/main" id="{F0675E7A-B998-41DD-9D4F-4AA1639042B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12</a:t>
            </a:r>
          </a:p>
        </p:txBody>
      </p:sp>
    </p:spTree>
    <p:extLst>
      <p:ext uri="{BB962C8B-B14F-4D97-AF65-F5344CB8AC3E}">
        <p14:creationId xmlns:p14="http://schemas.microsoft.com/office/powerpoint/2010/main" val="20545307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モデルの情報を記録する">
            <a:extLst xmlns:a="http://schemas.openxmlformats.org/drawingml/2006/main">
              <a:ext uri="{FF2B5EF4-FFF2-40B4-BE49-F238E27FC236}">
                <a16:creationId xmlns:a16="http://schemas.microsoft.com/office/drawing/2014/main" id="{A5651964-E34B-4A63-9C74-CE23359926A9}"/>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モデルの情報を記録する</a:t>
            </a:r>
          </a:p>
        </p:txBody>
      </p:sp>
      <p:graphicFrame>
        <p:nvGraphicFramePr>
          <p:cNvPr id="6" name=""/>
          <p:cNvGraphicFramePr/>
          <p:nvPr/>
        </p:nvGraphicFramePr>
        <p:xfrm>
          <a:off xmlns:a="http://schemas.openxmlformats.org/drawingml/2006/main" x="365760" y="1243584"/>
          <a:ext xmlns:a="http://schemas.openxmlformats.org/drawingml/2006/main" cx="8366760" cy="2953512"/>
        </p:xfrm>
        <a:graphic xmlns:a="http://schemas.openxmlformats.org/drawingml/2006/main">
          <a:graphicData uri="http://schemas.openxmlformats.org/drawingml/2006/table">
            <a:tbl>
              <a:tblPr firstRow="0" bandRow="0"/>
              <a:tblGrid>
                <a:gridCol w="4183380"/>
                <a:gridCol w="4183380"/>
              </a:tblGrid>
              <a:tr h="590702">
                <a:tc>
                  <a:txBody>
                    <a:bodyPr>
                      <a:noAutofit/>
                    </a:bodyPr>
                    <a:lstStyle/>
                    <a:p>
                      <a:pPr algn="ctr"/>
                      <a:r>
                        <a:rPr sz="1800" b="1" lang="ja-JP">
                          <a:solidFill>
                            <a:srgbClr val="000000"/>
                          </a:solidFill>
                          <a:latin typeface="Arial"/>
                          <a:ea typeface="ＭＳ Ｐゴシック"/>
                          <a:cs typeface="ＭＳ Ｐゴシック"/>
                        </a:rPr>
                        <a:t>項目</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記録の例</a:t>
                      </a:r>
                    </a:p>
                  </a:txBody>
                  <a:tcPr marL="76200" marR="76200" marT="47625" marB="47625" anchor="ctr">
                    <a:solidFill>
                      <a:srgbClr val="F3F3F3"/>
                    </a:solidFill>
                  </a:tcPr>
                </a:tc>
              </a:tr>
              <a:tr h="590702">
                <a:tc>
                  <a:txBody>
                    <a:bodyPr>
                      <a:noAutofit/>
                    </a:bodyPr>
                    <a:lstStyle/>
                    <a:p>
                      <a:pPr algn="ctr"/>
                      <a:r>
                        <a:rPr sz="1800" b="0" lang="ja-JP">
                          <a:solidFill>
                            <a:srgbClr val="404040"/>
                          </a:solidFill>
                          <a:latin typeface="Arial"/>
                          <a:ea typeface="ＭＳ Ｐゴシック"/>
                          <a:cs typeface="ＭＳ Ｐゴシック"/>
                        </a:rPr>
                        <a:t>目的・対象</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想定する用途と利用者</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データ・評価</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由来，期間，指標，集団ごとの結果</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限界</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未確認の条件，不向きな用途</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更新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版，変更理由，連絡先</a:t>
                      </a:r>
                    </a:p>
                  </a:txBody>
                  <a:tcPr marL="76200" marR="76200" marT="47625" marB="47625" anchor="ctr">
                    <a:solidFill>
                      <a:srgbClr val="FFFFFF"/>
                    </a:solidFill>
                  </a:tcPr>
                </a:tc>
              </a:tr>
            </a:tbl>
          </a:graphicData>
        </a:graphic>
      </p:graphicFrame>
      <p:sp>
        <p:nvSpPr>
          <p:cNvPr id="3" name="参照：Mitchell et al.">
            <a:extLst xmlns:a="http://schemas.openxmlformats.org/drawingml/2006/main">
              <a:ext uri="{FF2B5EF4-FFF2-40B4-BE49-F238E27FC236}">
                <a16:creationId xmlns:a16="http://schemas.microsoft.com/office/drawing/2014/main" id="{6D246591-4F10-4511-BEE3-EF701E13D11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参照：Mitchell et al.</a:t>
            </a:r>
          </a:p>
        </p:txBody>
      </p:sp>
      <p:sp>
        <p:nvSpPr>
          <p:cNvPr id="4" name="第14回　13">
            <a:extLst xmlns:a="http://schemas.openxmlformats.org/drawingml/2006/main">
              <a:ext uri="{FF2B5EF4-FFF2-40B4-BE49-F238E27FC236}">
                <a16:creationId xmlns:a16="http://schemas.microsoft.com/office/drawing/2014/main" id="{E8D33149-E8B2-4F9D-8D7E-9E15476E5328}"/>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13</a:t>
            </a:r>
          </a:p>
        </p:txBody>
      </p:sp>
    </p:spTree>
    <p:extLst>
      <p:ext uri="{BB962C8B-B14F-4D97-AF65-F5344CB8AC3E}">
        <p14:creationId xmlns:p14="http://schemas.microsoft.com/office/powerpoint/2010/main" val="17386770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安全性：失敗を先に考える">
            <a:extLst xmlns:a="http://schemas.openxmlformats.org/drawingml/2006/main">
              <a:ext uri="{FF2B5EF4-FFF2-40B4-BE49-F238E27FC236}">
                <a16:creationId xmlns:a16="http://schemas.microsoft.com/office/drawing/2014/main" id="{2D71BAD6-B8B8-42D2-8509-959EBC173E41}"/>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安全性：失敗を先に考える</a:t>
            </a:r>
          </a:p>
        </p:txBody>
      </p:sp>
      <p:sp>
        <p:nvSpPr>
          <p:cNvPr id="2" name="">
            <a:extLst xmlns:a="http://schemas.openxmlformats.org/drawingml/2006/main">
              <a:ext uri="{FF2B5EF4-FFF2-40B4-BE49-F238E27FC236}">
                <a16:creationId xmlns:a16="http://schemas.microsoft.com/office/drawing/2014/main" id="{1094B33D-DF6A-49C7-A82D-536DBBB3EBC5}"/>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どんな誤りで，誰にどの程度の害が出るかを考える．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想定する環境と，起こり得る変化で試す．</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使えない場合の代替手順と，停止条件を決める．</a:t>
            </a:r>
          </a:p>
        </p:txBody>
      </p:sp>
      <p:sp>
        <p:nvSpPr>
          <p:cNvPr id="3" name="参照：NIST">
            <a:extLst xmlns:a="http://schemas.openxmlformats.org/drawingml/2006/main">
              <a:ext uri="{FF2B5EF4-FFF2-40B4-BE49-F238E27FC236}">
                <a16:creationId xmlns:a16="http://schemas.microsoft.com/office/drawing/2014/main" id="{97D5129E-A4CC-4E41-BF52-FAB66E3D41CF}"/>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参照：NIST</a:t>
            </a:r>
          </a:p>
        </p:txBody>
      </p:sp>
      <p:sp>
        <p:nvSpPr>
          <p:cNvPr id="4" name="第14回　14">
            <a:extLst xmlns:a="http://schemas.openxmlformats.org/drawingml/2006/main">
              <a:ext uri="{FF2B5EF4-FFF2-40B4-BE49-F238E27FC236}">
                <a16:creationId xmlns:a16="http://schemas.microsoft.com/office/drawing/2014/main" id="{92BC8FD6-E56F-497C-BB06-0C620E7D8DC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14</a:t>
            </a:r>
          </a:p>
        </p:txBody>
      </p:sp>
    </p:spTree>
    <p:extLst>
      <p:ext uri="{BB962C8B-B14F-4D97-AF65-F5344CB8AC3E}">
        <p14:creationId xmlns:p14="http://schemas.microsoft.com/office/powerpoint/2010/main" val="15172133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セキュリティ：AIの前後も守る">
            <a:extLst xmlns:a="http://schemas.openxmlformats.org/drawingml/2006/main">
              <a:ext uri="{FF2B5EF4-FFF2-40B4-BE49-F238E27FC236}">
                <a16:creationId xmlns:a16="http://schemas.microsoft.com/office/drawing/2014/main" id="{AF6DF5EE-E42F-41BC-A858-10D77DBBF8E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セキュリティ：AIの前後も守る</a:t>
            </a:r>
          </a:p>
        </p:txBody>
      </p:sp>
      <p:sp>
        <p:nvSpPr>
          <p:cNvPr id="2" name="">
            <a:extLst xmlns:a="http://schemas.openxmlformats.org/drawingml/2006/main">
              <a:ext uri="{FF2B5EF4-FFF2-40B4-BE49-F238E27FC236}">
                <a16:creationId xmlns:a16="http://schemas.microsoft.com/office/drawing/2014/main" id="{AFF01642-D80D-4DEE-B46D-526BD38C5C8F}"/>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データ，モデル，アカウントのアクセスを管理する．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外部資料中の不正な指示や，情報の持ち出しを考える．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権限を絞り，重要な操作の確認と記録を設ける．</a:t>
            </a:r>
          </a:p>
        </p:txBody>
      </p:sp>
      <p:sp>
        <p:nvSpPr>
          <p:cNvPr id="3" name="参照：NIST／経済産業省">
            <a:extLst xmlns:a="http://schemas.openxmlformats.org/drawingml/2006/main">
              <a:ext uri="{FF2B5EF4-FFF2-40B4-BE49-F238E27FC236}">
                <a16:creationId xmlns:a16="http://schemas.microsoft.com/office/drawing/2014/main" id="{5DE36562-5BB0-4665-AB4F-FE76056D60A4}"/>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参照：NIST／経済産業省</a:t>
            </a:r>
          </a:p>
        </p:txBody>
      </p:sp>
      <p:sp>
        <p:nvSpPr>
          <p:cNvPr id="4" name="第14回　15">
            <a:extLst xmlns:a="http://schemas.openxmlformats.org/drawingml/2006/main">
              <a:ext uri="{FF2B5EF4-FFF2-40B4-BE49-F238E27FC236}">
                <a16:creationId xmlns:a16="http://schemas.microsoft.com/office/drawing/2014/main" id="{F0ABD00D-1281-4722-A577-8CC7024AF3C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15</a:t>
            </a:r>
          </a:p>
        </p:txBody>
      </p:sp>
    </p:spTree>
    <p:extLst>
      <p:ext uri="{BB962C8B-B14F-4D97-AF65-F5344CB8AC3E}">
        <p14:creationId xmlns:p14="http://schemas.microsoft.com/office/powerpoint/2010/main" val="35427950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人が確認する仕組みの条件">
            <a:extLst xmlns:a="http://schemas.openxmlformats.org/drawingml/2006/main">
              <a:ext uri="{FF2B5EF4-FFF2-40B4-BE49-F238E27FC236}">
                <a16:creationId xmlns:a16="http://schemas.microsoft.com/office/drawing/2014/main" id="{BF034347-FAC2-4D65-AFFE-B593A22A398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人が確認する仕組みの条件</a:t>
            </a:r>
          </a:p>
        </p:txBody>
      </p:sp>
      <p:sp>
        <p:nvSpPr>
          <p:cNvPr id="2" name="">
            <a:extLst xmlns:a="http://schemas.openxmlformats.org/drawingml/2006/main">
              <a:ext uri="{FF2B5EF4-FFF2-40B4-BE49-F238E27FC236}">
                <a16:creationId xmlns:a16="http://schemas.microsoft.com/office/drawing/2014/main" id="{5990C168-F3C8-4B1F-86D2-D558C2DCB2FD}"/>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担当者に，判断に必要な情報と時間を渡す．</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AIの結果を訂正・拒否・停止できるようにする．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AIの答えを，そのまま信じる傾向にも注意する．</a:t>
            </a:r>
          </a:p>
        </p:txBody>
      </p:sp>
      <p:sp>
        <p:nvSpPr>
          <p:cNvPr id="3" name="参照：経済産業省／NIST">
            <a:extLst xmlns:a="http://schemas.openxmlformats.org/drawingml/2006/main">
              <a:ext uri="{FF2B5EF4-FFF2-40B4-BE49-F238E27FC236}">
                <a16:creationId xmlns:a16="http://schemas.microsoft.com/office/drawing/2014/main" id="{0414D874-FBD6-4B3C-979C-A9759923BA82}"/>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参照：経済産業省／NIST</a:t>
            </a:r>
          </a:p>
        </p:txBody>
      </p:sp>
      <p:sp>
        <p:nvSpPr>
          <p:cNvPr id="4" name="第14回　16">
            <a:extLst xmlns:a="http://schemas.openxmlformats.org/drawingml/2006/main">
              <a:ext uri="{FF2B5EF4-FFF2-40B4-BE49-F238E27FC236}">
                <a16:creationId xmlns:a16="http://schemas.microsoft.com/office/drawing/2014/main" id="{8F654363-E426-4355-945A-E0AD266BB36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16</a:t>
            </a:r>
          </a:p>
        </p:txBody>
      </p:sp>
    </p:spTree>
    <p:extLst>
      <p:ext uri="{BB962C8B-B14F-4D97-AF65-F5344CB8AC3E}">
        <p14:creationId xmlns:p14="http://schemas.microsoft.com/office/powerpoint/2010/main" val="6917425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説明責任：対応できる体制">
            <a:extLst xmlns:a="http://schemas.openxmlformats.org/drawingml/2006/main">
              <a:ext uri="{FF2B5EF4-FFF2-40B4-BE49-F238E27FC236}">
                <a16:creationId xmlns:a16="http://schemas.microsoft.com/office/drawing/2014/main" id="{AF4B44E7-8E88-45F8-A514-A3FE6A77530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説明責任：対応できる体制</a:t>
            </a:r>
          </a:p>
        </p:txBody>
      </p:sp>
      <p:sp>
        <p:nvSpPr>
          <p:cNvPr id="2" name="">
            <a:extLst xmlns:a="http://schemas.openxmlformats.org/drawingml/2006/main">
              <a:ext uri="{FF2B5EF4-FFF2-40B4-BE49-F238E27FC236}">
                <a16:creationId xmlns:a16="http://schemas.microsoft.com/office/drawing/2014/main" id="{A6D4459E-4B62-4428-8752-A552B5485687}"/>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誰が導入を決め，運用を担当するかを明確にする．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判断の根拠と，変更や問題への対応を記録する．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提供者と利用者の間で，責任と連絡経路を決める．</a:t>
            </a:r>
          </a:p>
        </p:txBody>
      </p:sp>
      <p:sp>
        <p:nvSpPr>
          <p:cNvPr id="3" name="参照：経済産業省">
            <a:extLst xmlns:a="http://schemas.openxmlformats.org/drawingml/2006/main">
              <a:ext uri="{FF2B5EF4-FFF2-40B4-BE49-F238E27FC236}">
                <a16:creationId xmlns:a16="http://schemas.microsoft.com/office/drawing/2014/main" id="{215CF467-D8FA-4F5B-AE66-E650CE5D8D6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参照：経済産業省</a:t>
            </a:r>
          </a:p>
        </p:txBody>
      </p:sp>
      <p:sp>
        <p:nvSpPr>
          <p:cNvPr id="4" name="第14回　17">
            <a:extLst xmlns:a="http://schemas.openxmlformats.org/drawingml/2006/main">
              <a:ext uri="{FF2B5EF4-FFF2-40B4-BE49-F238E27FC236}">
                <a16:creationId xmlns:a16="http://schemas.microsoft.com/office/drawing/2014/main" id="{001F0CF8-831C-41C3-97BC-FF3C7123E910}"/>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17</a:t>
            </a:r>
          </a:p>
        </p:txBody>
      </p:sp>
    </p:spTree>
    <p:extLst>
      <p:ext uri="{BB962C8B-B14F-4D97-AF65-F5344CB8AC3E}">
        <p14:creationId xmlns:p14="http://schemas.microsoft.com/office/powerpoint/2010/main" val="124778314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ガバナンスを継続する">
            <a:extLst xmlns:a="http://schemas.openxmlformats.org/drawingml/2006/main">
              <a:ext uri="{FF2B5EF4-FFF2-40B4-BE49-F238E27FC236}">
                <a16:creationId xmlns:a16="http://schemas.microsoft.com/office/drawing/2014/main" id="{369A0A59-7EE4-4A8E-B4C6-04F58F3EB68E}"/>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ガバナンスを継続する</a:t>
            </a:r>
          </a:p>
        </p:txBody>
      </p:sp>
      <p:sp>
        <p:nvSpPr>
          <p:cNvPr id="2" name="影響と目標を&#10;整理する">
            <a:extLst xmlns:a="http://schemas.openxmlformats.org/drawingml/2006/main">
              <a:ext uri="{FF2B5EF4-FFF2-40B4-BE49-F238E27FC236}">
                <a16:creationId xmlns:a16="http://schemas.microsoft.com/office/drawing/2014/main" id="{6D5AD643-30F6-474F-A286-7D85EB4031F7}"/>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影響と目標を</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整理する</a:t>
            </a:r>
          </a:p>
        </p:txBody>
      </p:sp>
      <p:sp>
        <p:nvSpPr>
          <p:cNvPr id="3" name="検証・導入の&#10;条件を決める">
            <a:extLst xmlns:a="http://schemas.openxmlformats.org/drawingml/2006/main">
              <a:ext uri="{FF2B5EF4-FFF2-40B4-BE49-F238E27FC236}">
                <a16:creationId xmlns:a16="http://schemas.microsoft.com/office/drawing/2014/main" id="{690F3723-A260-441F-BA70-AC82E3F229EB}"/>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検証・導入の</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条件を決める</a:t>
            </a:r>
          </a:p>
        </p:txBody>
      </p:sp>
      <p:sp>
        <p:nvSpPr>
          <p:cNvPr id="4" name="監視と対応から&#10;見直す">
            <a:extLst xmlns:a="http://schemas.openxmlformats.org/drawingml/2006/main">
              <a:ext uri="{FF2B5EF4-FFF2-40B4-BE49-F238E27FC236}">
                <a16:creationId xmlns:a16="http://schemas.microsoft.com/office/drawing/2014/main" id="{F390612A-7978-483A-B8EB-12769D25F1C1}"/>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監視と対応から</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見直す</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NIST">
            <a:extLst xmlns:a="http://schemas.openxmlformats.org/drawingml/2006/main">
              <a:ext uri="{FF2B5EF4-FFF2-40B4-BE49-F238E27FC236}">
                <a16:creationId xmlns:a16="http://schemas.microsoft.com/office/drawing/2014/main" id="{440A163F-0758-4009-B4C3-781EFC820CAE}"/>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参照：NIST</a:t>
            </a:r>
          </a:p>
        </p:txBody>
      </p:sp>
      <p:sp>
        <p:nvSpPr>
          <p:cNvPr id="8" name="第14回　18">
            <a:extLst xmlns:a="http://schemas.openxmlformats.org/drawingml/2006/main">
              <a:ext uri="{FF2B5EF4-FFF2-40B4-BE49-F238E27FC236}">
                <a16:creationId xmlns:a16="http://schemas.microsoft.com/office/drawing/2014/main" id="{E3DD2360-A8B1-455A-95FB-23602E44D23B}"/>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18</a:t>
            </a:r>
          </a:p>
        </p:txBody>
      </p:sp>
    </p:spTree>
    <p:extLst>
      <p:ext uri="{BB962C8B-B14F-4D97-AF65-F5344CB8AC3E}">
        <p14:creationId xmlns:p14="http://schemas.microsoft.com/office/powerpoint/2010/main" val="67977307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開発・提供・利用で役割を分ける">
            <a:extLst xmlns:a="http://schemas.openxmlformats.org/drawingml/2006/main">
              <a:ext uri="{FF2B5EF4-FFF2-40B4-BE49-F238E27FC236}">
                <a16:creationId xmlns:a16="http://schemas.microsoft.com/office/drawing/2014/main" id="{71EFF83D-01A0-48F1-AC19-0691815CFCB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開発・提供・利用で役割を分ける</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主体</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担うことの例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開発者</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データとモデルを検証し，限界を記録する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提供者</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サービスの条件を示し，安全に運用する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利用者</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用途に合うかを判断し，出力を確認する</a:t>
                      </a:r>
                    </a:p>
                  </a:txBody>
                  <a:tcPr marL="76200" marR="76200" marT="47625" marB="47625" anchor="ctr">
                    <a:solidFill>
                      <a:srgbClr val="FFFFFF"/>
                    </a:solidFill>
                  </a:tcPr>
                </a:tc>
              </a:tr>
            </a:tbl>
          </a:graphicData>
        </a:graphic>
      </p:graphicFrame>
      <p:sp>
        <p:nvSpPr>
          <p:cNvPr id="3" name="参照：経済産業省">
            <a:extLst xmlns:a="http://schemas.openxmlformats.org/drawingml/2006/main">
              <a:ext uri="{FF2B5EF4-FFF2-40B4-BE49-F238E27FC236}">
                <a16:creationId xmlns:a16="http://schemas.microsoft.com/office/drawing/2014/main" id="{FA30FDDC-8BDD-4C9C-9C0F-0184D3A37F5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参照：経済産業省</a:t>
            </a:r>
          </a:p>
        </p:txBody>
      </p:sp>
      <p:sp>
        <p:nvSpPr>
          <p:cNvPr id="4" name="第14回　19">
            <a:extLst xmlns:a="http://schemas.openxmlformats.org/drawingml/2006/main">
              <a:ext uri="{FF2B5EF4-FFF2-40B4-BE49-F238E27FC236}">
                <a16:creationId xmlns:a16="http://schemas.microsoft.com/office/drawing/2014/main" id="{621F43C2-5FC4-4DAF-8327-7D1DB22101D0}"/>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19</a:t>
            </a:r>
          </a:p>
        </p:txBody>
      </p:sp>
    </p:spTree>
    <p:extLst>
      <p:ext uri="{BB962C8B-B14F-4D97-AF65-F5344CB8AC3E}">
        <p14:creationId xmlns:p14="http://schemas.microsoft.com/office/powerpoint/2010/main" val="160623628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問題が起きたときの対応">
            <a:extLst xmlns:a="http://schemas.openxmlformats.org/drawingml/2006/main">
              <a:ext uri="{FF2B5EF4-FFF2-40B4-BE49-F238E27FC236}">
                <a16:creationId xmlns:a16="http://schemas.microsoft.com/office/drawing/2014/main" id="{AAD5A1BA-8B61-486E-859F-A11A4DF28FD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問題が起きたときの対応</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2286000"/>
                <a:gridCol w="6080760"/>
              </a:tblGrid>
              <a:tr h="630936">
                <a:tc>
                  <a:txBody>
                    <a:bodyPr>
                      <a:noAutofit/>
                    </a:bodyPr>
                    <a:lstStyle/>
                    <a:p>
                      <a:pPr algn="ctr"/>
                      <a:r>
                        <a:rPr sz="1800" b="1" lang="ja-JP">
                          <a:solidFill>
                            <a:srgbClr val="000000"/>
                          </a:solidFill>
                          <a:latin typeface="Arial"/>
                          <a:ea typeface="ＭＳ Ｐゴシック"/>
                          <a:cs typeface="ＭＳ Ｐゴシック"/>
                        </a:rPr>
                        <a:t>段階</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行うことの例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把握・抑制</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影響と範囲を確かめ，必要なら利用を止める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連絡・支援</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担当へ連絡し，影響を受けた人へ対応する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分析・改善</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原因と対応を記録し，再評価して見直す</a:t>
                      </a:r>
                    </a:p>
                  </a:txBody>
                  <a:tcPr marL="76200" marR="76200" marT="47625" marB="47625" anchor="ctr">
                    <a:solidFill>
                      <a:srgbClr val="FFFFFF"/>
                    </a:solidFill>
                  </a:tcPr>
                </a:tc>
              </a:tr>
            </a:tbl>
          </a:graphicData>
        </a:graphic>
      </p:graphicFrame>
      <p:sp>
        <p:nvSpPr>
          <p:cNvPr id="3" name="参照：NIST／Google">
            <a:extLst xmlns:a="http://schemas.openxmlformats.org/drawingml/2006/main">
              <a:ext uri="{FF2B5EF4-FFF2-40B4-BE49-F238E27FC236}">
                <a16:creationId xmlns:a16="http://schemas.microsoft.com/office/drawing/2014/main" id="{77284E51-C025-4892-86EC-45D39DE3AF96}"/>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参照：NIST／Google</a:t>
            </a:r>
          </a:p>
        </p:txBody>
      </p:sp>
      <p:sp>
        <p:nvSpPr>
          <p:cNvPr id="4" name="第14回　20">
            <a:extLst xmlns:a="http://schemas.openxmlformats.org/drawingml/2006/main">
              <a:ext uri="{FF2B5EF4-FFF2-40B4-BE49-F238E27FC236}">
                <a16:creationId xmlns:a16="http://schemas.microsoft.com/office/drawing/2014/main" id="{4B233248-7FC8-4927-8CC3-7103220B982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20</a:t>
            </a:r>
          </a:p>
        </p:txBody>
      </p:sp>
    </p:spTree>
    <p:extLst>
      <p:ext uri="{BB962C8B-B14F-4D97-AF65-F5344CB8AC3E}">
        <p14:creationId xmlns:p14="http://schemas.microsoft.com/office/powerpoint/2010/main" val="178271877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2：採用支援の利用案を見直す">
            <a:extLst xmlns:a="http://schemas.openxmlformats.org/drawingml/2006/main">
              <a:ext uri="{FF2B5EF4-FFF2-40B4-BE49-F238E27FC236}">
                <a16:creationId xmlns:a16="http://schemas.microsoft.com/office/drawing/2014/main" id="{3A86CCD8-CC9E-4DE0-8661-1A7E12AE7EC6}"/>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演習2：採用支援の利用案を見直す</a:t>
            </a:r>
          </a:p>
        </p:txBody>
      </p:sp>
      <p:sp>
        <p:nvSpPr>
          <p:cNvPr id="2" name="">
            <a:extLst xmlns:a="http://schemas.openxmlformats.org/drawingml/2006/main">
              <a:ext uri="{FF2B5EF4-FFF2-40B4-BE49-F238E27FC236}">
                <a16:creationId xmlns:a16="http://schemas.microsoft.com/office/drawing/2014/main" id="{61BE4EA9-4718-474E-9A53-C313ECB825EC}"/>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過去の採用記録で学習したAIが，応募者を順位付けする．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上位だけを担当者が確認し，不採用の理由は示さない．</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データ，評価，人による確認，問い合わせの対策を考える．</a:t>
            </a:r>
          </a:p>
        </p:txBody>
      </p:sp>
      <p:sp>
        <p:nvSpPr>
          <p:cNvPr id="3" name="関係者の不利益と，改善の担当を具体化する．">
            <a:extLst xmlns:a="http://schemas.openxmlformats.org/drawingml/2006/main">
              <a:ext uri="{FF2B5EF4-FFF2-40B4-BE49-F238E27FC236}">
                <a16:creationId xmlns:a16="http://schemas.microsoft.com/office/drawing/2014/main" id="{976DA50B-FCCD-4C8C-99DB-D3F33A4A5367}"/>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関係者の不利益と，改善の担当を具体化する．</a:t>
            </a:r>
          </a:p>
        </p:txBody>
      </p:sp>
      <p:sp>
        <p:nvSpPr>
          <p:cNvPr id="4" name="図・設問：本教材の作例">
            <a:extLst xmlns:a="http://schemas.openxmlformats.org/drawingml/2006/main">
              <a:ext uri="{FF2B5EF4-FFF2-40B4-BE49-F238E27FC236}">
                <a16:creationId xmlns:a16="http://schemas.microsoft.com/office/drawing/2014/main" id="{4E531261-1515-49E6-9A04-5C40FCBC03C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4回　21">
            <a:extLst xmlns:a="http://schemas.openxmlformats.org/drawingml/2006/main">
              <a:ext uri="{FF2B5EF4-FFF2-40B4-BE49-F238E27FC236}">
                <a16:creationId xmlns:a16="http://schemas.microsoft.com/office/drawing/2014/main" id="{FC1A68EB-E71E-4F31-8C14-71C1015A017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21</a:t>
            </a:r>
          </a:p>
        </p:txBody>
      </p:sp>
    </p:spTree>
    <p:extLst>
      <p:ext uri="{BB962C8B-B14F-4D97-AF65-F5344CB8AC3E}">
        <p14:creationId xmlns:p14="http://schemas.microsoft.com/office/powerpoint/2010/main" val="133451314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2：対策の例">
            <a:extLst xmlns:a="http://schemas.openxmlformats.org/drawingml/2006/main">
              <a:ext uri="{FF2B5EF4-FFF2-40B4-BE49-F238E27FC236}">
                <a16:creationId xmlns:a16="http://schemas.microsoft.com/office/drawing/2014/main" id="{6BC2B2C1-BBD2-4DAD-820D-ADEE1201B19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演習2：対策の例</a:t>
            </a:r>
          </a:p>
        </p:txBody>
      </p:sp>
      <p:graphicFrame>
        <p:nvGraphicFramePr>
          <p:cNvPr id="7"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2286000"/>
                <a:gridCol w="6080760"/>
              </a:tblGrid>
              <a:tr h="630936">
                <a:tc>
                  <a:txBody>
                    <a:bodyPr>
                      <a:noAutofit/>
                    </a:bodyPr>
                    <a:lstStyle/>
                    <a:p>
                      <a:pPr algn="ctr"/>
                      <a:r>
                        <a:rPr sz="1800" b="1" lang="ja-JP">
                          <a:solidFill>
                            <a:srgbClr val="000000"/>
                          </a:solidFill>
                          <a:latin typeface="Arial"/>
                          <a:ea typeface="ＭＳ Ｐゴシック"/>
                          <a:cs typeface="ＭＳ Ｐゴシック"/>
                        </a:rPr>
                        <a:t>問題</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対策の例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過去の判断の偏り</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ラベルと代表性を調べ，集団別にも評価する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上位だけを見る</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用途を限定し，見逃しを人が確認する手順を設ける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理由・窓口がない</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限界を伝え，説明と訂正の経路を設ける</a:t>
                      </a:r>
                    </a:p>
                  </a:txBody>
                  <a:tcPr marL="76200" marR="76200" marT="47625" marB="47625" anchor="ctr">
                    <a:solidFill>
                      <a:srgbClr val="FFFFFF"/>
                    </a:solidFill>
                  </a:tcPr>
                </a:tc>
              </a:tr>
            </a:tbl>
          </a:graphicData>
        </a:graphic>
      </p:graphicFrame>
      <p:sp>
        <p:nvSpPr>
          <p:cNvPr id="3" name="対策を提案した後も，効果を確かめる．">
            <a:extLst xmlns:a="http://schemas.openxmlformats.org/drawingml/2006/main">
              <a:ext uri="{FF2B5EF4-FFF2-40B4-BE49-F238E27FC236}">
                <a16:creationId xmlns:a16="http://schemas.microsoft.com/office/drawing/2014/main" id="{FFB83EC2-14C7-46D4-9C3B-8ECA09EDBEFF}"/>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対策を提案した後も，効果を確かめる．</a:t>
            </a:r>
          </a:p>
        </p:txBody>
      </p:sp>
      <p:sp>
        <p:nvSpPr>
          <p:cNvPr id="4" name="参照：Google／経済産業省">
            <a:extLst xmlns:a="http://schemas.openxmlformats.org/drawingml/2006/main">
              <a:ext uri="{FF2B5EF4-FFF2-40B4-BE49-F238E27FC236}">
                <a16:creationId xmlns:a16="http://schemas.microsoft.com/office/drawing/2014/main" id="{58FA03DD-90E4-4192-8677-DF56C8B348D4}"/>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参照：Google／経済産業省</a:t>
            </a:r>
          </a:p>
        </p:txBody>
      </p:sp>
      <p:sp>
        <p:nvSpPr>
          <p:cNvPr id="5" name="第14回　22">
            <a:extLst xmlns:a="http://schemas.openxmlformats.org/drawingml/2006/main">
              <a:ext uri="{FF2B5EF4-FFF2-40B4-BE49-F238E27FC236}">
                <a16:creationId xmlns:a16="http://schemas.microsoft.com/office/drawing/2014/main" id="{48EE6E4A-9BC6-456C-A311-7B9C6179FC45}"/>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22</a:t>
            </a:r>
          </a:p>
        </p:txBody>
      </p:sp>
    </p:spTree>
    <p:extLst>
      <p:ext uri="{BB962C8B-B14F-4D97-AF65-F5344CB8AC3E}">
        <p14:creationId xmlns:p14="http://schemas.microsoft.com/office/powerpoint/2010/main" val="129066568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まとめ・振り返り">
            <a:extLst xmlns:a="http://schemas.openxmlformats.org/drawingml/2006/main">
              <a:ext uri="{FF2B5EF4-FFF2-40B4-BE49-F238E27FC236}">
                <a16:creationId xmlns:a16="http://schemas.microsoft.com/office/drawing/2014/main" id="{A88A1070-223F-464D-87A5-C51169829EB6}"/>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まとめ・振り返り</a:t>
            </a:r>
          </a:p>
        </p:txBody>
      </p:sp>
      <p:sp>
        <p:nvSpPr>
          <p:cNvPr id="2" name="">
            <a:extLst xmlns:a="http://schemas.openxmlformats.org/drawingml/2006/main">
              <a:ext uri="{FF2B5EF4-FFF2-40B4-BE49-F238E27FC236}">
                <a16:creationId xmlns:a16="http://schemas.microsoft.com/office/drawing/2014/main" id="{740ADC65-33BA-48FC-9D0A-4B0884BC40FF}"/>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精度だけでなく，人への利益と不利益を見る．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目的に合う公平性・透明性・安全性を確かめる．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担当，記録，問い合わせ，見直しを運用へ組み込む．</a:t>
            </a:r>
          </a:p>
        </p:txBody>
      </p:sp>
      <p:sp>
        <p:nvSpPr>
          <p:cNvPr id="3" name="次回：総復習・G検定対策">
            <a:extLst xmlns:a="http://schemas.openxmlformats.org/drawingml/2006/main">
              <a:ext uri="{FF2B5EF4-FFF2-40B4-BE49-F238E27FC236}">
                <a16:creationId xmlns:a16="http://schemas.microsoft.com/office/drawing/2014/main" id="{9D2759A4-E20E-428A-AC57-7FA4FE95EA6E}"/>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次回：総復習・G検定対策</a:t>
            </a:r>
          </a:p>
        </p:txBody>
      </p:sp>
      <p:sp>
        <p:nvSpPr>
          <p:cNvPr id="4" name="図・設問：本教材の作例">
            <a:extLst xmlns:a="http://schemas.openxmlformats.org/drawingml/2006/main">
              <a:ext uri="{FF2B5EF4-FFF2-40B4-BE49-F238E27FC236}">
                <a16:creationId xmlns:a16="http://schemas.microsoft.com/office/drawing/2014/main" id="{7BC3703F-F090-42D5-98E2-72AB0313CA52}"/>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4回　23">
            <a:extLst xmlns:a="http://schemas.openxmlformats.org/drawingml/2006/main">
              <a:ext uri="{FF2B5EF4-FFF2-40B4-BE49-F238E27FC236}">
                <a16:creationId xmlns:a16="http://schemas.microsoft.com/office/drawing/2014/main" id="{8DCEE2FE-D66C-4B4B-9EC6-4E7EBDE8964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23</a:t>
            </a:r>
          </a:p>
        </p:txBody>
      </p:sp>
    </p:spTree>
    <p:extLst>
      <p:ext uri="{BB962C8B-B14F-4D97-AF65-F5344CB8AC3E}">
        <p14:creationId xmlns:p14="http://schemas.microsoft.com/office/powerpoint/2010/main" val="74154863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1">
            <a:extLst xmlns:a="http://schemas.openxmlformats.org/drawingml/2006/main">
              <a:ext uri="{FF2B5EF4-FFF2-40B4-BE49-F238E27FC236}">
                <a16:creationId xmlns:a16="http://schemas.microsoft.com/office/drawing/2014/main" id="{1B7A6FA0-6475-4749-8FF7-6B3381BEC66A}"/>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参考資料1</a:t>
            </a:r>
          </a:p>
        </p:txBody>
      </p:sp>
      <p:sp>
        <p:nvSpPr>
          <p:cNvPr id="2" name="1. 経済産業省：AI事業者ガイドライン第1.2版">
            <a:extLst xmlns:a="http://schemas.openxmlformats.org/drawingml/2006/main">
              <a:ext uri="{FF2B5EF4-FFF2-40B4-BE49-F238E27FC236}">
                <a16:creationId xmlns:a16="http://schemas.microsoft.com/office/drawing/2014/main" id="{8A5C296E-5448-4451-B323-7E12197FE3B0}"/>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842de015660a4707"/>
              </a:rPr>
              <a:t>1. 経済産業省：AI事業者ガイドライン第1.2版</a:t>
            </a:r>
          </a:p>
        </p:txBody>
      </p:sp>
      <p:sp>
        <p:nvSpPr>
          <p:cNvPr id="3" name="2. NIST：AI Risk Management Framework">
            <a:extLst xmlns:a="http://schemas.openxmlformats.org/drawingml/2006/main">
              <a:ext uri="{FF2B5EF4-FFF2-40B4-BE49-F238E27FC236}">
                <a16:creationId xmlns:a16="http://schemas.microsoft.com/office/drawing/2014/main" id="{5B990207-39A8-4A4A-96B8-CCF89723AB54}"/>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6f48a3cc526d4dab"/>
              </a:rPr>
              <a:t>2. NIST：AI Risk Management Framework</a:t>
            </a:r>
          </a:p>
        </p:txBody>
      </p:sp>
      <p:sp>
        <p:nvSpPr>
          <p:cNvPr id="4" name="3. Google：Machine learning fairness">
            <a:extLst xmlns:a="http://schemas.openxmlformats.org/drawingml/2006/main">
              <a:ext uri="{FF2B5EF4-FFF2-40B4-BE49-F238E27FC236}">
                <a16:creationId xmlns:a16="http://schemas.microsoft.com/office/drawing/2014/main" id="{6DE547C8-942F-4EB6-A620-1DC06B07E847}"/>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68aaf7d36a774839"/>
              </a:rPr>
              <a:t>3. Google：Machine learning fairness</a:t>
            </a:r>
          </a:p>
        </p:txBody>
      </p:sp>
      <p:sp>
        <p:nvSpPr>
          <p:cNvPr id="5" name="各項目をクリックすると，参考資料を開く．">
            <a:extLst xmlns:a="http://schemas.openxmlformats.org/drawingml/2006/main">
              <a:ext uri="{FF2B5EF4-FFF2-40B4-BE49-F238E27FC236}">
                <a16:creationId xmlns:a16="http://schemas.microsoft.com/office/drawing/2014/main" id="{94F5F610-D886-48B7-AE76-FA808DD29D78}"/>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9BE2446F-B4A5-4624-828A-034B12CD350A}"/>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14回　24">
            <a:extLst xmlns:a="http://schemas.openxmlformats.org/drawingml/2006/main">
              <a:ext uri="{FF2B5EF4-FFF2-40B4-BE49-F238E27FC236}">
                <a16:creationId xmlns:a16="http://schemas.microsoft.com/office/drawing/2014/main" id="{F0BF89EF-B329-4645-8240-5D254D7E79DB}"/>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24</a:t>
            </a:r>
          </a:p>
        </p:txBody>
      </p:sp>
    </p:spTree>
    <p:extLst>
      <p:ext uri="{BB962C8B-B14F-4D97-AF65-F5344CB8AC3E}">
        <p14:creationId xmlns:p14="http://schemas.microsoft.com/office/powerpoint/2010/main" val="100414328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2">
            <a:extLst xmlns:a="http://schemas.openxmlformats.org/drawingml/2006/main">
              <a:ext uri="{FF2B5EF4-FFF2-40B4-BE49-F238E27FC236}">
                <a16:creationId xmlns:a16="http://schemas.microsoft.com/office/drawing/2014/main" id="{668121CB-5E23-45C7-BE89-988B37A3D14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参考資料2</a:t>
            </a:r>
          </a:p>
        </p:txBody>
      </p:sp>
      <p:sp>
        <p:nvSpPr>
          <p:cNvPr id="2" name="1. Mitchell et al.：Model Cards for Model">
            <a:extLst xmlns:a="http://schemas.openxmlformats.org/drawingml/2006/main">
              <a:ext uri="{FF2B5EF4-FFF2-40B4-BE49-F238E27FC236}">
                <a16:creationId xmlns:a16="http://schemas.microsoft.com/office/drawing/2014/main" id="{B6D5BFF1-AA5C-4DC3-A636-2FAEDD25E4A8}"/>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8f67a8c142e54dec"/>
              </a:rPr>
              <a:t>1. Mitchell et al.：Model Cards for Model Reporting</a:t>
            </a:r>
          </a:p>
        </p:txBody>
      </p:sp>
      <p:sp>
        <p:nvSpPr>
          <p:cNvPr id="3" name="2. Google：Production ML systems">
            <a:extLst xmlns:a="http://schemas.openxmlformats.org/drawingml/2006/main">
              <a:ext uri="{FF2B5EF4-FFF2-40B4-BE49-F238E27FC236}">
                <a16:creationId xmlns:a16="http://schemas.microsoft.com/office/drawing/2014/main" id="{F8597F4F-5C94-4813-ABD5-4F1E2AD9C5EF}"/>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d8306ba24cf84628"/>
              </a:rPr>
              <a:t>2. Google：Production ML systems</a:t>
            </a:r>
          </a:p>
        </p:txBody>
      </p:sp>
      <p:sp>
        <p:nvSpPr>
          <p:cNvPr id="4" name="3. 個人情報保護委員会：通則編">
            <a:extLst xmlns:a="http://schemas.openxmlformats.org/drawingml/2006/main">
              <a:ext uri="{FF2B5EF4-FFF2-40B4-BE49-F238E27FC236}">
                <a16:creationId xmlns:a16="http://schemas.microsoft.com/office/drawing/2014/main" id="{82401D20-8A8A-415F-AE68-FA72E0E99655}"/>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d9e74f664bc84a76"/>
              </a:rPr>
              <a:t>3. 個人情報保護委員会：通則編</a:t>
            </a:r>
          </a:p>
        </p:txBody>
      </p:sp>
      <p:sp>
        <p:nvSpPr>
          <p:cNvPr id="5" name="各項目をクリックすると，参考資料を開く．">
            <a:extLst xmlns:a="http://schemas.openxmlformats.org/drawingml/2006/main">
              <a:ext uri="{FF2B5EF4-FFF2-40B4-BE49-F238E27FC236}">
                <a16:creationId xmlns:a16="http://schemas.microsoft.com/office/drawing/2014/main" id="{EB9EEF65-1C1C-44DF-B0E9-18D036B4D976}"/>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1DC391E8-BECC-4770-A29A-60C7367A7A73}"/>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14回　25">
            <a:extLst xmlns:a="http://schemas.openxmlformats.org/drawingml/2006/main">
              <a:ext uri="{FF2B5EF4-FFF2-40B4-BE49-F238E27FC236}">
                <a16:creationId xmlns:a16="http://schemas.microsoft.com/office/drawing/2014/main" id="{51AB959F-5DA7-48B7-828F-8BE806190B46}"/>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第14回　25</a:t>
            </a:r>
          </a:p>
        </p:txBody>
      </p:sp>
    </p:spTree>
    <p:extLst>
      <p:ext uri="{BB962C8B-B14F-4D97-AF65-F5344CB8AC3E}">
        <p14:creationId xmlns:p14="http://schemas.microsoft.com/office/powerpoint/2010/main" val="782971250"/>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2026-10-08T06:15:13.8180000Z</dcterms:created>
  <dcterms:modified xsi:type="dcterms:W3CDTF">2026-10-08T06:15:13.8180000Z</dcterms:modified>
</coreProperties>
</file>