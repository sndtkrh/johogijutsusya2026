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46a6144ee04e1d" /><Relationship Type="http://schemas.openxmlformats.org/officeDocument/2006/relationships/extended-properties" Target="/docProps/app.xml" Id="Rdccb6274e40a4d3a" /><Relationship Type="http://schemas.openxmlformats.org/officeDocument/2006/relationships/officeDocument" Target="/ppt/presentation.xml" Id="R527866d989954c01" /></Relationships>
</file>

<file path=ppt/presentation.xml><?xml version="1.0" encoding="utf-8"?>
<p:presentation xmlns:p="http://schemas.openxmlformats.org/presentationml/2006/main">
  <p:sldMasterIdLst>
    <p:sldMasterId xmlns:r="http://schemas.openxmlformats.org/officeDocument/2006/relationships" id="2147483648" r:id="Ra98d1dd0d8f24987"/>
  </p:sldMasterIdLst>
  <p:notesMasterIdLst>
    <p:notesMasterId xmlns:r="http://schemas.openxmlformats.org/officeDocument/2006/relationships" r:id="R4dc976df3e994b8c"/>
  </p:notesMasterIdLst>
  <p:sldIdLst>
    <p:sldId xmlns:r="http://schemas.openxmlformats.org/officeDocument/2006/relationships" id="256" r:id="R1f0af087c2f24728"/>
    <p:sldId xmlns:r="http://schemas.openxmlformats.org/officeDocument/2006/relationships" id="257" r:id="Rbfd557b479424228"/>
    <p:sldId xmlns:r="http://schemas.openxmlformats.org/officeDocument/2006/relationships" id="258" r:id="Rf56b4dcd7e7b44d5"/>
    <p:sldId xmlns:r="http://schemas.openxmlformats.org/officeDocument/2006/relationships" id="259" r:id="Rdd82adb6e68a49fd"/>
    <p:sldId xmlns:r="http://schemas.openxmlformats.org/officeDocument/2006/relationships" id="260" r:id="Re6c23fbc349d452b"/>
    <p:sldId xmlns:r="http://schemas.openxmlformats.org/officeDocument/2006/relationships" id="261" r:id="Rb3142894fc844704"/>
    <p:sldId xmlns:r="http://schemas.openxmlformats.org/officeDocument/2006/relationships" id="262" r:id="R9ccaac128c874e33"/>
    <p:sldId xmlns:r="http://schemas.openxmlformats.org/officeDocument/2006/relationships" id="263" r:id="R9dea39be5d1d42c1"/>
    <p:sldId xmlns:r="http://schemas.openxmlformats.org/officeDocument/2006/relationships" id="264" r:id="R3121c3f41fa34c78"/>
    <p:sldId xmlns:r="http://schemas.openxmlformats.org/officeDocument/2006/relationships" id="265" r:id="Rd0fead13d3144c6e"/>
    <p:sldId xmlns:r="http://schemas.openxmlformats.org/officeDocument/2006/relationships" id="266" r:id="Rcf5f736f390b4f55"/>
    <p:sldId xmlns:r="http://schemas.openxmlformats.org/officeDocument/2006/relationships" id="267" r:id="R6db9a80d3a3f4fdb"/>
    <p:sldId xmlns:r="http://schemas.openxmlformats.org/officeDocument/2006/relationships" id="268" r:id="R67deeafe517b4969"/>
    <p:sldId xmlns:r="http://schemas.openxmlformats.org/officeDocument/2006/relationships" id="269" r:id="R0abe67bc288e4054"/>
    <p:sldId xmlns:r="http://schemas.openxmlformats.org/officeDocument/2006/relationships" id="270" r:id="R9c231e628d924f85"/>
    <p:sldId xmlns:r="http://schemas.openxmlformats.org/officeDocument/2006/relationships" id="271" r:id="Rfb5e05f09a1e441a"/>
    <p:sldId xmlns:r="http://schemas.openxmlformats.org/officeDocument/2006/relationships" id="272" r:id="R1f7c5c8efd374b87"/>
    <p:sldId xmlns:r="http://schemas.openxmlformats.org/officeDocument/2006/relationships" id="273" r:id="R4a8e7321605d422a"/>
    <p:sldId xmlns:r="http://schemas.openxmlformats.org/officeDocument/2006/relationships" id="274" r:id="Re5f789221a0c41c8"/>
    <p:sldId xmlns:r="http://schemas.openxmlformats.org/officeDocument/2006/relationships" id="275" r:id="Rc4772bab0ab14918"/>
    <p:sldId xmlns:r="http://schemas.openxmlformats.org/officeDocument/2006/relationships" id="276" r:id="Rd2a15557c87f405f"/>
    <p:sldId xmlns:r="http://schemas.openxmlformats.org/officeDocument/2006/relationships" id="277" r:id="R32338d9c208448e6"/>
    <p:sldId xmlns:r="http://schemas.openxmlformats.org/officeDocument/2006/relationships" id="278" r:id="R666d1a7c31d74edf"/>
    <p:sldId xmlns:r="http://schemas.openxmlformats.org/officeDocument/2006/relationships" id="279" r:id="Rc0d1f3100fb741d1"/>
    <p:sldId xmlns:r="http://schemas.openxmlformats.org/officeDocument/2006/relationships" id="280" r:id="Rac8cbc34f7364ed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5a9298c724774caa" /><Relationship Type="http://schemas.openxmlformats.org/officeDocument/2006/relationships/slideMaster" Target="/ppt/slideMasters/slideMaster1.xml" Id="Ra98d1dd0d8f24987" /><Relationship Type="http://schemas.openxmlformats.org/officeDocument/2006/relationships/notesMaster" Target="/ppt/notesMasters/notesMaster1.xml" Id="R4dc976df3e994b8c" /><Relationship Type="http://schemas.openxmlformats.org/officeDocument/2006/relationships/presProps" Target="/ppt/presProps.xml" Id="Rae3e8dccf68341d3" /><Relationship Type="http://schemas.openxmlformats.org/officeDocument/2006/relationships/viewProps" Target="/ppt/viewProps.xml" Id="Rf924d4afcd65448a" /><Relationship Type="http://schemas.openxmlformats.org/officeDocument/2006/relationships/tableStyles" Target="/ppt/tableStyles.xml" Id="Rbae75775012142ca" /><Relationship Type="http://schemas.openxmlformats.org/officeDocument/2006/relationships/slide" Target="/ppt/slides/slide1.xml" Id="R1f0af087c2f24728" /><Relationship Type="http://schemas.openxmlformats.org/officeDocument/2006/relationships/slide" Target="/ppt/slides/slide2.xml" Id="Rbfd557b479424228" /><Relationship Type="http://schemas.openxmlformats.org/officeDocument/2006/relationships/slide" Target="/ppt/slides/slide3.xml" Id="Rf56b4dcd7e7b44d5" /><Relationship Type="http://schemas.openxmlformats.org/officeDocument/2006/relationships/slide" Target="/ppt/slides/slide4.xml" Id="Rdd82adb6e68a49fd" /><Relationship Type="http://schemas.openxmlformats.org/officeDocument/2006/relationships/slide" Target="/ppt/slides/slide5.xml" Id="Re6c23fbc349d452b" /><Relationship Type="http://schemas.openxmlformats.org/officeDocument/2006/relationships/slide" Target="/ppt/slides/slide6.xml" Id="Rb3142894fc844704" /><Relationship Type="http://schemas.openxmlformats.org/officeDocument/2006/relationships/slide" Target="/ppt/slides/slide7.xml" Id="R9ccaac128c874e33" /><Relationship Type="http://schemas.openxmlformats.org/officeDocument/2006/relationships/slide" Target="/ppt/slides/slide8.xml" Id="R9dea39be5d1d42c1" /><Relationship Type="http://schemas.openxmlformats.org/officeDocument/2006/relationships/slide" Target="/ppt/slides/slide9.xml" Id="R3121c3f41fa34c78" /><Relationship Type="http://schemas.openxmlformats.org/officeDocument/2006/relationships/slide" Target="/ppt/slides/slide10.xml" Id="Rd0fead13d3144c6e" /><Relationship Type="http://schemas.openxmlformats.org/officeDocument/2006/relationships/slide" Target="/ppt/slides/slide11.xml" Id="Rcf5f736f390b4f55" /><Relationship Type="http://schemas.openxmlformats.org/officeDocument/2006/relationships/slide" Target="/ppt/slides/slide12.xml" Id="R6db9a80d3a3f4fdb" /><Relationship Type="http://schemas.openxmlformats.org/officeDocument/2006/relationships/slide" Target="/ppt/slides/slide13.xml" Id="R67deeafe517b4969" /><Relationship Type="http://schemas.openxmlformats.org/officeDocument/2006/relationships/slide" Target="/ppt/slides/slide14.xml" Id="R0abe67bc288e4054" /><Relationship Type="http://schemas.openxmlformats.org/officeDocument/2006/relationships/slide" Target="/ppt/slides/slide15.xml" Id="R9c231e628d924f85" /><Relationship Type="http://schemas.openxmlformats.org/officeDocument/2006/relationships/slide" Target="/ppt/slides/slide16.xml" Id="Rfb5e05f09a1e441a" /><Relationship Type="http://schemas.openxmlformats.org/officeDocument/2006/relationships/slide" Target="/ppt/slides/slide17.xml" Id="R1f7c5c8efd374b87" /><Relationship Type="http://schemas.openxmlformats.org/officeDocument/2006/relationships/slide" Target="/ppt/slides/slide18.xml" Id="R4a8e7321605d422a" /><Relationship Type="http://schemas.openxmlformats.org/officeDocument/2006/relationships/slide" Target="/ppt/slides/slide19.xml" Id="Re5f789221a0c41c8" /><Relationship Type="http://schemas.openxmlformats.org/officeDocument/2006/relationships/slide" Target="/ppt/slides/slide20.xml" Id="Rc4772bab0ab14918" /><Relationship Type="http://schemas.openxmlformats.org/officeDocument/2006/relationships/slide" Target="/ppt/slides/slide21.xml" Id="Rd2a15557c87f405f" /><Relationship Type="http://schemas.openxmlformats.org/officeDocument/2006/relationships/slide" Target="/ppt/slides/slide22.xml" Id="R32338d9c208448e6" /><Relationship Type="http://schemas.openxmlformats.org/officeDocument/2006/relationships/slide" Target="/ppt/slides/slide23.xml" Id="R666d1a7c31d74edf" /><Relationship Type="http://schemas.openxmlformats.org/officeDocument/2006/relationships/slide" Target="/ppt/slides/slide24.xml" Id="Rc0d1f3100fb741d1" /><Relationship Type="http://schemas.openxmlformats.org/officeDocument/2006/relationships/slide" Target="/ppt/slides/slide25.xml" Id="Rac8cbc34f7364e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07e63cdfc04d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19ff210e304999" /><Relationship Type="http://schemas.openxmlformats.org/officeDocument/2006/relationships/notesMaster" Target="/ppt/notesMasters/notesMaster1.xml" Id="Rde8d83bb182c40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1f7cf3e790459a" /><Relationship Type="http://schemas.openxmlformats.org/officeDocument/2006/relationships/notesMaster" Target="/ppt/notesMasters/notesMaster1.xml" Id="R53a6dddc628f40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55a7bcf7e94a62" /><Relationship Type="http://schemas.openxmlformats.org/officeDocument/2006/relationships/notesMaster" Target="/ppt/notesMasters/notesMaster1.xml" Id="R6b5fd165a9234a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2d29ef5eff417e" /><Relationship Type="http://schemas.openxmlformats.org/officeDocument/2006/relationships/notesMaster" Target="/ppt/notesMasters/notesMaster1.xml" Id="Rd91468f0052c4f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d9597d8f3341db" /><Relationship Type="http://schemas.openxmlformats.org/officeDocument/2006/relationships/notesMaster" Target="/ppt/notesMasters/notesMaster1.xml" Id="Rccdfaa4d241e49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2be4eab08e495e" /><Relationship Type="http://schemas.openxmlformats.org/officeDocument/2006/relationships/notesMaster" Target="/ppt/notesMasters/notesMaster1.xml" Id="R0609c4d0053741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f1fe50620847ed" /><Relationship Type="http://schemas.openxmlformats.org/officeDocument/2006/relationships/notesMaster" Target="/ppt/notesMasters/notesMaster1.xml" Id="R94739c08a79b4d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dab06c415446c4" /><Relationship Type="http://schemas.openxmlformats.org/officeDocument/2006/relationships/notesMaster" Target="/ppt/notesMasters/notesMaster1.xml" Id="Rbf98d2cf273043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cb92c5169143e8" /><Relationship Type="http://schemas.openxmlformats.org/officeDocument/2006/relationships/notesMaster" Target="/ppt/notesMasters/notesMaster1.xml" Id="R271aedc2322b46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b96e0f878f4528" /><Relationship Type="http://schemas.openxmlformats.org/officeDocument/2006/relationships/notesMaster" Target="/ppt/notesMasters/notesMaster1.xml" Id="R8cff271ba0374b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bb71bdb014460d" /><Relationship Type="http://schemas.openxmlformats.org/officeDocument/2006/relationships/notesMaster" Target="/ppt/notesMasters/notesMaster1.xml" Id="R1404ef0fe09440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9345629e0b4d45" /><Relationship Type="http://schemas.openxmlformats.org/officeDocument/2006/relationships/notesMaster" Target="/ppt/notesMasters/notesMaster1.xml" Id="Rd0851bed7a0c4d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40c193588445f0" /><Relationship Type="http://schemas.openxmlformats.org/officeDocument/2006/relationships/notesMaster" Target="/ppt/notesMasters/notesMaster1.xml" Id="R93da9667577b40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2d15a492e04bc2" /><Relationship Type="http://schemas.openxmlformats.org/officeDocument/2006/relationships/notesMaster" Target="/ppt/notesMasters/notesMaster1.xml" Id="Rca4c229f8a1b4e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07d8b66b774a99" /><Relationship Type="http://schemas.openxmlformats.org/officeDocument/2006/relationships/notesMaster" Target="/ppt/notesMasters/notesMaster1.xml" Id="R4156edd1223646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e0b936735644f2" /><Relationship Type="http://schemas.openxmlformats.org/officeDocument/2006/relationships/notesMaster" Target="/ppt/notesMasters/notesMaster1.xml" Id="R51bba06e212247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c0ef4945f84bb6" /><Relationship Type="http://schemas.openxmlformats.org/officeDocument/2006/relationships/notesMaster" Target="/ppt/notesMasters/notesMaster1.xml" Id="R088eeb9bc4694de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172d9d914d44c6" /><Relationship Type="http://schemas.openxmlformats.org/officeDocument/2006/relationships/notesMaster" Target="/ppt/notesMasters/notesMaster1.xml" Id="R9c4e3368fe9a4d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911ea4018f439e" /><Relationship Type="http://schemas.openxmlformats.org/officeDocument/2006/relationships/notesMaster" Target="/ppt/notesMasters/notesMaster1.xml" Id="Rbe0477035d1d43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7ae868d5324c0c" /><Relationship Type="http://schemas.openxmlformats.org/officeDocument/2006/relationships/notesMaster" Target="/ppt/notesMasters/notesMaster1.xml" Id="Rce4481f07bcf4e5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0859d1f4a5e4a7b" /><Relationship Type="http://schemas.openxmlformats.org/officeDocument/2006/relationships/notesMaster" Target="/ppt/notesMasters/notesMaster1.xml" Id="Rea699df686b548d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bc136cf37e4d88" /><Relationship Type="http://schemas.openxmlformats.org/officeDocument/2006/relationships/notesMaster" Target="/ppt/notesMasters/notesMaster1.xml" Id="Rce47c937d9c84c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2e22b93afb41c5" /><Relationship Type="http://schemas.openxmlformats.org/officeDocument/2006/relationships/notesMaster" Target="/ppt/notesMasters/notesMaster1.xml" Id="Rce7613c9a6c042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29f84098044cda" /><Relationship Type="http://schemas.openxmlformats.org/officeDocument/2006/relationships/notesMaster" Target="/ppt/notesMasters/notesMaster1.xml" Id="R51edc0be2b9640b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0ec33a2a914f43" /><Relationship Type="http://schemas.openxmlformats.org/officeDocument/2006/relationships/notesMaster" Target="/ppt/notesMasters/notesMaster1.xml" Id="R167d2ba4eee848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実習1：データから学習して評価する</a:t>
            </a:r>
          </a:p>
          <a:p xmlns:a="http://schemas.openxmlformats.org/drawingml/2006/main">
            <a:r>
              <a:t/>
            </a:r>
          </a:p>
          <a:p xmlns:a="http://schemas.openxmlformats.org/drawingml/2006/main">
            <a:r>
              <a:t>目安：1分／授業開始から0〜1分</a:t>
            </a:r>
          </a:p>
          <a:p xmlns:a="http://schemas.openxmlformats.org/drawingml/2006/main">
            <a:r>
              <a:t/>
            </a:r>
          </a:p>
          <a:p xmlns:a="http://schemas.openxmlformats.org/drawingml/2006/main">
            <a:r>
              <a:t>配布するpractice.ipynbをセルごとに実行する．アヤメの計測値を使い，訓練・検証・テストを分け，条件を変えて比較する．操作が難しい場合はペアまたは講師のデモで観察する．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scikit-learn：Iris dataset</a:t>
            </a:r>
          </a:p>
          <a:p xmlns:a="http://schemas.openxmlformats.org/drawingml/2006/main">
            <a:r>
              <a:t>https://scikit-learn.org/stable/modules/generated/sklearn.datasets.load_iris.html</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今日の到達目標</a:t>
            </a:r>
          </a:p>
          <a:p xmlns:a="http://schemas.openxmlformats.org/drawingml/2006/main">
            <a:r>
              <a:t/>
            </a:r>
          </a:p>
          <a:p xmlns:a="http://schemas.openxmlformats.org/drawingml/2006/main">
            <a:r>
              <a:t>目安：4分／授業開始から1〜5分</a:t>
            </a:r>
          </a:p>
          <a:p xmlns:a="http://schemas.openxmlformats.org/drawingml/2006/main">
            <a:r>
              <a:t/>
            </a:r>
          </a:p>
          <a:p xmlns:a="http://schemas.openxmlformats.org/drawingml/2006/main">
            <a:r>
              <a:t>最も高い正解率を競う授業ではない．分割の役割と比較条件を説明できることを到達目標にする．</a:t>
            </a:r>
          </a:p>
          <a:p xmlns:a="http://schemas.openxmlformats.org/drawingml/2006/main">
            <a:r>
              <a:t/>
            </a:r>
          </a:p>
          <a:p xmlns:a="http://schemas.openxmlformats.org/drawingml/2006/main">
            <a:r>
              <a:t>特徴量と正解データを，コードで確かめる．</a:t>
            </a:r>
          </a:p>
          <a:p xmlns:a="http://schemas.openxmlformats.org/drawingml/2006/main">
            <a:r>
              <a:t/>
            </a:r>
          </a:p>
          <a:p xmlns:a="http://schemas.openxmlformats.org/drawingml/2006/main">
            <a:r>
              <a:t>データを分割し，モデルを学習して比較する．</a:t>
            </a:r>
          </a:p>
          <a:p xmlns:a="http://schemas.openxmlformats.org/drawingml/2006/main">
            <a:r>
              <a:t/>
            </a:r>
          </a:p>
          <a:p xmlns:a="http://schemas.openxmlformats.org/drawingml/2006/main">
            <a:r>
              <a:t>正解率と誤分類から，結果の限界を説明する．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今日の実習の流れ</a:t>
            </a:r>
          </a:p>
          <a:p xmlns:a="http://schemas.openxmlformats.org/drawingml/2006/main">
            <a:r>
              <a:t/>
            </a:r>
          </a:p>
          <a:p xmlns:a="http://schemas.openxmlformats.org/drawingml/2006/main">
            <a:r>
              <a:t>目安：4分／授業開始から5〜9分</a:t>
            </a:r>
          </a:p>
          <a:p xmlns:a="http://schemas.openxmlformats.org/drawingml/2006/main">
            <a:r>
              <a:t/>
            </a:r>
          </a:p>
          <a:p xmlns:a="http://schemas.openxmlformats.org/drawingml/2006/main">
            <a:r>
              <a:t>前半の説明と操作を交互に進める．初学者は全てのコードを書き直す必要はない．操作できない場合も，表示された結果から判断の理由を説明する．</a:t>
            </a:r>
          </a:p>
          <a:p xmlns:a="http://schemas.openxmlformats.org/drawingml/2006/main">
            <a:r>
              <a:t/>
            </a:r>
          </a:p>
          <a:p xmlns:a="http://schemas.openxmlformats.org/drawingml/2006/main">
            <a:r>
              <a:t>準備・観察 ／ ノートブックを開き，データを見る</a:t>
            </a:r>
          </a:p>
          <a:p xmlns:a="http://schemas.openxmlformats.org/drawingml/2006/main">
            <a:r>
              <a:t>学習・比較 ／ 同じ訓練・検証データでモデルを比べる</a:t>
            </a:r>
          </a:p>
          <a:p xmlns:a="http://schemas.openxmlformats.org/drawingml/2006/main">
            <a:r>
              <a:t>条件の変更 ／ 一つの条件を変え，検証結果を比べる</a:t>
            </a:r>
          </a:p>
          <a:p xmlns:a="http://schemas.openxmlformats.org/drawingml/2006/main">
            <a:r>
              <a:t>最終確認・記録 ／ テストを実行し，結果と限界を説明する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配布ノートブックを開く</a:t>
            </a:r>
          </a:p>
          <a:p xmlns:a="http://schemas.openxmlformats.org/drawingml/2006/main">
            <a:r>
              <a:t/>
            </a:r>
          </a:p>
          <a:p xmlns:a="http://schemas.openxmlformats.org/drawingml/2006/main">
            <a:r>
              <a:t>目安：4分／授業開始から9〜13分</a:t>
            </a:r>
          </a:p>
          <a:p xmlns:a="http://schemas.openxmlformats.org/drawingml/2006/main">
            <a:r>
              <a:t/>
            </a:r>
          </a:p>
          <a:p xmlns:a="http://schemas.openxmlformats.org/drawingml/2006/main">
            <a:r>
              <a:t>11/README.mdにブラウザとローカル環境の手順を記載．環境準備のセルは不足するライブラリだけを導入する．既にそろっている環境では導入を行わない．個人情報や外部サービスのキーは不要．</a:t>
            </a:r>
          </a:p>
          <a:p xmlns:a="http://schemas.openxmlformats.org/drawingml/2006/main">
            <a:r>
              <a:t/>
            </a:r>
          </a:p>
          <a:p xmlns:a="http://schemas.openxmlformats.org/drawingml/2006/main">
            <a:r>
              <a:t>第11回のpractice.ipynbを開く．</a:t>
            </a:r>
          </a:p>
          <a:p xmlns:a="http://schemas.openxmlformats.org/drawingml/2006/main">
            <a:r>
              <a:t/>
            </a:r>
          </a:p>
          <a:p xmlns:a="http://schemas.openxmlformats.org/drawingml/2006/main">
            <a:r>
              <a:t>Python 3の実習環境で，最初のセルから実行する．</a:t>
            </a:r>
          </a:p>
          <a:p xmlns:a="http://schemas.openxmlformats.org/drawingml/2006/main">
            <a:r>
              <a:t/>
            </a:r>
          </a:p>
          <a:p xmlns:a="http://schemas.openxmlformats.org/drawingml/2006/main">
            <a:r>
              <a:t>必要なライブラリと版の表示を確認する．</a:t>
            </a:r>
          </a:p>
          <a:p xmlns:a="http://schemas.openxmlformats.org/drawingml/2006/main">
            <a:r>
              <a:t/>
            </a:r>
          </a:p>
          <a:p xmlns:a="http://schemas.openxmlformats.org/drawingml/2006/main">
            <a:r>
              <a:t>CPUで実行できる，小さな教材を使う．</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セルの実行と操作</a:t>
            </a:r>
          </a:p>
          <a:p xmlns:a="http://schemas.openxmlformats.org/drawingml/2006/main">
            <a:r>
              <a:t/>
            </a:r>
          </a:p>
          <a:p xmlns:a="http://schemas.openxmlformats.org/drawingml/2006/main">
            <a:r>
              <a:t>目安：4分／授業開始から13〜17分</a:t>
            </a:r>
          </a:p>
          <a:p xmlns:a="http://schemas.openxmlformats.org/drawingml/2006/main">
            <a:r>
              <a:t/>
            </a:r>
          </a:p>
          <a:p xmlns:a="http://schemas.openxmlformats.org/drawingml/2006/main">
            <a:r>
              <a:t>NameErrorなら前のセルの未実行を確認する．実行中には同じセルを連打しない．全セルを一括実行すると初期設定でテストまで進むため，比較実験の時間を取るためにセルごとに進める．</a:t>
            </a:r>
          </a:p>
          <a:p xmlns:a="http://schemas.openxmlformats.org/drawingml/2006/main">
            <a:r>
              <a:t/>
            </a:r>
          </a:p>
          <a:p xmlns:a="http://schemas.openxmlformats.org/drawingml/2006/main">
            <a:r>
              <a:t>説明を読み，直後のコードセルを実行する．</a:t>
            </a:r>
          </a:p>
          <a:p xmlns:a="http://schemas.openxmlformats.org/drawingml/2006/main">
            <a:r>
              <a:t/>
            </a:r>
          </a:p>
          <a:p xmlns:a="http://schemas.openxmlformats.org/drawingml/2006/main">
            <a:r>
              <a:t>エラーが出たら，止まったセルと表示を確かめる．</a:t>
            </a:r>
          </a:p>
          <a:p xmlns:a="http://schemas.openxmlformats.org/drawingml/2006/main">
            <a:r>
              <a:t/>
            </a:r>
          </a:p>
          <a:p xmlns:a="http://schemas.openxmlformats.org/drawingml/2006/main">
            <a:r>
              <a:t>授業ではセルごとに進め，テストの前で一度止まる．</a:t>
            </a:r>
          </a:p>
          <a:p xmlns:a="http://schemas.openxmlformats.org/drawingml/2006/main">
            <a:r>
              <a:t/>
            </a:r>
          </a:p>
          <a:p xmlns:a="http://schemas.openxmlformats.org/drawingml/2006/main">
            <a:r>
              <a:t>操作に困ったら，表示と実行順序を確認する．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使うデータ：アヤメの分類</a:t>
            </a:r>
          </a:p>
          <a:p xmlns:a="http://schemas.openxmlformats.org/drawingml/2006/main">
            <a:r>
              <a:t/>
            </a:r>
          </a:p>
          <a:p xmlns:a="http://schemas.openxmlformats.org/drawingml/2006/main">
            <a:r>
              <a:t>目安：4分／授業開始から17〜21分</a:t>
            </a:r>
          </a:p>
          <a:p xmlns:a="http://schemas.openxmlformats.org/drawingml/2006/main">
            <a:r>
              <a:t/>
            </a:r>
          </a:p>
          <a:p xmlns:a="http://schemas.openxmlformats.org/drawingml/2006/main">
            <a:r>
              <a:t>scikit-learnのload_irisに含まれる小規模データを使う．種類の名前を特徴量に含めない．実務データの代表性を保証する教材ではない．</a:t>
            </a:r>
          </a:p>
          <a:p xmlns:a="http://schemas.openxmlformats.org/drawingml/2006/main">
            <a:r>
              <a:t/>
            </a:r>
          </a:p>
          <a:p xmlns:a="http://schemas.openxmlformats.org/drawingml/2006/main">
            <a:r>
              <a:t>データ数 ／ 150件，3種類が各50件</a:t>
            </a:r>
          </a:p>
          <a:p xmlns:a="http://schemas.openxmlformats.org/drawingml/2006/main">
            <a:r>
              <a:t>特徴量 ／ がく片・花弁の長さと幅の4個</a:t>
            </a:r>
          </a:p>
          <a:p xmlns:a="http://schemas.openxmlformats.org/drawingml/2006/main">
            <a:r>
              <a:t>正解 ／ setosa・versicolor・virginica</a:t>
            </a:r>
          </a:p>
          <a:p xmlns:a="http://schemas.openxmlformats.org/drawingml/2006/main">
            <a:r>
              <a:t>目的 ／ 計測値から種類を分類する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scikit-learn：Iris dataset</a:t>
            </a:r>
          </a:p>
          <a:p xmlns:a="http://schemas.openxmlformats.org/drawingml/2006/main">
            <a:r>
              <a:t>https://scikit-learn.org/stable/modules/generated/sklearn.datasets.load_iris.html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入力Xと正解yを確かめる</a:t>
            </a:r>
          </a:p>
          <a:p xmlns:a="http://schemas.openxmlformats.org/drawingml/2006/main">
            <a:r>
              <a:t/>
            </a:r>
          </a:p>
          <a:p xmlns:a="http://schemas.openxmlformats.org/drawingml/2006/main">
            <a:r>
              <a:t>目安：4分／授業開始から21〜25分</a:t>
            </a:r>
          </a:p>
          <a:p xmlns:a="http://schemas.openxmlformats.org/drawingml/2006/main">
            <a:r>
              <a:t/>
            </a:r>
          </a:p>
          <a:p xmlns:a="http://schemas.openxmlformats.org/drawingml/2006/main">
            <a:r>
              <a:t>ノートブック1を実行．X.shapeは(150,4)，yは150個．FEATURESを二つへ変えると入力列数が変わる．コード中の数字0・1・2は正解クラスの番号．</a:t>
            </a:r>
          </a:p>
          <a:p xmlns:a="http://schemas.openxmlformats.org/drawingml/2006/main">
            <a:r>
              <a:t/>
            </a:r>
          </a:p>
          <a:p xmlns:a="http://schemas.openxmlformats.org/drawingml/2006/main">
            <a:r>
              <a:t>Xは，行＝花，列＝計測値の表．</a:t>
            </a:r>
          </a:p>
          <a:p xmlns:a="http://schemas.openxmlformats.org/drawingml/2006/main">
            <a:r>
              <a:t/>
            </a:r>
          </a:p>
          <a:p xmlns:a="http://schemas.openxmlformats.org/drawingml/2006/main">
            <a:r>
              <a:t>yは，各行に対応する正解の種類．</a:t>
            </a:r>
          </a:p>
          <a:p xmlns:a="http://schemas.openxmlformats.org/drawingml/2006/main">
            <a:r>
              <a:t/>
            </a:r>
          </a:p>
          <a:p xmlns:a="http://schemas.openxmlformats.org/drawingml/2006/main">
            <a:r>
              <a:t>形，先頭の行，クラスごとの件数を読む．</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scikit-learn：Iris dataset</a:t>
            </a:r>
          </a:p>
          <a:p xmlns:a="http://schemas.openxmlformats.org/drawingml/2006/main">
            <a:r>
              <a:t>https://scikit-learn.org/stable/modules/generated/sklearn.datasets.load_iris.html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実習1：散布図を観察する</a:t>
            </a:r>
          </a:p>
          <a:p xmlns:a="http://schemas.openxmlformats.org/drawingml/2006/main">
            <a:r>
              <a:t/>
            </a:r>
          </a:p>
          <a:p xmlns:a="http://schemas.openxmlformats.org/drawingml/2006/main">
            <a:r>
              <a:t>目安：5分／授業開始から25〜30分</a:t>
            </a:r>
          </a:p>
          <a:p xmlns:a="http://schemas.openxmlformats.org/drawingml/2006/main">
            <a:r>
              <a:t/>
            </a:r>
          </a:p>
          <a:p xmlns:a="http://schemas.openxmlformats.org/drawingml/2006/main">
            <a:r>
              <a:t>ノートブック2を実行し，ペアで観察．散布図で分離できないことが，四つの特徴で分類できないことを意味するわけではない．推論時に正解の色は与えられない．</a:t>
            </a:r>
          </a:p>
          <a:p xmlns:a="http://schemas.openxmlformats.org/drawingml/2006/main">
            <a:r>
              <a:t/>
            </a:r>
          </a:p>
          <a:p xmlns:a="http://schemas.openxmlformats.org/drawingml/2006/main">
            <a:r>
              <a:t>二つの計測値を，横軸と縦軸に置く．</a:t>
            </a:r>
          </a:p>
          <a:p xmlns:a="http://schemas.openxmlformats.org/drawingml/2006/main">
            <a:r>
              <a:t/>
            </a:r>
          </a:p>
          <a:p xmlns:a="http://schemas.openxmlformats.org/drawingml/2006/main">
            <a:r>
              <a:t>種類ごとの点の重なりを読む．</a:t>
            </a:r>
          </a:p>
          <a:p xmlns:a="http://schemas.openxmlformats.org/drawingml/2006/main">
            <a:r>
              <a:t/>
            </a:r>
          </a:p>
          <a:p xmlns:a="http://schemas.openxmlformats.org/drawingml/2006/main">
            <a:r>
              <a:t>二つの特徴量だけで，区別できそうか話し合う．</a:t>
            </a:r>
          </a:p>
          <a:p xmlns:a="http://schemas.openxmlformats.org/drawingml/2006/main">
            <a:r>
              <a:t/>
            </a:r>
          </a:p>
          <a:p xmlns:a="http://schemas.openxmlformats.org/drawingml/2006/main">
            <a:r>
              <a:t>見やすい図でも，評価の代わりにはならない．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scikit-learn：Iris dataset</a:t>
            </a:r>
          </a:p>
          <a:p xmlns:a="http://schemas.openxmlformats.org/drawingml/2006/main">
            <a:r>
              <a:t>https://scikit-learn.org/stable/modules/generated/sklearn.datasets.load_iris.html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データを三つに分ける</a:t>
            </a:r>
          </a:p>
          <a:p xmlns:a="http://schemas.openxmlformats.org/drawingml/2006/main">
            <a:r>
              <a:t/>
            </a:r>
          </a:p>
          <a:p xmlns:a="http://schemas.openxmlformats.org/drawingml/2006/main">
            <a:r>
              <a:t>目安：4分／授業開始から30〜34分</a:t>
            </a:r>
          </a:p>
          <a:p xmlns:a="http://schemas.openxmlformats.org/drawingml/2006/main">
            <a:r>
              <a:t/>
            </a:r>
          </a:p>
          <a:p xmlns:a="http://schemas.openxmlformats.org/drawingml/2006/main">
            <a:r>
              <a:t>図は役割の並びで，データを順次移す工程ではない．初めにテスト20％を取り分け，残り120件の25％を検証へ分ける．ノートブック3で行番号の重複がないことを確認する．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分割をそろえる理由</a:t>
            </a:r>
          </a:p>
          <a:p xmlns:a="http://schemas.openxmlformats.org/drawingml/2006/main">
            <a:r>
              <a:t/>
            </a:r>
          </a:p>
          <a:p xmlns:a="http://schemas.openxmlformats.org/drawingml/2006/main">
            <a:r>
              <a:t>目安：4分／授業開始から34〜38分</a:t>
            </a:r>
          </a:p>
          <a:p xmlns:a="http://schemas.openxmlformats.org/drawingml/2006/main">
            <a:r>
              <a:t/>
            </a:r>
          </a:p>
          <a:p xmlns:a="http://schemas.openxmlformats.org/drawingml/2006/main">
            <a:r>
              <a:t>stratifyを利用する．同じシードでも環境やライブラリの版が違えば全ての結果が必ず同一とは限らない．今回は独立な花の教材としてランダム分割する．時系列や同じ人の反復記録では別の分割を考える．</a:t>
            </a:r>
          </a:p>
          <a:p xmlns:a="http://schemas.openxmlformats.org/drawingml/2006/main">
            <a:r>
              <a:t/>
            </a:r>
          </a:p>
          <a:p xmlns:a="http://schemas.openxmlformats.org/drawingml/2006/main">
            <a:r>
              <a:t>同じ分割で，モデルや条件を比べる．</a:t>
            </a:r>
          </a:p>
          <a:p xmlns:a="http://schemas.openxmlformats.org/drawingml/2006/main">
            <a:r>
              <a:t/>
            </a:r>
          </a:p>
          <a:p xmlns:a="http://schemas.openxmlformats.org/drawingml/2006/main">
            <a:r>
              <a:t>ランダムシードを固定し，分け方を記録する．</a:t>
            </a:r>
          </a:p>
          <a:p xmlns:a="http://schemas.openxmlformats.org/drawingml/2006/main">
            <a:r>
              <a:t/>
            </a:r>
          </a:p>
          <a:p xmlns:a="http://schemas.openxmlformats.org/drawingml/2006/main">
            <a:r>
              <a:t>クラスの割合を，大きく崩さないようにする．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三つの比較対象</a:t>
            </a:r>
          </a:p>
          <a:p xmlns:a="http://schemas.openxmlformats.org/drawingml/2006/main">
            <a:r>
              <a:t/>
            </a:r>
          </a:p>
          <a:p xmlns:a="http://schemas.openxmlformats.org/drawingml/2006/main">
            <a:r>
              <a:t>目安：4分／授業開始から38〜42分</a:t>
            </a:r>
          </a:p>
          <a:p xmlns:a="http://schemas.openxmlformats.org/drawingml/2006/main">
            <a:r>
              <a:t/>
            </a:r>
          </a:p>
          <a:p xmlns:a="http://schemas.openxmlformats.org/drawingml/2006/main">
            <a:r>
              <a:t>DummyClassifierのmost_frequentを基準にする．三クラス同数なので一つだけを出す基準は約33.3％になる．ロジスティック回帰は多クラスへ拡張した実装を使う．</a:t>
            </a:r>
          </a:p>
          <a:p xmlns:a="http://schemas.openxmlformats.org/drawingml/2006/main">
            <a:r>
              <a:t/>
            </a:r>
          </a:p>
          <a:p xmlns:a="http://schemas.openxmlformats.org/drawingml/2006/main">
            <a:r>
              <a:t>基準のモデル ／ 常に一つのクラスを予測する</a:t>
            </a:r>
          </a:p>
          <a:p xmlns:a="http://schemas.openxmlformats.org/drawingml/2006/main">
            <a:r>
              <a:t>ロジスティック回帰 ／ 標準化した特徴で種類を予測する</a:t>
            </a:r>
          </a:p>
          <a:p xmlns:a="http://schemas.openxmlformats.org/drawingml/2006/main">
            <a:r>
              <a:t>決定木 ／ 計測値の条件で枝分かれする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a:p xmlns:a="http://schemas.openxmlformats.org/drawingml/2006/main">
            <a:r>
              <a:t/>
            </a:r>
          </a:p>
          <a:p xmlns:a="http://schemas.openxmlformats.org/drawingml/2006/main">
            <a:r>
              <a:t>scikit-learn：Pipeline</a:t>
            </a:r>
          </a:p>
          <a:p xmlns:a="http://schemas.openxmlformats.org/drawingml/2006/main">
            <a:r>
              <a:t>https://scikit-learn.org/stable/modules/generated/sklearn.pipeline.Pipeline.html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学習と推論を実行する</a:t>
            </a:r>
          </a:p>
          <a:p xmlns:a="http://schemas.openxmlformats.org/drawingml/2006/main">
            <a:r>
              <a:t/>
            </a:r>
          </a:p>
          <a:p xmlns:a="http://schemas.openxmlformats.org/drawingml/2006/main">
            <a:r>
              <a:t>目安：4分／授業開始から42〜46分</a:t>
            </a:r>
          </a:p>
          <a:p xmlns:a="http://schemas.openxmlformats.org/drawingml/2006/main">
            <a:r>
              <a:t/>
            </a:r>
          </a:p>
          <a:p xmlns:a="http://schemas.openxmlformats.org/drawingml/2006/main">
            <a:r>
              <a:t>ノートブック4を実行．fitに検証やテストの正解を渡さない．Pipelineは標準化とモデルの処理を一緒に扱う．コード全文の書き写しは課さない．</a:t>
            </a:r>
          </a:p>
          <a:p xmlns:a="http://schemas.openxmlformats.org/drawingml/2006/main">
            <a:r>
              <a:t/>
            </a:r>
          </a:p>
          <a:p xmlns:a="http://schemas.openxmlformats.org/drawingml/2006/main">
            <a:r>
              <a:t>model.fit(X_train, y_train)：訓練データで学習</a:t>
            </a:r>
          </a:p>
          <a:p xmlns:a="http://schemas.openxmlformats.org/drawingml/2006/main">
            <a:r>
              <a:t/>
            </a:r>
          </a:p>
          <a:p xmlns:a="http://schemas.openxmlformats.org/drawingml/2006/main">
            <a:r>
              <a:t>model.predict(X_val)：検証データの予測</a:t>
            </a:r>
          </a:p>
          <a:p xmlns:a="http://schemas.openxmlformats.org/drawingml/2006/main">
            <a:r>
              <a:t/>
            </a:r>
          </a:p>
          <a:p xmlns:a="http://schemas.openxmlformats.org/drawingml/2006/main">
            <a:r>
              <a:t>正解と予測を比べ，正解率を計算する．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scikit-learn：Pipeline</a:t>
            </a:r>
          </a:p>
          <a:p xmlns:a="http://schemas.openxmlformats.org/drawingml/2006/main">
            <a:r>
              <a:t>https://scikit-learn.org/stable/modules/generated/sklearn.pipeline.Pipeline.html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実習2：基準の結果を確かめる</a:t>
            </a:r>
          </a:p>
          <a:p xmlns:a="http://schemas.openxmlformats.org/drawingml/2006/main">
            <a:r>
              <a:t/>
            </a:r>
          </a:p>
          <a:p xmlns:a="http://schemas.openxmlformats.org/drawingml/2006/main">
            <a:r>
              <a:t>目安：5分／授業開始から46〜51分</a:t>
            </a:r>
          </a:p>
          <a:p xmlns:a="http://schemas.openxmlformats.org/drawingml/2006/main">
            <a:r>
              <a:t/>
            </a:r>
          </a:p>
          <a:p xmlns:a="http://schemas.openxmlformats.org/drawingml/2006/main">
            <a:r>
              <a:t>ノートブック4の結果を読み，ペアで基準を超えることの意味を話す．高い正解率でも特定のクラスを全く予測しない場合があるので，混同行列も確認する．</a:t>
            </a:r>
          </a:p>
          <a:p xmlns:a="http://schemas.openxmlformats.org/drawingml/2006/main">
            <a:r>
              <a:t/>
            </a:r>
          </a:p>
          <a:p xmlns:a="http://schemas.openxmlformats.org/drawingml/2006/main">
            <a:r>
              <a:t>基準のモデルの検証正解率を読む．</a:t>
            </a:r>
          </a:p>
          <a:p xmlns:a="http://schemas.openxmlformats.org/drawingml/2006/main">
            <a:r>
              <a:t/>
            </a:r>
          </a:p>
          <a:p xmlns:a="http://schemas.openxmlformats.org/drawingml/2006/main">
            <a:r>
              <a:t>一つのクラスしか出していない理由を考える．</a:t>
            </a:r>
          </a:p>
          <a:p xmlns:a="http://schemas.openxmlformats.org/drawingml/2006/main">
            <a:r>
              <a:t/>
            </a:r>
          </a:p>
          <a:p xmlns:a="http://schemas.openxmlformats.org/drawingml/2006/main">
            <a:r>
              <a:t>学習した二つのモデルと比べる．</a:t>
            </a:r>
          </a:p>
          <a:p xmlns:a="http://schemas.openxmlformats.org/drawingml/2006/main">
            <a:r>
              <a:t/>
            </a:r>
          </a:p>
          <a:p xmlns:a="http://schemas.openxmlformats.org/drawingml/2006/main">
            <a:r>
              <a:t>比較の基準があると，改善の意味を考えやすい．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実行結果の例：正解率</a:t>
            </a:r>
          </a:p>
          <a:p xmlns:a="http://schemas.openxmlformats.org/drawingml/2006/main">
            <a:r>
              <a:t/>
            </a:r>
          </a:p>
          <a:p xmlns:a="http://schemas.openxmlformats.org/drawingml/2006/main">
            <a:r>
              <a:t>目安：4分／授業開始から51〜55分</a:t>
            </a:r>
          </a:p>
          <a:p xmlns:a="http://schemas.openxmlformats.org/drawingml/2006/main">
            <a:r>
              <a:t/>
            </a:r>
          </a:p>
          <a:p xmlns:a="http://schemas.openxmlformats.org/drawingml/2006/main">
            <a:r>
              <a:t>2026年10月8日，Python3.12.14・scikit-learn1.9.1，配布ノートブック初期設定での実測．SEED=42，四つの特徴を使う．別の環境では多少変わり得る．訓練が最高の決定木をそのまま選ぶのではなく，検証で比較する．</a:t>
            </a:r>
          </a:p>
          <a:p xmlns:a="http://schemas.openxmlformats.org/drawingml/2006/main">
            <a:r>
              <a:t/>
            </a:r>
          </a:p>
          <a:p xmlns:a="http://schemas.openxmlformats.org/drawingml/2006/main">
            <a:r>
              <a:t>基準 ／ 33.3％ ／ 33.3％</a:t>
            </a:r>
          </a:p>
          <a:p xmlns:a="http://schemas.openxmlformats.org/drawingml/2006/main">
            <a:r>
              <a:t>ロジスティック回帰 ／ 97.8％ ／ 93.3％</a:t>
            </a:r>
          </a:p>
          <a:p xmlns:a="http://schemas.openxmlformats.org/drawingml/2006/main">
            <a:r>
              <a:t>決定木（深さ3） ／ 98.9％ ／ 90.0％</a:t>
            </a:r>
          </a:p>
          <a:p xmlns:a="http://schemas.openxmlformats.org/drawingml/2006/main">
            <a:r>
              <a:t/>
            </a:r>
          </a:p>
          <a:p xmlns:a="http://schemas.openxmlformats.org/drawingml/2006/main">
            <a:r>
              <a:t>結果には，分割・設定・データ数を添える．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変えて比較する条件</a:t>
            </a:r>
          </a:p>
          <a:p xmlns:a="http://schemas.openxmlformats.org/drawingml/2006/main">
            <a:r>
              <a:t/>
            </a:r>
          </a:p>
          <a:p xmlns:a="http://schemas.openxmlformats.org/drawingml/2006/main">
            <a:r>
              <a:t>目安：4分／授業開始から55〜59分</a:t>
            </a:r>
          </a:p>
          <a:p xmlns:a="http://schemas.openxmlformats.org/drawingml/2006/main">
            <a:r>
              <a:t/>
            </a:r>
          </a:p>
          <a:p xmlns:a="http://schemas.openxmlformats.org/drawingml/2006/main">
            <a:r>
              <a:t>FEATURESの0と1はがく片の二つの特徴を指す．一度に両方を変えない．比較実験は二条件程度にし，検証への合わせすぎを避ける．</a:t>
            </a:r>
          </a:p>
          <a:p xmlns:a="http://schemas.openxmlformats.org/drawingml/2006/main">
            <a:r>
              <a:t/>
            </a:r>
          </a:p>
          <a:p xmlns:a="http://schemas.openxmlformats.org/drawingml/2006/main">
            <a:r>
              <a:t>使う特徴量 ／ FEATURESを[0,1]へ変更する</a:t>
            </a:r>
          </a:p>
          <a:p xmlns:a="http://schemas.openxmlformats.org/drawingml/2006/main">
            <a:r>
              <a:t>木の深さ ／ TREE_DEPTHだけを変更する</a:t>
            </a:r>
          </a:p>
          <a:p xmlns:a="http://schemas.openxmlformats.org/drawingml/2006/main">
            <a:r>
              <a:t>そろえるもの ／ 分割，その他の設定，評価方法</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標準化は訓練から求める</a:t>
            </a:r>
          </a:p>
          <a:p xmlns:a="http://schemas.openxmlformats.org/drawingml/2006/main">
            <a:r>
              <a:t/>
            </a:r>
          </a:p>
          <a:p xmlns:a="http://schemas.openxmlformats.org/drawingml/2006/main">
            <a:r>
              <a:t>目安：4分／授業開始から59〜63分</a:t>
            </a:r>
          </a:p>
          <a:p xmlns:a="http://schemas.openxmlformats.org/drawingml/2006/main">
            <a:r>
              <a:t/>
            </a:r>
          </a:p>
          <a:p xmlns:a="http://schemas.openxmlformats.org/drawingml/2006/main">
            <a:r>
              <a:t>PipelineのStandardScalerはfit時の訓練から統計量を求め，predictでは同じ変換を適用する．分割前に全データで標準化すると，テスト情報を使うことになる．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scikit-learn：Pipeline</a:t>
            </a:r>
          </a:p>
          <a:p xmlns:a="http://schemas.openxmlformats.org/drawingml/2006/main">
            <a:r>
              <a:t>https://scikit-learn.org/stable/modules/generated/sklearn.pipeline.Pipeline.html</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実習3：条件を一つだけ変える</a:t>
            </a:r>
          </a:p>
          <a:p xmlns:a="http://schemas.openxmlformats.org/drawingml/2006/main">
            <a:r>
              <a:t/>
            </a:r>
          </a:p>
          <a:p xmlns:a="http://schemas.openxmlformats.org/drawingml/2006/main">
            <a:r>
              <a:t>目安：7分／授業開始から63〜70分</a:t>
            </a:r>
          </a:p>
          <a:p xmlns:a="http://schemas.openxmlformats.org/drawingml/2006/main">
            <a:r>
              <a:t/>
            </a:r>
          </a:p>
          <a:p xmlns:a="http://schemas.openxmlformats.org/drawingml/2006/main">
            <a:r>
              <a:t>ノートブック6の説明に従い，ペアで実験．比較のためにテストを何度も使わない．時間が足りなければ講師が一つ変更し，受講者は同じ比較結果を記録する．</a:t>
            </a:r>
          </a:p>
          <a:p xmlns:a="http://schemas.openxmlformats.org/drawingml/2006/main">
            <a:r>
              <a:t/>
            </a:r>
          </a:p>
          <a:p xmlns:a="http://schemas.openxmlformats.org/drawingml/2006/main">
            <a:r>
              <a:t>設定セルを一つ変え，下のセルを再実行する．</a:t>
            </a:r>
          </a:p>
          <a:p xmlns:a="http://schemas.openxmlformats.org/drawingml/2006/main">
            <a:r>
              <a:t/>
            </a:r>
          </a:p>
          <a:p xmlns:a="http://schemas.openxmlformats.org/drawingml/2006/main">
            <a:r>
              <a:t>訓練・検証の正解率と，変更内容を記録する．</a:t>
            </a:r>
          </a:p>
          <a:p xmlns:a="http://schemas.openxmlformats.org/drawingml/2006/main">
            <a:r>
              <a:t/>
            </a:r>
          </a:p>
          <a:p xmlns:a="http://schemas.openxmlformats.org/drawingml/2006/main">
            <a:r>
              <a:t>テストを実行する前に，条件を決める．</a:t>
            </a:r>
          </a:p>
          <a:p xmlns:a="http://schemas.openxmlformats.org/drawingml/2006/main">
            <a:r>
              <a:t/>
            </a:r>
          </a:p>
          <a:p xmlns:a="http://schemas.openxmlformats.org/drawingml/2006/main">
            <a:r>
              <a:t>高い訓練正解率だけで，設定を選ばない．</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比較結果をどう読むか</a:t>
            </a:r>
          </a:p>
          <a:p xmlns:a="http://schemas.openxmlformats.org/drawingml/2006/main">
            <a:r>
              <a:t/>
            </a:r>
          </a:p>
          <a:p xmlns:a="http://schemas.openxmlformats.org/drawingml/2006/main">
            <a:r>
              <a:t>目安：3分／授業開始から70〜73分</a:t>
            </a:r>
          </a:p>
          <a:p xmlns:a="http://schemas.openxmlformats.org/drawingml/2006/main">
            <a:r>
              <a:t/>
            </a:r>
          </a:p>
          <a:p xmlns:a="http://schemas.openxmlformats.org/drawingml/2006/main">
            <a:r>
              <a:t>30件なら1件の違いは約3.3ポイント．同じデータでの比較と他の分割での安定性を区別する．二つの正解率だけで原因を断定せず，誤分類の中身を見る．</a:t>
            </a:r>
          </a:p>
          <a:p xmlns:a="http://schemas.openxmlformats.org/drawingml/2006/main">
            <a:r>
              <a:t/>
            </a:r>
          </a:p>
          <a:p xmlns:a="http://schemas.openxmlformats.org/drawingml/2006/main">
            <a:r>
              <a:t>訓練だけ高いなら，合わせすぎを疑う．</a:t>
            </a:r>
          </a:p>
          <a:p xmlns:a="http://schemas.openxmlformats.org/drawingml/2006/main">
            <a:r>
              <a:t/>
            </a:r>
          </a:p>
          <a:p xmlns:a="http://schemas.openxmlformats.org/drawingml/2006/main">
            <a:r>
              <a:t>両方低いなら，特徴量やモデルを見直す．</a:t>
            </a:r>
          </a:p>
          <a:p xmlns:a="http://schemas.openxmlformats.org/drawingml/2006/main">
            <a:r>
              <a:t/>
            </a:r>
          </a:p>
          <a:p xmlns:a="http://schemas.openxmlformats.org/drawingml/2006/main">
            <a:r>
              <a:t>小さな評価データでは，数件で正解率が変わる．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混同行列を読む</a:t>
            </a:r>
          </a:p>
          <a:p xmlns:a="http://schemas.openxmlformats.org/drawingml/2006/main">
            <a:r>
              <a:t/>
            </a:r>
          </a:p>
          <a:p xmlns:a="http://schemas.openxmlformats.org/drawingml/2006/main">
            <a:r>
              <a:t>目安：3分／授業開始から73〜76分</a:t>
            </a:r>
          </a:p>
          <a:p xmlns:a="http://schemas.openxmlformats.org/drawingml/2006/main">
            <a:r>
              <a:t/>
            </a:r>
          </a:p>
          <a:p xmlns:a="http://schemas.openxmlformats.org/drawingml/2006/main">
            <a:r>
              <a:t>ノートブック5の検証混同行列を表示する．表示された軸のラベルを必ず確認する．ライブラリや図によって配置を変えることもある．</a:t>
            </a:r>
          </a:p>
          <a:p xmlns:a="http://schemas.openxmlformats.org/drawingml/2006/main">
            <a:r>
              <a:t/>
            </a:r>
          </a:p>
          <a:p xmlns:a="http://schemas.openxmlformats.org/drawingml/2006/main">
            <a:r>
              <a:t>行 ／ 本当の種類</a:t>
            </a:r>
          </a:p>
          <a:p xmlns:a="http://schemas.openxmlformats.org/drawingml/2006/main">
            <a:r>
              <a:t>列 ／ 予測した種類</a:t>
            </a:r>
          </a:p>
          <a:p xmlns:a="http://schemas.openxmlformats.org/drawingml/2006/main">
            <a:r>
              <a:t>対角線 ／ 正しく分類した件数</a:t>
            </a:r>
          </a:p>
          <a:p xmlns:a="http://schemas.openxmlformats.org/drawingml/2006/main">
            <a:r>
              <a:t>対角線の外 ／ 種類を取り違えた件数</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実習4：誤分類を調べる</a:t>
            </a:r>
          </a:p>
          <a:p xmlns:a="http://schemas.openxmlformats.org/drawingml/2006/main">
            <a:r>
              <a:t/>
            </a:r>
          </a:p>
          <a:p xmlns:a="http://schemas.openxmlformats.org/drawingml/2006/main">
            <a:r>
              <a:t>目安：5分／授業開始から76〜81分</a:t>
            </a:r>
          </a:p>
          <a:p xmlns:a="http://schemas.openxmlformats.org/drawingml/2006/main">
            <a:r>
              <a:t/>
            </a:r>
          </a:p>
          <a:p xmlns:a="http://schemas.openxmlformats.org/drawingml/2006/main">
            <a:r>
              <a:t>ノートブック5のerror_tableを読む．初期設定ではversicolorとvirginicaで二件の検証誤分類があった．実行条件で変わるため，この数に合わせて操作しない．</a:t>
            </a:r>
          </a:p>
          <a:p xmlns:a="http://schemas.openxmlformats.org/drawingml/2006/main">
            <a:r>
              <a:t/>
            </a:r>
          </a:p>
          <a:p xmlns:a="http://schemas.openxmlformats.org/drawingml/2006/main">
            <a:r>
              <a:t>どの種類を，どの種類と間違えたかを見る．</a:t>
            </a:r>
          </a:p>
          <a:p xmlns:a="http://schemas.openxmlformats.org/drawingml/2006/main">
            <a:r>
              <a:t/>
            </a:r>
          </a:p>
          <a:p xmlns:a="http://schemas.openxmlformats.org/drawingml/2006/main">
            <a:r>
              <a:t>その行の計測値を，別の例と比べる．</a:t>
            </a:r>
          </a:p>
          <a:p xmlns:a="http://schemas.openxmlformats.org/drawingml/2006/main">
            <a:r>
              <a:t/>
            </a:r>
          </a:p>
          <a:p xmlns:a="http://schemas.openxmlformats.org/drawingml/2006/main">
            <a:r>
              <a:t>誤りが0件でも，評価件数を記録する．</a:t>
            </a:r>
          </a:p>
          <a:p xmlns:a="http://schemas.openxmlformats.org/drawingml/2006/main">
            <a:r>
              <a:t/>
            </a:r>
          </a:p>
          <a:p xmlns:a="http://schemas.openxmlformats.org/drawingml/2006/main">
            <a:r>
              <a:t>誤り方は，正解率だけでは見えない．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scikit-learn：Metrics and scoring</a:t>
            </a:r>
          </a:p>
          <a:p xmlns:a="http://schemas.openxmlformats.org/drawingml/2006/main">
            <a:r>
              <a:t>https://scikit-learn.org/stable/modules/model_evaluation.html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条件を決めた後のテスト</a:t>
            </a:r>
          </a:p>
          <a:p xmlns:a="http://schemas.openxmlformats.org/drawingml/2006/main">
            <a:r>
              <a:t/>
            </a:r>
          </a:p>
          <a:p xmlns:a="http://schemas.openxmlformats.org/drawingml/2006/main">
            <a:r>
              <a:t>目安：3分／授業開始から81〜84分</a:t>
            </a:r>
          </a:p>
          <a:p xmlns:a="http://schemas.openxmlformats.org/drawingml/2006/main">
            <a:r>
              <a:t/>
            </a:r>
          </a:p>
          <a:p xmlns:a="http://schemas.openxmlformats.org/drawingml/2006/main">
            <a:r>
              <a:t>ノートブック7を実行．初期設定の実測は28/30で約93.3％．検証の役割を終えた後の訓練＋検証での再学習は可能だが，ここで選ぶ条件は固定している．</a:t>
            </a:r>
          </a:p>
          <a:p xmlns:a="http://schemas.openxmlformats.org/drawingml/2006/main">
            <a:r>
              <a:t/>
            </a:r>
          </a:p>
          <a:p xmlns:a="http://schemas.openxmlformats.org/drawingml/2006/main">
            <a:r>
              <a:t>選んだ方式を，訓練＋検証120件で学習し直す．</a:t>
            </a:r>
          </a:p>
          <a:p xmlns:a="http://schemas.openxmlformats.org/drawingml/2006/main">
            <a:r>
              <a:t/>
            </a:r>
          </a:p>
          <a:p xmlns:a="http://schemas.openxmlformats.org/drawingml/2006/main">
            <a:r>
              <a:t>取り分けたテスト30件で，一度評価する．</a:t>
            </a:r>
          </a:p>
          <a:p xmlns:a="http://schemas.openxmlformats.org/drawingml/2006/main">
            <a:r>
              <a:t/>
            </a:r>
          </a:p>
          <a:p xmlns:a="http://schemas.openxmlformats.org/drawingml/2006/main">
            <a:r>
              <a:t>テスト結果を見て，設定を選び直さない．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a:p xmlns:a="http://schemas.openxmlformats.org/drawingml/2006/main">
            <a:r>
              <a:t/>
            </a:r>
          </a:p>
          <a:p xmlns:a="http://schemas.openxmlformats.org/drawingml/2006/main">
            <a:r>
              <a:t>scikit-learn：Common pitfalls</a:t>
            </a:r>
          </a:p>
          <a:p xmlns:a="http://schemas.openxmlformats.org/drawingml/2006/main">
            <a:r>
              <a:t>https://scikit-learn.org/stable/common_pitfalls.html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実習の記録をまとめる</a:t>
            </a:r>
          </a:p>
          <a:p xmlns:a="http://schemas.openxmlformats.org/drawingml/2006/main">
            <a:r>
              <a:t/>
            </a:r>
          </a:p>
          <a:p xmlns:a="http://schemas.openxmlformats.org/drawingml/2006/main">
            <a:r>
              <a:t>目安：3分／授業開始から84〜87分</a:t>
            </a:r>
          </a:p>
          <a:p xmlns:a="http://schemas.openxmlformats.org/drawingml/2006/main">
            <a:r>
              <a:t/>
            </a:r>
          </a:p>
          <a:p xmlns:a="http://schemas.openxmlformats.org/drawingml/2006/main">
            <a:r>
              <a:t>ノートブック8の辞書も利用する．例：この教材の花の計測値についての評価で，別の地域や計測方法でも同じ性能が出るかは未確認．短い記録を作り，ペアで説明する．</a:t>
            </a:r>
          </a:p>
          <a:p xmlns:a="http://schemas.openxmlformats.org/drawingml/2006/main">
            <a:r>
              <a:t/>
            </a:r>
          </a:p>
          <a:p xmlns:a="http://schemas.openxmlformats.org/drawingml/2006/main">
            <a:r>
              <a:t>使った特徴量・モデル・分割・設定を書く．</a:t>
            </a:r>
          </a:p>
          <a:p xmlns:a="http://schemas.openxmlformats.org/drawingml/2006/main">
            <a:r>
              <a:t/>
            </a:r>
          </a:p>
          <a:p xmlns:a="http://schemas.openxmlformats.org/drawingml/2006/main">
            <a:r>
              <a:t>変更した条件と，検証結果の違いを書く．</a:t>
            </a:r>
          </a:p>
          <a:p xmlns:a="http://schemas.openxmlformats.org/drawingml/2006/main">
            <a:r>
              <a:t/>
            </a:r>
          </a:p>
          <a:p xmlns:a="http://schemas.openxmlformats.org/drawingml/2006/main">
            <a:r>
              <a:t>最終結果と，まだ確かめていないことを書く．</a:t>
            </a:r>
          </a:p>
          <a:p xmlns:a="http://schemas.openxmlformats.org/drawingml/2006/main">
            <a:r>
              <a:t/>
            </a:r>
          </a:p>
          <a:p xmlns:a="http://schemas.openxmlformats.org/drawingml/2006/main">
            <a:r>
              <a:t>結果と，その結果が言える範囲を説明する．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まとめ・振り返り</a:t>
            </a:r>
          </a:p>
          <a:p xmlns:a="http://schemas.openxmlformats.org/drawingml/2006/main">
            <a:r>
              <a:t/>
            </a:r>
          </a:p>
          <a:p xmlns:a="http://schemas.openxmlformats.org/drawingml/2006/main">
            <a:r>
              <a:t>目安：3分／授業開始から87〜90分</a:t>
            </a:r>
          </a:p>
          <a:p xmlns:a="http://schemas.openxmlformats.org/drawingml/2006/main">
            <a:r>
              <a:t/>
            </a:r>
          </a:p>
          <a:p xmlns:a="http://schemas.openxmlformats.org/drawingml/2006/main">
            <a:r>
              <a:t>出口課題：検証とテストを分ける理由を一文で書く．次回は小さな画像分類で，学習の進み方とネットワークの誤りを観察する．</a:t>
            </a:r>
          </a:p>
          <a:p xmlns:a="http://schemas.openxmlformats.org/drawingml/2006/main">
            <a:r>
              <a:t/>
            </a:r>
          </a:p>
          <a:p xmlns:a="http://schemas.openxmlformats.org/drawingml/2006/main">
            <a:r>
              <a:t>学習と推論を，別のデータで実行した．</a:t>
            </a:r>
          </a:p>
          <a:p xmlns:a="http://schemas.openxmlformats.org/drawingml/2006/main">
            <a:r>
              <a:t/>
            </a:r>
          </a:p>
          <a:p xmlns:a="http://schemas.openxmlformats.org/drawingml/2006/main">
            <a:r>
              <a:t>比較では，分割と変更条件をそろえた．</a:t>
            </a:r>
          </a:p>
          <a:p xmlns:a="http://schemas.openxmlformats.org/drawingml/2006/main">
            <a:r>
              <a:t/>
            </a:r>
          </a:p>
          <a:p xmlns:a="http://schemas.openxmlformats.org/drawingml/2006/main">
            <a:r>
              <a:t>正解率，誤り，データ数から結果を説明した．</a:t>
            </a:r>
          </a:p>
          <a:p xmlns:a="http://schemas.openxmlformats.org/drawingml/2006/main">
            <a:r>
              <a:t/>
            </a:r>
          </a:p>
          <a:p xmlns:a="http://schemas.openxmlformats.org/drawingml/2006/main">
            <a:r>
              <a:t>次回：実習2・深層学習を体験する</a:t>
            </a:r>
          </a:p>
          <a:p xmlns:a="http://schemas.openxmlformats.org/drawingml/2006/main">
            <a:r>
              <a:t/>
            </a:r>
          </a:p>
          <a:p xmlns:a="http://schemas.openxmlformats.org/drawingml/2006/main">
            <a:r>
              <a:t>参照資料（2026年10月7日確認）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参考資料1</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授業内容の参考資料．図・数値・設問は出典を別途示したものを除き，本講義の作例．</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scikit-learn：Iris dataset</a:t>
            </a:r>
          </a:p>
          <a:p xmlns:a="http://schemas.openxmlformats.org/drawingml/2006/main">
            <a:r>
              <a:t>https://scikit-learn.org/stable/modules/generated/sklearn.datasets.load_iris.html</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参考資料2</a:t>
            </a:r>
          </a:p>
          <a:p xmlns:a="http://schemas.openxmlformats.org/drawingml/2006/main">
            <a:r>
              <a:t/>
            </a:r>
          </a:p>
          <a:p xmlns:a="http://schemas.openxmlformats.org/drawingml/2006/main">
            <a:r>
              <a:t>参考資料：授業時間外</a:t>
            </a:r>
          </a:p>
          <a:p xmlns:a="http://schemas.openxmlformats.org/drawingml/2006/main">
            <a:r>
              <a:t/>
            </a:r>
          </a:p>
          <a:p xmlns:a="http://schemas.openxmlformats.org/drawingml/2006/main">
            <a:r>
              <a:t>本文の補足と参考資料．演習は講義用の作例で，公式試験問題ではない．</a:t>
            </a:r>
          </a:p>
          <a:p xmlns:a="http://schemas.openxmlformats.org/drawingml/2006/main">
            <a:r>
              <a:t/>
            </a:r>
          </a:p>
          <a:p xmlns:a="http://schemas.openxmlformats.org/drawingml/2006/main">
            <a:r>
              <a:t>参照資料（2026年10月7日確認）</a:t>
            </a:r>
          </a:p>
          <a:p xmlns:a="http://schemas.openxmlformats.org/drawingml/2006/main">
            <a:r>
              <a:t/>
            </a:r>
          </a:p>
          <a:p xmlns:a="http://schemas.openxmlformats.org/drawingml/2006/main">
            <a:r>
              <a:t>scikit-learn：Iris dataset</a:t>
            </a:r>
          </a:p>
          <a:p xmlns:a="http://schemas.openxmlformats.org/drawingml/2006/main">
            <a:r>
              <a:t>https://scikit-learn.org/stable/modules/generated/sklearn.datasets.load_iris.html</a:t>
            </a:r>
          </a:p>
          <a:p xmlns:a="http://schemas.openxmlformats.org/drawingml/2006/main">
            <a:r>
              <a:t/>
            </a:r>
          </a:p>
          <a:p xmlns:a="http://schemas.openxmlformats.org/drawingml/2006/main">
            <a:r>
              <a:t>scikit-learn：train_test_split</a:t>
            </a:r>
          </a:p>
          <a:p xmlns:a="http://schemas.openxmlformats.org/drawingml/2006/main">
            <a:r>
              <a:t>https://scikit-learn.org/stable/modules/generated/sklearn.model_selection.train_test_split.html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edf5f320b245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5c0babf95d4b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75512a11a34f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0b0e28f25442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e463741b3a4d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d19f7dcaaa438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0bd116a412b42e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d6d2c71663f404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0f3519eca0c4b8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39429c2cfa647e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269634be201421f"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97F7A9FC-42F9-4272-8061-420BE7C155B3}"/>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DF9B35A9-3FE9-4BFF-B656-B4D6A3DC0A39}"/>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2EE4E9B5-D82D-45CC-A6B5-C4CEFF56E3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BFD5D03B-80CF-46D0-B675-64FA89A7F4ED}"/>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E87C2054-8E80-4D76-8DEF-3392908A464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A48A6AB9-704A-4EBC-BC7C-E63FA18B1C9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D7215D3D-AF97-4F0E-9656-152FBCF3D2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DF7B5FDE-C912-4BA0-875F-484DCB7B2ED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B16BA528-8965-4793-9AC8-05865DDFC09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E39A5F4-B176-4DAE-9CB7-A203335062A5}"/>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7E172536-B60A-4A31-A2FA-7BA7BF19B8E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2C24B9CB-9CE1-4429-8F38-7501BA6A20F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A50B932F-4A9D-4C20-9484-8CF9B39F52C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10A4A5C6-0B08-48A3-9AF9-3CC6EB89A40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7B5EE8FA-8AA8-4DEE-8C01-771682B3C21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A6C772D8-01E9-4327-9C03-7A26C992D7EA}"/>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929D0ACB-6748-4C74-A363-D9CD1769135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EB4C4AB4-01B0-4B64-8073-04A7A1310B4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F925D32E-2AA0-42B4-B90E-E867F36D20D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3D0385D-11D1-44BD-9DCD-3C92F13D113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A0351056-57DF-4898-A954-791E5DBBAAB6}"/>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5D8E1582-629C-417E-97AF-90F193595A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9DF51F9B-459E-40E6-BF85-67159A6AAE8F}"/>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8784D298-F9D4-481C-A581-8DD66EEBFE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90CDD5AF-DC6A-4D21-B2D6-412F53B788F0}"/>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BC7FC0E-748E-4525-B97C-CEA11BA1A0E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DF82A840-592C-4A06-880C-CBB4FCCE248B}"/>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FA60046D-6491-4CEE-A2BA-C9D70926FC68}"/>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09999C1-0D75-43B3-B331-E10DC6D330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A545E12-B334-450B-8E0B-4F79F102D5C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e8d09b3f1847dc" /><Relationship Type="http://schemas.openxmlformats.org/officeDocument/2006/relationships/slideLayout" Target="/ppt/slideLayouts/slideLayout1.xml" Id="Re851df3740334ee1" /><Relationship Type="http://schemas.openxmlformats.org/officeDocument/2006/relationships/slideLayout" Target="/ppt/slideLayouts/slideLayout2.xml" Id="R5add88235f354cf4" /><Relationship Type="http://schemas.openxmlformats.org/officeDocument/2006/relationships/slideLayout" Target="/ppt/slideLayouts/slideLayout3.xml" Id="R412ad50f770145d7" /><Relationship Type="http://schemas.openxmlformats.org/officeDocument/2006/relationships/slideLayout" Target="/ppt/slideLayouts/slideLayout4.xml" Id="R82c0a3b3d42c4f2a" /><Relationship Type="http://schemas.openxmlformats.org/officeDocument/2006/relationships/slideLayout" Target="/ppt/slideLayouts/slideLayout5.xml" Id="R197c6d85a94d4d1a" /><Relationship Type="http://schemas.openxmlformats.org/officeDocument/2006/relationships/slideLayout" Target="/ppt/slideLayouts/slideLayout6.xml" Id="R07bc9b7e0a6e40fd" /><Relationship Type="http://schemas.openxmlformats.org/officeDocument/2006/relationships/slideLayout" Target="/ppt/slideLayouts/slideLayout7.xml" Id="R602253afa44342ff" /><Relationship Type="http://schemas.openxmlformats.org/officeDocument/2006/relationships/slideLayout" Target="/ppt/slideLayouts/slideLayout8.xml" Id="R0bf62708786c4a72" /><Relationship Type="http://schemas.openxmlformats.org/officeDocument/2006/relationships/slideLayout" Target="/ppt/slideLayouts/slideLayout9.xml" Id="Ree45923d37a74181" /><Relationship Type="http://schemas.openxmlformats.org/officeDocument/2006/relationships/slideLayout" Target="/ppt/slideLayouts/slideLayout10.xml" Id="R1bbf904342d9416e" /><Relationship Type="http://schemas.openxmlformats.org/officeDocument/2006/relationships/slideLayout" Target="/ppt/slideLayouts/slideLayout11.xml" Id="R6732baca53cc4908"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74A3540-C64F-46E3-B616-206CF115CDB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5E08F150-A23F-4348-8C7A-55D3B350A20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D6018B7-7DF8-468E-A6FA-83523D47D8F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851df3740334ee1"/>
    <p:sldLayoutId xmlns:r="http://schemas.openxmlformats.org/officeDocument/2006/relationships" id="2147483650" r:id="R5add88235f354cf4"/>
    <p:sldLayoutId xmlns:r="http://schemas.openxmlformats.org/officeDocument/2006/relationships" id="2147483651" r:id="R412ad50f770145d7"/>
    <p:sldLayoutId xmlns:r="http://schemas.openxmlformats.org/officeDocument/2006/relationships" id="2147483652" r:id="R82c0a3b3d42c4f2a"/>
    <p:sldLayoutId xmlns:r="http://schemas.openxmlformats.org/officeDocument/2006/relationships" id="2147483653" r:id="R197c6d85a94d4d1a"/>
    <p:sldLayoutId xmlns:r="http://schemas.openxmlformats.org/officeDocument/2006/relationships" id="2147483654" r:id="R07bc9b7e0a6e40fd"/>
    <p:sldLayoutId xmlns:r="http://schemas.openxmlformats.org/officeDocument/2006/relationships" id="2147483655" r:id="R602253afa44342ff"/>
    <p:sldLayoutId xmlns:r="http://schemas.openxmlformats.org/officeDocument/2006/relationships" id="2147483656" r:id="R0bf62708786c4a72"/>
    <p:sldLayoutId xmlns:r="http://schemas.openxmlformats.org/officeDocument/2006/relationships" id="2147483657" r:id="Ree45923d37a74181"/>
    <p:sldLayoutId xmlns:r="http://schemas.openxmlformats.org/officeDocument/2006/relationships" id="2147483658" r:id="R1bbf904342d9416e"/>
    <p:sldLayoutId xmlns:r="http://schemas.openxmlformats.org/officeDocument/2006/relationships" id="2147483659" r:id="R6732baca53cc490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1.xml" Id="Rce043c51fd584354" /><Relationship Type="http://schemas.openxmlformats.org/officeDocument/2006/relationships/notesSlide" Target="/ppt/notesSlides/notesSlide1.xml" Id="Rffee24acbf59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1.xml" Id="Re3ff1d245e244010" /><Relationship Type="http://schemas.openxmlformats.org/officeDocument/2006/relationships/notesSlide" Target="/ppt/notesSlides/notesSlide2.xml" Id="Ra7de788c95d048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1.xml" Id="Re4ffb68cc3b64b5d" /><Relationship Type="http://schemas.openxmlformats.org/officeDocument/2006/relationships/notesSlide" Target="/ppt/notesSlides/notesSlide3.xml" Id="Rbd79b2153b5546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1.xml" Id="R34f09a2a377b4964" /><Relationship Type="http://schemas.openxmlformats.org/officeDocument/2006/relationships/notesSlide" Target="/ppt/notesSlides/notesSlide4.xml" Id="R9aad0c2890f54e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1.xml" Id="Rc44b70001e9f475d" /><Relationship Type="http://schemas.openxmlformats.org/officeDocument/2006/relationships/notesSlide" Target="/ppt/notesSlides/notesSlide5.xml" Id="Rcb62a382b25741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1.xml" Id="R581ff997c7874efa" /><Relationship Type="http://schemas.openxmlformats.org/officeDocument/2006/relationships/notesSlide" Target="/ppt/notesSlides/notesSlide6.xml" Id="R355918281a8948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1.xml" Id="Ref5a978c93b44ba9" /><Relationship Type="http://schemas.openxmlformats.org/officeDocument/2006/relationships/notesSlide" Target="/ppt/notesSlides/notesSlide7.xml" Id="Rca6cb544c20a4f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1.xml" Id="Rb1893e67ac1742e5" /><Relationship Type="http://schemas.openxmlformats.org/officeDocument/2006/relationships/notesSlide" Target="/ppt/notesSlides/notesSlide8.xml" Id="Rf59e15003d2f43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1.xml" Id="Rf2eebd2cda9e4cae" /><Relationship Type="http://schemas.openxmlformats.org/officeDocument/2006/relationships/notesSlide" Target="/ppt/notesSlides/notesSlide9.xml" Id="R16cb783dda034f0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1.xml" Id="R1f46ca1858754b3e" /><Relationship Type="http://schemas.openxmlformats.org/officeDocument/2006/relationships/notesSlide" Target="/ppt/notesSlides/notesSlide10.xml" Id="R6d7483319f2b4b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823f553fed2a4dc7" /><Relationship Type="http://schemas.openxmlformats.org/officeDocument/2006/relationships/notesSlide" Target="/ppt/notesSlides/notesSlide11.xml" Id="Ra9dd9532108d40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1.xml" Id="Rfc3b120ec61e44e0" /><Relationship Type="http://schemas.openxmlformats.org/officeDocument/2006/relationships/notesSlide" Target="/ppt/notesSlides/notesSlide12.xml" Id="R7f62e31151db48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1.xml" Id="R15223bc8ed834098" /><Relationship Type="http://schemas.openxmlformats.org/officeDocument/2006/relationships/notesSlide" Target="/ppt/notesSlides/notesSlide13.xml" Id="R04f256a4b6624f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1.xml" Id="Rb965f2d354da4690" /><Relationship Type="http://schemas.openxmlformats.org/officeDocument/2006/relationships/notesSlide" Target="/ppt/notesSlides/notesSlide14.xml" Id="R47aa7f483bf541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1.xml" Id="Re1162340a70e445e" /><Relationship Type="http://schemas.openxmlformats.org/officeDocument/2006/relationships/notesSlide" Target="/ppt/notesSlides/notesSlide15.xml" Id="R4e2f7f3c2e4a4b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1.xml" Id="R5f18772820924ecc" /><Relationship Type="http://schemas.openxmlformats.org/officeDocument/2006/relationships/notesSlide" Target="/ppt/notesSlides/notesSlide16.xml" Id="R47bcc275ebe740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1.xml" Id="Rcf8f16035d984bc9" /><Relationship Type="http://schemas.openxmlformats.org/officeDocument/2006/relationships/notesSlide" Target="/ppt/notesSlides/notesSlide17.xml" Id="Re878159ffc5840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1.xml" Id="R357ce9baec294c31" /><Relationship Type="http://schemas.openxmlformats.org/officeDocument/2006/relationships/notesSlide" Target="/ppt/notesSlides/notesSlide18.xml" Id="Rc842b5f75fdb47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1.xml" Id="Ra671d824140644db" /><Relationship Type="http://schemas.openxmlformats.org/officeDocument/2006/relationships/notesSlide" Target="/ppt/notesSlides/notesSlide19.xml" Id="R3b66ea5d536f4f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1.xml" Id="R7ddf9487384e4a74" /><Relationship Type="http://schemas.openxmlformats.org/officeDocument/2006/relationships/notesSlide" Target="/ppt/notesSlides/notesSlide20.xml" Id="R1817869cebf2403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d6aa64c4e2cc4dbf" /><Relationship Type="http://schemas.openxmlformats.org/officeDocument/2006/relationships/notesSlide" Target="/ppt/notesSlides/notesSlide21.xml" Id="R1ab608fe2e1948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1.xml" Id="R87004207f35849ce" /><Relationship Type="http://schemas.openxmlformats.org/officeDocument/2006/relationships/notesSlide" Target="/ppt/notesSlides/notesSlide22.xml" Id="Rc25df28a52a741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1.xml" Id="R5cd7496d39644596" /><Relationship Type="http://schemas.openxmlformats.org/officeDocument/2006/relationships/notesSlide" Target="/ppt/notesSlides/notesSlide23.xml" Id="Rc4d65d83d18940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1.xml" Id="R4a239c1f6d934314" /><Relationship Type="http://schemas.openxmlformats.org/officeDocument/2006/relationships/hyperlink" Target="https://scikit-learn.org/stable/modules/generated/sklearn.datasets.load_iris.html" TargetMode="External" Id="R80647f54f6ee4b49" /><Relationship Type="http://schemas.openxmlformats.org/officeDocument/2006/relationships/hyperlink" Target="https://scikit-learn.org/stable/modules/generated/sklearn.model_selection.train_test_split.html" TargetMode="External" Id="Ref2a356514d8485f" /><Relationship Type="http://schemas.openxmlformats.org/officeDocument/2006/relationships/hyperlink" Target="https://scikit-learn.org/stable/modules/generated/sklearn.pipeline.Pipeline.html" TargetMode="External" Id="Rccdff72f22d84c95" /><Relationship Type="http://schemas.openxmlformats.org/officeDocument/2006/relationships/notesSlide" Target="/ppt/notesSlides/notesSlide24.xml" Id="R81e5f877525f4e1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1.xml" Id="R6cf3ddcc237441e1" /><Relationship Type="http://schemas.openxmlformats.org/officeDocument/2006/relationships/hyperlink" Target="https://scikit-learn.org/stable/common_pitfalls.html" TargetMode="External" Id="R6df7e7fe3b474a2f" /><Relationship Type="http://schemas.openxmlformats.org/officeDocument/2006/relationships/hyperlink" Target="https://scikit-learn.org/stable/modules/model_evaluation.html" TargetMode="External" Id="R6cd8a783cae44da0" /><Relationship Type="http://schemas.openxmlformats.org/officeDocument/2006/relationships/hyperlink" Target="https://developers.google.com/machine-learning/guides/rules-of-ml" TargetMode="External" Id="R2475dfe7c0504b4b" /><Relationship Type="http://schemas.openxmlformats.org/officeDocument/2006/relationships/notesSlide" Target="/ppt/notesSlides/notesSlide25.xml" Id="R0d0fc4ff3c9e49a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情報技術者（民間資格）11&#10;G検定">
            <a:extLst xmlns:a="http://schemas.openxmlformats.org/drawingml/2006/main">
              <a:ext uri="{FF2B5EF4-FFF2-40B4-BE49-F238E27FC236}">
                <a16:creationId xmlns:a16="http://schemas.microsoft.com/office/drawing/2014/main" id="{D8B791DF-D371-417D-97CC-7BC8B2951D4B}"/>
              </a:ext>
            </a:extLst>
          </p:cNvPr>
          <p:cNvSpPr>
            <a:spLocks xmlns:a="http://schemas.openxmlformats.org/drawingml/2006/main" noGrp="1"/>
          </p:cNvSpPr>
          <p:nvPr/>
        </p:nvSpPr>
        <p:spPr>
          <a:xfrm xmlns:a="http://schemas.openxmlformats.org/drawingml/2006/main">
            <a:off x="310896" y="740664"/>
            <a:ext cx="8522208" cy="20482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情報技術者（民間資格）11</a:t>
            </a:r>
          </a:p>
          <a:p xmlns:a="http://schemas.openxmlformats.org/drawingml/2006/main">
            <a:pPr algn="ctr">
              <a:defRPr sz="4400" b="0" lang="ja-JP">
                <a:solidFill>
                  <a:srgbClr val="000000"/>
                </a:solidFill>
                <a:latin typeface="Arial"/>
                <a:ea typeface="ＭＳ Ｐゴシック"/>
                <a:cs typeface="ＭＳ Ｐゴシック"/>
              </a:defRPr>
            </a:pPr>
            <a:r>
              <a:rPr sz="4400" b="0" lang="ja-JP">
                <a:solidFill>
                  <a:srgbClr val="000000"/>
                </a:solidFill>
                <a:latin typeface="Arial"/>
                <a:ea typeface="ＭＳ Ｐゴシック"/>
                <a:cs typeface="ＭＳ Ｐゴシック"/>
              </a:rPr>
              <a:t>G検定</a:t>
            </a:r>
          </a:p>
        </p:txBody>
      </p:sp>
      <p:sp>
        <p:nvSpPr>
          <p:cNvPr id="2" name="実習1：データから学習して評価する">
            <a:extLst xmlns:a="http://schemas.openxmlformats.org/drawingml/2006/main">
              <a:ext uri="{FF2B5EF4-FFF2-40B4-BE49-F238E27FC236}">
                <a16:creationId xmlns:a16="http://schemas.microsoft.com/office/drawing/2014/main" id="{AFA38E48-A2C7-4C0C-9AEF-1302F4BD0798}"/>
              </a:ext>
            </a:extLst>
          </p:cNvPr>
          <p:cNvSpPr>
            <a:spLocks xmlns:a="http://schemas.openxmlformats.org/drawingml/2006/main" noGrp="1"/>
          </p:cNvSpPr>
          <p:nvPr/>
        </p:nvSpPr>
        <p:spPr>
          <a:xfrm xmlns:a="http://schemas.openxmlformats.org/drawingml/2006/main">
            <a:off x="457200" y="2971800"/>
            <a:ext cx="8229600" cy="786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900" b="0" lang="ja-JP">
                <a:solidFill>
                  <a:srgbClr val="FF0000"/>
                </a:solidFill>
                <a:latin typeface="Arial"/>
                <a:ea typeface="ＭＳ Ｐゴシック"/>
                <a:cs typeface="ＭＳ Ｐゴシック"/>
              </a:defRPr>
            </a:pPr>
            <a:r>
              <a:rPr sz="2900" b="0" lang="ja-JP">
                <a:solidFill>
                  <a:srgbClr val="FF0000"/>
                </a:solidFill>
                <a:latin typeface="Arial"/>
                <a:ea typeface="ＭＳ Ｐゴシック"/>
                <a:cs typeface="ＭＳ Ｐゴシック"/>
              </a:rPr>
              <a:t>実習1：データから学習して評価する</a:t>
            </a:r>
          </a:p>
        </p:txBody>
      </p:sp>
      <p:sp>
        <p:nvSpPr>
          <p:cNvPr id="3" name="第11回 ／ 90分 ／ 全25枚">
            <a:extLst xmlns:a="http://schemas.openxmlformats.org/drawingml/2006/main">
              <a:ext uri="{FF2B5EF4-FFF2-40B4-BE49-F238E27FC236}">
                <a16:creationId xmlns:a16="http://schemas.microsoft.com/office/drawing/2014/main" id="{92DF504D-DF11-4523-81B9-F1F7CEA15B2E}"/>
              </a:ext>
            </a:extLst>
          </p:cNvPr>
          <p:cNvSpPr>
            <a:spLocks xmlns:a="http://schemas.openxmlformats.org/drawingml/2006/main" noGrp="1"/>
          </p:cNvSpPr>
          <p:nvPr/>
        </p:nvSpPr>
        <p:spPr>
          <a:xfrm xmlns:a="http://schemas.openxmlformats.org/drawingml/2006/main">
            <a:off x="457200" y="4215384"/>
            <a:ext cx="82296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lang="ja-JP">
                <a:solidFill>
                  <a:srgbClr val="707070"/>
                </a:solidFill>
                <a:latin typeface="Arial"/>
                <a:ea typeface="ＭＳ Ｐゴシック"/>
                <a:cs typeface="ＭＳ Ｐゴシック"/>
              </a:defRPr>
            </a:pPr>
            <a:r>
              <a:rPr sz="1600" b="0" lang="ja-JP">
                <a:solidFill>
                  <a:srgbClr val="707070"/>
                </a:solidFill>
                <a:latin typeface="Arial"/>
                <a:ea typeface="ＭＳ Ｐゴシック"/>
                <a:cs typeface="ＭＳ Ｐゴシック"/>
              </a:rPr>
              <a:t>第11回 ／ 90分 ／ 全25枚</a:t>
            </a:r>
          </a:p>
        </p:txBody>
      </p:sp>
      <p:sp>
        <p:nvSpPr>
          <p:cNvPr id="4" name="参照：scikit-learn">
            <a:extLst xmlns:a="http://schemas.openxmlformats.org/drawingml/2006/main">
              <a:ext uri="{FF2B5EF4-FFF2-40B4-BE49-F238E27FC236}">
                <a16:creationId xmlns:a16="http://schemas.microsoft.com/office/drawing/2014/main" id="{B4937A7B-B03C-4593-B5F6-89011B47C6A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1回　1">
            <a:extLst xmlns:a="http://schemas.openxmlformats.org/drawingml/2006/main">
              <a:ext uri="{FF2B5EF4-FFF2-40B4-BE49-F238E27FC236}">
                <a16:creationId xmlns:a16="http://schemas.microsoft.com/office/drawing/2014/main" id="{74F95C29-9FBB-4795-917F-8A48D93990F9}"/>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a:t>
            </a:r>
          </a:p>
        </p:txBody>
      </p:sp>
    </p:spTree>
    <p:extLst>
      <p:ext uri="{BB962C8B-B14F-4D97-AF65-F5344CB8AC3E}">
        <p14:creationId xmlns:p14="http://schemas.microsoft.com/office/powerpoint/2010/main" val="17469620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到達目標">
            <a:extLst xmlns:a="http://schemas.openxmlformats.org/drawingml/2006/main">
              <a:ext uri="{FF2B5EF4-FFF2-40B4-BE49-F238E27FC236}">
                <a16:creationId xmlns:a16="http://schemas.microsoft.com/office/drawing/2014/main" id="{246CF7D3-35E9-4D70-85BB-8E398F7E4B2E}"/>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今日の到達目標</a:t>
            </a:r>
          </a:p>
        </p:txBody>
      </p:sp>
      <p:sp>
        <p:nvSpPr>
          <p:cNvPr id="2" name="">
            <a:extLst xmlns:a="http://schemas.openxmlformats.org/drawingml/2006/main">
              <a:ext uri="{FF2B5EF4-FFF2-40B4-BE49-F238E27FC236}">
                <a16:creationId xmlns:a16="http://schemas.microsoft.com/office/drawing/2014/main" id="{377E8C7B-4664-4014-A950-B34F86D0C11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特徴量と正解データを，コードで確かめる．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データを分割し，モデルを学習して比較する．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正解率と誤分類から，結果の限界を説明する．</a:t>
            </a:r>
          </a:p>
        </p:txBody>
      </p:sp>
      <p:sp>
        <p:nvSpPr>
          <p:cNvPr id="3" name="図・設問：本教材の作例">
            <a:extLst xmlns:a="http://schemas.openxmlformats.org/drawingml/2006/main">
              <a:ext uri="{FF2B5EF4-FFF2-40B4-BE49-F238E27FC236}">
                <a16:creationId xmlns:a16="http://schemas.microsoft.com/office/drawing/2014/main" id="{E3023EC4-DF46-4F5A-A099-9BE9141DA2B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11回　2">
            <a:extLst xmlns:a="http://schemas.openxmlformats.org/drawingml/2006/main">
              <a:ext uri="{FF2B5EF4-FFF2-40B4-BE49-F238E27FC236}">
                <a16:creationId xmlns:a16="http://schemas.microsoft.com/office/drawing/2014/main" id="{EA4C920D-3AEB-418D-8543-48E0A01EF5BB}"/>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a:t>
            </a:r>
          </a:p>
        </p:txBody>
      </p:sp>
    </p:spTree>
    <p:extLst>
      <p:ext uri="{BB962C8B-B14F-4D97-AF65-F5344CB8AC3E}">
        <p14:creationId xmlns:p14="http://schemas.microsoft.com/office/powerpoint/2010/main" val="18159186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今日の実習の流れ">
            <a:extLst xmlns:a="http://schemas.openxmlformats.org/drawingml/2006/main">
              <a:ext uri="{FF2B5EF4-FFF2-40B4-BE49-F238E27FC236}">
                <a16:creationId xmlns:a16="http://schemas.microsoft.com/office/drawing/2014/main" id="{B6F02750-919D-40BD-8534-C3927921773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今日の実習の流れ</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段階</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行うこと</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準備・観察</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ノートブックを開き，データを見る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学習・比較</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同じ訓練・検証データでモデルを比べる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条件の変更</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一つの条件を変え，検証結果を比べる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最終確認・記録</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テストを実行し，結果と限界を説明する</a:t>
                      </a:r>
                    </a:p>
                  </a:txBody>
                  <a:tcPr marL="76200" marR="76200" marT="47625" marB="47625" anchor="ctr">
                    <a:solidFill>
                      <a:srgbClr val="FFFFFF"/>
                    </a:solidFill>
                  </a:tcPr>
                </a:tc>
              </a:tr>
            </a:tbl>
          </a:graphicData>
        </a:graphic>
      </p:graphicFrame>
      <p:sp>
        <p:nvSpPr>
          <p:cNvPr id="3" name="図・設問：本教材の作例">
            <a:extLst xmlns:a="http://schemas.openxmlformats.org/drawingml/2006/main">
              <a:ext uri="{FF2B5EF4-FFF2-40B4-BE49-F238E27FC236}">
                <a16:creationId xmlns:a16="http://schemas.microsoft.com/office/drawing/2014/main" id="{E5E9086F-31E5-4CC0-BD6E-C0ED81FAFAD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4" name="第11回　3">
            <a:extLst xmlns:a="http://schemas.openxmlformats.org/drawingml/2006/main">
              <a:ext uri="{FF2B5EF4-FFF2-40B4-BE49-F238E27FC236}">
                <a16:creationId xmlns:a16="http://schemas.microsoft.com/office/drawing/2014/main" id="{0BB1A273-D98E-4CE2-855F-F672F9C54964}"/>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3</a:t>
            </a:r>
          </a:p>
        </p:txBody>
      </p:sp>
    </p:spTree>
    <p:extLst>
      <p:ext uri="{BB962C8B-B14F-4D97-AF65-F5344CB8AC3E}">
        <p14:creationId xmlns:p14="http://schemas.microsoft.com/office/powerpoint/2010/main" val="20047741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配布ノートブックを開く">
            <a:extLst xmlns:a="http://schemas.openxmlformats.org/drawingml/2006/main">
              <a:ext uri="{FF2B5EF4-FFF2-40B4-BE49-F238E27FC236}">
                <a16:creationId xmlns:a16="http://schemas.microsoft.com/office/drawing/2014/main" id="{5B1D90A6-E047-4B2B-9814-555400A62661}"/>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配布ノートブックを開く</a:t>
            </a:r>
          </a:p>
        </p:txBody>
      </p:sp>
      <p:sp>
        <p:nvSpPr>
          <p:cNvPr id="2" name="">
            <a:extLst xmlns:a="http://schemas.openxmlformats.org/drawingml/2006/main">
              <a:ext uri="{FF2B5EF4-FFF2-40B4-BE49-F238E27FC236}">
                <a16:creationId xmlns:a16="http://schemas.microsoft.com/office/drawing/2014/main" id="{197B0A17-BE94-4742-9D87-96FE5A58E96C}"/>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第11回のpractice.ipynbを開く．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Python 3の実習環境で，最初のセルから実行する．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必要なライブラリと版の表示を確認する．</a:t>
            </a:r>
          </a:p>
        </p:txBody>
      </p:sp>
      <p:sp>
        <p:nvSpPr>
          <p:cNvPr id="3" name="CPUで実行できる，小さな教材を使う．">
            <a:extLst xmlns:a="http://schemas.openxmlformats.org/drawingml/2006/main">
              <a:ext uri="{FF2B5EF4-FFF2-40B4-BE49-F238E27FC236}">
                <a16:creationId xmlns:a16="http://schemas.microsoft.com/office/drawing/2014/main" id="{8AC8153E-3083-4398-A714-704953161530}"/>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CPUで実行できる，小さな教材を使う．</a:t>
            </a:r>
          </a:p>
        </p:txBody>
      </p:sp>
      <p:sp>
        <p:nvSpPr>
          <p:cNvPr id="4" name="図・設問：本教材の作例">
            <a:extLst xmlns:a="http://schemas.openxmlformats.org/drawingml/2006/main">
              <a:ext uri="{FF2B5EF4-FFF2-40B4-BE49-F238E27FC236}">
                <a16:creationId xmlns:a16="http://schemas.microsoft.com/office/drawing/2014/main" id="{864B0B5F-F934-429D-89BF-988BD66B9D5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1回　4">
            <a:extLst xmlns:a="http://schemas.openxmlformats.org/drawingml/2006/main">
              <a:ext uri="{FF2B5EF4-FFF2-40B4-BE49-F238E27FC236}">
                <a16:creationId xmlns:a16="http://schemas.microsoft.com/office/drawing/2014/main" id="{208ADA4A-0375-441E-9E2B-B9F6BA357C5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4</a:t>
            </a:r>
          </a:p>
        </p:txBody>
      </p:sp>
    </p:spTree>
    <p:extLst>
      <p:ext uri="{BB962C8B-B14F-4D97-AF65-F5344CB8AC3E}">
        <p14:creationId xmlns:p14="http://schemas.microsoft.com/office/powerpoint/2010/main" val="21146088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セルの実行と操作">
            <a:extLst xmlns:a="http://schemas.openxmlformats.org/drawingml/2006/main">
              <a:ext uri="{FF2B5EF4-FFF2-40B4-BE49-F238E27FC236}">
                <a16:creationId xmlns:a16="http://schemas.microsoft.com/office/drawing/2014/main" id="{C085572F-5252-49F6-82E3-19B63251E94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セルの実行と操作</a:t>
            </a:r>
          </a:p>
        </p:txBody>
      </p:sp>
      <p:sp>
        <p:nvSpPr>
          <p:cNvPr id="2" name="">
            <a:extLst xmlns:a="http://schemas.openxmlformats.org/drawingml/2006/main">
              <a:ext uri="{FF2B5EF4-FFF2-40B4-BE49-F238E27FC236}">
                <a16:creationId xmlns:a16="http://schemas.microsoft.com/office/drawing/2014/main" id="{671AEFB4-203D-4BE1-A59D-E9354505CBE8}"/>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説明を読み，直後のコードセルを実行する．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エラーが出たら，止まったセルと表示を確かめる．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授業ではセルごとに進め，テストの前で一度止まる．</a:t>
            </a:r>
          </a:p>
        </p:txBody>
      </p:sp>
      <p:sp>
        <p:nvSpPr>
          <p:cNvPr id="3" name="操作に困ったら，表示と実行順序を確認する．">
            <a:extLst xmlns:a="http://schemas.openxmlformats.org/drawingml/2006/main">
              <a:ext uri="{FF2B5EF4-FFF2-40B4-BE49-F238E27FC236}">
                <a16:creationId xmlns:a16="http://schemas.microsoft.com/office/drawing/2014/main" id="{E6887F0F-F02D-43DB-9F0E-5193525FE844}"/>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操作に困ったら，表示と実行順序を確認する．</a:t>
            </a:r>
          </a:p>
        </p:txBody>
      </p:sp>
      <p:sp>
        <p:nvSpPr>
          <p:cNvPr id="4" name="図・設問：本教材の作例">
            <a:extLst xmlns:a="http://schemas.openxmlformats.org/drawingml/2006/main">
              <a:ext uri="{FF2B5EF4-FFF2-40B4-BE49-F238E27FC236}">
                <a16:creationId xmlns:a16="http://schemas.microsoft.com/office/drawing/2014/main" id="{24701FCA-5FD6-40D0-BA37-ACA6656D60D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1回　5">
            <a:extLst xmlns:a="http://schemas.openxmlformats.org/drawingml/2006/main">
              <a:ext uri="{FF2B5EF4-FFF2-40B4-BE49-F238E27FC236}">
                <a16:creationId xmlns:a16="http://schemas.microsoft.com/office/drawing/2014/main" id="{6FF16959-D03D-4F91-A463-3F430CEC1A5D}"/>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5</a:t>
            </a:r>
          </a:p>
        </p:txBody>
      </p:sp>
    </p:spTree>
    <p:extLst>
      <p:ext uri="{BB962C8B-B14F-4D97-AF65-F5344CB8AC3E}">
        <p14:creationId xmlns:p14="http://schemas.microsoft.com/office/powerpoint/2010/main" val="18931161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使うデータ：アヤメの分類">
            <a:extLst xmlns:a="http://schemas.openxmlformats.org/drawingml/2006/main">
              <a:ext uri="{FF2B5EF4-FFF2-40B4-BE49-F238E27FC236}">
                <a16:creationId xmlns:a16="http://schemas.microsoft.com/office/drawing/2014/main" id="{C040182E-F6E2-4A36-ACDD-4490A1D78619}"/>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使うデータ：アヤメの分類</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項目</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内容</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データ数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150件，3種類が各50件</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特徴量</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がく片・花弁の長さと幅の4個</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正解</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setosa・versicolor・virginica</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目的</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計測値から種類を分類する</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B3995E93-A32B-4FD2-B4EF-1E1AEEA823DB}"/>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6">
            <a:extLst xmlns:a="http://schemas.openxmlformats.org/drawingml/2006/main">
              <a:ext uri="{FF2B5EF4-FFF2-40B4-BE49-F238E27FC236}">
                <a16:creationId xmlns:a16="http://schemas.microsoft.com/office/drawing/2014/main" id="{672743A1-4BC6-4B9D-A1B9-0481E49B1CF8}"/>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6</a:t>
            </a:r>
          </a:p>
        </p:txBody>
      </p:sp>
    </p:spTree>
    <p:extLst>
      <p:ext uri="{BB962C8B-B14F-4D97-AF65-F5344CB8AC3E}">
        <p14:creationId xmlns:p14="http://schemas.microsoft.com/office/powerpoint/2010/main" val="1289131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入力Xと正解yを確かめる">
            <a:extLst xmlns:a="http://schemas.openxmlformats.org/drawingml/2006/main">
              <a:ext uri="{FF2B5EF4-FFF2-40B4-BE49-F238E27FC236}">
                <a16:creationId xmlns:a16="http://schemas.microsoft.com/office/drawing/2014/main" id="{12321EA2-7E59-4E0A-AC98-E4C486DB25DA}"/>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入力Xと正解yを確かめる</a:t>
            </a:r>
          </a:p>
        </p:txBody>
      </p:sp>
      <p:sp>
        <p:nvSpPr>
          <p:cNvPr id="2" name="">
            <a:extLst xmlns:a="http://schemas.openxmlformats.org/drawingml/2006/main">
              <a:ext uri="{FF2B5EF4-FFF2-40B4-BE49-F238E27FC236}">
                <a16:creationId xmlns:a16="http://schemas.microsoft.com/office/drawing/2014/main" id="{92646C31-4328-432D-8C93-75F8D06C4DFF}"/>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Xは，行＝花，列＝計測値の表．</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yは，各行に対応する正解の種類．</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形，先頭の行，クラスごとの件数を読む．</a:t>
            </a:r>
          </a:p>
        </p:txBody>
      </p:sp>
      <p:sp>
        <p:nvSpPr>
          <p:cNvPr id="3" name="参照：scikit-learn">
            <a:extLst xmlns:a="http://schemas.openxmlformats.org/drawingml/2006/main">
              <a:ext uri="{FF2B5EF4-FFF2-40B4-BE49-F238E27FC236}">
                <a16:creationId xmlns:a16="http://schemas.microsoft.com/office/drawing/2014/main" id="{C898C4AC-0080-4E64-B48C-EA53DE5CC9B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7">
            <a:extLst xmlns:a="http://schemas.openxmlformats.org/drawingml/2006/main">
              <a:ext uri="{FF2B5EF4-FFF2-40B4-BE49-F238E27FC236}">
                <a16:creationId xmlns:a16="http://schemas.microsoft.com/office/drawing/2014/main" id="{9D6D2AFD-51C6-4372-83A4-A1677E9E829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7</a:t>
            </a:r>
          </a:p>
        </p:txBody>
      </p:sp>
    </p:spTree>
    <p:extLst>
      <p:ext uri="{BB962C8B-B14F-4D97-AF65-F5344CB8AC3E}">
        <p14:creationId xmlns:p14="http://schemas.microsoft.com/office/powerpoint/2010/main" val="6885239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1：散布図を観察する">
            <a:extLst xmlns:a="http://schemas.openxmlformats.org/drawingml/2006/main">
              <a:ext uri="{FF2B5EF4-FFF2-40B4-BE49-F238E27FC236}">
                <a16:creationId xmlns:a16="http://schemas.microsoft.com/office/drawing/2014/main" id="{1D459BE1-4DF4-436B-AA1E-FBE5E916A87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実習1：散布図を観察する</a:t>
            </a:r>
          </a:p>
        </p:txBody>
      </p:sp>
      <p:sp>
        <p:nvSpPr>
          <p:cNvPr id="2" name="">
            <a:extLst xmlns:a="http://schemas.openxmlformats.org/drawingml/2006/main">
              <a:ext uri="{FF2B5EF4-FFF2-40B4-BE49-F238E27FC236}">
                <a16:creationId xmlns:a16="http://schemas.microsoft.com/office/drawing/2014/main" id="{8FFADCAF-6137-4B09-9668-68927E6BC57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二つの計測値を，横軸と縦軸に置く．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種類ごとの点の重なりを読む．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二つの特徴量だけで，区別できそうか話し合う．</a:t>
            </a:r>
          </a:p>
        </p:txBody>
      </p:sp>
      <p:sp>
        <p:nvSpPr>
          <p:cNvPr id="3" name="見やすい図でも，評価の代わりにはならない．">
            <a:extLst xmlns:a="http://schemas.openxmlformats.org/drawingml/2006/main">
              <a:ext uri="{FF2B5EF4-FFF2-40B4-BE49-F238E27FC236}">
                <a16:creationId xmlns:a16="http://schemas.microsoft.com/office/drawing/2014/main" id="{B9175894-8686-4197-AB39-3109E697A889}"/>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見やすい図でも，評価の代わりにはならない．</a:t>
            </a:r>
          </a:p>
        </p:txBody>
      </p:sp>
      <p:sp>
        <p:nvSpPr>
          <p:cNvPr id="4" name="参照：scikit-learn">
            <a:extLst xmlns:a="http://schemas.openxmlformats.org/drawingml/2006/main">
              <a:ext uri="{FF2B5EF4-FFF2-40B4-BE49-F238E27FC236}">
                <a16:creationId xmlns:a16="http://schemas.microsoft.com/office/drawing/2014/main" id="{6A46B53C-D498-482A-B5B4-CC39FA24F7A1}"/>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1回　8">
            <a:extLst xmlns:a="http://schemas.openxmlformats.org/drawingml/2006/main">
              <a:ext uri="{FF2B5EF4-FFF2-40B4-BE49-F238E27FC236}">
                <a16:creationId xmlns:a16="http://schemas.microsoft.com/office/drawing/2014/main" id="{258EC299-F144-4CBB-B8CA-A35ACB46256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8</a:t>
            </a:r>
          </a:p>
        </p:txBody>
      </p:sp>
    </p:spTree>
    <p:extLst>
      <p:ext uri="{BB962C8B-B14F-4D97-AF65-F5344CB8AC3E}">
        <p14:creationId xmlns:p14="http://schemas.microsoft.com/office/powerpoint/2010/main" val="20785742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データを三つに分ける">
            <a:extLst xmlns:a="http://schemas.openxmlformats.org/drawingml/2006/main">
              <a:ext uri="{FF2B5EF4-FFF2-40B4-BE49-F238E27FC236}">
                <a16:creationId xmlns:a16="http://schemas.microsoft.com/office/drawing/2014/main" id="{9CF2B9BF-A06A-449B-B738-89C7152FCE9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データを三つに分ける</a:t>
            </a:r>
          </a:p>
        </p:txBody>
      </p:sp>
      <p:sp>
        <p:nvSpPr>
          <p:cNvPr id="2" name="訓練90件&#10;学習に使う">
            <a:extLst xmlns:a="http://schemas.openxmlformats.org/drawingml/2006/main">
              <a:ext uri="{FF2B5EF4-FFF2-40B4-BE49-F238E27FC236}">
                <a16:creationId xmlns:a16="http://schemas.microsoft.com/office/drawing/2014/main" id="{A1E72AE0-3A46-40FD-B8E7-198173D6F3E0}"/>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訓練90件</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学習に使う</a:t>
            </a:r>
          </a:p>
        </p:txBody>
      </p:sp>
      <p:sp>
        <p:nvSpPr>
          <p:cNvPr id="3" name="検証30件&#10;条件を選ぶ">
            <a:extLst xmlns:a="http://schemas.openxmlformats.org/drawingml/2006/main">
              <a:ext uri="{FF2B5EF4-FFF2-40B4-BE49-F238E27FC236}">
                <a16:creationId xmlns:a16="http://schemas.microsoft.com/office/drawing/2014/main" id="{86019DD9-F4FA-4628-A14C-8891E2BFDC87}"/>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検証30件</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条件を選ぶ</a:t>
            </a:r>
          </a:p>
        </p:txBody>
      </p:sp>
      <p:sp>
        <p:nvSpPr>
          <p:cNvPr id="4" name="テスト30件&#10;最後に確かめる">
            <a:extLst xmlns:a="http://schemas.openxmlformats.org/drawingml/2006/main">
              <a:ext uri="{FF2B5EF4-FFF2-40B4-BE49-F238E27FC236}">
                <a16:creationId xmlns:a16="http://schemas.microsoft.com/office/drawing/2014/main" id="{837B990F-6A33-45DA-B67E-95EF9419701D}"/>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テスト30件</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最後に確かめる</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scikit-learn">
            <a:extLst xmlns:a="http://schemas.openxmlformats.org/drawingml/2006/main">
              <a:ext uri="{FF2B5EF4-FFF2-40B4-BE49-F238E27FC236}">
                <a16:creationId xmlns:a16="http://schemas.microsoft.com/office/drawing/2014/main" id="{973DBB45-6420-43CC-99B6-62BFC56462A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8" name="第11回　9">
            <a:extLst xmlns:a="http://schemas.openxmlformats.org/drawingml/2006/main">
              <a:ext uri="{FF2B5EF4-FFF2-40B4-BE49-F238E27FC236}">
                <a16:creationId xmlns:a16="http://schemas.microsoft.com/office/drawing/2014/main" id="{B767C9AD-F8BD-4CF6-95CC-AB088FA4993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9</a:t>
            </a:r>
          </a:p>
        </p:txBody>
      </p:sp>
    </p:spTree>
    <p:extLst>
      <p:ext uri="{BB962C8B-B14F-4D97-AF65-F5344CB8AC3E}">
        <p14:creationId xmlns:p14="http://schemas.microsoft.com/office/powerpoint/2010/main" val="5414689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分割をそろえる理由">
            <a:extLst xmlns:a="http://schemas.openxmlformats.org/drawingml/2006/main">
              <a:ext uri="{FF2B5EF4-FFF2-40B4-BE49-F238E27FC236}">
                <a16:creationId xmlns:a16="http://schemas.microsoft.com/office/drawing/2014/main" id="{BC8E9A03-68E5-4C97-B819-6611866D0B8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分割をそろえる理由</a:t>
            </a:r>
          </a:p>
        </p:txBody>
      </p:sp>
      <p:sp>
        <p:nvSpPr>
          <p:cNvPr id="2" name="">
            <a:extLst xmlns:a="http://schemas.openxmlformats.org/drawingml/2006/main">
              <a:ext uri="{FF2B5EF4-FFF2-40B4-BE49-F238E27FC236}">
                <a16:creationId xmlns:a16="http://schemas.microsoft.com/office/drawing/2014/main" id="{5A48000F-9260-4C31-9012-776854339B2B}"/>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同じ分割で，モデルや条件を比べる．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ランダムシードを固定し，分け方を記録する．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クラスの割合を，大きく崩さないようにする．</a:t>
            </a:r>
          </a:p>
        </p:txBody>
      </p:sp>
      <p:sp>
        <p:nvSpPr>
          <p:cNvPr id="3" name="参照：scikit-learn">
            <a:extLst xmlns:a="http://schemas.openxmlformats.org/drawingml/2006/main">
              <a:ext uri="{FF2B5EF4-FFF2-40B4-BE49-F238E27FC236}">
                <a16:creationId xmlns:a16="http://schemas.microsoft.com/office/drawing/2014/main" id="{77DBEC56-ABBD-4243-8413-78D0D6FED1EE}"/>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10">
            <a:extLst xmlns:a="http://schemas.openxmlformats.org/drawingml/2006/main">
              <a:ext uri="{FF2B5EF4-FFF2-40B4-BE49-F238E27FC236}">
                <a16:creationId xmlns:a16="http://schemas.microsoft.com/office/drawing/2014/main" id="{F8270862-D721-49A4-897C-54E3F8A58AA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10</a:t>
            </a:r>
          </a:p>
        </p:txBody>
      </p:sp>
    </p:spTree>
    <p:extLst>
      <p:ext uri="{BB962C8B-B14F-4D97-AF65-F5344CB8AC3E}">
        <p14:creationId xmlns:p14="http://schemas.microsoft.com/office/powerpoint/2010/main" val="7646563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三つの比較対象">
            <a:extLst xmlns:a="http://schemas.openxmlformats.org/drawingml/2006/main">
              <a:ext uri="{FF2B5EF4-FFF2-40B4-BE49-F238E27FC236}">
                <a16:creationId xmlns:a16="http://schemas.microsoft.com/office/drawing/2014/main" id="{F2FF79F1-CE62-4AF9-8F22-4656C7F15E10}"/>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三つの比較対象</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モデル</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特徴</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基準のモデル</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常に一つのクラスを予測する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ロジスティック回帰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標準化した特徴で種類を予測する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決定木</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計測値の条件で枝分かれする</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B588E7BF-6830-46AB-8945-104942642142}"/>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11">
            <a:extLst xmlns:a="http://schemas.openxmlformats.org/drawingml/2006/main">
              <a:ext uri="{FF2B5EF4-FFF2-40B4-BE49-F238E27FC236}">
                <a16:creationId xmlns:a16="http://schemas.microsoft.com/office/drawing/2014/main" id="{1D9DB83E-D574-401B-9589-5949015D7BF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11</a:t>
            </a:r>
          </a:p>
        </p:txBody>
      </p:sp>
    </p:spTree>
    <p:extLst>
      <p:ext uri="{BB962C8B-B14F-4D97-AF65-F5344CB8AC3E}">
        <p14:creationId xmlns:p14="http://schemas.microsoft.com/office/powerpoint/2010/main" val="8868611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学習と推論を実行する">
            <a:extLst xmlns:a="http://schemas.openxmlformats.org/drawingml/2006/main">
              <a:ext uri="{FF2B5EF4-FFF2-40B4-BE49-F238E27FC236}">
                <a16:creationId xmlns:a16="http://schemas.microsoft.com/office/drawing/2014/main" id="{7AFD6678-200C-4593-93BA-4C38B07FD1E7}"/>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学習と推論を実行する</a:t>
            </a:r>
          </a:p>
        </p:txBody>
      </p:sp>
      <p:sp>
        <p:nvSpPr>
          <p:cNvPr id="2" name="">
            <a:extLst xmlns:a="http://schemas.openxmlformats.org/drawingml/2006/main">
              <a:ext uri="{FF2B5EF4-FFF2-40B4-BE49-F238E27FC236}">
                <a16:creationId xmlns:a16="http://schemas.microsoft.com/office/drawing/2014/main" id="{CF424D9E-1447-4C33-9FF4-517DF8353F65}"/>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model.fit(X_train, y_train)：訓練データで学習</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model.predict(X_val)：検証データの予測</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正解と予測を比べ，正解率を計算する．</a:t>
            </a:r>
          </a:p>
        </p:txBody>
      </p:sp>
      <p:sp>
        <p:nvSpPr>
          <p:cNvPr id="3" name="参照：scikit-learn">
            <a:extLst xmlns:a="http://schemas.openxmlformats.org/drawingml/2006/main">
              <a:ext uri="{FF2B5EF4-FFF2-40B4-BE49-F238E27FC236}">
                <a16:creationId xmlns:a16="http://schemas.microsoft.com/office/drawing/2014/main" id="{ABBCA467-4004-4050-949F-75C229E53C7D}"/>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12">
            <a:extLst xmlns:a="http://schemas.openxmlformats.org/drawingml/2006/main">
              <a:ext uri="{FF2B5EF4-FFF2-40B4-BE49-F238E27FC236}">
                <a16:creationId xmlns:a16="http://schemas.microsoft.com/office/drawing/2014/main" id="{4A7B855E-A4B8-48F5-8834-765C80159CFC}"/>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12</a:t>
            </a:r>
          </a:p>
        </p:txBody>
      </p:sp>
    </p:spTree>
    <p:extLst>
      <p:ext uri="{BB962C8B-B14F-4D97-AF65-F5344CB8AC3E}">
        <p14:creationId xmlns:p14="http://schemas.microsoft.com/office/powerpoint/2010/main" val="8291930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2：基準の結果を確かめる">
            <a:extLst xmlns:a="http://schemas.openxmlformats.org/drawingml/2006/main">
              <a:ext uri="{FF2B5EF4-FFF2-40B4-BE49-F238E27FC236}">
                <a16:creationId xmlns:a16="http://schemas.microsoft.com/office/drawing/2014/main" id="{12227B86-29E9-44C8-9790-8D91ED8D092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実習2：基準の結果を確かめる</a:t>
            </a:r>
          </a:p>
        </p:txBody>
      </p:sp>
      <p:sp>
        <p:nvSpPr>
          <p:cNvPr id="2" name="">
            <a:extLst xmlns:a="http://schemas.openxmlformats.org/drawingml/2006/main">
              <a:ext uri="{FF2B5EF4-FFF2-40B4-BE49-F238E27FC236}">
                <a16:creationId xmlns:a16="http://schemas.microsoft.com/office/drawing/2014/main" id="{01678F99-75D3-4152-B4CB-B0FE2CA0F882}"/>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基準のモデルの検証正解率を読む．</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一つのクラスしか出していない理由を考える．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学習した二つのモデルと比べる．</a:t>
            </a:r>
          </a:p>
        </p:txBody>
      </p:sp>
      <p:sp>
        <p:nvSpPr>
          <p:cNvPr id="3" name="比較の基準があると，改善の意味を考えやすい．">
            <a:extLst xmlns:a="http://schemas.openxmlformats.org/drawingml/2006/main">
              <a:ext uri="{FF2B5EF4-FFF2-40B4-BE49-F238E27FC236}">
                <a16:creationId xmlns:a16="http://schemas.microsoft.com/office/drawing/2014/main" id="{ACD09EE4-476B-4CDD-8BA7-9118B166BB4B}"/>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比較の基準があると，改善の意味を考えやすい．</a:t>
            </a:r>
          </a:p>
        </p:txBody>
      </p:sp>
      <p:sp>
        <p:nvSpPr>
          <p:cNvPr id="4" name="参照：scikit-learn">
            <a:extLst xmlns:a="http://schemas.openxmlformats.org/drawingml/2006/main">
              <a:ext uri="{FF2B5EF4-FFF2-40B4-BE49-F238E27FC236}">
                <a16:creationId xmlns:a16="http://schemas.microsoft.com/office/drawing/2014/main" id="{8B032635-97F3-430E-B2BA-31725757A77C}"/>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1回　13">
            <a:extLst xmlns:a="http://schemas.openxmlformats.org/drawingml/2006/main">
              <a:ext uri="{FF2B5EF4-FFF2-40B4-BE49-F238E27FC236}">
                <a16:creationId xmlns:a16="http://schemas.microsoft.com/office/drawing/2014/main" id="{6736178F-5E07-49B8-A6BB-5A64D76F1031}"/>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13</a:t>
            </a:r>
          </a:p>
        </p:txBody>
      </p:sp>
    </p:spTree>
    <p:extLst>
      <p:ext uri="{BB962C8B-B14F-4D97-AF65-F5344CB8AC3E}">
        <p14:creationId xmlns:p14="http://schemas.microsoft.com/office/powerpoint/2010/main" val="19501874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行結果の例：正解率">
            <a:extLst xmlns:a="http://schemas.openxmlformats.org/drawingml/2006/main">
              <a:ext uri="{FF2B5EF4-FFF2-40B4-BE49-F238E27FC236}">
                <a16:creationId xmlns:a16="http://schemas.microsoft.com/office/drawing/2014/main" id="{D8E392A5-1E50-4058-AFFC-84E5C3A72C76}"/>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実行結果の例：正解率</a:t>
            </a:r>
          </a:p>
        </p:txBody>
      </p:sp>
      <p:graphicFrame>
        <p:nvGraphicFramePr>
          <p:cNvPr id="7"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2788920"/>
                <a:gridCol w="2788920"/>
                <a:gridCol w="2788920"/>
              </a:tblGrid>
              <a:tr h="630936">
                <a:tc>
                  <a:txBody>
                    <a:bodyPr>
                      <a:noAutofit/>
                    </a:bodyPr>
                    <a:lstStyle/>
                    <a:p>
                      <a:pPr algn="ctr"/>
                      <a:r>
                        <a:rPr sz="1800" b="1" lang="ja-JP">
                          <a:solidFill>
                            <a:srgbClr val="000000"/>
                          </a:solidFill>
                          <a:latin typeface="Arial"/>
                          <a:ea typeface="ＭＳ Ｐゴシック"/>
                          <a:cs typeface="ＭＳ Ｐゴシック"/>
                        </a:rPr>
                        <a:t>モデル</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訓練90件</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検証30件</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基準</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33.3％</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33.3％</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ロジスティック回帰</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97.8％</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93.3％</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決定木（深さ3）</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98.9％</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90.0％</a:t>
                      </a:r>
                    </a:p>
                  </a:txBody>
                  <a:tcPr marL="76200" marR="76200" marT="47625" marB="47625" anchor="ctr">
                    <a:solidFill>
                      <a:srgbClr val="FFFFFF"/>
                    </a:solidFill>
                  </a:tcPr>
                </a:tc>
              </a:tr>
            </a:tbl>
          </a:graphicData>
        </a:graphic>
      </p:graphicFrame>
      <p:sp>
        <p:nvSpPr>
          <p:cNvPr id="3" name="結果には，分割・設定・データ数を添える．">
            <a:extLst xmlns:a="http://schemas.openxmlformats.org/drawingml/2006/main">
              <a:ext uri="{FF2B5EF4-FFF2-40B4-BE49-F238E27FC236}">
                <a16:creationId xmlns:a16="http://schemas.microsoft.com/office/drawing/2014/main" id="{33FBB7DE-B319-4787-A86E-5714CA1CD76F}"/>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結果には，分割・設定・データ数を添える．</a:t>
            </a:r>
          </a:p>
        </p:txBody>
      </p:sp>
      <p:sp>
        <p:nvSpPr>
          <p:cNvPr id="4" name="図・設問：本教材の作例">
            <a:extLst xmlns:a="http://schemas.openxmlformats.org/drawingml/2006/main">
              <a:ext uri="{FF2B5EF4-FFF2-40B4-BE49-F238E27FC236}">
                <a16:creationId xmlns:a16="http://schemas.microsoft.com/office/drawing/2014/main" id="{8142E4BA-853B-4396-80D3-970F9034294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1回　14">
            <a:extLst xmlns:a="http://schemas.openxmlformats.org/drawingml/2006/main">
              <a:ext uri="{FF2B5EF4-FFF2-40B4-BE49-F238E27FC236}">
                <a16:creationId xmlns:a16="http://schemas.microsoft.com/office/drawing/2014/main" id="{8C13E3C6-96B1-4533-BDF1-7C18265C83D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14</a:t>
            </a:r>
          </a:p>
        </p:txBody>
      </p:sp>
    </p:spTree>
    <p:extLst>
      <p:ext uri="{BB962C8B-B14F-4D97-AF65-F5344CB8AC3E}">
        <p14:creationId xmlns:p14="http://schemas.microsoft.com/office/powerpoint/2010/main" val="1489011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変えて比較する条件">
            <a:extLst xmlns:a="http://schemas.openxmlformats.org/drawingml/2006/main">
              <a:ext uri="{FF2B5EF4-FFF2-40B4-BE49-F238E27FC236}">
                <a16:creationId xmlns:a16="http://schemas.microsoft.com/office/drawing/2014/main" id="{AD525BB0-49C8-44F9-866C-A8FAB7AE5A0E}"/>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変えて比較する条件</a:t>
            </a:r>
          </a:p>
        </p:txBody>
      </p:sp>
      <p:graphicFrame>
        <p:nvGraphicFramePr>
          <p:cNvPr id="6" name=""/>
          <p:cNvGraphicFramePr/>
          <p:nvPr/>
        </p:nvGraphicFramePr>
        <p:xfrm>
          <a:off xmlns:a="http://schemas.openxmlformats.org/drawingml/2006/main" x="365760" y="1243584"/>
          <a:ext xmlns:a="http://schemas.openxmlformats.org/drawingml/2006/main" cx="8366760" cy="2523744"/>
        </p:xfrm>
        <a:graphic xmlns:a="http://schemas.openxmlformats.org/drawingml/2006/main">
          <a:graphicData uri="http://schemas.openxmlformats.org/drawingml/2006/table">
            <a:tbl>
              <a:tblPr firstRow="0" bandRow="0"/>
              <a:tblGrid>
                <a:gridCol w="4183380"/>
                <a:gridCol w="4183380"/>
              </a:tblGrid>
              <a:tr h="630936">
                <a:tc>
                  <a:txBody>
                    <a:bodyPr>
                      <a:noAutofit/>
                    </a:bodyPr>
                    <a:lstStyle/>
                    <a:p>
                      <a:pPr algn="ctr"/>
                      <a:r>
                        <a:rPr sz="1800" b="1" lang="ja-JP">
                          <a:solidFill>
                            <a:srgbClr val="000000"/>
                          </a:solidFill>
                          <a:latin typeface="Arial"/>
                          <a:ea typeface="ＭＳ Ｐゴシック"/>
                          <a:cs typeface="ＭＳ Ｐゴシック"/>
                        </a:rPr>
                        <a:t>条件</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今回の変更の例</a:t>
                      </a:r>
                    </a:p>
                  </a:txBody>
                  <a:tcPr marL="76200" marR="76200" marT="47625" marB="47625" anchor="ctr">
                    <a:solidFill>
                      <a:srgbClr val="F3F3F3"/>
                    </a:solidFill>
                  </a:tcPr>
                </a:tc>
              </a:tr>
              <a:tr h="630936">
                <a:tc>
                  <a:txBody>
                    <a:bodyPr>
                      <a:noAutofit/>
                    </a:bodyPr>
                    <a:lstStyle/>
                    <a:p>
                      <a:pPr algn="ctr"/>
                      <a:r>
                        <a:rPr sz="1800" b="0" lang="ja-JP">
                          <a:solidFill>
                            <a:srgbClr val="404040"/>
                          </a:solidFill>
                          <a:latin typeface="Arial"/>
                          <a:ea typeface="ＭＳ Ｐゴシック"/>
                          <a:cs typeface="ＭＳ Ｐゴシック"/>
                        </a:rPr>
                        <a:t>使う特徴量</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FEATURESを[0,1]へ変更する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木の深さ</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TREE_DEPTHだけを変更する</a:t>
                      </a:r>
                    </a:p>
                  </a:txBody>
                  <a:tcPr marL="76200" marR="76200" marT="47625" marB="47625" anchor="ctr">
                    <a:solidFill>
                      <a:srgbClr val="FFFFFF"/>
                    </a:solidFill>
                  </a:tcPr>
                </a:tc>
              </a:tr>
              <a:tr h="630936">
                <a:tc>
                  <a:txBody>
                    <a:bodyPr>
                      <a:noAutofit/>
                    </a:bodyPr>
                    <a:lstStyle/>
                    <a:p>
                      <a:pPr algn="ctr"/>
                      <a:r>
                        <a:rPr sz="1800" b="0" lang="ja-JP">
                          <a:solidFill>
                            <a:srgbClr val="404040"/>
                          </a:solidFill>
                          <a:latin typeface="Arial"/>
                          <a:ea typeface="ＭＳ Ｐゴシック"/>
                          <a:cs typeface="ＭＳ Ｐゴシック"/>
                        </a:rPr>
                        <a:t>そろえるもの</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分割，その他の設定，評価方法</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01604C77-88AB-44A1-BD69-223ECED62C7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15">
            <a:extLst xmlns:a="http://schemas.openxmlformats.org/drawingml/2006/main">
              <a:ext uri="{FF2B5EF4-FFF2-40B4-BE49-F238E27FC236}">
                <a16:creationId xmlns:a16="http://schemas.microsoft.com/office/drawing/2014/main" id="{8EC2DA6B-7327-4DE1-BDDA-04F02248CF9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15</a:t>
            </a:r>
          </a:p>
        </p:txBody>
      </p:sp>
    </p:spTree>
    <p:extLst>
      <p:ext uri="{BB962C8B-B14F-4D97-AF65-F5344CB8AC3E}">
        <p14:creationId xmlns:p14="http://schemas.microsoft.com/office/powerpoint/2010/main" val="12889601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標準化は訓練から求める">
            <a:extLst xmlns:a="http://schemas.openxmlformats.org/drawingml/2006/main">
              <a:ext uri="{FF2B5EF4-FFF2-40B4-BE49-F238E27FC236}">
                <a16:creationId xmlns:a16="http://schemas.microsoft.com/office/drawing/2014/main" id="{13F4C8C1-C834-4C44-BC31-5E6F8D08D1A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標準化は訓練から求める</a:t>
            </a:r>
          </a:p>
        </p:txBody>
      </p:sp>
      <p:sp>
        <p:nvSpPr>
          <p:cNvPr id="2" name="訓練データで&#10;平均などを求める">
            <a:extLst xmlns:a="http://schemas.openxmlformats.org/drawingml/2006/main">
              <a:ext uri="{FF2B5EF4-FFF2-40B4-BE49-F238E27FC236}">
                <a16:creationId xmlns:a16="http://schemas.microsoft.com/office/drawing/2014/main" id="{C6DC332A-23B5-4C41-9333-96D9B892757D}"/>
              </a:ext>
            </a:extLst>
          </p:cNvPr>
          <p:cNvSpPr>
            <a:spLocks xmlns:a="http://schemas.openxmlformats.org/drawingml/2006/main" noGrp="1"/>
          </p:cNvSpPr>
          <p:nvPr/>
        </p:nvSpPr>
        <p:spPr>
          <a:xfrm xmlns:a="http://schemas.openxmlformats.org/drawingml/2006/main">
            <a:off x="59436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訓練データで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平均などを求める</a:t>
            </a:r>
          </a:p>
        </p:txBody>
      </p:sp>
      <p:sp>
        <p:nvSpPr>
          <p:cNvPr id="3" name="同じ変換で&#10;検証を処理する">
            <a:extLst xmlns:a="http://schemas.openxmlformats.org/drawingml/2006/main">
              <a:ext uri="{FF2B5EF4-FFF2-40B4-BE49-F238E27FC236}">
                <a16:creationId xmlns:a16="http://schemas.microsoft.com/office/drawing/2014/main" id="{699C9733-21DF-4B0E-B7FD-57281278FA94}"/>
              </a:ext>
            </a:extLst>
          </p:cNvPr>
          <p:cNvSpPr>
            <a:spLocks xmlns:a="http://schemas.openxmlformats.org/drawingml/2006/main" noGrp="1"/>
          </p:cNvSpPr>
          <p:nvPr/>
        </p:nvSpPr>
        <p:spPr>
          <a:xfrm xmlns:a="http://schemas.openxmlformats.org/drawingml/2006/main">
            <a:off x="324612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同じ変換で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検証を処理する</a:t>
            </a:r>
          </a:p>
        </p:txBody>
      </p:sp>
      <p:sp>
        <p:nvSpPr>
          <p:cNvPr id="4" name="学習したモデルで&#10;予測する">
            <a:extLst xmlns:a="http://schemas.openxmlformats.org/drawingml/2006/main">
              <a:ext uri="{FF2B5EF4-FFF2-40B4-BE49-F238E27FC236}">
                <a16:creationId xmlns:a16="http://schemas.microsoft.com/office/drawing/2014/main" id="{52ED7C2B-119E-42FB-9794-5F883AC8800E}"/>
              </a:ext>
            </a:extLst>
          </p:cNvPr>
          <p:cNvSpPr>
            <a:spLocks xmlns:a="http://schemas.openxmlformats.org/drawingml/2006/main" noGrp="1"/>
          </p:cNvSpPr>
          <p:nvPr/>
        </p:nvSpPr>
        <p:spPr>
          <a:xfrm xmlns:a="http://schemas.openxmlformats.org/drawingml/2006/main">
            <a:off x="5897880" y="1828800"/>
            <a:ext cx="2304288" cy="960120"/>
          </a:xfrm>
          <a:prstGeom xmlns:a="http://schemas.openxmlformats.org/drawingml/2006/main" prst="rect">
            <a:avLst/>
          </a:prstGeom>
          <a:solidFill xmlns:a="http://schemas.openxmlformats.org/drawingml/2006/main">
            <a:srgbClr val="FFFFFF"/>
          </a:solidFill>
          <a:ln xmlns:a="http://schemas.openxmlformats.org/drawingml/2006/main" w="9525">
            <a:solidFill>
              <a:srgbClr val="B8B8B8"/>
            </a:solidFill>
          </a:ln>
        </p:spPr>
        <p:txBody>
          <a:bodyPr xmlns:a="http://schemas.openxmlformats.org/drawingml/2006/main" wrap="square" lIns="66675" tIns="38100" rIns="66675" bIns="38100" anchor="ctr">
            <a:noAutofit/>
          </a:bodyPr>
          <a:lstStyle xmlns:a="http://schemas.openxmlformats.org/drawingml/2006/main"/>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学習したモデルで</a:t>
            </a:r>
          </a:p>
          <a:p xmlns:a="http://schemas.openxmlformats.org/drawingml/2006/main">
            <a:pPr algn="ctr">
              <a:defRPr sz="2000" lang="ja-JP">
                <a:solidFill>
                  <a:srgbClr val="404040"/>
                </a:solidFill>
                <a:latin typeface="Arial"/>
                <a:ea typeface="ＭＳ Ｐゴシック"/>
                <a:cs typeface="ＭＳ Ｐゴシック"/>
              </a:defRPr>
            </a:pPr>
            <a:r>
              <a:rPr sz="2000" lang="ja-JP">
                <a:solidFill>
                  <a:srgbClr val="404040"/>
                </a:solidFill>
                <a:latin typeface="Arial"/>
                <a:ea typeface="ＭＳ Ｐゴシック"/>
                <a:cs typeface="ＭＳ Ｐゴシック"/>
              </a:rPr>
              <a:t>予測する</a:t>
            </a:r>
          </a:p>
        </p:txBody>
      </p:sp>
      <p:cxnSp>
        <p:nvCxnSpPr>
          <p:cNvPr id="13" name=""/>
          <p:cNvCxnSpPr>
            <a:stCxn xmlns:a="http://schemas.openxmlformats.org/drawingml/2006/main" id="2" idx="3"/>
            <a:endCxn xmlns:a="http://schemas.openxmlformats.org/drawingml/2006/main" id="3" idx="1"/>
          </p:cNvCxnSpPr>
          <p:nvPr/>
        </p:nvCxnSpPr>
        <p:spPr>
          <a:xfrm xmlns:a="http://schemas.openxmlformats.org/drawingml/2006/main">
            <a:off x="289864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5550408" y="2308860"/>
            <a:ext cx="347472" cy="0"/>
          </a:xfrm>
          <a:prstGeom xmlns:a="http://schemas.openxmlformats.org/drawingml/2006/main" prst="straightConnector1">
            <a:avLst/>
          </a:prstGeom>
          <a:ln xmlns:a="http://schemas.openxmlformats.org/drawingml/2006/main" w="16193">
            <a:solidFill>
              <a:srgbClr val="707070"/>
            </a:solidFill>
            <a:tailEnd type="triangle" w="sm" len="sm"/>
          </a:ln>
        </p:spPr>
      </p:cxnSp>
      <p:sp>
        <p:nvSpPr>
          <p:cNvPr id="7" name="参照：scikit-learn">
            <a:extLst xmlns:a="http://schemas.openxmlformats.org/drawingml/2006/main">
              <a:ext uri="{FF2B5EF4-FFF2-40B4-BE49-F238E27FC236}">
                <a16:creationId xmlns:a16="http://schemas.microsoft.com/office/drawing/2014/main" id="{9D74287A-E706-480C-82B9-23DB8448B478}"/>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8" name="第11回　16">
            <a:extLst xmlns:a="http://schemas.openxmlformats.org/drawingml/2006/main">
              <a:ext uri="{FF2B5EF4-FFF2-40B4-BE49-F238E27FC236}">
                <a16:creationId xmlns:a16="http://schemas.microsoft.com/office/drawing/2014/main" id="{61932BFC-EC33-4399-967A-E0777A1C247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16</a:t>
            </a:r>
          </a:p>
        </p:txBody>
      </p:sp>
    </p:spTree>
    <p:extLst>
      <p:ext uri="{BB962C8B-B14F-4D97-AF65-F5344CB8AC3E}">
        <p14:creationId xmlns:p14="http://schemas.microsoft.com/office/powerpoint/2010/main" val="847114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3：条件を一つだけ変える">
            <a:extLst xmlns:a="http://schemas.openxmlformats.org/drawingml/2006/main">
              <a:ext uri="{FF2B5EF4-FFF2-40B4-BE49-F238E27FC236}">
                <a16:creationId xmlns:a16="http://schemas.microsoft.com/office/drawing/2014/main" id="{378F1B18-B9B2-4804-AFEE-74FAFE0817E5}"/>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実習3：条件を一つだけ変える</a:t>
            </a:r>
          </a:p>
        </p:txBody>
      </p:sp>
      <p:sp>
        <p:nvSpPr>
          <p:cNvPr id="2" name="">
            <a:extLst xmlns:a="http://schemas.openxmlformats.org/drawingml/2006/main">
              <a:ext uri="{FF2B5EF4-FFF2-40B4-BE49-F238E27FC236}">
                <a16:creationId xmlns:a16="http://schemas.microsoft.com/office/drawing/2014/main" id="{BD24EE65-7436-4CD7-B1C7-868C4CA3B589}"/>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設定セルを一つ変え，下のセルを再実行する．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訓練・検証の正解率と，変更内容を記録する．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テストを実行する前に，条件を決める．</a:t>
            </a:r>
          </a:p>
        </p:txBody>
      </p:sp>
      <p:sp>
        <p:nvSpPr>
          <p:cNvPr id="3" name="高い訓練正解率だけで，設定を選ばない．">
            <a:extLst xmlns:a="http://schemas.openxmlformats.org/drawingml/2006/main">
              <a:ext uri="{FF2B5EF4-FFF2-40B4-BE49-F238E27FC236}">
                <a16:creationId xmlns:a16="http://schemas.microsoft.com/office/drawing/2014/main" id="{8E9C530B-4CEA-4C82-B778-EED086310F11}"/>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高い訓練正解率だけで，設定を選ばない．</a:t>
            </a:r>
          </a:p>
        </p:txBody>
      </p:sp>
      <p:sp>
        <p:nvSpPr>
          <p:cNvPr id="4" name="図・設問：本教材の作例">
            <a:extLst xmlns:a="http://schemas.openxmlformats.org/drawingml/2006/main">
              <a:ext uri="{FF2B5EF4-FFF2-40B4-BE49-F238E27FC236}">
                <a16:creationId xmlns:a16="http://schemas.microsoft.com/office/drawing/2014/main" id="{AF116C6A-BE7C-4AC8-B239-11F5E695A7C3}"/>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1回　17">
            <a:extLst xmlns:a="http://schemas.openxmlformats.org/drawingml/2006/main">
              <a:ext uri="{FF2B5EF4-FFF2-40B4-BE49-F238E27FC236}">
                <a16:creationId xmlns:a16="http://schemas.microsoft.com/office/drawing/2014/main" id="{0FE0DE39-6A50-44D2-B0DE-2F115EEAAC26}"/>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17</a:t>
            </a:r>
          </a:p>
        </p:txBody>
      </p:sp>
    </p:spTree>
    <p:extLst>
      <p:ext uri="{BB962C8B-B14F-4D97-AF65-F5344CB8AC3E}">
        <p14:creationId xmlns:p14="http://schemas.microsoft.com/office/powerpoint/2010/main" val="13770053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比較結果をどう読むか">
            <a:extLst xmlns:a="http://schemas.openxmlformats.org/drawingml/2006/main">
              <a:ext uri="{FF2B5EF4-FFF2-40B4-BE49-F238E27FC236}">
                <a16:creationId xmlns:a16="http://schemas.microsoft.com/office/drawing/2014/main" id="{CB2118BF-0501-4486-A2F9-6B52C74A7394}"/>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比較結果をどう読むか</a:t>
            </a:r>
          </a:p>
        </p:txBody>
      </p:sp>
      <p:sp>
        <p:nvSpPr>
          <p:cNvPr id="2" name="">
            <a:extLst xmlns:a="http://schemas.openxmlformats.org/drawingml/2006/main">
              <a:ext uri="{FF2B5EF4-FFF2-40B4-BE49-F238E27FC236}">
                <a16:creationId xmlns:a16="http://schemas.microsoft.com/office/drawing/2014/main" id="{14131107-922A-4BE8-B62B-31B7B450D046}"/>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訓練だけ高いなら，合わせすぎを疑う．</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両方低いなら，特徴量やモデルを見直す．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小さな評価データでは，数件で正解率が変わる．</a:t>
            </a:r>
          </a:p>
        </p:txBody>
      </p:sp>
      <p:sp>
        <p:nvSpPr>
          <p:cNvPr id="3" name="参照：scikit-learn">
            <a:extLst xmlns:a="http://schemas.openxmlformats.org/drawingml/2006/main">
              <a:ext uri="{FF2B5EF4-FFF2-40B4-BE49-F238E27FC236}">
                <a16:creationId xmlns:a16="http://schemas.microsoft.com/office/drawing/2014/main" id="{C588C8F2-6F3E-4BEF-AB93-4C5354824856}"/>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18">
            <a:extLst xmlns:a="http://schemas.openxmlformats.org/drawingml/2006/main">
              <a:ext uri="{FF2B5EF4-FFF2-40B4-BE49-F238E27FC236}">
                <a16:creationId xmlns:a16="http://schemas.microsoft.com/office/drawing/2014/main" id="{7DEB8D33-EAAC-4758-8EA8-EC99AA8AA03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18</a:t>
            </a:r>
          </a:p>
        </p:txBody>
      </p:sp>
    </p:spTree>
    <p:extLst>
      <p:ext uri="{BB962C8B-B14F-4D97-AF65-F5344CB8AC3E}">
        <p14:creationId xmlns:p14="http://schemas.microsoft.com/office/powerpoint/2010/main" val="7064381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混同行列を読む">
            <a:extLst xmlns:a="http://schemas.openxmlformats.org/drawingml/2006/main">
              <a:ext uri="{FF2B5EF4-FFF2-40B4-BE49-F238E27FC236}">
                <a16:creationId xmlns:a16="http://schemas.microsoft.com/office/drawing/2014/main" id="{47A08817-C568-4FE2-94B9-4714872ED02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混同行列を読む</a:t>
            </a:r>
          </a:p>
        </p:txBody>
      </p:sp>
      <p:graphicFrame>
        <p:nvGraphicFramePr>
          <p:cNvPr id="6" name=""/>
          <p:cNvGraphicFramePr/>
          <p:nvPr/>
        </p:nvGraphicFramePr>
        <p:xfrm>
          <a:off xmlns:a="http://schemas.openxmlformats.org/drawingml/2006/main" x="365760" y="1243584"/>
          <a:ext xmlns:a="http://schemas.openxmlformats.org/drawingml/2006/main" cx="8366760" cy="2953512"/>
        </p:xfrm>
        <a:graphic xmlns:a="http://schemas.openxmlformats.org/drawingml/2006/main">
          <a:graphicData uri="http://schemas.openxmlformats.org/drawingml/2006/table">
            <a:tbl>
              <a:tblPr firstRow="0" bandRow="0"/>
              <a:tblGrid>
                <a:gridCol w="4183380"/>
                <a:gridCol w="4183380"/>
              </a:tblGrid>
              <a:tr h="590702">
                <a:tc>
                  <a:txBody>
                    <a:bodyPr>
                      <a:noAutofit/>
                    </a:bodyPr>
                    <a:lstStyle/>
                    <a:p>
                      <a:pPr algn="ctr"/>
                      <a:r>
                        <a:rPr sz="1800" b="1" lang="ja-JP">
                          <a:solidFill>
                            <a:srgbClr val="000000"/>
                          </a:solidFill>
                          <a:latin typeface="Arial"/>
                          <a:ea typeface="ＭＳ Ｐゴシック"/>
                          <a:cs typeface="ＭＳ Ｐゴシック"/>
                        </a:rPr>
                        <a:t>軸・場所</a:t>
                      </a:r>
                    </a:p>
                  </a:txBody>
                  <a:tcPr marL="76200" marR="76200" marT="47625" marB="47625" anchor="ctr">
                    <a:solidFill>
                      <a:srgbClr val="F3F3F3"/>
                    </a:solidFill>
                  </a:tcPr>
                </a:tc>
                <a:tc>
                  <a:txBody>
                    <a:bodyPr>
                      <a:noAutofit/>
                    </a:bodyPr>
                    <a:lstStyle/>
                    <a:p>
                      <a:pPr algn="ctr"/>
                      <a:r>
                        <a:rPr sz="1800" b="1" lang="ja-JP">
                          <a:solidFill>
                            <a:srgbClr val="000000"/>
                          </a:solidFill>
                          <a:latin typeface="Arial"/>
                          <a:ea typeface="ＭＳ Ｐゴシック"/>
                          <a:cs typeface="ＭＳ Ｐゴシック"/>
                        </a:rPr>
                        <a:t>意味</a:t>
                      </a:r>
                    </a:p>
                  </a:txBody>
                  <a:tcPr marL="76200" marR="76200" marT="47625" marB="47625" anchor="ctr">
                    <a:solidFill>
                      <a:srgbClr val="F3F3F3"/>
                    </a:solidFill>
                  </a:tcPr>
                </a:tc>
              </a:tr>
              <a:tr h="590702">
                <a:tc>
                  <a:txBody>
                    <a:bodyPr>
                      <a:noAutofit/>
                    </a:bodyPr>
                    <a:lstStyle/>
                    <a:p>
                      <a:pPr algn="ctr"/>
                      <a:r>
                        <a:rPr sz="1800" b="0" lang="ja-JP">
                          <a:solidFill>
                            <a:srgbClr val="404040"/>
                          </a:solidFill>
                          <a:latin typeface="Arial"/>
                          <a:ea typeface="ＭＳ Ｐゴシック"/>
                          <a:cs typeface="ＭＳ Ｐゴシック"/>
                        </a:rPr>
                        <a:t>行</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本当の種類</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列</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予測した種類</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対角線</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正しく分類した件数</a:t>
                      </a:r>
                    </a:p>
                  </a:txBody>
                  <a:tcPr marL="76200" marR="76200" marT="47625" marB="47625" anchor="ctr">
                    <a:solidFill>
                      <a:srgbClr val="FFFFFF"/>
                    </a:solidFill>
                  </a:tcPr>
                </a:tc>
              </a:tr>
              <a:tr h="590702">
                <a:tc>
                  <a:txBody>
                    <a:bodyPr>
                      <a:noAutofit/>
                    </a:bodyPr>
                    <a:lstStyle/>
                    <a:p>
                      <a:pPr algn="ctr"/>
                      <a:r>
                        <a:rPr sz="1800" b="0" lang="ja-JP">
                          <a:solidFill>
                            <a:srgbClr val="404040"/>
                          </a:solidFill>
                          <a:latin typeface="Arial"/>
                          <a:ea typeface="ＭＳ Ｐゴシック"/>
                          <a:cs typeface="ＭＳ Ｐゴシック"/>
                        </a:rPr>
                        <a:t>対角線の外</a:t>
                      </a:r>
                    </a:p>
                  </a:txBody>
                  <a:tcPr marL="76200" marR="76200" marT="47625" marB="47625" anchor="ctr">
                    <a:solidFill>
                      <a:srgbClr val="FFFFFF"/>
                    </a:solidFill>
                  </a:tcPr>
                </a:tc>
                <a:tc>
                  <a:txBody>
                    <a:bodyPr>
                      <a:noAutofit/>
                    </a:bodyPr>
                    <a:lstStyle/>
                    <a:p>
                      <a:pPr algn="ctr"/>
                      <a:r>
                        <a:rPr sz="1800" b="0" lang="ja-JP">
                          <a:solidFill>
                            <a:srgbClr val="404040"/>
                          </a:solidFill>
                          <a:latin typeface="Arial"/>
                          <a:ea typeface="ＭＳ Ｐゴシック"/>
                          <a:cs typeface="ＭＳ Ｐゴシック"/>
                        </a:rPr>
                        <a:t>種類を取り違えた件数</a:t>
                      </a:r>
                    </a:p>
                  </a:txBody>
                  <a:tcPr marL="76200" marR="76200" marT="47625" marB="47625" anchor="ctr">
                    <a:solidFill>
                      <a:srgbClr val="FFFFFF"/>
                    </a:solidFill>
                  </a:tcPr>
                </a:tc>
              </a:tr>
            </a:tbl>
          </a:graphicData>
        </a:graphic>
      </p:graphicFrame>
      <p:sp>
        <p:nvSpPr>
          <p:cNvPr id="3" name="参照：scikit-learn">
            <a:extLst xmlns:a="http://schemas.openxmlformats.org/drawingml/2006/main">
              <a:ext uri="{FF2B5EF4-FFF2-40B4-BE49-F238E27FC236}">
                <a16:creationId xmlns:a16="http://schemas.microsoft.com/office/drawing/2014/main" id="{D8AB1C11-81B0-4548-B70F-93AE83773DB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19">
            <a:extLst xmlns:a="http://schemas.openxmlformats.org/drawingml/2006/main">
              <a:ext uri="{FF2B5EF4-FFF2-40B4-BE49-F238E27FC236}">
                <a16:creationId xmlns:a16="http://schemas.microsoft.com/office/drawing/2014/main" id="{97E49386-D92B-4F8B-8891-C009D82B82BA}"/>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19</a:t>
            </a:r>
          </a:p>
        </p:txBody>
      </p:sp>
    </p:spTree>
    <p:extLst>
      <p:ext uri="{BB962C8B-B14F-4D97-AF65-F5344CB8AC3E}">
        <p14:creationId xmlns:p14="http://schemas.microsoft.com/office/powerpoint/2010/main" val="3782778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4：誤分類を調べる">
            <a:extLst xmlns:a="http://schemas.openxmlformats.org/drawingml/2006/main">
              <a:ext uri="{FF2B5EF4-FFF2-40B4-BE49-F238E27FC236}">
                <a16:creationId xmlns:a16="http://schemas.microsoft.com/office/drawing/2014/main" id="{FA092D8E-7269-4924-B2A7-72055CFACBD2}"/>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実習4：誤分類を調べる</a:t>
            </a:r>
          </a:p>
        </p:txBody>
      </p:sp>
      <p:sp>
        <p:nvSpPr>
          <p:cNvPr id="2" name="">
            <a:extLst xmlns:a="http://schemas.openxmlformats.org/drawingml/2006/main">
              <a:ext uri="{FF2B5EF4-FFF2-40B4-BE49-F238E27FC236}">
                <a16:creationId xmlns:a16="http://schemas.microsoft.com/office/drawing/2014/main" id="{FBA2B79D-2979-4240-A84B-4C7F8EBFC7A3}"/>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どの種類を，どの種類と間違えたかを見る．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その行の計測値を，別の例と比べる．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誤りが0件でも，評価件数を記録する．</a:t>
            </a:r>
          </a:p>
        </p:txBody>
      </p:sp>
      <p:sp>
        <p:nvSpPr>
          <p:cNvPr id="3" name="誤り方は，正解率だけでは見えない．">
            <a:extLst xmlns:a="http://schemas.openxmlformats.org/drawingml/2006/main">
              <a:ext uri="{FF2B5EF4-FFF2-40B4-BE49-F238E27FC236}">
                <a16:creationId xmlns:a16="http://schemas.microsoft.com/office/drawing/2014/main" id="{C994B517-F26E-4283-8B60-824F2A9E9FE4}"/>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誤り方は，正解率だけでは見えない．</a:t>
            </a:r>
          </a:p>
        </p:txBody>
      </p:sp>
      <p:sp>
        <p:nvSpPr>
          <p:cNvPr id="4" name="参照：scikit-learn">
            <a:extLst xmlns:a="http://schemas.openxmlformats.org/drawingml/2006/main">
              <a:ext uri="{FF2B5EF4-FFF2-40B4-BE49-F238E27FC236}">
                <a16:creationId xmlns:a16="http://schemas.microsoft.com/office/drawing/2014/main" id="{6E749845-9278-4A03-A0BA-56187BE3A59F}"/>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5" name="第11回　20">
            <a:extLst xmlns:a="http://schemas.openxmlformats.org/drawingml/2006/main">
              <a:ext uri="{FF2B5EF4-FFF2-40B4-BE49-F238E27FC236}">
                <a16:creationId xmlns:a16="http://schemas.microsoft.com/office/drawing/2014/main" id="{263EDE35-AF47-4FDB-BBBD-090D39E0361E}"/>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20</a:t>
            </a:r>
          </a:p>
        </p:txBody>
      </p:sp>
    </p:spTree>
    <p:extLst>
      <p:ext uri="{BB962C8B-B14F-4D97-AF65-F5344CB8AC3E}">
        <p14:creationId xmlns:p14="http://schemas.microsoft.com/office/powerpoint/2010/main" val="199626177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条件を決めた後のテスト">
            <a:extLst xmlns:a="http://schemas.openxmlformats.org/drawingml/2006/main">
              <a:ext uri="{FF2B5EF4-FFF2-40B4-BE49-F238E27FC236}">
                <a16:creationId xmlns:a16="http://schemas.microsoft.com/office/drawing/2014/main" id="{B91C2910-D59A-462D-AD31-0C18262BDEFE}"/>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条件を決めた後のテスト</a:t>
            </a:r>
          </a:p>
        </p:txBody>
      </p:sp>
      <p:sp>
        <p:nvSpPr>
          <p:cNvPr id="2" name="">
            <a:extLst xmlns:a="http://schemas.openxmlformats.org/drawingml/2006/main">
              <a:ext uri="{FF2B5EF4-FFF2-40B4-BE49-F238E27FC236}">
                <a16:creationId xmlns:a16="http://schemas.microsoft.com/office/drawing/2014/main" id="{F09AC949-81D8-4FFE-9F09-7DAC4B42D47D}"/>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選んだ方式を，訓練＋検証120件で学習し直す．</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取り分けたテスト30件で，一度評価する．</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テスト結果を見て，設定を選び直さない．</a:t>
            </a:r>
          </a:p>
        </p:txBody>
      </p:sp>
      <p:sp>
        <p:nvSpPr>
          <p:cNvPr id="3" name="参照：scikit-learn">
            <a:extLst xmlns:a="http://schemas.openxmlformats.org/drawingml/2006/main">
              <a:ext uri="{FF2B5EF4-FFF2-40B4-BE49-F238E27FC236}">
                <a16:creationId xmlns:a16="http://schemas.microsoft.com/office/drawing/2014/main" id="{8264657B-FA23-4467-BFE3-7B896800EDC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参照：scikit-learn</a:t>
            </a:r>
          </a:p>
        </p:txBody>
      </p:sp>
      <p:sp>
        <p:nvSpPr>
          <p:cNvPr id="4" name="第11回　21">
            <a:extLst xmlns:a="http://schemas.openxmlformats.org/drawingml/2006/main">
              <a:ext uri="{FF2B5EF4-FFF2-40B4-BE49-F238E27FC236}">
                <a16:creationId xmlns:a16="http://schemas.microsoft.com/office/drawing/2014/main" id="{CD6DE32F-B0AE-41D1-B750-3804FFB378D3}"/>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21</a:t>
            </a:r>
          </a:p>
        </p:txBody>
      </p:sp>
    </p:spTree>
    <p:extLst>
      <p:ext uri="{BB962C8B-B14F-4D97-AF65-F5344CB8AC3E}">
        <p14:creationId xmlns:p14="http://schemas.microsoft.com/office/powerpoint/2010/main" val="10459199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実習の記録をまとめる">
            <a:extLst xmlns:a="http://schemas.openxmlformats.org/drawingml/2006/main">
              <a:ext uri="{FF2B5EF4-FFF2-40B4-BE49-F238E27FC236}">
                <a16:creationId xmlns:a16="http://schemas.microsoft.com/office/drawing/2014/main" id="{CEF5DEC3-6E4E-494C-9596-8BCE6BC165B8}"/>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実習の記録をまとめる</a:t>
            </a:r>
          </a:p>
        </p:txBody>
      </p:sp>
      <p:sp>
        <p:nvSpPr>
          <p:cNvPr id="2" name="">
            <a:extLst xmlns:a="http://schemas.openxmlformats.org/drawingml/2006/main">
              <a:ext uri="{FF2B5EF4-FFF2-40B4-BE49-F238E27FC236}">
                <a16:creationId xmlns:a16="http://schemas.microsoft.com/office/drawing/2014/main" id="{E96A217B-C0EA-4E5C-A5E0-743B198B2ED1}"/>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使った特徴量・モデル・分割・設定を書く．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変更した条件と，検証結果の違いを書く．</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最終結果と，まだ確かめていないことを書く．</a:t>
            </a:r>
          </a:p>
        </p:txBody>
      </p:sp>
      <p:sp>
        <p:nvSpPr>
          <p:cNvPr id="3" name="結果と，その結果が言える範囲を説明する．">
            <a:extLst xmlns:a="http://schemas.openxmlformats.org/drawingml/2006/main">
              <a:ext uri="{FF2B5EF4-FFF2-40B4-BE49-F238E27FC236}">
                <a16:creationId xmlns:a16="http://schemas.microsoft.com/office/drawing/2014/main" id="{E0201D28-94F7-4AEC-980E-060BF2E974EA}"/>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結果と，その結果が言える範囲を説明する．</a:t>
            </a:r>
          </a:p>
        </p:txBody>
      </p:sp>
      <p:sp>
        <p:nvSpPr>
          <p:cNvPr id="4" name="図・設問：本教材の作例">
            <a:extLst xmlns:a="http://schemas.openxmlformats.org/drawingml/2006/main">
              <a:ext uri="{FF2B5EF4-FFF2-40B4-BE49-F238E27FC236}">
                <a16:creationId xmlns:a16="http://schemas.microsoft.com/office/drawing/2014/main" id="{121AED18-A77B-41ED-8D70-D980134C5915}"/>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1回　22">
            <a:extLst xmlns:a="http://schemas.openxmlformats.org/drawingml/2006/main">
              <a:ext uri="{FF2B5EF4-FFF2-40B4-BE49-F238E27FC236}">
                <a16:creationId xmlns:a16="http://schemas.microsoft.com/office/drawing/2014/main" id="{B793A78F-E287-4666-A90A-022AA990723F}"/>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22</a:t>
            </a:r>
          </a:p>
        </p:txBody>
      </p:sp>
    </p:spTree>
    <p:extLst>
      <p:ext uri="{BB962C8B-B14F-4D97-AF65-F5344CB8AC3E}">
        <p14:creationId xmlns:p14="http://schemas.microsoft.com/office/powerpoint/2010/main" val="80749873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まとめ・振り返り">
            <a:extLst xmlns:a="http://schemas.openxmlformats.org/drawingml/2006/main">
              <a:ext uri="{FF2B5EF4-FFF2-40B4-BE49-F238E27FC236}">
                <a16:creationId xmlns:a16="http://schemas.microsoft.com/office/drawing/2014/main" id="{019FA8EB-2E8E-432C-BAA5-2248AF04C073}"/>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まとめ・振り返り</a:t>
            </a:r>
          </a:p>
        </p:txBody>
      </p:sp>
      <p:sp>
        <p:nvSpPr>
          <p:cNvPr id="2" name="">
            <a:extLst xmlns:a="http://schemas.openxmlformats.org/drawingml/2006/main">
              <a:ext uri="{FF2B5EF4-FFF2-40B4-BE49-F238E27FC236}">
                <a16:creationId xmlns:a16="http://schemas.microsoft.com/office/drawing/2014/main" id="{36B8B7FE-1E6F-4E61-9CED-962A89E0FE56}"/>
              </a:ext>
            </a:extLst>
          </p:cNvPr>
          <p:cNvSpPr>
            <a:spLocks xmlns:a="http://schemas.openxmlformats.org/drawingml/2006/main" noGrp="1"/>
          </p:cNvSpPr>
          <p:nvPr/>
        </p:nvSpPr>
        <p:spPr>
          <a:xfrm xmlns:a="http://schemas.openxmlformats.org/drawingml/2006/main">
            <a:off x="502920" y="1207008"/>
            <a:ext cx="8229600" cy="292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学習と推論を，別のデータで実行した．</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比較では，分割と変更条件をそろえた．</a:t>
            </a:r>
          </a:p>
          <a:p xmlns:a="http://schemas.openxmlformats.org/drawingml/2006/main">
            <a:pPr marL="228600" indent="-114300" algn="l">
              <a:spcAft>
                <a:spcPts val="2200"/>
              </a:spcAft>
              <a:buChar char="•"/>
              <a:defRPr sz="2000" b="0" lang="ja-JP">
                <a:solidFill>
                  <a:srgbClr val="404040"/>
                </a:solidFill>
                <a:latin typeface="Arial"/>
                <a:ea typeface="ＭＳ Ｐゴシック"/>
                <a:cs typeface="ＭＳ Ｐゴシック"/>
              </a:defRPr>
            </a:pPr>
            <a:r>
              <a:t>正解率，誤り，データ数から結果を説明した．</a:t>
            </a:r>
          </a:p>
        </p:txBody>
      </p:sp>
      <p:sp>
        <p:nvSpPr>
          <p:cNvPr id="3" name="次回：実習2・深層学習を体験する">
            <a:extLst xmlns:a="http://schemas.openxmlformats.org/drawingml/2006/main">
              <a:ext uri="{FF2B5EF4-FFF2-40B4-BE49-F238E27FC236}">
                <a16:creationId xmlns:a16="http://schemas.microsoft.com/office/drawing/2014/main" id="{5A73F72F-72E4-43FC-AACA-93B18018B13C}"/>
              </a:ext>
            </a:extLst>
          </p:cNvPr>
          <p:cNvSpPr>
            <a:spLocks xmlns:a="http://schemas.openxmlformats.org/drawingml/2006/main" noGrp="1"/>
          </p:cNvSpPr>
          <p:nvPr/>
        </p:nvSpPr>
        <p:spPr>
          <a:xfrm xmlns:a="http://schemas.openxmlformats.org/drawingml/2006/main">
            <a:off x="502920" y="4407408"/>
            <a:ext cx="82296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FF0000"/>
                </a:solidFill>
                <a:latin typeface="Arial"/>
                <a:ea typeface="ＭＳ Ｐゴシック"/>
                <a:cs typeface="ＭＳ Ｐゴシック"/>
              </a:defRPr>
            </a:pPr>
            <a:r>
              <a:rPr sz="1900" b="0" lang="ja-JP">
                <a:solidFill>
                  <a:srgbClr val="FF0000"/>
                </a:solidFill>
                <a:latin typeface="Arial"/>
                <a:ea typeface="ＭＳ Ｐゴシック"/>
                <a:cs typeface="ＭＳ Ｐゴシック"/>
              </a:rPr>
              <a:t>次回：実習2・深層学習を体験する</a:t>
            </a:r>
          </a:p>
        </p:txBody>
      </p:sp>
      <p:sp>
        <p:nvSpPr>
          <p:cNvPr id="4" name="図・設問：本教材の作例">
            <a:extLst xmlns:a="http://schemas.openxmlformats.org/drawingml/2006/main">
              <a:ext uri="{FF2B5EF4-FFF2-40B4-BE49-F238E27FC236}">
                <a16:creationId xmlns:a16="http://schemas.microsoft.com/office/drawing/2014/main" id="{B90E56D7-D875-4C8B-ACD7-F41F422E7EB0}"/>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図・設問：本教材の作例</a:t>
            </a:r>
          </a:p>
        </p:txBody>
      </p:sp>
      <p:sp>
        <p:nvSpPr>
          <p:cNvPr id="5" name="第11回　23">
            <a:extLst xmlns:a="http://schemas.openxmlformats.org/drawingml/2006/main">
              <a:ext uri="{FF2B5EF4-FFF2-40B4-BE49-F238E27FC236}">
                <a16:creationId xmlns:a16="http://schemas.microsoft.com/office/drawing/2014/main" id="{1D4DA4FC-EFED-4EDF-A6A5-39C9AD573430}"/>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23</a:t>
            </a:r>
          </a:p>
        </p:txBody>
      </p:sp>
    </p:spTree>
    <p:extLst>
      <p:ext uri="{BB962C8B-B14F-4D97-AF65-F5344CB8AC3E}">
        <p14:creationId xmlns:p14="http://schemas.microsoft.com/office/powerpoint/2010/main" val="18638491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1">
            <a:extLst xmlns:a="http://schemas.openxmlformats.org/drawingml/2006/main">
              <a:ext uri="{FF2B5EF4-FFF2-40B4-BE49-F238E27FC236}">
                <a16:creationId xmlns:a16="http://schemas.microsoft.com/office/drawing/2014/main" id="{368C9941-82E6-4FBC-A22D-21BAA141860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参考資料1</a:t>
            </a:r>
          </a:p>
        </p:txBody>
      </p:sp>
      <p:sp>
        <p:nvSpPr>
          <p:cNvPr id="2" name="1. scikit-learn：Iris dataset">
            <a:extLst xmlns:a="http://schemas.openxmlformats.org/drawingml/2006/main">
              <a:ext uri="{FF2B5EF4-FFF2-40B4-BE49-F238E27FC236}">
                <a16:creationId xmlns:a16="http://schemas.microsoft.com/office/drawing/2014/main" id="{51118C83-0584-4824-A525-C62D4517F6E8}"/>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80647f54f6ee4b49"/>
              </a:rPr>
              <a:t>1. scikit-learn：Iris dataset</a:t>
            </a:r>
          </a:p>
        </p:txBody>
      </p:sp>
      <p:sp>
        <p:nvSpPr>
          <p:cNvPr id="3" name="2. scikit-learn：train_test_split">
            <a:extLst xmlns:a="http://schemas.openxmlformats.org/drawingml/2006/main">
              <a:ext uri="{FF2B5EF4-FFF2-40B4-BE49-F238E27FC236}">
                <a16:creationId xmlns:a16="http://schemas.microsoft.com/office/drawing/2014/main" id="{851B2D89-E446-466C-AEE8-EE9CC3C5A317}"/>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ef2a356514d8485f"/>
              </a:rPr>
              <a:t>2. scikit-learn：train_test_split</a:t>
            </a:r>
          </a:p>
        </p:txBody>
      </p:sp>
      <p:sp>
        <p:nvSpPr>
          <p:cNvPr id="4" name="3. scikit-learn：Pipeline">
            <a:extLst xmlns:a="http://schemas.openxmlformats.org/drawingml/2006/main">
              <a:ext uri="{FF2B5EF4-FFF2-40B4-BE49-F238E27FC236}">
                <a16:creationId xmlns:a16="http://schemas.microsoft.com/office/drawing/2014/main" id="{57EF8033-9C12-4B01-A807-63C4EBCDC4F4}"/>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ccdff72f22d84c95"/>
              </a:rPr>
              <a:t>3. scikit-learn：Pipeline</a:t>
            </a:r>
          </a:p>
        </p:txBody>
      </p:sp>
      <p:sp>
        <p:nvSpPr>
          <p:cNvPr id="5" name="各項目をクリックすると，参考資料を開く．">
            <a:extLst xmlns:a="http://schemas.openxmlformats.org/drawingml/2006/main">
              <a:ext uri="{FF2B5EF4-FFF2-40B4-BE49-F238E27FC236}">
                <a16:creationId xmlns:a16="http://schemas.microsoft.com/office/drawing/2014/main" id="{A17D81EA-CC89-4687-9EF9-545654A1259F}"/>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9A827D2C-A381-432D-A0E6-7A7C30134CE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1回　24">
            <a:extLst xmlns:a="http://schemas.openxmlformats.org/drawingml/2006/main">
              <a:ext uri="{FF2B5EF4-FFF2-40B4-BE49-F238E27FC236}">
                <a16:creationId xmlns:a16="http://schemas.microsoft.com/office/drawing/2014/main" id="{3F697716-5F4C-4B43-8DA7-00CBAAC2BFA2}"/>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24</a:t>
            </a:r>
          </a:p>
        </p:txBody>
      </p:sp>
    </p:spTree>
    <p:extLst>
      <p:ext uri="{BB962C8B-B14F-4D97-AF65-F5344CB8AC3E}">
        <p14:creationId xmlns:p14="http://schemas.microsoft.com/office/powerpoint/2010/main" val="110048697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参考資料2">
            <a:extLst xmlns:a="http://schemas.openxmlformats.org/drawingml/2006/main">
              <a:ext uri="{FF2B5EF4-FFF2-40B4-BE49-F238E27FC236}">
                <a16:creationId xmlns:a16="http://schemas.microsoft.com/office/drawing/2014/main" id="{E77D7AD7-0FB2-4CAB-8A37-7C0F5F6E169D}"/>
              </a:ext>
            </a:extLst>
          </p:cNvPr>
          <p:cNvSpPr>
            <a:spLocks xmlns:a="http://schemas.openxmlformats.org/drawingml/2006/main" noGrp="1"/>
          </p:cNvSpPr>
          <p:nvPr/>
        </p:nvSpPr>
        <p:spPr>
          <a:xfrm xmlns:a="http://schemas.openxmlformats.org/drawingml/2006/main">
            <a:off x="310896" y="448056"/>
            <a:ext cx="8522208" cy="649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00" b="0" lang="ja-JP">
                <a:solidFill>
                  <a:srgbClr val="000000"/>
                </a:solidFill>
                <a:latin typeface="Arial"/>
                <a:ea typeface="ＭＳ Ｐゴシック"/>
                <a:cs typeface="ＭＳ Ｐゴシック"/>
              </a:defRPr>
            </a:pPr>
            <a:r>
              <a:rPr sz="2800" b="0" lang="ja-JP">
                <a:solidFill>
                  <a:srgbClr val="000000"/>
                </a:solidFill>
                <a:latin typeface="Arial"/>
                <a:ea typeface="ＭＳ Ｐゴシック"/>
                <a:cs typeface="ＭＳ Ｐゴシック"/>
              </a:rPr>
              <a:t>参考資料2</a:t>
            </a:r>
          </a:p>
        </p:txBody>
      </p:sp>
      <p:sp>
        <p:nvSpPr>
          <p:cNvPr id="2" name="1. scikit-learn：Common pitfalls">
            <a:extLst xmlns:a="http://schemas.openxmlformats.org/drawingml/2006/main">
              <a:ext uri="{FF2B5EF4-FFF2-40B4-BE49-F238E27FC236}">
                <a16:creationId xmlns:a16="http://schemas.microsoft.com/office/drawing/2014/main" id="{5F7D998C-26AD-4A06-BA03-222367CF966F}"/>
              </a:ext>
            </a:extLst>
          </p:cNvPr>
          <p:cNvSpPr>
            <a:spLocks xmlns:a="http://schemas.openxmlformats.org/drawingml/2006/main" noGrp="1"/>
          </p:cNvSpPr>
          <p:nvPr/>
        </p:nvSpPr>
        <p:spPr>
          <a:xfrm xmlns:a="http://schemas.openxmlformats.org/drawingml/2006/main">
            <a:off x="548640" y="1307592"/>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6df7e7fe3b474a2f"/>
              </a:rPr>
              <a:t>1. scikit-learn：Common pitfalls</a:t>
            </a:r>
          </a:p>
        </p:txBody>
      </p:sp>
      <p:sp>
        <p:nvSpPr>
          <p:cNvPr id="3" name="2. scikit-learn：Metrics and scoring">
            <a:extLst xmlns:a="http://schemas.openxmlformats.org/drawingml/2006/main">
              <a:ext uri="{FF2B5EF4-FFF2-40B4-BE49-F238E27FC236}">
                <a16:creationId xmlns:a16="http://schemas.microsoft.com/office/drawing/2014/main" id="{8590C3B4-E343-4CD0-A48E-193E8EC61FAB}"/>
              </a:ext>
            </a:extLst>
          </p:cNvPr>
          <p:cNvSpPr>
            <a:spLocks xmlns:a="http://schemas.openxmlformats.org/drawingml/2006/main" noGrp="1"/>
          </p:cNvSpPr>
          <p:nvPr/>
        </p:nvSpPr>
        <p:spPr>
          <a:xfrm xmlns:a="http://schemas.openxmlformats.org/drawingml/2006/main">
            <a:off x="548640" y="2020824"/>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6cd8a783cae44da0"/>
              </a:rPr>
              <a:t>2. scikit-learn：Metrics and scoring</a:t>
            </a:r>
          </a:p>
        </p:txBody>
      </p:sp>
      <p:sp>
        <p:nvSpPr>
          <p:cNvPr id="4" name="3. Google：Rules of Machine Learning">
            <a:extLst xmlns:a="http://schemas.openxmlformats.org/drawingml/2006/main">
              <a:ext uri="{FF2B5EF4-FFF2-40B4-BE49-F238E27FC236}">
                <a16:creationId xmlns:a16="http://schemas.microsoft.com/office/drawing/2014/main" id="{CF555E15-C24E-429C-A257-0FAA96E811D3}"/>
              </a:ext>
            </a:extLst>
          </p:cNvPr>
          <p:cNvSpPr>
            <a:spLocks xmlns:a="http://schemas.openxmlformats.org/drawingml/2006/main" noGrp="1"/>
          </p:cNvSpPr>
          <p:nvPr/>
        </p:nvSpPr>
        <p:spPr>
          <a:xfrm xmlns:a="http://schemas.openxmlformats.org/drawingml/2006/main">
            <a:off x="548640" y="2734056"/>
            <a:ext cx="804672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00" b="0" lang="ja-JP">
                <a:solidFill>
                  <a:srgbClr val="404040"/>
                </a:solidFill>
                <a:latin typeface="Arial"/>
                <a:ea typeface="ＭＳ Ｐゴシック"/>
                <a:cs typeface="ＭＳ Ｐゴシック"/>
              </a:defRPr>
            </a:pPr>
            <a:r>
              <a:rPr sz="1900" b="0" lang="ja-JP">
                <a:solidFill>
                  <a:srgbClr val="404040"/>
                </a:solidFill>
                <a:latin typeface="Arial"/>
                <a:ea typeface="ＭＳ Ｐゴシック"/>
                <a:cs typeface="ＭＳ Ｐゴシック"/>
                <a:hlinkClick xmlns:r="http://schemas.openxmlformats.org/officeDocument/2006/relationships" r:id="R2475dfe7c0504b4b"/>
              </a:rPr>
              <a:t>3. Google：Rules of Machine Learning</a:t>
            </a:r>
          </a:p>
        </p:txBody>
      </p:sp>
      <p:sp>
        <p:nvSpPr>
          <p:cNvPr id="5" name="各項目をクリックすると，参考資料を開く．">
            <a:extLst xmlns:a="http://schemas.openxmlformats.org/drawingml/2006/main">
              <a:ext uri="{FF2B5EF4-FFF2-40B4-BE49-F238E27FC236}">
                <a16:creationId xmlns:a16="http://schemas.microsoft.com/office/drawing/2014/main" id="{63C11FBD-C3BA-4913-9DEC-031CB1E3BB9F}"/>
              </a:ext>
            </a:extLst>
          </p:cNvPr>
          <p:cNvSpPr>
            <a:spLocks xmlns:a="http://schemas.openxmlformats.org/drawingml/2006/main" noGrp="1"/>
          </p:cNvSpPr>
          <p:nvPr/>
        </p:nvSpPr>
        <p:spPr>
          <a:xfrm xmlns:a="http://schemas.openxmlformats.org/drawingml/2006/main">
            <a:off x="548640" y="448056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0" lang="ja-JP">
                <a:solidFill>
                  <a:srgbClr val="707070"/>
                </a:solidFill>
                <a:latin typeface="Arial"/>
                <a:ea typeface="ＭＳ Ｐゴシック"/>
                <a:cs typeface="ＭＳ Ｐゴシック"/>
              </a:defRPr>
            </a:pPr>
            <a:r>
              <a:rPr sz="1400" b="0" lang="ja-JP">
                <a:solidFill>
                  <a:srgbClr val="707070"/>
                </a:solidFill>
                <a:latin typeface="Arial"/>
                <a:ea typeface="ＭＳ Ｐゴシック"/>
                <a:cs typeface="ＭＳ Ｐゴシック"/>
              </a:rPr>
              <a:t>各項目をクリックすると，参考資料を開く．</a:t>
            </a:r>
          </a:p>
        </p:txBody>
      </p:sp>
      <p:sp>
        <p:nvSpPr>
          <p:cNvPr id="6" name="参考資料のリンクは各項目・講師用ノートに記載">
            <a:extLst xmlns:a="http://schemas.openxmlformats.org/drawingml/2006/main">
              <a:ext uri="{FF2B5EF4-FFF2-40B4-BE49-F238E27FC236}">
                <a16:creationId xmlns:a16="http://schemas.microsoft.com/office/drawing/2014/main" id="{077AFF91-CFB4-47A4-B535-F1C2DF0F8519}"/>
              </a:ext>
            </a:extLst>
          </p:cNvPr>
          <p:cNvSpPr>
            <a:spLocks xmlns:a="http://schemas.openxmlformats.org/drawingml/2006/main" noGrp="1"/>
          </p:cNvSpPr>
          <p:nvPr/>
        </p:nvSpPr>
        <p:spPr>
          <a:xfrm xmlns:a="http://schemas.openxmlformats.org/drawingml/2006/main">
            <a:off x="365760" y="4828032"/>
            <a:ext cx="67208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参考資料のリンクは各項目・講師用ノートに記載</a:t>
            </a:r>
          </a:p>
        </p:txBody>
      </p:sp>
      <p:sp>
        <p:nvSpPr>
          <p:cNvPr id="7" name="第11回　25">
            <a:extLst xmlns:a="http://schemas.openxmlformats.org/drawingml/2006/main">
              <a:ext uri="{FF2B5EF4-FFF2-40B4-BE49-F238E27FC236}">
                <a16:creationId xmlns:a16="http://schemas.microsoft.com/office/drawing/2014/main" id="{D0D5B0C3-CE95-4DE7-87A2-0107DABD93A7}"/>
              </a:ext>
            </a:extLst>
          </p:cNvPr>
          <p:cNvSpPr>
            <a:spLocks xmlns:a="http://schemas.openxmlformats.org/drawingml/2006/main" noGrp="1"/>
          </p:cNvSpPr>
          <p:nvPr/>
        </p:nvSpPr>
        <p:spPr>
          <a:xfrm xmlns:a="http://schemas.openxmlformats.org/drawingml/2006/main">
            <a:off x="6903720" y="4800600"/>
            <a:ext cx="18745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lang="ja-JP">
                <a:solidFill>
                  <a:srgbClr val="707070"/>
                </a:solidFill>
                <a:latin typeface="Arial"/>
                <a:ea typeface="ＭＳ Ｐゴシック"/>
                <a:cs typeface="ＭＳ Ｐゴシック"/>
              </a:defRPr>
            </a:pPr>
            <a:r>
              <a:rPr sz="1050" b="0" lang="ja-JP">
                <a:solidFill>
                  <a:srgbClr val="707070"/>
                </a:solidFill>
                <a:latin typeface="Arial"/>
                <a:ea typeface="ＭＳ Ｐゴシック"/>
                <a:cs typeface="ＭＳ Ｐゴシック"/>
              </a:rPr>
              <a:t>第11回　25</a:t>
            </a:r>
          </a:p>
        </p:txBody>
      </p:sp>
    </p:spTree>
    <p:extLst>
      <p:ext uri="{BB962C8B-B14F-4D97-AF65-F5344CB8AC3E}">
        <p14:creationId xmlns:p14="http://schemas.microsoft.com/office/powerpoint/2010/main" val="21222074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2026-10-08T05:56:20.1630000Z</dcterms:created>
  <dcterms:modified xsi:type="dcterms:W3CDTF">2026-10-08T05:56:20.1630000Z</dcterms:modified>
</coreProperties>
</file>