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0bd36fa84a4dee" /><Relationship Type="http://schemas.openxmlformats.org/officeDocument/2006/relationships/extended-properties" Target="/docProps/app.xml" Id="Rfe88696922474e81" /><Relationship Type="http://schemas.openxmlformats.org/officeDocument/2006/relationships/officeDocument" Target="/ppt/presentation.xml" Id="Rd1e6109c882245bd" /></Relationships>
</file>

<file path=ppt/presentation.xml><?xml version="1.0" encoding="utf-8"?>
<p:presentation xmlns:p="http://schemas.openxmlformats.org/presentationml/2006/main">
  <p:sldMasterIdLst>
    <p:sldMasterId xmlns:r="http://schemas.openxmlformats.org/officeDocument/2006/relationships" id="2147483648" r:id="R3e6cb755e1124b67"/>
  </p:sldMasterIdLst>
  <p:notesMasterIdLst>
    <p:notesMasterId xmlns:r="http://schemas.openxmlformats.org/officeDocument/2006/relationships" r:id="Red84755ed39446bb"/>
  </p:notesMasterIdLst>
  <p:sldIdLst>
    <p:sldId xmlns:r="http://schemas.openxmlformats.org/officeDocument/2006/relationships" id="256" r:id="Rf5f693e0f54c41bd"/>
    <p:sldId xmlns:r="http://schemas.openxmlformats.org/officeDocument/2006/relationships" id="257" r:id="R9e6cdf817a444a54"/>
    <p:sldId xmlns:r="http://schemas.openxmlformats.org/officeDocument/2006/relationships" id="258" r:id="R557f3b63c4624b5c"/>
    <p:sldId xmlns:r="http://schemas.openxmlformats.org/officeDocument/2006/relationships" id="259" r:id="R31f1360a5a7c4d07"/>
    <p:sldId xmlns:r="http://schemas.openxmlformats.org/officeDocument/2006/relationships" id="260" r:id="R42bf2d039b7846e6"/>
    <p:sldId xmlns:r="http://schemas.openxmlformats.org/officeDocument/2006/relationships" id="261" r:id="Rc1a57a64f2354cf5"/>
    <p:sldId xmlns:r="http://schemas.openxmlformats.org/officeDocument/2006/relationships" id="262" r:id="R2a88cbe90a544574"/>
    <p:sldId xmlns:r="http://schemas.openxmlformats.org/officeDocument/2006/relationships" id="263" r:id="R9b5ce5ec05f44170"/>
    <p:sldId xmlns:r="http://schemas.openxmlformats.org/officeDocument/2006/relationships" id="264" r:id="R63d96899513944ac"/>
    <p:sldId xmlns:r="http://schemas.openxmlformats.org/officeDocument/2006/relationships" id="265" r:id="R6bacc14769e941fe"/>
    <p:sldId xmlns:r="http://schemas.openxmlformats.org/officeDocument/2006/relationships" id="266" r:id="R9f5f84cc2db8448a"/>
    <p:sldId xmlns:r="http://schemas.openxmlformats.org/officeDocument/2006/relationships" id="267" r:id="R2fa4429552374863"/>
    <p:sldId xmlns:r="http://schemas.openxmlformats.org/officeDocument/2006/relationships" id="268" r:id="R5971b71588104a74"/>
    <p:sldId xmlns:r="http://schemas.openxmlformats.org/officeDocument/2006/relationships" id="269" r:id="Rac841b42a7f04901"/>
    <p:sldId xmlns:r="http://schemas.openxmlformats.org/officeDocument/2006/relationships" id="270" r:id="Re0fdab3d14f34c26"/>
    <p:sldId xmlns:r="http://schemas.openxmlformats.org/officeDocument/2006/relationships" id="271" r:id="Reaede7524ed54419"/>
    <p:sldId xmlns:r="http://schemas.openxmlformats.org/officeDocument/2006/relationships" id="272" r:id="R7acf42a94f144b00"/>
    <p:sldId xmlns:r="http://schemas.openxmlformats.org/officeDocument/2006/relationships" id="273" r:id="R783c527a998d4f92"/>
    <p:sldId xmlns:r="http://schemas.openxmlformats.org/officeDocument/2006/relationships" id="274" r:id="R346d13f7a6b94611"/>
    <p:sldId xmlns:r="http://schemas.openxmlformats.org/officeDocument/2006/relationships" id="275" r:id="Rd21286e672f448e1"/>
    <p:sldId xmlns:r="http://schemas.openxmlformats.org/officeDocument/2006/relationships" id="276" r:id="R694f4cf37e4c4a7e"/>
    <p:sldId xmlns:r="http://schemas.openxmlformats.org/officeDocument/2006/relationships" id="277" r:id="R5ff4365220f24afc"/>
    <p:sldId xmlns:r="http://schemas.openxmlformats.org/officeDocument/2006/relationships" id="278" r:id="R8c9eb54d0c40421c"/>
    <p:sldId xmlns:r="http://schemas.openxmlformats.org/officeDocument/2006/relationships" id="279" r:id="Rcc51b0f5e9ec4fc5"/>
    <p:sldId xmlns:r="http://schemas.openxmlformats.org/officeDocument/2006/relationships" id="280" r:id="Rbc745614ccc9436e"/>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16ae0916a87a4e08" /><Relationship Type="http://schemas.openxmlformats.org/officeDocument/2006/relationships/slideMaster" Target="/ppt/slideMasters/slideMaster1.xml" Id="R3e6cb755e1124b67" /><Relationship Type="http://schemas.openxmlformats.org/officeDocument/2006/relationships/notesMaster" Target="/ppt/notesMasters/notesMaster1.xml" Id="Red84755ed39446bb" /><Relationship Type="http://schemas.openxmlformats.org/officeDocument/2006/relationships/presProps" Target="/ppt/presProps.xml" Id="R06623c5dd0f045d4" /><Relationship Type="http://schemas.openxmlformats.org/officeDocument/2006/relationships/viewProps" Target="/ppt/viewProps.xml" Id="Rc61e1c4938e349be" /><Relationship Type="http://schemas.openxmlformats.org/officeDocument/2006/relationships/tableStyles" Target="/ppt/tableStyles.xml" Id="R64500270e1984200" /><Relationship Type="http://schemas.openxmlformats.org/officeDocument/2006/relationships/slide" Target="/ppt/slides/slide1.xml" Id="Rf5f693e0f54c41bd" /><Relationship Type="http://schemas.openxmlformats.org/officeDocument/2006/relationships/slide" Target="/ppt/slides/slide2.xml" Id="R9e6cdf817a444a54" /><Relationship Type="http://schemas.openxmlformats.org/officeDocument/2006/relationships/slide" Target="/ppt/slides/slide3.xml" Id="R557f3b63c4624b5c" /><Relationship Type="http://schemas.openxmlformats.org/officeDocument/2006/relationships/slide" Target="/ppt/slides/slide4.xml" Id="R31f1360a5a7c4d07" /><Relationship Type="http://schemas.openxmlformats.org/officeDocument/2006/relationships/slide" Target="/ppt/slides/slide5.xml" Id="R42bf2d039b7846e6" /><Relationship Type="http://schemas.openxmlformats.org/officeDocument/2006/relationships/slide" Target="/ppt/slides/slide6.xml" Id="Rc1a57a64f2354cf5" /><Relationship Type="http://schemas.openxmlformats.org/officeDocument/2006/relationships/slide" Target="/ppt/slides/slide7.xml" Id="R2a88cbe90a544574" /><Relationship Type="http://schemas.openxmlformats.org/officeDocument/2006/relationships/slide" Target="/ppt/slides/slide8.xml" Id="R9b5ce5ec05f44170" /><Relationship Type="http://schemas.openxmlformats.org/officeDocument/2006/relationships/slide" Target="/ppt/slides/slide9.xml" Id="R63d96899513944ac" /><Relationship Type="http://schemas.openxmlformats.org/officeDocument/2006/relationships/slide" Target="/ppt/slides/slide10.xml" Id="R6bacc14769e941fe" /><Relationship Type="http://schemas.openxmlformats.org/officeDocument/2006/relationships/slide" Target="/ppt/slides/slide11.xml" Id="R9f5f84cc2db8448a" /><Relationship Type="http://schemas.openxmlformats.org/officeDocument/2006/relationships/slide" Target="/ppt/slides/slide12.xml" Id="R2fa4429552374863" /><Relationship Type="http://schemas.openxmlformats.org/officeDocument/2006/relationships/slide" Target="/ppt/slides/slide13.xml" Id="R5971b71588104a74" /><Relationship Type="http://schemas.openxmlformats.org/officeDocument/2006/relationships/slide" Target="/ppt/slides/slide14.xml" Id="Rac841b42a7f04901" /><Relationship Type="http://schemas.openxmlformats.org/officeDocument/2006/relationships/slide" Target="/ppt/slides/slide15.xml" Id="Re0fdab3d14f34c26" /><Relationship Type="http://schemas.openxmlformats.org/officeDocument/2006/relationships/slide" Target="/ppt/slides/slide16.xml" Id="Reaede7524ed54419" /><Relationship Type="http://schemas.openxmlformats.org/officeDocument/2006/relationships/slide" Target="/ppt/slides/slide17.xml" Id="R7acf42a94f144b00" /><Relationship Type="http://schemas.openxmlformats.org/officeDocument/2006/relationships/slide" Target="/ppt/slides/slide18.xml" Id="R783c527a998d4f92" /><Relationship Type="http://schemas.openxmlformats.org/officeDocument/2006/relationships/slide" Target="/ppt/slides/slide19.xml" Id="R346d13f7a6b94611" /><Relationship Type="http://schemas.openxmlformats.org/officeDocument/2006/relationships/slide" Target="/ppt/slides/slide20.xml" Id="Rd21286e672f448e1" /><Relationship Type="http://schemas.openxmlformats.org/officeDocument/2006/relationships/slide" Target="/ppt/slides/slide21.xml" Id="R694f4cf37e4c4a7e" /><Relationship Type="http://schemas.openxmlformats.org/officeDocument/2006/relationships/slide" Target="/ppt/slides/slide22.xml" Id="R5ff4365220f24afc" /><Relationship Type="http://schemas.openxmlformats.org/officeDocument/2006/relationships/slide" Target="/ppt/slides/slide23.xml" Id="R8c9eb54d0c40421c" /><Relationship Type="http://schemas.openxmlformats.org/officeDocument/2006/relationships/slide" Target="/ppt/slides/slide24.xml" Id="Rcc51b0f5e9ec4fc5" /><Relationship Type="http://schemas.openxmlformats.org/officeDocument/2006/relationships/slide" Target="/ppt/slides/slide25.xml" Id="Rbc745614ccc943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7e7965692a44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883ba4301c4cb2" /><Relationship Type="http://schemas.openxmlformats.org/officeDocument/2006/relationships/notesMaster" Target="/ppt/notesMasters/notesMaster1.xml" Id="R488aa23e5c6040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f03fa5617c49b6" /><Relationship Type="http://schemas.openxmlformats.org/officeDocument/2006/relationships/notesMaster" Target="/ppt/notesMasters/notesMaster1.xml" Id="Rf7e273f44be148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1e07ec12044782" /><Relationship Type="http://schemas.openxmlformats.org/officeDocument/2006/relationships/notesMaster" Target="/ppt/notesMasters/notesMaster1.xml" Id="Rb81e762bc2b446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c105cd5ae94e1e" /><Relationship Type="http://schemas.openxmlformats.org/officeDocument/2006/relationships/notesMaster" Target="/ppt/notesMasters/notesMaster1.xml" Id="Rbf20c68472524a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72eeb8fdaf47cf" /><Relationship Type="http://schemas.openxmlformats.org/officeDocument/2006/relationships/notesMaster" Target="/ppt/notesMasters/notesMaster1.xml" Id="Rcda27b7804794b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0dc437a9db4a0d" /><Relationship Type="http://schemas.openxmlformats.org/officeDocument/2006/relationships/notesMaster" Target="/ppt/notesMasters/notesMaster1.xml" Id="Rd4d3c0b4b1f94d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6188fd364e472a" /><Relationship Type="http://schemas.openxmlformats.org/officeDocument/2006/relationships/notesMaster" Target="/ppt/notesMasters/notesMaster1.xml" Id="R08d0e496ce844f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61ff57bb6b4d42" /><Relationship Type="http://schemas.openxmlformats.org/officeDocument/2006/relationships/notesMaster" Target="/ppt/notesMasters/notesMaster1.xml" Id="R19a9b5ed91aa48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62ad09ec344895" /><Relationship Type="http://schemas.openxmlformats.org/officeDocument/2006/relationships/notesMaster" Target="/ppt/notesMasters/notesMaster1.xml" Id="Redc5043be49f4a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176b5dc2914464" /><Relationship Type="http://schemas.openxmlformats.org/officeDocument/2006/relationships/notesMaster" Target="/ppt/notesMasters/notesMaster1.xml" Id="R4d4f4ba198324a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e284710c6542f8" /><Relationship Type="http://schemas.openxmlformats.org/officeDocument/2006/relationships/notesMaster" Target="/ppt/notesMasters/notesMaster1.xml" Id="Ra0da7f848b7042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9f712220704bc1" /><Relationship Type="http://schemas.openxmlformats.org/officeDocument/2006/relationships/notesMaster" Target="/ppt/notesMasters/notesMaster1.xml" Id="Rd51918b6954949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0930463fd8451f" /><Relationship Type="http://schemas.openxmlformats.org/officeDocument/2006/relationships/notesMaster" Target="/ppt/notesMasters/notesMaster1.xml" Id="Rf8f5d1fea85045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54da41c6d2462b" /><Relationship Type="http://schemas.openxmlformats.org/officeDocument/2006/relationships/notesMaster" Target="/ppt/notesMasters/notesMaster1.xml" Id="Rc57f5734cb344a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af076e19634b35" /><Relationship Type="http://schemas.openxmlformats.org/officeDocument/2006/relationships/notesMaster" Target="/ppt/notesMasters/notesMaster1.xml" Id="R6f32deee49df42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f68e63bfef4fb8" /><Relationship Type="http://schemas.openxmlformats.org/officeDocument/2006/relationships/notesMaster" Target="/ppt/notesMasters/notesMaster1.xml" Id="R202d2877d9f644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b3821577b04b51" /><Relationship Type="http://schemas.openxmlformats.org/officeDocument/2006/relationships/notesMaster" Target="/ppt/notesMasters/notesMaster1.xml" Id="R1353b0b985654a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7839abab644ec0" /><Relationship Type="http://schemas.openxmlformats.org/officeDocument/2006/relationships/notesMaster" Target="/ppt/notesMasters/notesMaster1.xml" Id="R0d3954d09909496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7b5811ca1f4ba4" /><Relationship Type="http://schemas.openxmlformats.org/officeDocument/2006/relationships/notesMaster" Target="/ppt/notesMasters/notesMaster1.xml" Id="Re82109c2bf1d48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d775b38f25c4298" /><Relationship Type="http://schemas.openxmlformats.org/officeDocument/2006/relationships/notesMaster" Target="/ppt/notesMasters/notesMaster1.xml" Id="Rae6c1e478c5147e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934efa47c9643cf" /><Relationship Type="http://schemas.openxmlformats.org/officeDocument/2006/relationships/notesMaster" Target="/ppt/notesMasters/notesMaster1.xml" Id="Red0c4db1efad413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7e104cd77d94f9d" /><Relationship Type="http://schemas.openxmlformats.org/officeDocument/2006/relationships/notesMaster" Target="/ppt/notesMasters/notesMaster1.xml" Id="Ra43acebb2c154c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7b188da74c344d2" /><Relationship Type="http://schemas.openxmlformats.org/officeDocument/2006/relationships/notesMaster" Target="/ppt/notesMasters/notesMaster1.xml" Id="Reedd4df626094ca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0055f1f21504424" /><Relationship Type="http://schemas.openxmlformats.org/officeDocument/2006/relationships/notesMaster" Target="/ppt/notesMasters/notesMaster1.xml" Id="R048dbed03a3d4a8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a7171555f964aba" /><Relationship Type="http://schemas.openxmlformats.org/officeDocument/2006/relationships/notesMaster" Target="/ppt/notesMasters/notesMaster1.xml" Id="Re66a0b26c2f341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画像を扱うAI</a:t>
            </a:r>
          </a:p>
          <a:p xmlns:a="http://schemas.openxmlformats.org/drawingml/2006/main">
            <a:r>
              <a:t/>
            </a:r>
          </a:p>
          <a:p xmlns:a="http://schemas.openxmlformats.org/drawingml/2006/main">
            <a:r>
              <a:t>目安：1分／授業開始から0〜1分</a:t>
            </a:r>
          </a:p>
          <a:p xmlns:a="http://schemas.openxmlformats.org/drawingml/2006/main">
            <a:r>
              <a:t/>
            </a:r>
          </a:p>
          <a:p xmlns:a="http://schemas.openxmlformats.org/drawingml/2006/main">
            <a:r>
              <a:t>画像を数値として扱い，CNNの局所的な計算から，分類・検出・領域分割の違いへ進む．畳み込みの手計算と課題選択の演習を行う．</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Stanford CS231n：Convolutional networks</a:t>
            </a:r>
          </a:p>
          <a:p xmlns:a="http://schemas.openxmlformats.org/drawingml/2006/main">
            <a:r>
              <a:t>https://cs231n.github.io/convolutional-networks/</a:t>
            </a:r>
          </a:p>
          <a:p xmlns:a="http://schemas.openxmlformats.org/drawingml/2006/main">
            <a:r>
              <a:t/>
            </a:r>
          </a:p>
          <a:p xmlns:a="http://schemas.openxmlformats.org/drawingml/2006/main">
            <a:r>
              <a:t>PyTorch：Conv2d</a:t>
            </a:r>
          </a:p>
          <a:p xmlns:a="http://schemas.openxmlformats.org/drawingml/2006/main">
            <a:r>
              <a:t>https://docs.pytorch.org/docs/stable/generated/torch.nn.Conv2d.html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今日の到達目標</a:t>
            </a:r>
          </a:p>
          <a:p xmlns:a="http://schemas.openxmlformats.org/drawingml/2006/main">
            <a:r>
              <a:t/>
            </a:r>
          </a:p>
          <a:p xmlns:a="http://schemas.openxmlformats.org/drawingml/2006/main">
            <a:r>
              <a:t>目安：4分／授業開始から1〜5分</a:t>
            </a:r>
          </a:p>
          <a:p xmlns:a="http://schemas.openxmlformats.org/drawingml/2006/main">
            <a:r>
              <a:t/>
            </a:r>
          </a:p>
          <a:p xmlns:a="http://schemas.openxmlformats.org/drawingml/2006/main">
            <a:r>
              <a:t>既存モデル名を細かく暗記するより，入力・出力・データの対応を重視する．</a:t>
            </a:r>
          </a:p>
          <a:p xmlns:a="http://schemas.openxmlformats.org/drawingml/2006/main">
            <a:r>
              <a:t/>
            </a:r>
          </a:p>
          <a:p xmlns:a="http://schemas.openxmlformats.org/drawingml/2006/main">
            <a:r>
              <a:t>画像の数値表現を説明する．</a:t>
            </a:r>
          </a:p>
          <a:p xmlns:a="http://schemas.openxmlformats.org/drawingml/2006/main">
            <a:r>
              <a:t/>
            </a:r>
          </a:p>
          <a:p xmlns:a="http://schemas.openxmlformats.org/drawingml/2006/main">
            <a:r>
              <a:t>小さなフィルタの計算を手で追う．</a:t>
            </a:r>
          </a:p>
          <a:p xmlns:a="http://schemas.openxmlformats.org/drawingml/2006/main">
            <a:r>
              <a:t/>
            </a:r>
          </a:p>
          <a:p xmlns:a="http://schemas.openxmlformats.org/drawingml/2006/main">
            <a:r>
              <a:t>画像認識の課題と，必要な正解データを比較する．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第6回の復習</a:t>
            </a:r>
          </a:p>
          <a:p xmlns:a="http://schemas.openxmlformats.org/drawingml/2006/main">
            <a:r>
              <a:t/>
            </a:r>
          </a:p>
          <a:p xmlns:a="http://schemas.openxmlformats.org/drawingml/2006/main">
            <a:r>
              <a:t>目安：4分／授業開始から5〜9分</a:t>
            </a:r>
          </a:p>
          <a:p xmlns:a="http://schemas.openxmlformats.org/drawingml/2006/main">
            <a:r>
              <a:t/>
            </a:r>
          </a:p>
          <a:p xmlns:a="http://schemas.openxmlformats.org/drawingml/2006/main">
            <a:r>
              <a:t>数字の回転や左右反転で意味が変わる例を口頭で確認する．今日の画像認識でも汎化とデータ分割が重要．</a:t>
            </a:r>
          </a:p>
          <a:p xmlns:a="http://schemas.openxmlformats.org/drawingml/2006/main">
            <a:r>
              <a:t/>
            </a:r>
          </a:p>
          <a:p xmlns:a="http://schemas.openxmlformats.org/drawingml/2006/main">
            <a:r>
              <a:t>学習条件は，検証結果を使って選ぶ．</a:t>
            </a:r>
          </a:p>
          <a:p xmlns:a="http://schemas.openxmlformats.org/drawingml/2006/main">
            <a:r>
              <a:t/>
            </a:r>
          </a:p>
          <a:p xmlns:a="http://schemas.openxmlformats.org/drawingml/2006/main">
            <a:r>
              <a:t>画像の変換でも，正解の意味を保つ必要がある．</a:t>
            </a:r>
          </a:p>
          <a:p xmlns:a="http://schemas.openxmlformats.org/drawingml/2006/main">
            <a:r>
              <a:t/>
            </a:r>
          </a:p>
          <a:p xmlns:a="http://schemas.openxmlformats.org/drawingml/2006/main">
            <a:r>
              <a:t>学習済みのモデルを，新しい課題に利用できる．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TensorFlow：Data augmentation</a:t>
            </a:r>
          </a:p>
          <a:p xmlns:a="http://schemas.openxmlformats.org/drawingml/2006/main">
            <a:r>
              <a:t>https://www.tensorflow.org/tutorials/images/data_augmentation</a:t>
            </a:r>
          </a:p>
          <a:p xmlns:a="http://schemas.openxmlformats.org/drawingml/2006/main">
            <a:r>
              <a:t/>
            </a:r>
          </a:p>
          <a:p xmlns:a="http://schemas.openxmlformats.org/drawingml/2006/main">
            <a:r>
              <a:t>TensorFlow：Transfer learning &amp; fine-tuning</a:t>
            </a:r>
          </a:p>
          <a:p xmlns:a="http://schemas.openxmlformats.org/drawingml/2006/main">
            <a:r>
              <a:t>https://www.tensorflow.org/guide/keras/transfer_learning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グレースケール画像の例</a:t>
            </a:r>
          </a:p>
          <a:p xmlns:a="http://schemas.openxmlformats.org/drawingml/2006/main">
            <a:r>
              <a:t/>
            </a:r>
          </a:p>
          <a:p xmlns:a="http://schemas.openxmlformats.org/drawingml/2006/main">
            <a:r>
              <a:t>目安：4分／授業開始から9〜13分</a:t>
            </a:r>
          </a:p>
          <a:p xmlns:a="http://schemas.openxmlformats.org/drawingml/2006/main">
            <a:r>
              <a:t/>
            </a:r>
          </a:p>
          <a:p xmlns:a="http://schemas.openxmlformats.org/drawingml/2006/main">
            <a:r>
              <a:t>8bit画像の例として0を黒，255を白と定義する．値の並びが画像になる．実際にはビット深度や前処理で範囲が異なる．</a:t>
            </a:r>
          </a:p>
          <a:p xmlns:a="http://schemas.openxmlformats.org/drawingml/2006/main">
            <a:r>
              <a:t/>
            </a:r>
          </a:p>
          <a:p xmlns:a="http://schemas.openxmlformats.org/drawingml/2006/main">
            <a:r>
              <a:t>0 ／ 128 ／ 255</a:t>
            </a:r>
          </a:p>
          <a:p xmlns:a="http://schemas.openxmlformats.org/drawingml/2006/main">
            <a:r>
              <a:t>255 ／ 128 ／ 0</a:t>
            </a:r>
          </a:p>
          <a:p xmlns:a="http://schemas.openxmlformats.org/drawingml/2006/main">
            <a:r>
              <a:t>0 ／ 255 ／ 128</a:t>
            </a:r>
          </a:p>
          <a:p xmlns:a="http://schemas.openxmlformats.org/drawingml/2006/main">
            <a:r>
              <a:t/>
            </a:r>
          </a:p>
          <a:p xmlns:a="http://schemas.openxmlformats.org/drawingml/2006/main">
            <a:r>
              <a:t>画像は，画素の値を並べたデータ．</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TensorFlow：Image classification</a:t>
            </a:r>
          </a:p>
          <a:p xmlns:a="http://schemas.openxmlformats.org/drawingml/2006/main">
            <a:r>
              <a:t>https://www.tensorflow.org/tutorials/images/classification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カラー画像とチャネル</a:t>
            </a:r>
          </a:p>
          <a:p xmlns:a="http://schemas.openxmlformats.org/drawingml/2006/main">
            <a:r>
              <a:t/>
            </a:r>
          </a:p>
          <a:p xmlns:a="http://schemas.openxmlformats.org/drawingml/2006/main">
            <a:r>
              <a:t>目安：4分／授業開始から13〜17分</a:t>
            </a:r>
          </a:p>
          <a:p xmlns:a="http://schemas.openxmlformats.org/drawingml/2006/main">
            <a:r>
              <a:t/>
            </a:r>
          </a:p>
          <a:p xmlns:a="http://schemas.openxmlformats.org/drawingml/2006/main">
            <a:r>
              <a:t>RGBの作例．画像ファイルの圧縮後のバイト数が3072になるとは限らない．テンソルの軸順序はライブラリによって異なる．</a:t>
            </a:r>
          </a:p>
          <a:p xmlns:a="http://schemas.openxmlformats.org/drawingml/2006/main">
            <a:r>
              <a:t/>
            </a:r>
          </a:p>
          <a:p xmlns:a="http://schemas.openxmlformats.org/drawingml/2006/main">
            <a:r>
              <a:t>幅・高さ ／ 32×32画素</a:t>
            </a:r>
          </a:p>
          <a:p xmlns:a="http://schemas.openxmlformats.org/drawingml/2006/main">
            <a:r>
              <a:t>チャネル ／ 赤・緑・青の3チャネル</a:t>
            </a:r>
          </a:p>
          <a:p xmlns:a="http://schemas.openxmlformats.org/drawingml/2006/main">
            <a:r>
              <a:t>値の数 ／ 32×32×3＝3,072</a:t>
            </a:r>
          </a:p>
          <a:p xmlns:a="http://schemas.openxmlformats.org/drawingml/2006/main">
            <a:r>
              <a:t/>
            </a:r>
          </a:p>
          <a:p xmlns:a="http://schemas.openxmlformats.org/drawingml/2006/main">
            <a:r>
              <a:t>画素数と，ファイル容量を区別する．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TensorFlow：Image classification</a:t>
            </a:r>
          </a:p>
          <a:p xmlns:a="http://schemas.openxmlformats.org/drawingml/2006/main">
            <a:r>
              <a:t>https://www.tensorflow.org/tutorials/images/classification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画像認識の代表的な課題</a:t>
            </a:r>
          </a:p>
          <a:p xmlns:a="http://schemas.openxmlformats.org/drawingml/2006/main">
            <a:r>
              <a:t/>
            </a:r>
          </a:p>
          <a:p xmlns:a="http://schemas.openxmlformats.org/drawingml/2006/main">
            <a:r>
              <a:t>目安：4分／授業開始から17〜21分</a:t>
            </a:r>
          </a:p>
          <a:p xmlns:a="http://schemas.openxmlformats.org/drawingml/2006/main">
            <a:r>
              <a:t/>
            </a:r>
          </a:p>
          <a:p xmlns:a="http://schemas.openxmlformats.org/drawingml/2006/main">
            <a:r>
              <a:t>画像に複数の対象があっても分類と検出の出力は異なる．領域分割はセマンティックを基本に説明し，個体を分けるインスタンス分割は補足．</a:t>
            </a:r>
          </a:p>
          <a:p xmlns:a="http://schemas.openxmlformats.org/drawingml/2006/main">
            <a:r>
              <a:t/>
            </a:r>
          </a:p>
          <a:p xmlns:a="http://schemas.openxmlformats.org/drawingml/2006/main">
            <a:r>
              <a:t>画像分類 ／ 画像全体のカテゴリ ／ 猫・犬などのラベル</a:t>
            </a:r>
          </a:p>
          <a:p xmlns:a="http://schemas.openxmlformats.org/drawingml/2006/main">
            <a:r>
              <a:t>物体検出 ／ 物体の位置とカテゴリ ／ 枠とカテゴリ</a:t>
            </a:r>
          </a:p>
          <a:p xmlns:a="http://schemas.openxmlformats.org/drawingml/2006/main">
            <a:r>
              <a:t>領域分割 ／ 各画素のカテゴリ ／ 画素ごとのラベル</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Torchvision：Models and pre-trained weights</a:t>
            </a:r>
          </a:p>
          <a:p xmlns:a="http://schemas.openxmlformats.org/drawingml/2006/main">
            <a:r>
              <a:t>https://docs.pytorch.org/vision/stable/models.html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CNNの基本的な流れ</a:t>
            </a:r>
          </a:p>
          <a:p xmlns:a="http://schemas.openxmlformats.org/drawingml/2006/main">
            <a:r>
              <a:t/>
            </a:r>
          </a:p>
          <a:p xmlns:a="http://schemas.openxmlformats.org/drawingml/2006/main">
            <a:r>
              <a:t>目安：4分／授業開始から21〜25分</a:t>
            </a:r>
          </a:p>
          <a:p xmlns:a="http://schemas.openxmlformats.org/drawingml/2006/main">
            <a:r>
              <a:t/>
            </a:r>
          </a:p>
          <a:p xmlns:a="http://schemas.openxmlformats.org/drawingml/2006/main">
            <a:r>
              <a:t>CNNは畳み込みニューラルネットワーク．局所領域の計算と重みの共有を使う．この図は基本的な分類の流れで，全てのCNNが同じ構成ではない．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Stanford CS231n：Convolutional networks</a:t>
            </a:r>
          </a:p>
          <a:p xmlns:a="http://schemas.openxmlformats.org/drawingml/2006/main">
            <a:r>
              <a:t>https://cs231n.github.io/convolutional-networks/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フィルタの役割</a:t>
            </a:r>
          </a:p>
          <a:p xmlns:a="http://schemas.openxmlformats.org/drawingml/2006/main">
            <a:r>
              <a:t/>
            </a:r>
          </a:p>
          <a:p xmlns:a="http://schemas.openxmlformats.org/drawingml/2006/main">
            <a:r>
              <a:t>目安：4分／授業開始から25〜29分</a:t>
            </a:r>
          </a:p>
          <a:p xmlns:a="http://schemas.openxmlformats.org/drawingml/2006/main">
            <a:r>
              <a:t/>
            </a:r>
          </a:p>
          <a:p xmlns:a="http://schemas.openxmlformats.org/drawingml/2006/main">
            <a:r>
              <a:t>手作業で全てのフィルタを設計するわけではない．ライブラリのConv2dは通常，フィルタを反転しない相互相関の計算を実装する．</a:t>
            </a:r>
          </a:p>
          <a:p xmlns:a="http://schemas.openxmlformats.org/drawingml/2006/main">
            <a:r>
              <a:t/>
            </a:r>
          </a:p>
          <a:p xmlns:a="http://schemas.openxmlformats.org/drawingml/2006/main">
            <a:r>
              <a:t>小さな領域の値に重みを掛けて，足し合わせる．</a:t>
            </a:r>
          </a:p>
          <a:p xmlns:a="http://schemas.openxmlformats.org/drawingml/2006/main">
            <a:r>
              <a:t/>
            </a:r>
          </a:p>
          <a:p xmlns:a="http://schemas.openxmlformats.org/drawingml/2006/main">
            <a:r>
              <a:t>同じ重みを，画像内の異なる位置で使う．</a:t>
            </a:r>
          </a:p>
          <a:p xmlns:a="http://schemas.openxmlformats.org/drawingml/2006/main">
            <a:r>
              <a:t/>
            </a:r>
          </a:p>
          <a:p xmlns:a="http://schemas.openxmlformats.org/drawingml/2006/main">
            <a:r>
              <a:t>フィルタの重みも，学習で変える．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PyTorch：Conv2d</a:t>
            </a:r>
          </a:p>
          <a:p xmlns:a="http://schemas.openxmlformats.org/drawingml/2006/main">
            <a:r>
              <a:t>https://docs.pytorch.org/docs/stable/generated/torch.nn.Conv2d.html</a:t>
            </a:r>
          </a:p>
          <a:p xmlns:a="http://schemas.openxmlformats.org/drawingml/2006/main">
            <a:r>
              <a:t/>
            </a:r>
          </a:p>
          <a:p xmlns:a="http://schemas.openxmlformats.org/drawingml/2006/main">
            <a:r>
              <a:t>Stanford CS231n：Convolutional networks</a:t>
            </a:r>
          </a:p>
          <a:p xmlns:a="http://schemas.openxmlformats.org/drawingml/2006/main">
            <a:r>
              <a:t>https://cs231n.github.io/convolutional-networks/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演習1：フィルタの計算</a:t>
            </a:r>
          </a:p>
          <a:p xmlns:a="http://schemas.openxmlformats.org/drawingml/2006/main">
            <a:r>
              <a:t/>
            </a:r>
          </a:p>
          <a:p xmlns:a="http://schemas.openxmlformats.org/drawingml/2006/main">
            <a:r>
              <a:t>目安：4分／授業開始から29〜33分</a:t>
            </a:r>
          </a:p>
          <a:p xmlns:a="http://schemas.openxmlformats.org/drawingml/2006/main">
            <a:r>
              <a:t/>
            </a:r>
          </a:p>
          <a:p xmlns:a="http://schemas.openxmlformats.org/drawingml/2006/main">
            <a:r>
              <a:t>入力の左上2×2にフィルタを重ね，対応する値を掛けて合計する．次は右へ一画素動かす．ストライド1，パディングなし，バイアス0の作例．個人3分，確認2分．</a:t>
            </a:r>
          </a:p>
          <a:p xmlns:a="http://schemas.openxmlformats.org/drawingml/2006/main">
            <a:r>
              <a:t/>
            </a:r>
          </a:p>
          <a:p xmlns:a="http://schemas.openxmlformats.org/drawingml/2006/main">
            <a:r>
              <a:t>1　2　0</a:t>
            </a:r>
          </a:p>
          <a:p xmlns:a="http://schemas.openxmlformats.org/drawingml/2006/main">
            <a:r>
              <a:t>0　1　3</a:t>
            </a:r>
          </a:p>
          <a:p xmlns:a="http://schemas.openxmlformats.org/drawingml/2006/main">
            <a:r>
              <a:t>2　0　1 ／ 1　0</a:t>
            </a:r>
          </a:p>
          <a:p xmlns:a="http://schemas.openxmlformats.org/drawingml/2006/main">
            <a:r>
              <a:t>0　1</a:t>
            </a:r>
          </a:p>
          <a:p xmlns:a="http://schemas.openxmlformats.org/drawingml/2006/main">
            <a:r>
              <a:t/>
            </a:r>
          </a:p>
          <a:p xmlns:a="http://schemas.openxmlformats.org/drawingml/2006/main">
            <a:r>
              <a:t>左上と右上の，二つの出力を計算する．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PyTorch：Conv2d</a:t>
            </a:r>
          </a:p>
          <a:p xmlns:a="http://schemas.openxmlformats.org/drawingml/2006/main">
            <a:r>
              <a:t>https://docs.pytorch.org/docs/stable/generated/torch.nn.Conv2d.html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演習1：解答</a:t>
            </a:r>
          </a:p>
          <a:p xmlns:a="http://schemas.openxmlformats.org/drawingml/2006/main">
            <a:r>
              <a:t/>
            </a:r>
          </a:p>
          <a:p xmlns:a="http://schemas.openxmlformats.org/drawingml/2006/main">
            <a:r>
              <a:t>目安：4分／授業開始から33〜37分</a:t>
            </a:r>
          </a:p>
          <a:p xmlns:a="http://schemas.openxmlformats.org/drawingml/2006/main">
            <a:r>
              <a:t/>
            </a:r>
          </a:p>
          <a:p xmlns:a="http://schemas.openxmlformats.org/drawingml/2006/main">
            <a:r>
              <a:t>出力2×2は上段[2,5]，下段[0,2]．負の値や別の重みでも同じ積と和を計算する．ここでは活性化関数と複数チャネルを省いた．</a:t>
            </a:r>
          </a:p>
          <a:p xmlns:a="http://schemas.openxmlformats.org/drawingml/2006/main">
            <a:r>
              <a:t/>
            </a:r>
          </a:p>
          <a:p xmlns:a="http://schemas.openxmlformats.org/drawingml/2006/main">
            <a:r>
              <a:t>左上：1×1＋2×0＋0×0＋1×1＝2</a:t>
            </a:r>
          </a:p>
          <a:p xmlns:a="http://schemas.openxmlformats.org/drawingml/2006/main">
            <a:r>
              <a:t/>
            </a:r>
          </a:p>
          <a:p xmlns:a="http://schemas.openxmlformats.org/drawingml/2006/main">
            <a:r>
              <a:t>右上：2×1＋0×0＋1×0＋3×1＝5</a:t>
            </a:r>
          </a:p>
          <a:p xmlns:a="http://schemas.openxmlformats.org/drawingml/2006/main">
            <a:r>
              <a:t/>
            </a:r>
          </a:p>
          <a:p xmlns:a="http://schemas.openxmlformats.org/drawingml/2006/main">
            <a:r>
              <a:t>下段の二つも求めると，出力は「0，2」．</a:t>
            </a:r>
          </a:p>
          <a:p xmlns:a="http://schemas.openxmlformats.org/drawingml/2006/main">
            <a:r>
              <a:t/>
            </a:r>
          </a:p>
          <a:p xmlns:a="http://schemas.openxmlformats.org/drawingml/2006/main">
            <a:r>
              <a:t>位置を動かして，同じ計算を繰り返す．</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PyTorch：Conv2d</a:t>
            </a:r>
          </a:p>
          <a:p xmlns:a="http://schemas.openxmlformats.org/drawingml/2006/main">
            <a:r>
              <a:t>https://docs.pytorch.org/docs/stable/generated/torch.nn.Conv2d.html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ストライドとパディング</a:t>
            </a:r>
          </a:p>
          <a:p xmlns:a="http://schemas.openxmlformats.org/drawingml/2006/main">
            <a:r>
              <a:t/>
            </a:r>
          </a:p>
          <a:p xmlns:a="http://schemas.openxmlformats.org/drawingml/2006/main">
            <a:r>
              <a:t>目安：4分／授業開始から37〜41分</a:t>
            </a:r>
          </a:p>
          <a:p xmlns:a="http://schemas.openxmlformats.org/drawingml/2006/main">
            <a:r>
              <a:t/>
            </a:r>
          </a:p>
          <a:p xmlns:a="http://schemas.openxmlformats.org/drawingml/2006/main">
            <a:r>
              <a:t>出力サイズの公式は必須にしない．端を補う値や方法は実装によって異なる．stride1・paddingなしでは3×3入力と2×2フィルタから2×2出力になる．</a:t>
            </a:r>
          </a:p>
          <a:p xmlns:a="http://schemas.openxmlformats.org/drawingml/2006/main">
            <a:r>
              <a:t/>
            </a:r>
          </a:p>
          <a:p xmlns:a="http://schemas.openxmlformats.org/drawingml/2006/main">
            <a:r>
              <a:t>ストライド ／ フィルタを動かす間隔 ／ 大きいと位置の数が減る</a:t>
            </a:r>
          </a:p>
          <a:p xmlns:a="http://schemas.openxmlformats.org/drawingml/2006/main">
            <a:r>
              <a:t>パディング ／ 入力の周囲に値を補う ／ 端の扱いや出力サイズを調整する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Stanford CS231n：Convolutional networks</a:t>
            </a:r>
          </a:p>
          <a:p xmlns:a="http://schemas.openxmlformats.org/drawingml/2006/main">
            <a:r>
              <a:t>https://cs231n.github.io/convolutional-networks/</a:t>
            </a:r>
          </a:p>
          <a:p xmlns:a="http://schemas.openxmlformats.org/drawingml/2006/main">
            <a:r>
              <a:t/>
            </a:r>
          </a:p>
          <a:p xmlns:a="http://schemas.openxmlformats.org/drawingml/2006/main">
            <a:r>
              <a:t>PyTorch：Conv2d</a:t>
            </a:r>
          </a:p>
          <a:p xmlns:a="http://schemas.openxmlformats.org/drawingml/2006/main">
            <a:r>
              <a:t>https://docs.pytorch.org/docs/stable/generated/torch.nn.Conv2d.html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特徴マップとチャネル</a:t>
            </a:r>
          </a:p>
          <a:p xmlns:a="http://schemas.openxmlformats.org/drawingml/2006/main">
            <a:r>
              <a:t/>
            </a:r>
          </a:p>
          <a:p xmlns:a="http://schemas.openxmlformats.org/drawingml/2006/main">
            <a:r>
              <a:t>目安：4分／授業開始から41〜45分</a:t>
            </a:r>
          </a:p>
          <a:p xmlns:a="http://schemas.openxmlformats.org/drawingml/2006/main">
            <a:r>
              <a:t/>
            </a:r>
          </a:p>
          <a:p xmlns:a="http://schemas.openxmlformats.org/drawingml/2006/main">
            <a:r>
              <a:t>グループ畳み込みや深さ方向畳み込みなどは例外的な構成として今回は扱わない．RGBの各チャネルを独立に分類するという意味ではない．</a:t>
            </a:r>
          </a:p>
          <a:p xmlns:a="http://schemas.openxmlformats.org/drawingml/2006/main">
            <a:r>
              <a:t/>
            </a:r>
          </a:p>
          <a:p xmlns:a="http://schemas.openxmlformats.org/drawingml/2006/main">
            <a:r>
              <a:t>一つのフィルタを各位置で使い，結果を並べる．</a:t>
            </a:r>
          </a:p>
          <a:p xmlns:a="http://schemas.openxmlformats.org/drawingml/2006/main">
            <a:r>
              <a:t/>
            </a:r>
          </a:p>
          <a:p xmlns:a="http://schemas.openxmlformats.org/drawingml/2006/main">
            <a:r>
              <a:t>複数のフィルタで，異なる特徴マップを作る．</a:t>
            </a:r>
          </a:p>
          <a:p xmlns:a="http://schemas.openxmlformats.org/drawingml/2006/main">
            <a:r>
              <a:t/>
            </a:r>
          </a:p>
          <a:p xmlns:a="http://schemas.openxmlformats.org/drawingml/2006/main">
            <a:r>
              <a:t>通常，フィルタは入力のチャネル全体に対応する重みを持つ．</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PyTorch：Conv2d</a:t>
            </a:r>
          </a:p>
          <a:p xmlns:a="http://schemas.openxmlformats.org/drawingml/2006/main">
            <a:r>
              <a:t>https://docs.pytorch.org/docs/stable/generated/torch.nn.Conv2d.html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プーリングの例</a:t>
            </a:r>
          </a:p>
          <a:p xmlns:a="http://schemas.openxmlformats.org/drawingml/2006/main">
            <a:r>
              <a:t/>
            </a:r>
          </a:p>
          <a:p xmlns:a="http://schemas.openxmlformats.org/drawingml/2006/main">
            <a:r>
              <a:t>目安：4分／授業開始から45〜49分</a:t>
            </a:r>
          </a:p>
          <a:p xmlns:a="http://schemas.openxmlformats.org/drawingml/2006/main">
            <a:r>
              <a:t/>
            </a:r>
          </a:p>
          <a:p xmlns:a="http://schemas.openxmlformats.org/drawingml/2006/main">
            <a:r>
              <a:t>2×2領域を一つの値にまとめる作例．空間方向を小さくし，細かな位置の違いへの感度を変える．全てのCNNにプーリングが必須ではない．</a:t>
            </a:r>
          </a:p>
          <a:p xmlns:a="http://schemas.openxmlformats.org/drawingml/2006/main">
            <a:r>
              <a:t/>
            </a:r>
          </a:p>
          <a:p xmlns:a="http://schemas.openxmlformats.org/drawingml/2006/main">
            <a:r>
              <a:t>1　4</a:t>
            </a:r>
          </a:p>
          <a:p xmlns:a="http://schemas.openxmlformats.org/drawingml/2006/main">
            <a:r>
              <a:t>2　3 ／ 4 ／ 2.5</a:t>
            </a:r>
          </a:p>
          <a:p xmlns:a="http://schemas.openxmlformats.org/drawingml/2006/main">
            <a:r>
              <a:t/>
            </a:r>
          </a:p>
          <a:p xmlns:a="http://schemas.openxmlformats.org/drawingml/2006/main">
            <a:r>
              <a:t>小さくまとめると，細かな位置の情報は失われる．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Stanford CS231n：Convolutional networks</a:t>
            </a:r>
          </a:p>
          <a:p xmlns:a="http://schemas.openxmlformats.org/drawingml/2006/main">
            <a:r>
              <a:t>https://cs231n.github.io/convolutional-networks/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層を重ねて特徴を変える</a:t>
            </a:r>
          </a:p>
          <a:p xmlns:a="http://schemas.openxmlformats.org/drawingml/2006/main">
            <a:r>
              <a:t/>
            </a:r>
          </a:p>
          <a:p xmlns:a="http://schemas.openxmlformats.org/drawingml/2006/main">
            <a:r>
              <a:t>目安：4分／授業開始から49〜53分</a:t>
            </a:r>
          </a:p>
          <a:p xmlns:a="http://schemas.openxmlformats.org/drawingml/2006/main">
            <a:r>
              <a:t/>
            </a:r>
          </a:p>
          <a:p xmlns:a="http://schemas.openxmlformats.org/drawingml/2006/main">
            <a:r>
              <a:t>受容野はその出力が依存する入力の範囲．層を重ねることで典型的に範囲が広がる．各層が必ず人間に説明しやすい部品だけを見つけるとは限らない．</a:t>
            </a:r>
          </a:p>
          <a:p xmlns:a="http://schemas.openxmlformats.org/drawingml/2006/main">
            <a:r>
              <a:t/>
            </a:r>
          </a:p>
          <a:p xmlns:a="http://schemas.openxmlformats.org/drawingml/2006/main">
            <a:r>
              <a:t>小さな領域の情報を，次の層の入力にする．</a:t>
            </a:r>
          </a:p>
          <a:p xmlns:a="http://schemas.openxmlformats.org/drawingml/2006/main">
            <a:r>
              <a:t/>
            </a:r>
          </a:p>
          <a:p xmlns:a="http://schemas.openxmlformats.org/drawingml/2006/main">
            <a:r>
              <a:t>層や構造によって，広い範囲の関係も扱う．</a:t>
            </a:r>
          </a:p>
          <a:p xmlns:a="http://schemas.openxmlformats.org/drawingml/2006/main">
            <a:r>
              <a:t/>
            </a:r>
          </a:p>
          <a:p xmlns:a="http://schemas.openxmlformats.org/drawingml/2006/main">
            <a:r>
              <a:t>得た特徴を，分類や位置の予測に利用する．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Stanford CS231n：Convolutional networks</a:t>
            </a:r>
          </a:p>
          <a:p xmlns:a="http://schemas.openxmlformats.org/drawingml/2006/main">
            <a:r>
              <a:t>https://cs231n.github.io/convolutional-networks/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代表的な構造の考え方</a:t>
            </a:r>
          </a:p>
          <a:p xmlns:a="http://schemas.openxmlformats.org/drawingml/2006/main">
            <a:r>
              <a:t/>
            </a:r>
          </a:p>
          <a:p xmlns:a="http://schemas.openxmlformats.org/drawingml/2006/main">
            <a:r>
              <a:t>目安：4分／授業開始から53〜57分</a:t>
            </a:r>
          </a:p>
          <a:p xmlns:a="http://schemas.openxmlformats.org/drawingml/2006/main">
            <a:r>
              <a:t/>
            </a:r>
          </a:p>
          <a:p xmlns:a="http://schemas.openxmlformats.org/drawingml/2006/main">
            <a:r>
              <a:t>歴史上の精度や年の細かな暗記は課さない．残差接続の役割は深いモデルの学習を助ける工夫として説明する．</a:t>
            </a:r>
          </a:p>
          <a:p xmlns:a="http://schemas.openxmlformats.org/drawingml/2006/main">
            <a:r>
              <a:t/>
            </a:r>
          </a:p>
          <a:p xmlns:a="http://schemas.openxmlformats.org/drawingml/2006/main">
            <a:r>
              <a:t>AlexNet・VGG ／ 畳み込みを重ねた代表的な構造</a:t>
            </a:r>
          </a:p>
          <a:p xmlns:a="http://schemas.openxmlformats.org/drawingml/2006/main">
            <a:r>
              <a:t>ResNet ／ 残差接続で，入力を先の層へ加える</a:t>
            </a:r>
          </a:p>
          <a:p xmlns:a="http://schemas.openxmlformats.org/drawingml/2006/main">
            <a:r>
              <a:t>軽量なモデル ／ 処理量やメモリを抑える構成</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Torchvision：Models and pre-trained weights</a:t>
            </a:r>
          </a:p>
          <a:p xmlns:a="http://schemas.openxmlformats.org/drawingml/2006/main">
            <a:r>
              <a:t>https://docs.pytorch.org/vision/stable/models.html</a:t>
            </a:r>
          </a:p>
          <a:p xmlns:a="http://schemas.openxmlformats.org/drawingml/2006/main">
            <a:r>
              <a:t/>
            </a:r>
          </a:p>
          <a:p xmlns:a="http://schemas.openxmlformats.org/drawingml/2006/main">
            <a:r>
              <a:t>Stanford CS231n：Convolutional networks</a:t>
            </a:r>
          </a:p>
          <a:p xmlns:a="http://schemas.openxmlformats.org/drawingml/2006/main">
            <a:r>
              <a:t>https://cs231n.github.io/convolutional-networks/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画像分類の評価</a:t>
            </a:r>
          </a:p>
          <a:p xmlns:a="http://schemas.openxmlformats.org/drawingml/2006/main">
            <a:r>
              <a:t/>
            </a:r>
          </a:p>
          <a:p xmlns:a="http://schemas.openxmlformats.org/drawingml/2006/main">
            <a:r>
              <a:t>目安：4分／授業開始から57〜61分</a:t>
            </a:r>
          </a:p>
          <a:p xmlns:a="http://schemas.openxmlformats.org/drawingml/2006/main">
            <a:r>
              <a:t/>
            </a:r>
          </a:p>
          <a:p xmlns:a="http://schemas.openxmlformats.org/drawingml/2006/main">
            <a:r>
              <a:t>同じ対象の連写を訓練とテストへ分けると，評価が楽になることがある．撮影場所や対象ごとの分割も検討する．</a:t>
            </a:r>
          </a:p>
          <a:p xmlns:a="http://schemas.openxmlformats.org/drawingml/2006/main">
            <a:r>
              <a:t/>
            </a:r>
          </a:p>
          <a:p xmlns:a="http://schemas.openxmlformats.org/drawingml/2006/main">
            <a:r>
              <a:t>画像ごとの予測カテゴリを正解と比べる．</a:t>
            </a:r>
          </a:p>
          <a:p xmlns:a="http://schemas.openxmlformats.org/drawingml/2006/main">
            <a:r>
              <a:t/>
            </a:r>
          </a:p>
          <a:p xmlns:a="http://schemas.openxmlformats.org/drawingml/2006/main">
            <a:r>
              <a:t>混同行列で，間違えやすい組合せを調べる．</a:t>
            </a:r>
          </a:p>
          <a:p xmlns:a="http://schemas.openxmlformats.org/drawingml/2006/main">
            <a:r>
              <a:t/>
            </a:r>
          </a:p>
          <a:p xmlns:a="http://schemas.openxmlformats.org/drawingml/2006/main">
            <a:r>
              <a:t>学習時と違う場所・照明・対象でも確かめる．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TensorFlow：Image classification</a:t>
            </a:r>
          </a:p>
          <a:p xmlns:a="http://schemas.openxmlformats.org/drawingml/2006/main">
            <a:r>
              <a:t>https://www.tensorflow.org/tutorials/images/classification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物体検出の評価</a:t>
            </a:r>
          </a:p>
          <a:p xmlns:a="http://schemas.openxmlformats.org/drawingml/2006/main">
            <a:r>
              <a:t/>
            </a:r>
          </a:p>
          <a:p xmlns:a="http://schemas.openxmlformats.org/drawingml/2006/main">
            <a:r>
              <a:t>目安：4分／授業開始から61〜65分</a:t>
            </a:r>
          </a:p>
          <a:p xmlns:a="http://schemas.openxmlformats.org/drawingml/2006/main">
            <a:r>
              <a:t/>
            </a:r>
          </a:p>
          <a:p xmlns:a="http://schemas.openxmlformats.org/drawingml/2006/main">
            <a:r>
              <a:t>IoU=共通部分の面積÷二つの枠の和集合の面積．mAPなどの指標の細かな計算は今回の範囲外にする．</a:t>
            </a:r>
          </a:p>
          <a:p xmlns:a="http://schemas.openxmlformats.org/drawingml/2006/main">
            <a:r>
              <a:t/>
            </a:r>
          </a:p>
          <a:p xmlns:a="http://schemas.openxmlformats.org/drawingml/2006/main">
            <a:r>
              <a:t>カテゴリだけでなく，位置の一致も評価する．</a:t>
            </a:r>
          </a:p>
          <a:p xmlns:a="http://schemas.openxmlformats.org/drawingml/2006/main">
            <a:r>
              <a:t/>
            </a:r>
          </a:p>
          <a:p xmlns:a="http://schemas.openxmlformats.org/drawingml/2006/main">
            <a:r>
              <a:t>IoUは，予測枠と正解枠の重なりを表す．</a:t>
            </a:r>
          </a:p>
          <a:p xmlns:a="http://schemas.openxmlformats.org/drawingml/2006/main">
            <a:r>
              <a:t/>
            </a:r>
          </a:p>
          <a:p xmlns:a="http://schemas.openxmlformats.org/drawingml/2006/main">
            <a:r>
              <a:t>検出の漏れや，余分な枠も確認する．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Torchvision：Models and pre-trained weights</a:t>
            </a:r>
          </a:p>
          <a:p xmlns:a="http://schemas.openxmlformats.org/drawingml/2006/main">
            <a:r>
              <a:t>https://docs.pytorch.org/vision/stable/models.html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演習2：IoUの計算</a:t>
            </a:r>
          </a:p>
          <a:p xmlns:a="http://schemas.openxmlformats.org/drawingml/2006/main">
            <a:r>
              <a:t/>
            </a:r>
          </a:p>
          <a:p xmlns:a="http://schemas.openxmlformats.org/drawingml/2006/main">
            <a:r>
              <a:t>目安：4分／授業開始から65〜69分</a:t>
            </a:r>
          </a:p>
          <a:p xmlns:a="http://schemas.openxmlformats.org/drawingml/2006/main">
            <a:r>
              <a:t/>
            </a:r>
          </a:p>
          <a:p xmlns:a="http://schemas.openxmlformats.org/drawingml/2006/main">
            <a:r>
              <a:t>二つの枠の和集合の面積とIoUを求める．同じ単位の面積を使う．個人2分，解説2分．</a:t>
            </a:r>
          </a:p>
          <a:p xmlns:a="http://schemas.openxmlformats.org/drawingml/2006/main">
            <a:r>
              <a:t/>
            </a:r>
          </a:p>
          <a:p xmlns:a="http://schemas.openxmlformats.org/drawingml/2006/main">
            <a:r>
              <a:t>10 ／ 10 ／ 5</a:t>
            </a:r>
          </a:p>
          <a:p xmlns:a="http://schemas.openxmlformats.org/drawingml/2006/main">
            <a:r>
              <a:t/>
            </a:r>
          </a:p>
          <a:p xmlns:a="http://schemas.openxmlformats.org/drawingml/2006/main">
            <a:r>
              <a:t>和集合の面積は，重なりを二重に数えない．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Torchvision：Models and pre-trained weights</a:t>
            </a:r>
          </a:p>
          <a:p xmlns:a="http://schemas.openxmlformats.org/drawingml/2006/main">
            <a:r>
              <a:t>https://docs.pytorch.org/vision/stable/models.html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演習2：解答</a:t>
            </a:r>
          </a:p>
          <a:p xmlns:a="http://schemas.openxmlformats.org/drawingml/2006/main">
            <a:r>
              <a:t/>
            </a:r>
          </a:p>
          <a:p xmlns:a="http://schemas.openxmlformats.org/drawingml/2006/main">
            <a:r>
              <a:t>目安：4分／授業開始から69〜73分</a:t>
            </a:r>
          </a:p>
          <a:p xmlns:a="http://schemas.openxmlformats.org/drawingml/2006/main">
            <a:r>
              <a:t/>
            </a:r>
          </a:p>
          <a:p xmlns:a="http://schemas.openxmlformats.org/drawingml/2006/main">
            <a:r>
              <a:t>IoUの閾値だけで全ての課題の成否が決まるわけではない．必要な位置の精度は利用目的による．</a:t>
            </a:r>
          </a:p>
          <a:p xmlns:a="http://schemas.openxmlformats.org/drawingml/2006/main">
            <a:r>
              <a:t/>
            </a:r>
          </a:p>
          <a:p xmlns:a="http://schemas.openxmlformats.org/drawingml/2006/main">
            <a:r>
              <a:t>和集合の面積＝10＋10−5＝15</a:t>
            </a:r>
          </a:p>
          <a:p xmlns:a="http://schemas.openxmlformats.org/drawingml/2006/main">
            <a:r>
              <a:t/>
            </a:r>
          </a:p>
          <a:p xmlns:a="http://schemas.openxmlformats.org/drawingml/2006/main">
            <a:r>
              <a:t>IoU＝5÷15＝約0.333</a:t>
            </a:r>
          </a:p>
          <a:p xmlns:a="http://schemas.openxmlformats.org/drawingml/2006/main">
            <a:r>
              <a:t/>
            </a:r>
          </a:p>
          <a:p xmlns:a="http://schemas.openxmlformats.org/drawingml/2006/main">
            <a:r>
              <a:t>完全に一致すれば1，重ならなければ0．</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Torchvision：Models and pre-trained weights</a:t>
            </a:r>
          </a:p>
          <a:p xmlns:a="http://schemas.openxmlformats.org/drawingml/2006/main">
            <a:r>
              <a:t>https://docs.pytorch.org/vision/stable/models.html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正解データを作る負担</a:t>
            </a:r>
          </a:p>
          <a:p xmlns:a="http://schemas.openxmlformats.org/drawingml/2006/main">
            <a:r>
              <a:t/>
            </a:r>
          </a:p>
          <a:p xmlns:a="http://schemas.openxmlformats.org/drawingml/2006/main">
            <a:r>
              <a:t>目安：4分／授業開始から73〜77分</a:t>
            </a:r>
          </a:p>
          <a:p xmlns:a="http://schemas.openxmlformats.org/drawingml/2006/main">
            <a:r>
              <a:t/>
            </a:r>
          </a:p>
          <a:p xmlns:a="http://schemas.openxmlformats.org/drawingml/2006/main">
            <a:r>
              <a:t>一般に細かな位置ラベルほど作業量が増えるが，ツールや対象で変わる．ラベルの一貫性と検査を含めた計画を立てる．</a:t>
            </a:r>
          </a:p>
          <a:p xmlns:a="http://schemas.openxmlformats.org/drawingml/2006/main">
            <a:r>
              <a:t/>
            </a:r>
          </a:p>
          <a:p xmlns:a="http://schemas.openxmlformats.org/drawingml/2006/main">
            <a:r>
              <a:t>分類 ／ 画像ごとにカテゴリを付ける</a:t>
            </a:r>
          </a:p>
          <a:p xmlns:a="http://schemas.openxmlformats.org/drawingml/2006/main">
            <a:r>
              <a:t>検出 ／ 対象ごとに枠を描く</a:t>
            </a:r>
          </a:p>
          <a:p xmlns:a="http://schemas.openxmlformats.org/drawingml/2006/main">
            <a:r>
              <a:t>領域分割 ／ 画素や領域へラベルを付ける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Torchvision：Models and pre-trained weights</a:t>
            </a:r>
          </a:p>
          <a:p xmlns:a="http://schemas.openxmlformats.org/drawingml/2006/main">
            <a:r>
              <a:t>https://docs.pytorch.org/vision/stable/models.html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演習3：どの課題を選ぶか</a:t>
            </a:r>
          </a:p>
          <a:p xmlns:a="http://schemas.openxmlformats.org/drawingml/2006/main">
            <a:r>
              <a:t/>
            </a:r>
          </a:p>
          <a:p xmlns:a="http://schemas.openxmlformats.org/drawingml/2006/main">
            <a:r>
              <a:t>目安：5分／授業開始から77〜82分</a:t>
            </a:r>
          </a:p>
          <a:p xmlns:a="http://schemas.openxmlformats.org/drawingml/2006/main">
            <a:r>
              <a:t/>
            </a:r>
          </a:p>
          <a:p xmlns:a="http://schemas.openxmlformats.org/drawingml/2006/main">
            <a:r>
              <a:t>ペアで3分，出力と正解データを説明する．A分類，B検出，C領域分割．必要な業務が変わればAでも検出や分割を選ぶ場合がある．</a:t>
            </a:r>
          </a:p>
          <a:p xmlns:a="http://schemas.openxmlformats.org/drawingml/2006/main">
            <a:r>
              <a:t/>
            </a:r>
          </a:p>
          <a:p xmlns:a="http://schemas.openxmlformats.org/drawingml/2006/main">
            <a:r>
              <a:t>A：写真に不良品が写っているかを判定したい．</a:t>
            </a:r>
          </a:p>
          <a:p xmlns:a="http://schemas.openxmlformats.org/drawingml/2006/main">
            <a:r>
              <a:t/>
            </a:r>
          </a:p>
          <a:p xmlns:a="http://schemas.openxmlformats.org/drawingml/2006/main">
            <a:r>
              <a:t>B：複数の部品の位置と種類を知りたい．</a:t>
            </a:r>
          </a:p>
          <a:p xmlns:a="http://schemas.openxmlformats.org/drawingml/2006/main">
            <a:r>
              <a:t/>
            </a:r>
          </a:p>
          <a:p xmlns:a="http://schemas.openxmlformats.org/drawingml/2006/main">
            <a:r>
              <a:t>C：道路の各画素を車道・歩道などへ分けたい．</a:t>
            </a:r>
          </a:p>
          <a:p xmlns:a="http://schemas.openxmlformats.org/drawingml/2006/main">
            <a:r>
              <a:t/>
            </a:r>
          </a:p>
          <a:p xmlns:a="http://schemas.openxmlformats.org/drawingml/2006/main">
            <a:r>
              <a:t>モデル名より，必要な出力から選ぶ．</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演習3：解答</a:t>
            </a:r>
          </a:p>
          <a:p xmlns:a="http://schemas.openxmlformats.org/drawingml/2006/main">
            <a:r>
              <a:t/>
            </a:r>
          </a:p>
          <a:p xmlns:a="http://schemas.openxmlformats.org/drawingml/2006/main">
            <a:r>
              <a:t>目安：4分／授業開始から82〜86分</a:t>
            </a:r>
          </a:p>
          <a:p xmlns:a="http://schemas.openxmlformats.org/drawingml/2006/main">
            <a:r>
              <a:t/>
            </a:r>
          </a:p>
          <a:p xmlns:a="http://schemas.openxmlformats.org/drawingml/2006/main">
            <a:r>
              <a:t>解答は設問で指定した出力に対する例．不良の場所も求めるなら，Aの課題設定を変える必要がある．</a:t>
            </a:r>
          </a:p>
          <a:p xmlns:a="http://schemas.openxmlformats.org/drawingml/2006/main">
            <a:r>
              <a:t/>
            </a:r>
          </a:p>
          <a:p xmlns:a="http://schemas.openxmlformats.org/drawingml/2006/main">
            <a:r>
              <a:t>A ／ 画像分類 ／ 画像ごとの良否ラベル</a:t>
            </a:r>
          </a:p>
          <a:p xmlns:a="http://schemas.openxmlformats.org/drawingml/2006/main">
            <a:r>
              <a:t>B ／ 物体検出 ／ 部品の枠と種類</a:t>
            </a:r>
          </a:p>
          <a:p xmlns:a="http://schemas.openxmlformats.org/drawingml/2006/main">
            <a:r>
              <a:t>C ／ 領域分割 ／ 画素ごとの領域ラベル</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Torchvision：Models and pre-trained weights</a:t>
            </a:r>
          </a:p>
          <a:p xmlns:a="http://schemas.openxmlformats.org/drawingml/2006/main">
            <a:r>
              <a:t>https://docs.pytorch.org/vision/stable/models.html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まとめ・振り返り</a:t>
            </a:r>
          </a:p>
          <a:p xmlns:a="http://schemas.openxmlformats.org/drawingml/2006/main">
            <a:r>
              <a:t/>
            </a:r>
          </a:p>
          <a:p xmlns:a="http://schemas.openxmlformats.org/drawingml/2006/main">
            <a:r>
              <a:t>目安：4分／授業開始から86〜90分</a:t>
            </a:r>
          </a:p>
          <a:p xmlns:a="http://schemas.openxmlformats.org/drawingml/2006/main">
            <a:r>
              <a:t/>
            </a:r>
          </a:p>
          <a:p xmlns:a="http://schemas.openxmlformats.org/drawingml/2006/main">
            <a:r>
              <a:t>出口課題：身近な画像AIを一つ選び，入力，出力，必要な正解データを説明する．音声をスペクトログラムに変えてCNNを使う応用も補足できる．</a:t>
            </a:r>
          </a:p>
          <a:p xmlns:a="http://schemas.openxmlformats.org/drawingml/2006/main">
            <a:r>
              <a:t/>
            </a:r>
          </a:p>
          <a:p xmlns:a="http://schemas.openxmlformats.org/drawingml/2006/main">
            <a:r>
              <a:t>画像は，画素とチャネルの数値で表す．</a:t>
            </a:r>
          </a:p>
          <a:p xmlns:a="http://schemas.openxmlformats.org/drawingml/2006/main">
            <a:r>
              <a:t/>
            </a:r>
          </a:p>
          <a:p xmlns:a="http://schemas.openxmlformats.org/drawingml/2006/main">
            <a:r>
              <a:t>CNNは，局所的な計算と重みの共有を使う．</a:t>
            </a:r>
          </a:p>
          <a:p xmlns:a="http://schemas.openxmlformats.org/drawingml/2006/main">
            <a:r>
              <a:t/>
            </a:r>
          </a:p>
          <a:p xmlns:a="http://schemas.openxmlformats.org/drawingml/2006/main">
            <a:r>
              <a:t>分類・検出・領域分割は，出力と正解が異なる．</a:t>
            </a:r>
          </a:p>
          <a:p xmlns:a="http://schemas.openxmlformats.org/drawingml/2006/main">
            <a:r>
              <a:t/>
            </a:r>
          </a:p>
          <a:p xmlns:a="http://schemas.openxmlformats.org/drawingml/2006/main">
            <a:r>
              <a:t>次回：言葉・時系列を扱うAI</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参考資料1</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授業内容の参考資料．図・数値・設問は出典を別途示したものを除き，本講義の作例．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Stanford CS231n：Convolutional networks</a:t>
            </a:r>
          </a:p>
          <a:p xmlns:a="http://schemas.openxmlformats.org/drawingml/2006/main">
            <a:r>
              <a:t>https://cs231n.github.io/convolutional-networks/</a:t>
            </a:r>
          </a:p>
          <a:p xmlns:a="http://schemas.openxmlformats.org/drawingml/2006/main">
            <a:r>
              <a:t/>
            </a:r>
          </a:p>
          <a:p xmlns:a="http://schemas.openxmlformats.org/drawingml/2006/main">
            <a:r>
              <a:t>PyTorch：Conv2d</a:t>
            </a:r>
          </a:p>
          <a:p xmlns:a="http://schemas.openxmlformats.org/drawingml/2006/main">
            <a:r>
              <a:t>https://docs.pytorch.org/docs/stable/generated/torch.nn.Conv2d.html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参考資料2</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本文の補足と参考資料．演習は講義用の作例で，公式試験問題ではない．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Stanford CS231n：Convolutional networks</a:t>
            </a:r>
          </a:p>
          <a:p xmlns:a="http://schemas.openxmlformats.org/drawingml/2006/main">
            <a:r>
              <a:t>https://cs231n.github.io/convolutional-networks/</a:t>
            </a:r>
          </a:p>
          <a:p xmlns:a="http://schemas.openxmlformats.org/drawingml/2006/main">
            <a:r>
              <a:t/>
            </a:r>
          </a:p>
          <a:p xmlns:a="http://schemas.openxmlformats.org/drawingml/2006/main">
            <a:r>
              <a:t>PyTorch：Conv2d</a:t>
            </a:r>
          </a:p>
          <a:p xmlns:a="http://schemas.openxmlformats.org/drawingml/2006/main">
            <a:r>
              <a:t>https://docs.pytorch.org/docs/stable/generated/torch.nn.Conv2d.html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10a2fc942442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8e1eac9a5b49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fa4c974ecb4b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f09d6a82b0405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d0f4491e5a4d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be442c5c424bf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e011c7b886a431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4982ddf659d476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eacfd962a374c8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729b6e9fb234c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b4ff3f80a56443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97F7A9FC-42F9-4272-8061-420BE7C155B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DF9B35A9-3FE9-4BFF-B656-B4D6A3DC0A39}"/>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2EE4E9B5-D82D-45CC-A6B5-C4CEFF56E3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BFD5D03B-80CF-46D0-B675-64FA89A7F4E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E87C2054-8E80-4D76-8DEF-3392908A46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A48A6AB9-704A-4EBC-BC7C-E63FA18B1C9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D7215D3D-AF97-4F0E-9656-152FBCF3D28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DF7B5FDE-C912-4BA0-875F-484DCB7B2ED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16BA528-8965-4793-9AC8-05865DDFC09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0E39A5F4-B176-4DAE-9CB7-A203335062A5}"/>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7E172536-B60A-4A31-A2FA-7BA7BF19B8E0}"/>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2C24B9CB-9CE1-4429-8F38-7501BA6A20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A50B932F-4A9D-4C20-9484-8CF9B39F52C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10A4A5C6-0B08-48A3-9AF9-3CC6EB89A40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7B5EE8FA-8AA8-4DEE-8C01-771682B3C21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A6C772D8-01E9-4327-9C03-7A26C992D7E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929D0ACB-6748-4C74-A363-D9CD1769135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EB4C4AB4-01B0-4B64-8073-04A7A1310B4C}"/>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F925D32E-2AA0-42B4-B90E-E867F36D20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73D0385D-11D1-44BD-9DCD-3C92F13D1130}"/>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A0351056-57DF-4898-A954-791E5DBBAAB6}"/>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5D8E1582-629C-417E-97AF-90F193595A5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9DF51F9B-459E-40E6-BF85-67159A6AAE8F}"/>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8784D298-F9D4-481C-A581-8DD66EEBFE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90CDD5AF-DC6A-4D21-B2D6-412F53B788F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BC7FC0E-748E-4525-B97C-CEA11BA1A0E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DF82A840-592C-4A06-880C-CBB4FCCE24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FA60046D-6491-4CEE-A2BA-C9D70926FC6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009999C1-0D75-43B3-B331-E10DC6D330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EA545E12-B334-450B-8E0B-4F79F102D5C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686ab0fed24cdf" /><Relationship Type="http://schemas.openxmlformats.org/officeDocument/2006/relationships/slideLayout" Target="/ppt/slideLayouts/slideLayout1.xml" Id="R4ec093b52dd84f9b" /><Relationship Type="http://schemas.openxmlformats.org/officeDocument/2006/relationships/slideLayout" Target="/ppt/slideLayouts/slideLayout2.xml" Id="Rfeacdb0948fb43ef" /><Relationship Type="http://schemas.openxmlformats.org/officeDocument/2006/relationships/slideLayout" Target="/ppt/slideLayouts/slideLayout3.xml" Id="Rd82faa6a687a4f46" /><Relationship Type="http://schemas.openxmlformats.org/officeDocument/2006/relationships/slideLayout" Target="/ppt/slideLayouts/slideLayout4.xml" Id="R300c9b3936434624" /><Relationship Type="http://schemas.openxmlformats.org/officeDocument/2006/relationships/slideLayout" Target="/ppt/slideLayouts/slideLayout5.xml" Id="R8c99e31bc39d4857" /><Relationship Type="http://schemas.openxmlformats.org/officeDocument/2006/relationships/slideLayout" Target="/ppt/slideLayouts/slideLayout6.xml" Id="R9be8d81a49b7470f" /><Relationship Type="http://schemas.openxmlformats.org/officeDocument/2006/relationships/slideLayout" Target="/ppt/slideLayouts/slideLayout7.xml" Id="Rda2fb0cccd4f4c37" /><Relationship Type="http://schemas.openxmlformats.org/officeDocument/2006/relationships/slideLayout" Target="/ppt/slideLayouts/slideLayout8.xml" Id="Ref128ba35f894c02" /><Relationship Type="http://schemas.openxmlformats.org/officeDocument/2006/relationships/slideLayout" Target="/ppt/slideLayouts/slideLayout9.xml" Id="R56d397ba6d344bd3" /><Relationship Type="http://schemas.openxmlformats.org/officeDocument/2006/relationships/slideLayout" Target="/ppt/slideLayouts/slideLayout10.xml" Id="Rcb01683121154c99" /><Relationship Type="http://schemas.openxmlformats.org/officeDocument/2006/relationships/slideLayout" Target="/ppt/slideLayouts/slideLayout11.xml" Id="R4fe2a23dbae64c55"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74A3540-C64F-46E3-B616-206CF115CDB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E08F150-A23F-4348-8C7A-55D3B350A20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D6018B7-7DF8-468E-A6FA-83523D47D8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ec093b52dd84f9b"/>
    <p:sldLayoutId xmlns:r="http://schemas.openxmlformats.org/officeDocument/2006/relationships" id="2147483650" r:id="Rfeacdb0948fb43ef"/>
    <p:sldLayoutId xmlns:r="http://schemas.openxmlformats.org/officeDocument/2006/relationships" id="2147483651" r:id="Rd82faa6a687a4f46"/>
    <p:sldLayoutId xmlns:r="http://schemas.openxmlformats.org/officeDocument/2006/relationships" id="2147483652" r:id="R300c9b3936434624"/>
    <p:sldLayoutId xmlns:r="http://schemas.openxmlformats.org/officeDocument/2006/relationships" id="2147483653" r:id="R8c99e31bc39d4857"/>
    <p:sldLayoutId xmlns:r="http://schemas.openxmlformats.org/officeDocument/2006/relationships" id="2147483654" r:id="R9be8d81a49b7470f"/>
    <p:sldLayoutId xmlns:r="http://schemas.openxmlformats.org/officeDocument/2006/relationships" id="2147483655" r:id="Rda2fb0cccd4f4c37"/>
    <p:sldLayoutId xmlns:r="http://schemas.openxmlformats.org/officeDocument/2006/relationships" id="2147483656" r:id="Ref128ba35f894c02"/>
    <p:sldLayoutId xmlns:r="http://schemas.openxmlformats.org/officeDocument/2006/relationships" id="2147483657" r:id="R56d397ba6d344bd3"/>
    <p:sldLayoutId xmlns:r="http://schemas.openxmlformats.org/officeDocument/2006/relationships" id="2147483658" r:id="Rcb01683121154c99"/>
    <p:sldLayoutId xmlns:r="http://schemas.openxmlformats.org/officeDocument/2006/relationships" id="2147483659" r:id="R4fe2a23dbae64c5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75dc8b3743c84e55" /><Relationship Type="http://schemas.openxmlformats.org/officeDocument/2006/relationships/notesSlide" Target="/ppt/notesSlides/notesSlide1.xml" Id="Rb9d555ccd2d949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8e1669be60e946ae" /><Relationship Type="http://schemas.openxmlformats.org/officeDocument/2006/relationships/notesSlide" Target="/ppt/notesSlides/notesSlide2.xml" Id="Rea7d810602c346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0997030fbb364337" /><Relationship Type="http://schemas.openxmlformats.org/officeDocument/2006/relationships/notesSlide" Target="/ppt/notesSlides/notesSlide3.xml" Id="R9e0992eb056346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592fcac9260d49e2" /><Relationship Type="http://schemas.openxmlformats.org/officeDocument/2006/relationships/notesSlide" Target="/ppt/notesSlides/notesSlide4.xml" Id="R97ec0efe444742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aeed5e99a93e4047" /><Relationship Type="http://schemas.openxmlformats.org/officeDocument/2006/relationships/notesSlide" Target="/ppt/notesSlides/notesSlide5.xml" Id="Rc923c3290d2045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4c99a4446bf4422a" /><Relationship Type="http://schemas.openxmlformats.org/officeDocument/2006/relationships/notesSlide" Target="/ppt/notesSlides/notesSlide6.xml" Id="R095c96418aee42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45b57d389d404d6f" /><Relationship Type="http://schemas.openxmlformats.org/officeDocument/2006/relationships/notesSlide" Target="/ppt/notesSlides/notesSlide7.xml" Id="R69ce899eeac94d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ebdcbe244afd4414" /><Relationship Type="http://schemas.openxmlformats.org/officeDocument/2006/relationships/notesSlide" Target="/ppt/notesSlides/notesSlide8.xml" Id="R7ff435e8dd0749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fda436b420664c7c" /><Relationship Type="http://schemas.openxmlformats.org/officeDocument/2006/relationships/notesSlide" Target="/ppt/notesSlides/notesSlide9.xml" Id="R85ba73c9138147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5965620264344e90" /><Relationship Type="http://schemas.openxmlformats.org/officeDocument/2006/relationships/notesSlide" Target="/ppt/notesSlides/notesSlide10.xml" Id="Rf27b838e08d344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0467d1bf1f09486c" /><Relationship Type="http://schemas.openxmlformats.org/officeDocument/2006/relationships/notesSlide" Target="/ppt/notesSlides/notesSlide11.xml" Id="R1c793a4df21d4b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cba0de75cf3342b1" /><Relationship Type="http://schemas.openxmlformats.org/officeDocument/2006/relationships/notesSlide" Target="/ppt/notesSlides/notesSlide12.xml" Id="Rb7e328963c8c48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a86a8a8e80994bac" /><Relationship Type="http://schemas.openxmlformats.org/officeDocument/2006/relationships/notesSlide" Target="/ppt/notesSlides/notesSlide13.xml" Id="R398d8d3169094d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e194293dd5954561" /><Relationship Type="http://schemas.openxmlformats.org/officeDocument/2006/relationships/notesSlide" Target="/ppt/notesSlides/notesSlide14.xml" Id="R43da35a5419845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1.xml" Id="R952803b339334009" /><Relationship Type="http://schemas.openxmlformats.org/officeDocument/2006/relationships/notesSlide" Target="/ppt/notesSlides/notesSlide15.xml" Id="Rbad2d2da4b754f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701ce592364942ff" /><Relationship Type="http://schemas.openxmlformats.org/officeDocument/2006/relationships/notesSlide" Target="/ppt/notesSlides/notesSlide16.xml" Id="Rca215e31a932482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1.xml" Id="Rfdc49779a9b54a43" /><Relationship Type="http://schemas.openxmlformats.org/officeDocument/2006/relationships/notesSlide" Target="/ppt/notesSlides/notesSlide17.xml" Id="Rac52977511d1449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1.xml" Id="Re987acc32e584513" /><Relationship Type="http://schemas.openxmlformats.org/officeDocument/2006/relationships/notesSlide" Target="/ppt/notesSlides/notesSlide18.xml" Id="Rb5aab3b7682343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1.xml" Id="Rdc23ad54fe9a4463" /><Relationship Type="http://schemas.openxmlformats.org/officeDocument/2006/relationships/notesSlide" Target="/ppt/notesSlides/notesSlide19.xml" Id="Reca7c4a4676544c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1.xml" Id="R4e5e264fa3744560" /><Relationship Type="http://schemas.openxmlformats.org/officeDocument/2006/relationships/notesSlide" Target="/ppt/notesSlides/notesSlide20.xml" Id="R33465c4d084848e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1.xml" Id="Rfb2ab886bf7d4bee" /><Relationship Type="http://schemas.openxmlformats.org/officeDocument/2006/relationships/notesSlide" Target="/ppt/notesSlides/notesSlide21.xml" Id="R2530761752ce4bd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1.xml" Id="R680e7999b3de4e19" /><Relationship Type="http://schemas.openxmlformats.org/officeDocument/2006/relationships/notesSlide" Target="/ppt/notesSlides/notesSlide22.xml" Id="R76810c2a623e433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1.xml" Id="R83647658229a4e2a" /><Relationship Type="http://schemas.openxmlformats.org/officeDocument/2006/relationships/notesSlide" Target="/ppt/notesSlides/notesSlide23.xml" Id="Rcb2e60777f1142a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1.xml" Id="R13a1f407c3214f04" /><Relationship Type="http://schemas.openxmlformats.org/officeDocument/2006/relationships/hyperlink" Target="https://cs231n.github.io/convolutional-networks/" TargetMode="External" Id="Ra18a25b4c11d45e1" /><Relationship Type="http://schemas.openxmlformats.org/officeDocument/2006/relationships/hyperlink" Target="https://docs.pytorch.org/docs/stable/generated/torch.nn.Conv2d.html" TargetMode="External" Id="R8af2b87b9b294103" /><Relationship Type="http://schemas.openxmlformats.org/officeDocument/2006/relationships/hyperlink" Target="https://docs.pytorch.org/vision/stable/models.html" TargetMode="External" Id="R3a6636a5b1df4810" /><Relationship Type="http://schemas.openxmlformats.org/officeDocument/2006/relationships/notesSlide" Target="/ppt/notesSlides/notesSlide24.xml" Id="R0e7a9d4cfd864ee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1.xml" Id="Rbf8be2f644ca4881" /><Relationship Type="http://schemas.openxmlformats.org/officeDocument/2006/relationships/hyperlink" Target="https://www.tensorflow.org/tutorials/images/classification" TargetMode="External" Id="Rd2d4884d46a04d0f" /><Relationship Type="http://schemas.openxmlformats.org/officeDocument/2006/relationships/hyperlink" Target="https://www.tensorflow.org/tutorials/images/data_augmentation" TargetMode="External" Id="Ra516183d94964c81" /><Relationship Type="http://schemas.openxmlformats.org/officeDocument/2006/relationships/hyperlink" Target="https://www.tensorflow.org/guide/keras/transfer_learning" TargetMode="External" Id="R18e428831c874b1d" /><Relationship Type="http://schemas.openxmlformats.org/officeDocument/2006/relationships/notesSlide" Target="/ppt/notesSlides/notesSlide25.xml" Id="R7f10af78b616402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情報技術者（民間資格）7&#10;G検定">
            <a:extLst xmlns:a="http://schemas.openxmlformats.org/drawingml/2006/main">
              <a:ext uri="{FF2B5EF4-FFF2-40B4-BE49-F238E27FC236}">
                <a16:creationId xmlns:a16="http://schemas.microsoft.com/office/drawing/2014/main" id="{B820A2A1-E38C-49DD-840A-2F6F7220A8CF}"/>
              </a:ext>
            </a:extLst>
          </p:cNvPr>
          <p:cNvSpPr>
            <a:spLocks xmlns:a="http://schemas.openxmlformats.org/drawingml/2006/main" noGrp="1"/>
          </p:cNvSpPr>
          <p:nvPr/>
        </p:nvSpPr>
        <p:spPr>
          <a:xfrm xmlns:a="http://schemas.openxmlformats.org/drawingml/2006/main">
            <a:off x="310896" y="740664"/>
            <a:ext cx="8522208" cy="2048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情報技術者（民間資格）7</a:t>
            </a:r>
          </a:p>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G検定</a:t>
            </a:r>
          </a:p>
        </p:txBody>
      </p:sp>
      <p:sp>
        <p:nvSpPr>
          <p:cNvPr id="2" name="画像を扱うAI">
            <a:extLst xmlns:a="http://schemas.openxmlformats.org/drawingml/2006/main">
              <a:ext uri="{FF2B5EF4-FFF2-40B4-BE49-F238E27FC236}">
                <a16:creationId xmlns:a16="http://schemas.microsoft.com/office/drawing/2014/main" id="{3DB25090-DA42-483A-8F85-1FFBDA059D40}"/>
              </a:ext>
            </a:extLst>
          </p:cNvPr>
          <p:cNvSpPr>
            <a:spLocks xmlns:a="http://schemas.openxmlformats.org/drawingml/2006/main" noGrp="1"/>
          </p:cNvSpPr>
          <p:nvPr/>
        </p:nvSpPr>
        <p:spPr>
          <a:xfrm xmlns:a="http://schemas.openxmlformats.org/drawingml/2006/main">
            <a:off x="457200" y="2971800"/>
            <a:ext cx="82296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900" b="0" lang="ja-JP">
                <a:solidFill>
                  <a:srgbClr val="FF0000"/>
                </a:solidFill>
                <a:latin typeface="Arial"/>
                <a:ea typeface="ＭＳ Ｐゴシック"/>
                <a:cs typeface="ＭＳ Ｐゴシック"/>
              </a:defRPr>
            </a:pPr>
            <a:r>
              <a:rPr sz="2900" b="0" lang="ja-JP">
                <a:solidFill>
                  <a:srgbClr val="FF0000"/>
                </a:solidFill>
                <a:latin typeface="Arial"/>
                <a:ea typeface="ＭＳ Ｐゴシック"/>
                <a:cs typeface="ＭＳ Ｐゴシック"/>
              </a:rPr>
              <a:t>画像を扱うAI</a:t>
            </a:r>
          </a:p>
        </p:txBody>
      </p:sp>
      <p:sp>
        <p:nvSpPr>
          <p:cNvPr id="3" name="第7回 ／ 90分 ／ 全25枚">
            <a:extLst xmlns:a="http://schemas.openxmlformats.org/drawingml/2006/main">
              <a:ext uri="{FF2B5EF4-FFF2-40B4-BE49-F238E27FC236}">
                <a16:creationId xmlns:a16="http://schemas.microsoft.com/office/drawing/2014/main" id="{0AC151C4-225B-4395-B8A1-7BFA5C6D4FE8}"/>
              </a:ext>
            </a:extLst>
          </p:cNvPr>
          <p:cNvSpPr>
            <a:spLocks xmlns:a="http://schemas.openxmlformats.org/drawingml/2006/main" noGrp="1"/>
          </p:cNvSpPr>
          <p:nvPr/>
        </p:nvSpPr>
        <p:spPr>
          <a:xfrm xmlns:a="http://schemas.openxmlformats.org/drawingml/2006/main">
            <a:off x="457200" y="4215384"/>
            <a:ext cx="82296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00" b="0" lang="ja-JP">
                <a:solidFill>
                  <a:srgbClr val="707070"/>
                </a:solidFill>
                <a:latin typeface="Arial"/>
                <a:ea typeface="ＭＳ Ｐゴシック"/>
                <a:cs typeface="ＭＳ Ｐゴシック"/>
              </a:defRPr>
            </a:pPr>
            <a:r>
              <a:rPr sz="1600" b="0" lang="ja-JP">
                <a:solidFill>
                  <a:srgbClr val="707070"/>
                </a:solidFill>
                <a:latin typeface="Arial"/>
                <a:ea typeface="ＭＳ Ｐゴシック"/>
                <a:cs typeface="ＭＳ Ｐゴシック"/>
              </a:rPr>
              <a:t>第7回 ／ 90分 ／ 全25枚</a:t>
            </a:r>
          </a:p>
        </p:txBody>
      </p:sp>
      <p:sp>
        <p:nvSpPr>
          <p:cNvPr id="4" name="参照：Stanford CS231n／PyTorch">
            <a:extLst xmlns:a="http://schemas.openxmlformats.org/drawingml/2006/main">
              <a:ext uri="{FF2B5EF4-FFF2-40B4-BE49-F238E27FC236}">
                <a16:creationId xmlns:a16="http://schemas.microsoft.com/office/drawing/2014/main" id="{5B613674-E9FC-4637-9BEB-0BB2F36B3F3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参照：Stanford CS231n／PyTorch</a:t>
            </a:r>
          </a:p>
        </p:txBody>
      </p:sp>
      <p:sp>
        <p:nvSpPr>
          <p:cNvPr id="5" name="第7回　1">
            <a:extLst xmlns:a="http://schemas.openxmlformats.org/drawingml/2006/main">
              <a:ext uri="{FF2B5EF4-FFF2-40B4-BE49-F238E27FC236}">
                <a16:creationId xmlns:a16="http://schemas.microsoft.com/office/drawing/2014/main" id="{4570178E-DDB0-4161-BF28-32AE1798656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1</a:t>
            </a:r>
          </a:p>
        </p:txBody>
      </p:sp>
    </p:spTree>
    <p:extLst>
      <p:ext uri="{BB962C8B-B14F-4D97-AF65-F5344CB8AC3E}">
        <p14:creationId xmlns:p14="http://schemas.microsoft.com/office/powerpoint/2010/main" val="20900725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今日の到達目標">
            <a:extLst xmlns:a="http://schemas.openxmlformats.org/drawingml/2006/main">
              <a:ext uri="{FF2B5EF4-FFF2-40B4-BE49-F238E27FC236}">
                <a16:creationId xmlns:a16="http://schemas.microsoft.com/office/drawing/2014/main" id="{ECBDCA9D-944F-4617-B3E3-764B50C8666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今日の到達目標</a:t>
            </a:r>
          </a:p>
        </p:txBody>
      </p:sp>
      <p:sp>
        <p:nvSpPr>
          <p:cNvPr id="2" name="">
            <a:extLst xmlns:a="http://schemas.openxmlformats.org/drawingml/2006/main">
              <a:ext uri="{FF2B5EF4-FFF2-40B4-BE49-F238E27FC236}">
                <a16:creationId xmlns:a16="http://schemas.microsoft.com/office/drawing/2014/main" id="{8C79576E-2D60-4654-B681-68C2FF61B459}"/>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画像の数値表現を説明する．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小さなフィルタの計算を手で追う．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画像認識の課題と，必要な正解データを比較する．</a:t>
            </a:r>
          </a:p>
        </p:txBody>
      </p:sp>
      <p:sp>
        <p:nvSpPr>
          <p:cNvPr id="3" name="図・設問：本教材の作例">
            <a:extLst xmlns:a="http://schemas.openxmlformats.org/drawingml/2006/main">
              <a:ext uri="{FF2B5EF4-FFF2-40B4-BE49-F238E27FC236}">
                <a16:creationId xmlns:a16="http://schemas.microsoft.com/office/drawing/2014/main" id="{54D2F029-3405-4C49-9AF3-EDE504AD804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4" name="第7回　2">
            <a:extLst xmlns:a="http://schemas.openxmlformats.org/drawingml/2006/main">
              <a:ext uri="{FF2B5EF4-FFF2-40B4-BE49-F238E27FC236}">
                <a16:creationId xmlns:a16="http://schemas.microsoft.com/office/drawing/2014/main" id="{666FF538-B452-494D-8C4D-0BC849E339F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2</a:t>
            </a:r>
          </a:p>
        </p:txBody>
      </p:sp>
    </p:spTree>
    <p:extLst>
      <p:ext uri="{BB962C8B-B14F-4D97-AF65-F5344CB8AC3E}">
        <p14:creationId xmlns:p14="http://schemas.microsoft.com/office/powerpoint/2010/main" val="5869509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第6回の復習">
            <a:extLst xmlns:a="http://schemas.openxmlformats.org/drawingml/2006/main">
              <a:ext uri="{FF2B5EF4-FFF2-40B4-BE49-F238E27FC236}">
                <a16:creationId xmlns:a16="http://schemas.microsoft.com/office/drawing/2014/main" id="{BD4F7F14-93CB-42DF-A885-047D466A7AA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第6回の復習</a:t>
            </a:r>
          </a:p>
        </p:txBody>
      </p:sp>
      <p:sp>
        <p:nvSpPr>
          <p:cNvPr id="2" name="">
            <a:extLst xmlns:a="http://schemas.openxmlformats.org/drawingml/2006/main">
              <a:ext uri="{FF2B5EF4-FFF2-40B4-BE49-F238E27FC236}">
                <a16:creationId xmlns:a16="http://schemas.microsoft.com/office/drawing/2014/main" id="{DEA8398E-5A68-4325-8C25-027B0127FDB5}"/>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学習条件は，検証結果を使って選ぶ．</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画像の変換でも，正解の意味を保つ必要がある．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学習済みのモデルを，新しい課題に利用できる．</a:t>
            </a:r>
          </a:p>
        </p:txBody>
      </p:sp>
      <p:sp>
        <p:nvSpPr>
          <p:cNvPr id="3" name="参照：TensorFlow">
            <a:extLst xmlns:a="http://schemas.openxmlformats.org/drawingml/2006/main">
              <a:ext uri="{FF2B5EF4-FFF2-40B4-BE49-F238E27FC236}">
                <a16:creationId xmlns:a16="http://schemas.microsoft.com/office/drawing/2014/main" id="{8079E1BA-6A68-413A-994B-2754BE987033}"/>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4" name="第7回　3">
            <a:extLst xmlns:a="http://schemas.openxmlformats.org/drawingml/2006/main">
              <a:ext uri="{FF2B5EF4-FFF2-40B4-BE49-F238E27FC236}">
                <a16:creationId xmlns:a16="http://schemas.microsoft.com/office/drawing/2014/main" id="{9FA269A0-0DC9-4025-B54A-624820E07BE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3</a:t>
            </a:r>
          </a:p>
        </p:txBody>
      </p:sp>
    </p:spTree>
    <p:extLst>
      <p:ext uri="{BB962C8B-B14F-4D97-AF65-F5344CB8AC3E}">
        <p14:creationId xmlns:p14="http://schemas.microsoft.com/office/powerpoint/2010/main" val="10900654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グレースケール画像の例">
            <a:extLst xmlns:a="http://schemas.openxmlformats.org/drawingml/2006/main">
              <a:ext uri="{FF2B5EF4-FFF2-40B4-BE49-F238E27FC236}">
                <a16:creationId xmlns:a16="http://schemas.microsoft.com/office/drawing/2014/main" id="{1446791D-A2F8-4DE0-825D-D05868C891C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グレースケール画像の例</a:t>
            </a:r>
          </a:p>
        </p:txBody>
      </p:sp>
      <p:graphicFrame>
        <p:nvGraphicFramePr>
          <p:cNvPr id="7" name=""/>
          <p:cNvGraphicFramePr/>
          <p:nvPr/>
        </p:nvGraphicFramePr>
        <p:xfrm>
          <a:off xmlns:a="http://schemas.openxmlformats.org/drawingml/2006/main" x="365760" y="1243584"/>
          <a:ext xmlns:a="http://schemas.openxmlformats.org/drawingml/2006/main" cx="8366760" cy="2633472"/>
        </p:xfrm>
        <a:graphic xmlns:a="http://schemas.openxmlformats.org/drawingml/2006/main">
          <a:graphicData uri="http://schemas.openxmlformats.org/drawingml/2006/table">
            <a:tbl>
              <a:tblPr firstRow="0" bandRow="0"/>
              <a:tblGrid>
                <a:gridCol w="2788920"/>
                <a:gridCol w="2788920"/>
                <a:gridCol w="2788920"/>
              </a:tblGrid>
              <a:tr h="658368">
                <a:tc>
                  <a:txBody>
                    <a:bodyPr>
                      <a:noAutofit/>
                    </a:bodyPr>
                    <a:lstStyle/>
                    <a:p>
                      <a:pPr algn="ctr"/>
                      <a:r>
                        <a:rPr sz="2300" b="1" lang="ja-JP">
                          <a:solidFill>
                            <a:srgbClr val="000000"/>
                          </a:solidFill>
                          <a:latin typeface="Arial"/>
                          <a:ea typeface="ＭＳ Ｐゴシック"/>
                          <a:cs typeface="ＭＳ Ｐゴシック"/>
                        </a:rPr>
                        <a:t>列1</a:t>
                      </a:r>
                    </a:p>
                  </a:txBody>
                  <a:tcPr marL="76200" marR="76200" marT="47625" marB="47625" anchor="ctr">
                    <a:solidFill>
                      <a:srgbClr val="F3F3F3"/>
                    </a:solidFill>
                  </a:tcPr>
                </a:tc>
                <a:tc>
                  <a:txBody>
                    <a:bodyPr>
                      <a:noAutofit/>
                    </a:bodyPr>
                    <a:lstStyle/>
                    <a:p>
                      <a:pPr algn="ctr"/>
                      <a:r>
                        <a:rPr sz="2300" b="1" lang="ja-JP">
                          <a:solidFill>
                            <a:srgbClr val="000000"/>
                          </a:solidFill>
                          <a:latin typeface="Arial"/>
                          <a:ea typeface="ＭＳ Ｐゴシック"/>
                          <a:cs typeface="ＭＳ Ｐゴシック"/>
                        </a:rPr>
                        <a:t>列2</a:t>
                      </a:r>
                    </a:p>
                  </a:txBody>
                  <a:tcPr marL="76200" marR="76200" marT="47625" marB="47625" anchor="ctr">
                    <a:solidFill>
                      <a:srgbClr val="F3F3F3"/>
                    </a:solidFill>
                  </a:tcPr>
                </a:tc>
                <a:tc>
                  <a:txBody>
                    <a:bodyPr>
                      <a:noAutofit/>
                    </a:bodyPr>
                    <a:lstStyle/>
                    <a:p>
                      <a:pPr algn="ctr"/>
                      <a:r>
                        <a:rPr sz="2300" b="1" lang="ja-JP">
                          <a:solidFill>
                            <a:srgbClr val="000000"/>
                          </a:solidFill>
                          <a:latin typeface="Arial"/>
                          <a:ea typeface="ＭＳ Ｐゴシック"/>
                          <a:cs typeface="ＭＳ Ｐゴシック"/>
                        </a:rPr>
                        <a:t>列3</a:t>
                      </a:r>
                    </a:p>
                  </a:txBody>
                  <a:tcPr marL="76200" marR="76200" marT="47625" marB="47625" anchor="ctr">
                    <a:solidFill>
                      <a:srgbClr val="F3F3F3"/>
                    </a:solidFill>
                  </a:tcPr>
                </a:tc>
              </a:tr>
              <a:tr h="658368">
                <a:tc>
                  <a:txBody>
                    <a:bodyPr>
                      <a:noAutofit/>
                    </a:bodyPr>
                    <a:lstStyle/>
                    <a:p>
                      <a:pPr algn="ctr"/>
                      <a:r>
                        <a:rPr sz="2300" b="0" lang="ja-JP">
                          <a:solidFill>
                            <a:srgbClr val="404040"/>
                          </a:solidFill>
                          <a:latin typeface="Arial"/>
                          <a:ea typeface="ＭＳ Ｐゴシック"/>
                          <a:cs typeface="ＭＳ Ｐゴシック"/>
                        </a:rPr>
                        <a:t>0</a:t>
                      </a:r>
                    </a:p>
                  </a:txBody>
                  <a:tcPr marL="76200" marR="76200" marT="47625" marB="47625" anchor="ctr">
                    <a:solidFill>
                      <a:srgbClr val="FFFFFF"/>
                    </a:solidFill>
                  </a:tcPr>
                </a:tc>
                <a:tc>
                  <a:txBody>
                    <a:bodyPr>
                      <a:noAutofit/>
                    </a:bodyPr>
                    <a:lstStyle/>
                    <a:p>
                      <a:pPr algn="ctr"/>
                      <a:r>
                        <a:rPr sz="2300" b="0" lang="ja-JP">
                          <a:solidFill>
                            <a:srgbClr val="404040"/>
                          </a:solidFill>
                          <a:latin typeface="Arial"/>
                          <a:ea typeface="ＭＳ Ｐゴシック"/>
                          <a:cs typeface="ＭＳ Ｐゴシック"/>
                        </a:rPr>
                        <a:t>128</a:t>
                      </a:r>
                    </a:p>
                  </a:txBody>
                  <a:tcPr marL="76200" marR="76200" marT="47625" marB="47625" anchor="ctr">
                    <a:solidFill>
                      <a:srgbClr val="FFFFFF"/>
                    </a:solidFill>
                  </a:tcPr>
                </a:tc>
                <a:tc>
                  <a:txBody>
                    <a:bodyPr>
                      <a:noAutofit/>
                    </a:bodyPr>
                    <a:lstStyle/>
                    <a:p>
                      <a:pPr algn="ctr"/>
                      <a:r>
                        <a:rPr sz="2300" b="0" lang="ja-JP">
                          <a:solidFill>
                            <a:srgbClr val="404040"/>
                          </a:solidFill>
                          <a:latin typeface="Arial"/>
                          <a:ea typeface="ＭＳ Ｐゴシック"/>
                          <a:cs typeface="ＭＳ Ｐゴシック"/>
                        </a:rPr>
                        <a:t>255</a:t>
                      </a:r>
                    </a:p>
                  </a:txBody>
                  <a:tcPr marL="76200" marR="76200" marT="47625" marB="47625" anchor="ctr">
                    <a:solidFill>
                      <a:srgbClr val="FFFFFF"/>
                    </a:solidFill>
                  </a:tcPr>
                </a:tc>
              </a:tr>
              <a:tr h="658368">
                <a:tc>
                  <a:txBody>
                    <a:bodyPr>
                      <a:noAutofit/>
                    </a:bodyPr>
                    <a:lstStyle/>
                    <a:p>
                      <a:pPr algn="ctr"/>
                      <a:r>
                        <a:rPr sz="2300" b="0" lang="ja-JP">
                          <a:solidFill>
                            <a:srgbClr val="404040"/>
                          </a:solidFill>
                          <a:latin typeface="Arial"/>
                          <a:ea typeface="ＭＳ Ｐゴシック"/>
                          <a:cs typeface="ＭＳ Ｐゴシック"/>
                        </a:rPr>
                        <a:t>255</a:t>
                      </a:r>
                    </a:p>
                  </a:txBody>
                  <a:tcPr marL="76200" marR="76200" marT="47625" marB="47625" anchor="ctr">
                    <a:solidFill>
                      <a:srgbClr val="FFFFFF"/>
                    </a:solidFill>
                  </a:tcPr>
                </a:tc>
                <a:tc>
                  <a:txBody>
                    <a:bodyPr>
                      <a:noAutofit/>
                    </a:bodyPr>
                    <a:lstStyle/>
                    <a:p>
                      <a:pPr algn="ctr"/>
                      <a:r>
                        <a:rPr sz="2300" b="0" lang="ja-JP">
                          <a:solidFill>
                            <a:srgbClr val="404040"/>
                          </a:solidFill>
                          <a:latin typeface="Arial"/>
                          <a:ea typeface="ＭＳ Ｐゴシック"/>
                          <a:cs typeface="ＭＳ Ｐゴシック"/>
                        </a:rPr>
                        <a:t>128</a:t>
                      </a:r>
                    </a:p>
                  </a:txBody>
                  <a:tcPr marL="76200" marR="76200" marT="47625" marB="47625" anchor="ctr">
                    <a:solidFill>
                      <a:srgbClr val="FFFFFF"/>
                    </a:solidFill>
                  </a:tcPr>
                </a:tc>
                <a:tc>
                  <a:txBody>
                    <a:bodyPr>
                      <a:noAutofit/>
                    </a:bodyPr>
                    <a:lstStyle/>
                    <a:p>
                      <a:pPr algn="ctr"/>
                      <a:r>
                        <a:rPr sz="2300" b="0" lang="ja-JP">
                          <a:solidFill>
                            <a:srgbClr val="404040"/>
                          </a:solidFill>
                          <a:latin typeface="Arial"/>
                          <a:ea typeface="ＭＳ Ｐゴシック"/>
                          <a:cs typeface="ＭＳ Ｐゴシック"/>
                        </a:rPr>
                        <a:t>0</a:t>
                      </a:r>
                    </a:p>
                  </a:txBody>
                  <a:tcPr marL="76200" marR="76200" marT="47625" marB="47625" anchor="ctr">
                    <a:solidFill>
                      <a:srgbClr val="FFFFFF"/>
                    </a:solidFill>
                  </a:tcPr>
                </a:tc>
              </a:tr>
              <a:tr h="658368">
                <a:tc>
                  <a:txBody>
                    <a:bodyPr>
                      <a:noAutofit/>
                    </a:bodyPr>
                    <a:lstStyle/>
                    <a:p>
                      <a:pPr algn="ctr"/>
                      <a:r>
                        <a:rPr sz="2300" b="0" lang="ja-JP">
                          <a:solidFill>
                            <a:srgbClr val="404040"/>
                          </a:solidFill>
                          <a:latin typeface="Arial"/>
                          <a:ea typeface="ＭＳ Ｐゴシック"/>
                          <a:cs typeface="ＭＳ Ｐゴシック"/>
                        </a:rPr>
                        <a:t>0</a:t>
                      </a:r>
                    </a:p>
                  </a:txBody>
                  <a:tcPr marL="76200" marR="76200" marT="47625" marB="47625" anchor="ctr">
                    <a:solidFill>
                      <a:srgbClr val="FFFFFF"/>
                    </a:solidFill>
                  </a:tcPr>
                </a:tc>
                <a:tc>
                  <a:txBody>
                    <a:bodyPr>
                      <a:noAutofit/>
                    </a:bodyPr>
                    <a:lstStyle/>
                    <a:p>
                      <a:pPr algn="ctr"/>
                      <a:r>
                        <a:rPr sz="2300" b="0" lang="ja-JP">
                          <a:solidFill>
                            <a:srgbClr val="404040"/>
                          </a:solidFill>
                          <a:latin typeface="Arial"/>
                          <a:ea typeface="ＭＳ Ｐゴシック"/>
                          <a:cs typeface="ＭＳ Ｐゴシック"/>
                        </a:rPr>
                        <a:t>255</a:t>
                      </a:r>
                    </a:p>
                  </a:txBody>
                  <a:tcPr marL="76200" marR="76200" marT="47625" marB="47625" anchor="ctr">
                    <a:solidFill>
                      <a:srgbClr val="FFFFFF"/>
                    </a:solidFill>
                  </a:tcPr>
                </a:tc>
                <a:tc>
                  <a:txBody>
                    <a:bodyPr>
                      <a:noAutofit/>
                    </a:bodyPr>
                    <a:lstStyle/>
                    <a:p>
                      <a:pPr algn="ctr"/>
                      <a:r>
                        <a:rPr sz="2300" b="0" lang="ja-JP">
                          <a:solidFill>
                            <a:srgbClr val="404040"/>
                          </a:solidFill>
                          <a:latin typeface="Arial"/>
                          <a:ea typeface="ＭＳ Ｐゴシック"/>
                          <a:cs typeface="ＭＳ Ｐゴシック"/>
                        </a:rPr>
                        <a:t>128</a:t>
                      </a:r>
                    </a:p>
                  </a:txBody>
                  <a:tcPr marL="76200" marR="76200" marT="47625" marB="47625" anchor="ctr">
                    <a:solidFill>
                      <a:srgbClr val="FFFFFF"/>
                    </a:solidFill>
                  </a:tcPr>
                </a:tc>
              </a:tr>
            </a:tbl>
          </a:graphicData>
        </a:graphic>
      </p:graphicFrame>
      <p:sp>
        <p:nvSpPr>
          <p:cNvPr id="3" name="画像は，画素の値を並べたデータ．">
            <a:extLst xmlns:a="http://schemas.openxmlformats.org/drawingml/2006/main">
              <a:ext uri="{FF2B5EF4-FFF2-40B4-BE49-F238E27FC236}">
                <a16:creationId xmlns:a16="http://schemas.microsoft.com/office/drawing/2014/main" id="{A602E44E-F756-4828-AD28-00771B99854F}"/>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画像は，画素の値を並べたデータ．</a:t>
            </a:r>
          </a:p>
        </p:txBody>
      </p:sp>
      <p:sp>
        <p:nvSpPr>
          <p:cNvPr id="4" name="参照：TensorFlow">
            <a:extLst xmlns:a="http://schemas.openxmlformats.org/drawingml/2006/main">
              <a:ext uri="{FF2B5EF4-FFF2-40B4-BE49-F238E27FC236}">
                <a16:creationId xmlns:a16="http://schemas.microsoft.com/office/drawing/2014/main" id="{AE695DC4-1744-4EB3-8078-D404389FD85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5" name="第7回　4">
            <a:extLst xmlns:a="http://schemas.openxmlformats.org/drawingml/2006/main">
              <a:ext uri="{FF2B5EF4-FFF2-40B4-BE49-F238E27FC236}">
                <a16:creationId xmlns:a16="http://schemas.microsoft.com/office/drawing/2014/main" id="{3637ECBF-819A-494C-9226-C61110C2FC2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4</a:t>
            </a:r>
          </a:p>
        </p:txBody>
      </p:sp>
    </p:spTree>
    <p:extLst>
      <p:ext uri="{BB962C8B-B14F-4D97-AF65-F5344CB8AC3E}">
        <p14:creationId xmlns:p14="http://schemas.microsoft.com/office/powerpoint/2010/main" val="9559735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カラー画像とチャネル">
            <a:extLst xmlns:a="http://schemas.openxmlformats.org/drawingml/2006/main">
              <a:ext uri="{FF2B5EF4-FFF2-40B4-BE49-F238E27FC236}">
                <a16:creationId xmlns:a16="http://schemas.microsoft.com/office/drawing/2014/main" id="{E4F085A7-BFA6-488A-819D-9C2204A3A42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カラー画像とチャネル</a:t>
            </a:r>
          </a:p>
        </p:txBody>
      </p:sp>
      <p:graphicFrame>
        <p:nvGraphicFramePr>
          <p:cNvPr id="7"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項目</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幅・高さ</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32×32画素</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チャネル</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赤・緑・青の3チャネル</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値の数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32×32×3＝3,072</a:t>
                      </a:r>
                    </a:p>
                  </a:txBody>
                  <a:tcPr marL="76200" marR="76200" marT="47625" marB="47625" anchor="ctr">
                    <a:solidFill>
                      <a:srgbClr val="FFFFFF"/>
                    </a:solidFill>
                  </a:tcPr>
                </a:tc>
              </a:tr>
            </a:tbl>
          </a:graphicData>
        </a:graphic>
      </p:graphicFrame>
      <p:sp>
        <p:nvSpPr>
          <p:cNvPr id="3" name="画素数と，ファイル容量を区別する．">
            <a:extLst xmlns:a="http://schemas.openxmlformats.org/drawingml/2006/main">
              <a:ext uri="{FF2B5EF4-FFF2-40B4-BE49-F238E27FC236}">
                <a16:creationId xmlns:a16="http://schemas.microsoft.com/office/drawing/2014/main" id="{3FE6704F-60D6-428D-B9C7-48BC7ED5FAEC}"/>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画素数と，ファイル容量を区別する．</a:t>
            </a:r>
          </a:p>
        </p:txBody>
      </p:sp>
      <p:sp>
        <p:nvSpPr>
          <p:cNvPr id="4" name="参照：TensorFlow">
            <a:extLst xmlns:a="http://schemas.openxmlformats.org/drawingml/2006/main">
              <a:ext uri="{FF2B5EF4-FFF2-40B4-BE49-F238E27FC236}">
                <a16:creationId xmlns:a16="http://schemas.microsoft.com/office/drawing/2014/main" id="{3CED0692-860B-43DA-AECE-F4106D04EA0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5" name="第7回　5">
            <a:extLst xmlns:a="http://schemas.openxmlformats.org/drawingml/2006/main">
              <a:ext uri="{FF2B5EF4-FFF2-40B4-BE49-F238E27FC236}">
                <a16:creationId xmlns:a16="http://schemas.microsoft.com/office/drawing/2014/main" id="{3530A7D4-00B5-43B5-A197-952D17BDDFD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5</a:t>
            </a:r>
          </a:p>
        </p:txBody>
      </p:sp>
    </p:spTree>
    <p:extLst>
      <p:ext uri="{BB962C8B-B14F-4D97-AF65-F5344CB8AC3E}">
        <p14:creationId xmlns:p14="http://schemas.microsoft.com/office/powerpoint/2010/main" val="689402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画像認識の代表的な課題">
            <a:extLst xmlns:a="http://schemas.openxmlformats.org/drawingml/2006/main">
              <a:ext uri="{FF2B5EF4-FFF2-40B4-BE49-F238E27FC236}">
                <a16:creationId xmlns:a16="http://schemas.microsoft.com/office/drawing/2014/main" id="{E9DFE322-9705-4940-A26E-FC3F2ED45E5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画像認識の代表的な課題</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課題</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出力</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正解データの例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画像分類</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画像全体のカテゴリ</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猫・犬などのラベル</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物体検出</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物体の位置とカテゴリ</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枠とカテゴリ</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領域分割</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各画素のカテゴリ</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画素ごとのラベル</a:t>
                      </a:r>
                    </a:p>
                  </a:txBody>
                  <a:tcPr marL="76200" marR="76200" marT="47625" marB="47625" anchor="ctr">
                    <a:solidFill>
                      <a:srgbClr val="FFFFFF"/>
                    </a:solidFill>
                  </a:tcPr>
                </a:tc>
              </a:tr>
            </a:tbl>
          </a:graphicData>
        </a:graphic>
      </p:graphicFrame>
      <p:sp>
        <p:nvSpPr>
          <p:cNvPr id="3" name="参照：Torchvision">
            <a:extLst xmlns:a="http://schemas.openxmlformats.org/drawingml/2006/main">
              <a:ext uri="{FF2B5EF4-FFF2-40B4-BE49-F238E27FC236}">
                <a16:creationId xmlns:a16="http://schemas.microsoft.com/office/drawing/2014/main" id="{151E26F0-A188-4CB3-8470-4D39C7DED81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参照：Torchvision</a:t>
            </a:r>
          </a:p>
        </p:txBody>
      </p:sp>
      <p:sp>
        <p:nvSpPr>
          <p:cNvPr id="4" name="第7回　6">
            <a:extLst xmlns:a="http://schemas.openxmlformats.org/drawingml/2006/main">
              <a:ext uri="{FF2B5EF4-FFF2-40B4-BE49-F238E27FC236}">
                <a16:creationId xmlns:a16="http://schemas.microsoft.com/office/drawing/2014/main" id="{44B5BD0F-3394-496C-87EE-EF15103A8A41}"/>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6</a:t>
            </a:r>
          </a:p>
        </p:txBody>
      </p:sp>
    </p:spTree>
    <p:extLst>
      <p:ext uri="{BB962C8B-B14F-4D97-AF65-F5344CB8AC3E}">
        <p14:creationId xmlns:p14="http://schemas.microsoft.com/office/powerpoint/2010/main" val="18498162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NNの基本的な流れ">
            <a:extLst xmlns:a="http://schemas.openxmlformats.org/drawingml/2006/main">
              <a:ext uri="{FF2B5EF4-FFF2-40B4-BE49-F238E27FC236}">
                <a16:creationId xmlns:a16="http://schemas.microsoft.com/office/drawing/2014/main" id="{38E0A6E8-8745-44E7-AA3F-D508FA76C7CC}"/>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CNNの基本的な流れ</a:t>
            </a:r>
          </a:p>
        </p:txBody>
      </p:sp>
      <p:sp>
        <p:nvSpPr>
          <p:cNvPr id="2" name="画像の入力">
            <a:extLst xmlns:a="http://schemas.openxmlformats.org/drawingml/2006/main">
              <a:ext uri="{FF2B5EF4-FFF2-40B4-BE49-F238E27FC236}">
                <a16:creationId xmlns:a16="http://schemas.microsoft.com/office/drawing/2014/main" id="{5520C33A-43B3-405B-82B8-65A4C705A88A}"/>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画像の入力</a:t>
            </a:r>
          </a:p>
        </p:txBody>
      </p:sp>
      <p:sp>
        <p:nvSpPr>
          <p:cNvPr id="3" name="畳み込みなどで&#10;特徴を計算">
            <a:extLst xmlns:a="http://schemas.openxmlformats.org/drawingml/2006/main">
              <a:ext uri="{FF2B5EF4-FFF2-40B4-BE49-F238E27FC236}">
                <a16:creationId xmlns:a16="http://schemas.microsoft.com/office/drawing/2014/main" id="{C7E17022-D2B3-4A29-AD95-271A37A9B3CD}"/>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畳み込みなどで</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特徴を計算</a:t>
            </a:r>
          </a:p>
        </p:txBody>
      </p:sp>
      <p:sp>
        <p:nvSpPr>
          <p:cNvPr id="4" name="課題に合う&#10;出力を計算">
            <a:extLst xmlns:a="http://schemas.openxmlformats.org/drawingml/2006/main">
              <a:ext uri="{FF2B5EF4-FFF2-40B4-BE49-F238E27FC236}">
                <a16:creationId xmlns:a16="http://schemas.microsoft.com/office/drawing/2014/main" id="{21AF5893-BFD5-4F94-A57A-3A0813DBED0C}"/>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課題に合う</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出力を計算</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Stanford CS231n">
            <a:extLst xmlns:a="http://schemas.openxmlformats.org/drawingml/2006/main">
              <a:ext uri="{FF2B5EF4-FFF2-40B4-BE49-F238E27FC236}">
                <a16:creationId xmlns:a16="http://schemas.microsoft.com/office/drawing/2014/main" id="{2A8621C7-0076-4224-AF4A-620C36EDCD0F}"/>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参照：Stanford CS231n</a:t>
            </a:r>
          </a:p>
        </p:txBody>
      </p:sp>
      <p:sp>
        <p:nvSpPr>
          <p:cNvPr id="8" name="第7回　7">
            <a:extLst xmlns:a="http://schemas.openxmlformats.org/drawingml/2006/main">
              <a:ext uri="{FF2B5EF4-FFF2-40B4-BE49-F238E27FC236}">
                <a16:creationId xmlns:a16="http://schemas.microsoft.com/office/drawing/2014/main" id="{21DED74E-FC52-4CB0-AAD8-297E07BBA92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7</a:t>
            </a:r>
          </a:p>
        </p:txBody>
      </p:sp>
    </p:spTree>
    <p:extLst>
      <p:ext uri="{BB962C8B-B14F-4D97-AF65-F5344CB8AC3E}">
        <p14:creationId xmlns:p14="http://schemas.microsoft.com/office/powerpoint/2010/main" val="4331087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フィルタの役割">
            <a:extLst xmlns:a="http://schemas.openxmlformats.org/drawingml/2006/main">
              <a:ext uri="{FF2B5EF4-FFF2-40B4-BE49-F238E27FC236}">
                <a16:creationId xmlns:a16="http://schemas.microsoft.com/office/drawing/2014/main" id="{E0D5BD29-B991-44ED-AD7F-2EA7574CCD8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フィルタの役割</a:t>
            </a:r>
          </a:p>
        </p:txBody>
      </p:sp>
      <p:sp>
        <p:nvSpPr>
          <p:cNvPr id="2" name="">
            <a:extLst xmlns:a="http://schemas.openxmlformats.org/drawingml/2006/main">
              <a:ext uri="{FF2B5EF4-FFF2-40B4-BE49-F238E27FC236}">
                <a16:creationId xmlns:a16="http://schemas.microsoft.com/office/drawing/2014/main" id="{4FBD0823-458B-41BE-ADE4-0E9CA4586467}"/>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小さな領域の値に重みを掛けて，足し合わせる．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同じ重みを，画像内の異なる位置で使う．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フィルタの重みも，学習で変える．</a:t>
            </a:r>
          </a:p>
        </p:txBody>
      </p:sp>
      <p:sp>
        <p:nvSpPr>
          <p:cNvPr id="3" name="参照：PyTorch／Stanford CS231n">
            <a:extLst xmlns:a="http://schemas.openxmlformats.org/drawingml/2006/main">
              <a:ext uri="{FF2B5EF4-FFF2-40B4-BE49-F238E27FC236}">
                <a16:creationId xmlns:a16="http://schemas.microsoft.com/office/drawing/2014/main" id="{9945AF27-FBA8-4C20-B906-A76B75E497B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参照：PyTorch／Stanford CS231n</a:t>
            </a:r>
          </a:p>
        </p:txBody>
      </p:sp>
      <p:sp>
        <p:nvSpPr>
          <p:cNvPr id="4" name="第7回　8">
            <a:extLst xmlns:a="http://schemas.openxmlformats.org/drawingml/2006/main">
              <a:ext uri="{FF2B5EF4-FFF2-40B4-BE49-F238E27FC236}">
                <a16:creationId xmlns:a16="http://schemas.microsoft.com/office/drawing/2014/main" id="{3687960C-0472-482B-8F71-A91294D7ABB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8</a:t>
            </a:r>
          </a:p>
        </p:txBody>
      </p:sp>
    </p:spTree>
    <p:extLst>
      <p:ext uri="{BB962C8B-B14F-4D97-AF65-F5344CB8AC3E}">
        <p14:creationId xmlns:p14="http://schemas.microsoft.com/office/powerpoint/2010/main" val="11889496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1：フィルタの計算">
            <a:extLst xmlns:a="http://schemas.openxmlformats.org/drawingml/2006/main">
              <a:ext uri="{FF2B5EF4-FFF2-40B4-BE49-F238E27FC236}">
                <a16:creationId xmlns:a16="http://schemas.microsoft.com/office/drawing/2014/main" id="{EBEC531B-10C2-49EC-860B-BBF0FAA9C88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演習1：フィルタの計算</a:t>
            </a:r>
          </a:p>
        </p:txBody>
      </p:sp>
      <p:graphicFrame>
        <p:nvGraphicFramePr>
          <p:cNvPr id="7" name=""/>
          <p:cNvGraphicFramePr/>
          <p:nvPr/>
        </p:nvGraphicFramePr>
        <p:xfrm>
          <a:off xmlns:a="http://schemas.openxmlformats.org/drawingml/2006/main" x="365760" y="1243584"/>
          <a:ext xmlns:a="http://schemas.openxmlformats.org/drawingml/2006/main" cx="8366760" cy="2743200"/>
        </p:xfrm>
        <a:graphic xmlns:a="http://schemas.openxmlformats.org/drawingml/2006/main">
          <a:graphicData uri="http://schemas.openxmlformats.org/drawingml/2006/table">
            <a:tbl>
              <a:tblPr firstRow="0" bandRow="0"/>
              <a:tblGrid>
                <a:gridCol w="4183380"/>
                <a:gridCol w="4183380"/>
              </a:tblGrid>
              <a:tr h="1371600">
                <a:tc>
                  <a:txBody>
                    <a:bodyPr>
                      <a:noAutofit/>
                    </a:bodyPr>
                    <a:lstStyle/>
                    <a:p>
                      <a:pPr algn="ctr"/>
                      <a:r>
                        <a:rPr sz="2300" b="1" lang="ja-JP">
                          <a:solidFill>
                            <a:srgbClr val="000000"/>
                          </a:solidFill>
                          <a:latin typeface="Arial"/>
                          <a:ea typeface="ＭＳ Ｐゴシック"/>
                          <a:cs typeface="ＭＳ Ｐゴシック"/>
                        </a:rPr>
                        <a:t>入力（3×3）</a:t>
                      </a:r>
                    </a:p>
                  </a:txBody>
                  <a:tcPr marL="76200" marR="76200" marT="47625" marB="47625" anchor="ctr">
                    <a:solidFill>
                      <a:srgbClr val="F3F3F3"/>
                    </a:solidFill>
                  </a:tcPr>
                </a:tc>
                <a:tc>
                  <a:txBody>
                    <a:bodyPr>
                      <a:noAutofit/>
                    </a:bodyPr>
                    <a:lstStyle/>
                    <a:p>
                      <a:pPr algn="ctr"/>
                      <a:r>
                        <a:rPr sz="2300" b="1" lang="ja-JP">
                          <a:solidFill>
                            <a:srgbClr val="000000"/>
                          </a:solidFill>
                          <a:latin typeface="Arial"/>
                          <a:ea typeface="ＭＳ Ｐゴシック"/>
                          <a:cs typeface="ＭＳ Ｐゴシック"/>
                        </a:rPr>
                        <a:t>フィルタ（2×2）</a:t>
                      </a:r>
                    </a:p>
                  </a:txBody>
                  <a:tcPr marL="76200" marR="76200" marT="47625" marB="47625" anchor="ctr">
                    <a:solidFill>
                      <a:srgbClr val="F3F3F3"/>
                    </a:solidFill>
                  </a:tcPr>
                </a:tc>
              </a:tr>
              <a:tr h="1371600">
                <a:tc>
                  <a:txBody>
                    <a:bodyPr>
                      <a:noAutofit/>
                    </a:bodyPr>
                    <a:lstStyle/>
                    <a:p>
                      <a:pPr algn="ctr"/>
                      <a:r>
                        <a:rPr sz="2300" b="0" lang="ja-JP">
                          <a:solidFill>
                            <a:srgbClr val="404040"/>
                          </a:solidFill>
                          <a:latin typeface="Arial"/>
                          <a:ea typeface="ＭＳ Ｐゴシック"/>
                          <a:cs typeface="ＭＳ Ｐゴシック"/>
                        </a:rPr>
                        <a:t>1　2　0</a:t>
                      </a:r>
                    </a:p>
                    <a:p>
                      <a:pPr algn="ctr"/>
                      <a:r>
                        <a:rPr sz="2300" b="0" lang="ja-JP">
                          <a:solidFill>
                            <a:srgbClr val="404040"/>
                          </a:solidFill>
                          <a:latin typeface="Arial"/>
                          <a:ea typeface="ＭＳ Ｐゴシック"/>
                          <a:cs typeface="ＭＳ Ｐゴシック"/>
                        </a:rPr>
                        <a:t>0　1　3</a:t>
                      </a:r>
                    </a:p>
                    <a:p>
                      <a:pPr algn="ctr"/>
                      <a:r>
                        <a:rPr sz="2300" b="0" lang="ja-JP">
                          <a:solidFill>
                            <a:srgbClr val="404040"/>
                          </a:solidFill>
                          <a:latin typeface="Arial"/>
                          <a:ea typeface="ＭＳ Ｐゴシック"/>
                          <a:cs typeface="ＭＳ Ｐゴシック"/>
                        </a:rPr>
                        <a:t>2　0　1</a:t>
                      </a:r>
                    </a:p>
                  </a:txBody>
                  <a:tcPr marL="76200" marR="76200" marT="47625" marB="47625" anchor="ctr">
                    <a:solidFill>
                      <a:srgbClr val="FFFFFF"/>
                    </a:solidFill>
                  </a:tcPr>
                </a:tc>
                <a:tc>
                  <a:txBody>
                    <a:bodyPr>
                      <a:noAutofit/>
                    </a:bodyPr>
                    <a:lstStyle/>
                    <a:p>
                      <a:pPr algn="ctr"/>
                      <a:r>
                        <a:rPr sz="2300" b="0" lang="ja-JP">
                          <a:solidFill>
                            <a:srgbClr val="404040"/>
                          </a:solidFill>
                          <a:latin typeface="Arial"/>
                          <a:ea typeface="ＭＳ Ｐゴシック"/>
                          <a:cs typeface="ＭＳ Ｐゴシック"/>
                        </a:rPr>
                        <a:t>1　0</a:t>
                      </a:r>
                    </a:p>
                    <a:p>
                      <a:pPr algn="ctr"/>
                      <a:r>
                        <a:rPr sz="2300" b="0" lang="ja-JP">
                          <a:solidFill>
                            <a:srgbClr val="404040"/>
                          </a:solidFill>
                          <a:latin typeface="Arial"/>
                          <a:ea typeface="ＭＳ Ｐゴシック"/>
                          <a:cs typeface="ＭＳ Ｐゴシック"/>
                        </a:rPr>
                        <a:t>0　1</a:t>
                      </a:r>
                    </a:p>
                  </a:txBody>
                  <a:tcPr marL="76200" marR="76200" marT="47625" marB="47625" anchor="ctr">
                    <a:solidFill>
                      <a:srgbClr val="FFFFFF"/>
                    </a:solidFill>
                  </a:tcPr>
                </a:tc>
              </a:tr>
            </a:tbl>
          </a:graphicData>
        </a:graphic>
      </p:graphicFrame>
      <p:sp>
        <p:nvSpPr>
          <p:cNvPr id="3" name="左上と右上の，二つの出力を計算する．">
            <a:extLst xmlns:a="http://schemas.openxmlformats.org/drawingml/2006/main">
              <a:ext uri="{FF2B5EF4-FFF2-40B4-BE49-F238E27FC236}">
                <a16:creationId xmlns:a16="http://schemas.microsoft.com/office/drawing/2014/main" id="{734B175E-74F4-4461-B225-C8B7585589A2}"/>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左上と右上の，二つの出力を計算する．</a:t>
            </a:r>
          </a:p>
        </p:txBody>
      </p:sp>
      <p:sp>
        <p:nvSpPr>
          <p:cNvPr id="4" name="参照：PyTorch">
            <a:extLst xmlns:a="http://schemas.openxmlformats.org/drawingml/2006/main">
              <a:ext uri="{FF2B5EF4-FFF2-40B4-BE49-F238E27FC236}">
                <a16:creationId xmlns:a16="http://schemas.microsoft.com/office/drawing/2014/main" id="{629381D6-94DE-450A-81D4-6ABE5E638303}"/>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a:t>
            </a:r>
          </a:p>
        </p:txBody>
      </p:sp>
      <p:sp>
        <p:nvSpPr>
          <p:cNvPr id="5" name="第7回　9">
            <a:extLst xmlns:a="http://schemas.openxmlformats.org/drawingml/2006/main">
              <a:ext uri="{FF2B5EF4-FFF2-40B4-BE49-F238E27FC236}">
                <a16:creationId xmlns:a16="http://schemas.microsoft.com/office/drawing/2014/main" id="{8C041587-A8A4-4A0A-A7A9-25B6468E033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9</a:t>
            </a:r>
          </a:p>
        </p:txBody>
      </p:sp>
    </p:spTree>
    <p:extLst>
      <p:ext uri="{BB962C8B-B14F-4D97-AF65-F5344CB8AC3E}">
        <p14:creationId xmlns:p14="http://schemas.microsoft.com/office/powerpoint/2010/main" val="13596423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1：解答">
            <a:extLst xmlns:a="http://schemas.openxmlformats.org/drawingml/2006/main">
              <a:ext uri="{FF2B5EF4-FFF2-40B4-BE49-F238E27FC236}">
                <a16:creationId xmlns:a16="http://schemas.microsoft.com/office/drawing/2014/main" id="{D597FC64-E8FB-48EA-A73D-74D3B70B68BE}"/>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演習1：解答</a:t>
            </a:r>
          </a:p>
        </p:txBody>
      </p:sp>
      <p:sp>
        <p:nvSpPr>
          <p:cNvPr id="2" name="">
            <a:extLst xmlns:a="http://schemas.openxmlformats.org/drawingml/2006/main">
              <a:ext uri="{FF2B5EF4-FFF2-40B4-BE49-F238E27FC236}">
                <a16:creationId xmlns:a16="http://schemas.microsoft.com/office/drawing/2014/main" id="{5AB799BF-145C-4994-98DC-5C45D26F1748}"/>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左上：1×1＋2×0＋0×0＋1×1＝2</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右上：2×1＋0×0＋1×0＋3×1＝5</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下段の二つも求めると，出力は「0，2」．</a:t>
            </a:r>
          </a:p>
        </p:txBody>
      </p:sp>
      <p:sp>
        <p:nvSpPr>
          <p:cNvPr id="3" name="位置を動かして，同じ計算を繰り返す．">
            <a:extLst xmlns:a="http://schemas.openxmlformats.org/drawingml/2006/main">
              <a:ext uri="{FF2B5EF4-FFF2-40B4-BE49-F238E27FC236}">
                <a16:creationId xmlns:a16="http://schemas.microsoft.com/office/drawing/2014/main" id="{AA51E3EB-01A0-4E0D-BAC9-5588E408A139}"/>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位置を動かして，同じ計算を繰り返す．</a:t>
            </a:r>
          </a:p>
        </p:txBody>
      </p:sp>
      <p:sp>
        <p:nvSpPr>
          <p:cNvPr id="4" name="参照：PyTorch">
            <a:extLst xmlns:a="http://schemas.openxmlformats.org/drawingml/2006/main">
              <a:ext uri="{FF2B5EF4-FFF2-40B4-BE49-F238E27FC236}">
                <a16:creationId xmlns:a16="http://schemas.microsoft.com/office/drawing/2014/main" id="{2D2B03D9-58EB-4BD1-87CE-001BFEF6941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a:t>
            </a:r>
          </a:p>
        </p:txBody>
      </p:sp>
      <p:sp>
        <p:nvSpPr>
          <p:cNvPr id="5" name="第7回　10">
            <a:extLst xmlns:a="http://schemas.openxmlformats.org/drawingml/2006/main">
              <a:ext uri="{FF2B5EF4-FFF2-40B4-BE49-F238E27FC236}">
                <a16:creationId xmlns:a16="http://schemas.microsoft.com/office/drawing/2014/main" id="{69EB473A-6D8B-44C8-A912-2668E9CD32CB}"/>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10</a:t>
            </a:r>
          </a:p>
        </p:txBody>
      </p:sp>
    </p:spTree>
    <p:extLst>
      <p:ext uri="{BB962C8B-B14F-4D97-AF65-F5344CB8AC3E}">
        <p14:creationId xmlns:p14="http://schemas.microsoft.com/office/powerpoint/2010/main" val="19757083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ストライドとパディング">
            <a:extLst xmlns:a="http://schemas.openxmlformats.org/drawingml/2006/main">
              <a:ext uri="{FF2B5EF4-FFF2-40B4-BE49-F238E27FC236}">
                <a16:creationId xmlns:a16="http://schemas.microsoft.com/office/drawing/2014/main" id="{A9AD25CF-58E2-4189-AD1C-12EC5D84A02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ストライドとパディング</a:t>
            </a:r>
          </a:p>
        </p:txBody>
      </p:sp>
      <p:graphicFrame>
        <p:nvGraphicFramePr>
          <p:cNvPr id="6" name=""/>
          <p:cNvGraphicFramePr/>
          <p:nvPr/>
        </p:nvGraphicFramePr>
        <p:xfrm>
          <a:off xmlns:a="http://schemas.openxmlformats.org/drawingml/2006/main" x="365760" y="1243584"/>
          <a:ext xmlns:a="http://schemas.openxmlformats.org/drawingml/2006/main" cx="8366760" cy="1892808"/>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用語</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意味</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出力への影響</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ストライド</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フィルタを動かす間隔</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大きいと位置の数が減る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パディング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入力の周囲に値を補う</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端の扱いや出力サイズを調整する</a:t>
                      </a:r>
                    </a:p>
                  </a:txBody>
                  <a:tcPr marL="76200" marR="76200" marT="47625" marB="47625" anchor="ctr">
                    <a:solidFill>
                      <a:srgbClr val="FFFFFF"/>
                    </a:solidFill>
                  </a:tcPr>
                </a:tc>
              </a:tr>
            </a:tbl>
          </a:graphicData>
        </a:graphic>
      </p:graphicFrame>
      <p:sp>
        <p:nvSpPr>
          <p:cNvPr id="3" name="参照：Stanford CS231n／PyTorch">
            <a:extLst xmlns:a="http://schemas.openxmlformats.org/drawingml/2006/main">
              <a:ext uri="{FF2B5EF4-FFF2-40B4-BE49-F238E27FC236}">
                <a16:creationId xmlns:a16="http://schemas.microsoft.com/office/drawing/2014/main" id="{F249D3FC-F423-4820-A955-987CF74375B3}"/>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参照：Stanford CS231n／PyTorch</a:t>
            </a:r>
          </a:p>
        </p:txBody>
      </p:sp>
      <p:sp>
        <p:nvSpPr>
          <p:cNvPr id="4" name="第7回　11">
            <a:extLst xmlns:a="http://schemas.openxmlformats.org/drawingml/2006/main">
              <a:ext uri="{FF2B5EF4-FFF2-40B4-BE49-F238E27FC236}">
                <a16:creationId xmlns:a16="http://schemas.microsoft.com/office/drawing/2014/main" id="{C39DC65D-E885-4691-9255-599058A8A64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11</a:t>
            </a:r>
          </a:p>
        </p:txBody>
      </p:sp>
    </p:spTree>
    <p:extLst>
      <p:ext uri="{BB962C8B-B14F-4D97-AF65-F5344CB8AC3E}">
        <p14:creationId xmlns:p14="http://schemas.microsoft.com/office/powerpoint/2010/main" val="15967710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特徴マップとチャネル">
            <a:extLst xmlns:a="http://schemas.openxmlformats.org/drawingml/2006/main">
              <a:ext uri="{FF2B5EF4-FFF2-40B4-BE49-F238E27FC236}">
                <a16:creationId xmlns:a16="http://schemas.microsoft.com/office/drawing/2014/main" id="{F86B374A-B9D0-433C-951B-12C3CB9FB29C}"/>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特徴マップとチャネル</a:t>
            </a:r>
          </a:p>
        </p:txBody>
      </p:sp>
      <p:sp>
        <p:nvSpPr>
          <p:cNvPr id="2" name="">
            <a:extLst xmlns:a="http://schemas.openxmlformats.org/drawingml/2006/main">
              <a:ext uri="{FF2B5EF4-FFF2-40B4-BE49-F238E27FC236}">
                <a16:creationId xmlns:a16="http://schemas.microsoft.com/office/drawing/2014/main" id="{ADC8D5F1-4508-4512-B89E-6FC90A660D9E}"/>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一つのフィルタを各位置で使い，結果を並べる．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複数のフィルタで，異なる特徴マップを作る．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通常，フィルタは入力のチャネル全体に対応する重みを持つ．</a:t>
            </a:r>
          </a:p>
        </p:txBody>
      </p:sp>
      <p:sp>
        <p:nvSpPr>
          <p:cNvPr id="3" name="参照：PyTorch">
            <a:extLst xmlns:a="http://schemas.openxmlformats.org/drawingml/2006/main">
              <a:ext uri="{FF2B5EF4-FFF2-40B4-BE49-F238E27FC236}">
                <a16:creationId xmlns:a16="http://schemas.microsoft.com/office/drawing/2014/main" id="{20319053-959C-42B7-B4C4-AFAF9CE3CD3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a:t>
            </a:r>
          </a:p>
        </p:txBody>
      </p:sp>
      <p:sp>
        <p:nvSpPr>
          <p:cNvPr id="4" name="第7回　12">
            <a:extLst xmlns:a="http://schemas.openxmlformats.org/drawingml/2006/main">
              <a:ext uri="{FF2B5EF4-FFF2-40B4-BE49-F238E27FC236}">
                <a16:creationId xmlns:a16="http://schemas.microsoft.com/office/drawing/2014/main" id="{F6C44211-22DF-4145-A6BB-4C4F6129311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12</a:t>
            </a:r>
          </a:p>
        </p:txBody>
      </p:sp>
    </p:spTree>
    <p:extLst>
      <p:ext uri="{BB962C8B-B14F-4D97-AF65-F5344CB8AC3E}">
        <p14:creationId xmlns:p14="http://schemas.microsoft.com/office/powerpoint/2010/main" val="11325864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プーリングの例">
            <a:extLst xmlns:a="http://schemas.openxmlformats.org/drawingml/2006/main">
              <a:ext uri="{FF2B5EF4-FFF2-40B4-BE49-F238E27FC236}">
                <a16:creationId xmlns:a16="http://schemas.microsoft.com/office/drawing/2014/main" id="{F61CF5AE-79E6-4274-8606-BCEAB8EDA349}"/>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プーリングの例</a:t>
            </a:r>
          </a:p>
        </p:txBody>
      </p:sp>
      <p:graphicFrame>
        <p:nvGraphicFramePr>
          <p:cNvPr id="7" name=""/>
          <p:cNvGraphicFramePr/>
          <p:nvPr/>
        </p:nvGraphicFramePr>
        <p:xfrm>
          <a:off xmlns:a="http://schemas.openxmlformats.org/drawingml/2006/main" x="365760" y="1243584"/>
          <a:ext xmlns:a="http://schemas.openxmlformats.org/drawingml/2006/main" cx="8366760" cy="2286000"/>
        </p:xfrm>
        <a:graphic xmlns:a="http://schemas.openxmlformats.org/drawingml/2006/main">
          <a:graphicData uri="http://schemas.openxmlformats.org/drawingml/2006/table">
            <a:tbl>
              <a:tblPr firstRow="0" bandRow="0"/>
              <a:tblGrid>
                <a:gridCol w="2788920"/>
                <a:gridCol w="2788920"/>
                <a:gridCol w="2788920"/>
              </a:tblGrid>
              <a:tr h="1143000">
                <a:tc>
                  <a:txBody>
                    <a:bodyPr>
                      <a:noAutofit/>
                    </a:bodyPr>
                    <a:lstStyle/>
                    <a:p>
                      <a:pPr algn="ctr"/>
                      <a:r>
                        <a:rPr sz="2200" b="1" lang="ja-JP">
                          <a:solidFill>
                            <a:srgbClr val="000000"/>
                          </a:solidFill>
                          <a:latin typeface="Arial"/>
                          <a:ea typeface="ＭＳ Ｐゴシック"/>
                          <a:cs typeface="ＭＳ Ｐゴシック"/>
                        </a:rPr>
                        <a:t>入力領域</a:t>
                      </a:r>
                    </a:p>
                  </a:txBody>
                  <a:tcPr marL="76200" marR="76200" marT="47625" marB="47625" anchor="ctr">
                    <a:solidFill>
                      <a:srgbClr val="F3F3F3"/>
                    </a:solidFill>
                  </a:tcPr>
                </a:tc>
                <a:tc>
                  <a:txBody>
                    <a:bodyPr>
                      <a:noAutofit/>
                    </a:bodyPr>
                    <a:lstStyle/>
                    <a:p>
                      <a:pPr algn="ctr"/>
                      <a:r>
                        <a:rPr sz="2200" b="1" lang="ja-JP">
                          <a:solidFill>
                            <a:srgbClr val="000000"/>
                          </a:solidFill>
                          <a:latin typeface="Arial"/>
                          <a:ea typeface="ＭＳ Ｐゴシック"/>
                          <a:cs typeface="ＭＳ Ｐゴシック"/>
                        </a:rPr>
                        <a:t>最大値プーリング</a:t>
                      </a:r>
                    </a:p>
                  </a:txBody>
                  <a:tcPr marL="76200" marR="76200" marT="47625" marB="47625" anchor="ctr">
                    <a:solidFill>
                      <a:srgbClr val="F3F3F3"/>
                    </a:solidFill>
                  </a:tcPr>
                </a:tc>
                <a:tc>
                  <a:txBody>
                    <a:bodyPr>
                      <a:noAutofit/>
                    </a:bodyPr>
                    <a:lstStyle/>
                    <a:p>
                      <a:pPr algn="ctr"/>
                      <a:r>
                        <a:rPr sz="2200" b="1" lang="ja-JP">
                          <a:solidFill>
                            <a:srgbClr val="000000"/>
                          </a:solidFill>
                          <a:latin typeface="Arial"/>
                          <a:ea typeface="ＭＳ Ｐゴシック"/>
                          <a:cs typeface="ＭＳ Ｐゴシック"/>
                        </a:rPr>
                        <a:t>平均値プーリング</a:t>
                      </a:r>
                    </a:p>
                  </a:txBody>
                  <a:tcPr marL="76200" marR="76200" marT="47625" marB="47625" anchor="ctr">
                    <a:solidFill>
                      <a:srgbClr val="F3F3F3"/>
                    </a:solidFill>
                  </a:tcPr>
                </a:tc>
              </a:tr>
              <a:tr h="1143000">
                <a:tc>
                  <a:txBody>
                    <a:bodyPr>
                      <a:noAutofit/>
                    </a:bodyPr>
                    <a:lstStyle/>
                    <a:p>
                      <a:pPr algn="ctr"/>
                      <a:r>
                        <a:rPr sz="2200" b="0" lang="ja-JP">
                          <a:solidFill>
                            <a:srgbClr val="404040"/>
                          </a:solidFill>
                          <a:latin typeface="Arial"/>
                          <a:ea typeface="ＭＳ Ｐゴシック"/>
                          <a:cs typeface="ＭＳ Ｐゴシック"/>
                        </a:rPr>
                        <a:t>1　4</a:t>
                      </a:r>
                    </a:p>
                    <a:p>
                      <a:pPr algn="ctr"/>
                      <a:r>
                        <a:rPr sz="2200" b="0" lang="ja-JP">
                          <a:solidFill>
                            <a:srgbClr val="404040"/>
                          </a:solidFill>
                          <a:latin typeface="Arial"/>
                          <a:ea typeface="ＭＳ Ｐゴシック"/>
                          <a:cs typeface="ＭＳ Ｐゴシック"/>
                        </a:rPr>
                        <a:t>2　3</a:t>
                      </a:r>
                    </a:p>
                  </a:txBody>
                  <a:tcPr marL="76200" marR="76200" marT="47625" marB="47625" anchor="ctr">
                    <a:solidFill>
                      <a:srgbClr val="FFFFFF"/>
                    </a:solidFill>
                  </a:tcPr>
                </a:tc>
                <a:tc>
                  <a:txBody>
                    <a:bodyPr>
                      <a:noAutofit/>
                    </a:bodyPr>
                    <a:lstStyle/>
                    <a:p>
                      <a:pPr algn="ctr"/>
                      <a:r>
                        <a:rPr sz="2200" b="0" lang="ja-JP">
                          <a:solidFill>
                            <a:srgbClr val="404040"/>
                          </a:solidFill>
                          <a:latin typeface="Arial"/>
                          <a:ea typeface="ＭＳ Ｐゴシック"/>
                          <a:cs typeface="ＭＳ Ｐゴシック"/>
                        </a:rPr>
                        <a:t>4</a:t>
                      </a:r>
                    </a:p>
                  </a:txBody>
                  <a:tcPr marL="76200" marR="76200" marT="47625" marB="47625" anchor="ctr">
                    <a:solidFill>
                      <a:srgbClr val="FFFFFF"/>
                    </a:solidFill>
                  </a:tcPr>
                </a:tc>
                <a:tc>
                  <a:txBody>
                    <a:bodyPr>
                      <a:noAutofit/>
                    </a:bodyPr>
                    <a:lstStyle/>
                    <a:p>
                      <a:pPr algn="ctr"/>
                      <a:r>
                        <a:rPr sz="2200" b="0" lang="ja-JP">
                          <a:solidFill>
                            <a:srgbClr val="404040"/>
                          </a:solidFill>
                          <a:latin typeface="Arial"/>
                          <a:ea typeface="ＭＳ Ｐゴシック"/>
                          <a:cs typeface="ＭＳ Ｐゴシック"/>
                        </a:rPr>
                        <a:t>2.5</a:t>
                      </a:r>
                    </a:p>
                  </a:txBody>
                  <a:tcPr marL="76200" marR="76200" marT="47625" marB="47625" anchor="ctr">
                    <a:solidFill>
                      <a:srgbClr val="FFFFFF"/>
                    </a:solidFill>
                  </a:tcPr>
                </a:tc>
              </a:tr>
            </a:tbl>
          </a:graphicData>
        </a:graphic>
      </p:graphicFrame>
      <p:sp>
        <p:nvSpPr>
          <p:cNvPr id="3" name="小さくまとめると，細かな位置の情報は失われる．">
            <a:extLst xmlns:a="http://schemas.openxmlformats.org/drawingml/2006/main">
              <a:ext uri="{FF2B5EF4-FFF2-40B4-BE49-F238E27FC236}">
                <a16:creationId xmlns:a16="http://schemas.microsoft.com/office/drawing/2014/main" id="{63A240D2-6494-4105-82AB-D66B2714641A}"/>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小さくまとめると，細かな位置の情報は失われる．</a:t>
            </a:r>
          </a:p>
        </p:txBody>
      </p:sp>
      <p:sp>
        <p:nvSpPr>
          <p:cNvPr id="4" name="参照：Stanford CS231n">
            <a:extLst xmlns:a="http://schemas.openxmlformats.org/drawingml/2006/main">
              <a:ext uri="{FF2B5EF4-FFF2-40B4-BE49-F238E27FC236}">
                <a16:creationId xmlns:a16="http://schemas.microsoft.com/office/drawing/2014/main" id="{DFE911B8-982F-4F46-9EFE-114B57FCC84E}"/>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参照：Stanford CS231n</a:t>
            </a:r>
          </a:p>
        </p:txBody>
      </p:sp>
      <p:sp>
        <p:nvSpPr>
          <p:cNvPr id="5" name="第7回　13">
            <a:extLst xmlns:a="http://schemas.openxmlformats.org/drawingml/2006/main">
              <a:ext uri="{FF2B5EF4-FFF2-40B4-BE49-F238E27FC236}">
                <a16:creationId xmlns:a16="http://schemas.microsoft.com/office/drawing/2014/main" id="{F224317C-48E5-4B77-8E0B-CF674F1000A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13</a:t>
            </a:r>
          </a:p>
        </p:txBody>
      </p:sp>
    </p:spTree>
    <p:extLst>
      <p:ext uri="{BB962C8B-B14F-4D97-AF65-F5344CB8AC3E}">
        <p14:creationId xmlns:p14="http://schemas.microsoft.com/office/powerpoint/2010/main" val="20020574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層を重ねて特徴を変える">
            <a:extLst xmlns:a="http://schemas.openxmlformats.org/drawingml/2006/main">
              <a:ext uri="{FF2B5EF4-FFF2-40B4-BE49-F238E27FC236}">
                <a16:creationId xmlns:a16="http://schemas.microsoft.com/office/drawing/2014/main" id="{3BFA17C0-69AB-46EC-94FD-AA86B7FA184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層を重ねて特徴を変える</a:t>
            </a:r>
          </a:p>
        </p:txBody>
      </p:sp>
      <p:sp>
        <p:nvSpPr>
          <p:cNvPr id="2" name="">
            <a:extLst xmlns:a="http://schemas.openxmlformats.org/drawingml/2006/main">
              <a:ext uri="{FF2B5EF4-FFF2-40B4-BE49-F238E27FC236}">
                <a16:creationId xmlns:a16="http://schemas.microsoft.com/office/drawing/2014/main" id="{5E6E204E-254D-4C22-AA95-66936D0363B5}"/>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小さな領域の情報を，次の層の入力にする．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層や構造によって，広い範囲の関係も扱う．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得た特徴を，分類や位置の予測に利用する．</a:t>
            </a:r>
          </a:p>
        </p:txBody>
      </p:sp>
      <p:sp>
        <p:nvSpPr>
          <p:cNvPr id="3" name="参照：Stanford CS231n">
            <a:extLst xmlns:a="http://schemas.openxmlformats.org/drawingml/2006/main">
              <a:ext uri="{FF2B5EF4-FFF2-40B4-BE49-F238E27FC236}">
                <a16:creationId xmlns:a16="http://schemas.microsoft.com/office/drawing/2014/main" id="{FB7D3EF4-F9C4-421E-AB66-5A6CDF28569E}"/>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参照：Stanford CS231n</a:t>
            </a:r>
          </a:p>
        </p:txBody>
      </p:sp>
      <p:sp>
        <p:nvSpPr>
          <p:cNvPr id="4" name="第7回　14">
            <a:extLst xmlns:a="http://schemas.openxmlformats.org/drawingml/2006/main">
              <a:ext uri="{FF2B5EF4-FFF2-40B4-BE49-F238E27FC236}">
                <a16:creationId xmlns:a16="http://schemas.microsoft.com/office/drawing/2014/main" id="{1D47824F-0E21-4739-91D6-D45A63D84068}"/>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14</a:t>
            </a:r>
          </a:p>
        </p:txBody>
      </p:sp>
    </p:spTree>
    <p:extLst>
      <p:ext uri="{BB962C8B-B14F-4D97-AF65-F5344CB8AC3E}">
        <p14:creationId xmlns:p14="http://schemas.microsoft.com/office/powerpoint/2010/main" val="14340458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代表的な構造の考え方">
            <a:extLst xmlns:a="http://schemas.openxmlformats.org/drawingml/2006/main">
              <a:ext uri="{FF2B5EF4-FFF2-40B4-BE49-F238E27FC236}">
                <a16:creationId xmlns:a16="http://schemas.microsoft.com/office/drawing/2014/main" id="{F2B216CE-41C2-4B1F-92FD-B7DEBCA411F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代表的な構造の考え方</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名前</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大まかな特徴</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AlexNet・VGG</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畳み込みを重ねた代表的な構造</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ResNet</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残差接続で，入力を先の層へ加える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軽量なモデル</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処理量やメモリを抑える構成</a:t>
                      </a:r>
                    </a:p>
                  </a:txBody>
                  <a:tcPr marL="76200" marR="76200" marT="47625" marB="47625" anchor="ctr">
                    <a:solidFill>
                      <a:srgbClr val="FFFFFF"/>
                    </a:solidFill>
                  </a:tcPr>
                </a:tc>
              </a:tr>
            </a:tbl>
          </a:graphicData>
        </a:graphic>
      </p:graphicFrame>
      <p:sp>
        <p:nvSpPr>
          <p:cNvPr id="3" name="参照：Torchvision／Stanford CS231n">
            <a:extLst xmlns:a="http://schemas.openxmlformats.org/drawingml/2006/main">
              <a:ext uri="{FF2B5EF4-FFF2-40B4-BE49-F238E27FC236}">
                <a16:creationId xmlns:a16="http://schemas.microsoft.com/office/drawing/2014/main" id="{6D30EEE4-BD7B-495B-800E-138AFCD92C2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参照：Torchvision／Stanford CS231n</a:t>
            </a:r>
          </a:p>
        </p:txBody>
      </p:sp>
      <p:sp>
        <p:nvSpPr>
          <p:cNvPr id="4" name="第7回　15">
            <a:extLst xmlns:a="http://schemas.openxmlformats.org/drawingml/2006/main">
              <a:ext uri="{FF2B5EF4-FFF2-40B4-BE49-F238E27FC236}">
                <a16:creationId xmlns:a16="http://schemas.microsoft.com/office/drawing/2014/main" id="{6408EC39-08A3-4F77-AED6-83F4A9CE2B4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15</a:t>
            </a:r>
          </a:p>
        </p:txBody>
      </p:sp>
    </p:spTree>
    <p:extLst>
      <p:ext uri="{BB962C8B-B14F-4D97-AF65-F5344CB8AC3E}">
        <p14:creationId xmlns:p14="http://schemas.microsoft.com/office/powerpoint/2010/main" val="4653003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画像分類の評価">
            <a:extLst xmlns:a="http://schemas.openxmlformats.org/drawingml/2006/main">
              <a:ext uri="{FF2B5EF4-FFF2-40B4-BE49-F238E27FC236}">
                <a16:creationId xmlns:a16="http://schemas.microsoft.com/office/drawing/2014/main" id="{640CC83E-7067-42EF-9B6E-15F8530BCAF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画像分類の評価</a:t>
            </a:r>
          </a:p>
        </p:txBody>
      </p:sp>
      <p:sp>
        <p:nvSpPr>
          <p:cNvPr id="2" name="">
            <a:extLst xmlns:a="http://schemas.openxmlformats.org/drawingml/2006/main">
              <a:ext uri="{FF2B5EF4-FFF2-40B4-BE49-F238E27FC236}">
                <a16:creationId xmlns:a16="http://schemas.microsoft.com/office/drawing/2014/main" id="{916B160A-EE58-4D00-95EB-623C010EF7FF}"/>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画像ごとの予測カテゴリを正解と比べる．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混同行列で，間違えやすい組合せを調べる．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学習時と違う場所・照明・対象でも確かめる．</a:t>
            </a:r>
          </a:p>
        </p:txBody>
      </p:sp>
      <p:sp>
        <p:nvSpPr>
          <p:cNvPr id="3" name="参照：TensorFlow">
            <a:extLst xmlns:a="http://schemas.openxmlformats.org/drawingml/2006/main">
              <a:ext uri="{FF2B5EF4-FFF2-40B4-BE49-F238E27FC236}">
                <a16:creationId xmlns:a16="http://schemas.microsoft.com/office/drawing/2014/main" id="{DC1CEE32-479A-4CE2-A63E-4128C2D5AEEE}"/>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4" name="第7回　16">
            <a:extLst xmlns:a="http://schemas.openxmlformats.org/drawingml/2006/main">
              <a:ext uri="{FF2B5EF4-FFF2-40B4-BE49-F238E27FC236}">
                <a16:creationId xmlns:a16="http://schemas.microsoft.com/office/drawing/2014/main" id="{65C48F54-428D-49D5-B742-2E30A71D27E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16</a:t>
            </a:r>
          </a:p>
        </p:txBody>
      </p:sp>
    </p:spTree>
    <p:extLst>
      <p:ext uri="{BB962C8B-B14F-4D97-AF65-F5344CB8AC3E}">
        <p14:creationId xmlns:p14="http://schemas.microsoft.com/office/powerpoint/2010/main" val="42808458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物体検出の評価">
            <a:extLst xmlns:a="http://schemas.openxmlformats.org/drawingml/2006/main">
              <a:ext uri="{FF2B5EF4-FFF2-40B4-BE49-F238E27FC236}">
                <a16:creationId xmlns:a16="http://schemas.microsoft.com/office/drawing/2014/main" id="{A32A0EDB-A1BD-4957-B9B5-0997529AF07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物体検出の評価</a:t>
            </a:r>
          </a:p>
        </p:txBody>
      </p:sp>
      <p:sp>
        <p:nvSpPr>
          <p:cNvPr id="2" name="">
            <a:extLst xmlns:a="http://schemas.openxmlformats.org/drawingml/2006/main">
              <a:ext uri="{FF2B5EF4-FFF2-40B4-BE49-F238E27FC236}">
                <a16:creationId xmlns:a16="http://schemas.microsoft.com/office/drawing/2014/main" id="{C6DA3760-206E-4172-A75D-E677B1ED4120}"/>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カテゴリだけでなく，位置の一致も評価する．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IoUは，予測枠と正解枠の重なりを表す．</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検出の漏れや，余分な枠も確認する．</a:t>
            </a:r>
          </a:p>
        </p:txBody>
      </p:sp>
      <p:sp>
        <p:nvSpPr>
          <p:cNvPr id="3" name="参照：Torchvision">
            <a:extLst xmlns:a="http://schemas.openxmlformats.org/drawingml/2006/main">
              <a:ext uri="{FF2B5EF4-FFF2-40B4-BE49-F238E27FC236}">
                <a16:creationId xmlns:a16="http://schemas.microsoft.com/office/drawing/2014/main" id="{E0589853-EABA-4137-875D-FB35D18BDF8D}"/>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参照：Torchvision</a:t>
            </a:r>
          </a:p>
        </p:txBody>
      </p:sp>
      <p:sp>
        <p:nvSpPr>
          <p:cNvPr id="4" name="第7回　17">
            <a:extLst xmlns:a="http://schemas.openxmlformats.org/drawingml/2006/main">
              <a:ext uri="{FF2B5EF4-FFF2-40B4-BE49-F238E27FC236}">
                <a16:creationId xmlns:a16="http://schemas.microsoft.com/office/drawing/2014/main" id="{3E600843-3B37-4057-86EE-6F8BAAA3A46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17</a:t>
            </a:r>
          </a:p>
        </p:txBody>
      </p:sp>
    </p:spTree>
    <p:extLst>
      <p:ext uri="{BB962C8B-B14F-4D97-AF65-F5344CB8AC3E}">
        <p14:creationId xmlns:p14="http://schemas.microsoft.com/office/powerpoint/2010/main" val="83353591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2：IoUの計算">
            <a:extLst xmlns:a="http://schemas.openxmlformats.org/drawingml/2006/main">
              <a:ext uri="{FF2B5EF4-FFF2-40B4-BE49-F238E27FC236}">
                <a16:creationId xmlns:a16="http://schemas.microsoft.com/office/drawing/2014/main" id="{3253DBFA-B5B4-4BE1-BE19-E18CCF17530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演習2：IoUの計算</a:t>
            </a:r>
          </a:p>
        </p:txBody>
      </p:sp>
      <p:graphicFrame>
        <p:nvGraphicFramePr>
          <p:cNvPr id="7" name=""/>
          <p:cNvGraphicFramePr/>
          <p:nvPr/>
        </p:nvGraphicFramePr>
        <p:xfrm>
          <a:off xmlns:a="http://schemas.openxmlformats.org/drawingml/2006/main" x="365760" y="1243584"/>
          <a:ext xmlns:a="http://schemas.openxmlformats.org/drawingml/2006/main" cx="8366760" cy="1261872"/>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予測枠の面積</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正解枠の面積</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共通部分の面積</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10</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10</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5</a:t>
                      </a:r>
                    </a:p>
                  </a:txBody>
                  <a:tcPr marL="76200" marR="76200" marT="47625" marB="47625" anchor="ctr">
                    <a:solidFill>
                      <a:srgbClr val="FFFFFF"/>
                    </a:solidFill>
                  </a:tcPr>
                </a:tc>
              </a:tr>
            </a:tbl>
          </a:graphicData>
        </a:graphic>
      </p:graphicFrame>
      <p:sp>
        <p:nvSpPr>
          <p:cNvPr id="3" name="和集合の面積は，重なりを二重に数えない．">
            <a:extLst xmlns:a="http://schemas.openxmlformats.org/drawingml/2006/main">
              <a:ext uri="{FF2B5EF4-FFF2-40B4-BE49-F238E27FC236}">
                <a16:creationId xmlns:a16="http://schemas.microsoft.com/office/drawing/2014/main" id="{79D3F90B-C790-4C1E-B239-52EE2F6AE1D7}"/>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和集合の面積は，重なりを二重に数えない．</a:t>
            </a:r>
          </a:p>
        </p:txBody>
      </p:sp>
      <p:sp>
        <p:nvSpPr>
          <p:cNvPr id="4" name="参照：Torchvision">
            <a:extLst xmlns:a="http://schemas.openxmlformats.org/drawingml/2006/main">
              <a:ext uri="{FF2B5EF4-FFF2-40B4-BE49-F238E27FC236}">
                <a16:creationId xmlns:a16="http://schemas.microsoft.com/office/drawing/2014/main" id="{0E960BD2-A8F3-457E-B065-A5D53EE3AF0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参照：Torchvision</a:t>
            </a:r>
          </a:p>
        </p:txBody>
      </p:sp>
      <p:sp>
        <p:nvSpPr>
          <p:cNvPr id="5" name="第7回　18">
            <a:extLst xmlns:a="http://schemas.openxmlformats.org/drawingml/2006/main">
              <a:ext uri="{FF2B5EF4-FFF2-40B4-BE49-F238E27FC236}">
                <a16:creationId xmlns:a16="http://schemas.microsoft.com/office/drawing/2014/main" id="{D00A51FB-EA70-4C90-B8D0-F42C42B1649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18</a:t>
            </a:r>
          </a:p>
        </p:txBody>
      </p:sp>
    </p:spTree>
    <p:extLst>
      <p:ext uri="{BB962C8B-B14F-4D97-AF65-F5344CB8AC3E}">
        <p14:creationId xmlns:p14="http://schemas.microsoft.com/office/powerpoint/2010/main" val="23056903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演習2：解答">
            <a:extLst xmlns:a="http://schemas.openxmlformats.org/drawingml/2006/main">
              <a:ext uri="{FF2B5EF4-FFF2-40B4-BE49-F238E27FC236}">
                <a16:creationId xmlns:a16="http://schemas.microsoft.com/office/drawing/2014/main" id="{E733B843-0E4B-4182-BED4-14546C9DFFB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演習2：解答</a:t>
            </a:r>
          </a:p>
        </p:txBody>
      </p:sp>
      <p:sp>
        <p:nvSpPr>
          <p:cNvPr id="2" name="">
            <a:extLst xmlns:a="http://schemas.openxmlformats.org/drawingml/2006/main">
              <a:ext uri="{FF2B5EF4-FFF2-40B4-BE49-F238E27FC236}">
                <a16:creationId xmlns:a16="http://schemas.microsoft.com/office/drawing/2014/main" id="{B394DAED-53F5-4F2C-868A-FEC652260A01}"/>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和集合の面積＝10＋10−5＝15</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IoU＝5÷15＝約0.333</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完全に一致すれば1，重ならなければ0．</a:t>
            </a:r>
          </a:p>
        </p:txBody>
      </p:sp>
      <p:sp>
        <p:nvSpPr>
          <p:cNvPr id="3" name="参照：Torchvision">
            <a:extLst xmlns:a="http://schemas.openxmlformats.org/drawingml/2006/main">
              <a:ext uri="{FF2B5EF4-FFF2-40B4-BE49-F238E27FC236}">
                <a16:creationId xmlns:a16="http://schemas.microsoft.com/office/drawing/2014/main" id="{1D6264B4-CF18-4B1C-A00B-F2308AB49D5A}"/>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参照：Torchvision</a:t>
            </a:r>
          </a:p>
        </p:txBody>
      </p:sp>
      <p:sp>
        <p:nvSpPr>
          <p:cNvPr id="4" name="第7回　19">
            <a:extLst xmlns:a="http://schemas.openxmlformats.org/drawingml/2006/main">
              <a:ext uri="{FF2B5EF4-FFF2-40B4-BE49-F238E27FC236}">
                <a16:creationId xmlns:a16="http://schemas.microsoft.com/office/drawing/2014/main" id="{419CD561-2F76-428C-8B06-8A15B1AE5F4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19</a:t>
            </a:r>
          </a:p>
        </p:txBody>
      </p:sp>
    </p:spTree>
    <p:extLst>
      <p:ext uri="{BB962C8B-B14F-4D97-AF65-F5344CB8AC3E}">
        <p14:creationId xmlns:p14="http://schemas.microsoft.com/office/powerpoint/2010/main" val="125029681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正解データを作る負担">
            <a:extLst xmlns:a="http://schemas.openxmlformats.org/drawingml/2006/main">
              <a:ext uri="{FF2B5EF4-FFF2-40B4-BE49-F238E27FC236}">
                <a16:creationId xmlns:a16="http://schemas.microsoft.com/office/drawing/2014/main" id="{BB955D09-D2D9-485E-985E-A0BC88BA004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正解データを作る負担</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課題</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作業の例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分類</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画像ごとにカテゴリを付ける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検出</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対象ごとに枠を描く</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領域分割</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画素や領域へラベルを付ける</a:t>
                      </a:r>
                    </a:p>
                  </a:txBody>
                  <a:tcPr marL="76200" marR="76200" marT="47625" marB="47625" anchor="ctr">
                    <a:solidFill>
                      <a:srgbClr val="FFFFFF"/>
                    </a:solidFill>
                  </a:tcPr>
                </a:tc>
              </a:tr>
            </a:tbl>
          </a:graphicData>
        </a:graphic>
      </p:graphicFrame>
      <p:sp>
        <p:nvSpPr>
          <p:cNvPr id="3" name="参照：Torchvision">
            <a:extLst xmlns:a="http://schemas.openxmlformats.org/drawingml/2006/main">
              <a:ext uri="{FF2B5EF4-FFF2-40B4-BE49-F238E27FC236}">
                <a16:creationId xmlns:a16="http://schemas.microsoft.com/office/drawing/2014/main" id="{C689B3BB-1DC0-4F2D-80E4-205B2ED9358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参照：Torchvision</a:t>
            </a:r>
          </a:p>
        </p:txBody>
      </p:sp>
      <p:sp>
        <p:nvSpPr>
          <p:cNvPr id="4" name="第7回　20">
            <a:extLst xmlns:a="http://schemas.openxmlformats.org/drawingml/2006/main">
              <a:ext uri="{FF2B5EF4-FFF2-40B4-BE49-F238E27FC236}">
                <a16:creationId xmlns:a16="http://schemas.microsoft.com/office/drawing/2014/main" id="{4C98429C-3A2E-49D5-8F77-C48E235B9121}"/>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20</a:t>
            </a:r>
          </a:p>
        </p:txBody>
      </p:sp>
    </p:spTree>
    <p:extLst>
      <p:ext uri="{BB962C8B-B14F-4D97-AF65-F5344CB8AC3E}">
        <p14:creationId xmlns:p14="http://schemas.microsoft.com/office/powerpoint/2010/main" val="85848752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3：どの課題を選ぶか">
            <a:extLst xmlns:a="http://schemas.openxmlformats.org/drawingml/2006/main">
              <a:ext uri="{FF2B5EF4-FFF2-40B4-BE49-F238E27FC236}">
                <a16:creationId xmlns:a16="http://schemas.microsoft.com/office/drawing/2014/main" id="{CF033516-4F01-41BE-8A6E-661C98A1B45C}"/>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演習3：どの課題を選ぶか</a:t>
            </a:r>
          </a:p>
        </p:txBody>
      </p:sp>
      <p:sp>
        <p:nvSpPr>
          <p:cNvPr id="2" name="">
            <a:extLst xmlns:a="http://schemas.openxmlformats.org/drawingml/2006/main">
              <a:ext uri="{FF2B5EF4-FFF2-40B4-BE49-F238E27FC236}">
                <a16:creationId xmlns:a16="http://schemas.microsoft.com/office/drawing/2014/main" id="{47EFAE5A-C9D6-457A-809D-CA1A5500DAD0}"/>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A：写真に不良品が写っているかを判定したい．</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B：複数の部品の位置と種類を知りたい．</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C：道路の各画素を車道・歩道などへ分けたい．</a:t>
            </a:r>
          </a:p>
        </p:txBody>
      </p:sp>
      <p:sp>
        <p:nvSpPr>
          <p:cNvPr id="3" name="モデル名より，必要な出力から選ぶ．">
            <a:extLst xmlns:a="http://schemas.openxmlformats.org/drawingml/2006/main">
              <a:ext uri="{FF2B5EF4-FFF2-40B4-BE49-F238E27FC236}">
                <a16:creationId xmlns:a16="http://schemas.microsoft.com/office/drawing/2014/main" id="{E68FAE6B-10B4-4E71-B019-EB5BFE650D7E}"/>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モデル名より，必要な出力から選ぶ．</a:t>
            </a:r>
          </a:p>
        </p:txBody>
      </p:sp>
      <p:sp>
        <p:nvSpPr>
          <p:cNvPr id="4" name="図・設問：本教材の作例">
            <a:extLst xmlns:a="http://schemas.openxmlformats.org/drawingml/2006/main">
              <a:ext uri="{FF2B5EF4-FFF2-40B4-BE49-F238E27FC236}">
                <a16:creationId xmlns:a16="http://schemas.microsoft.com/office/drawing/2014/main" id="{2436C399-0035-4A53-B3C2-76D37E81769A}"/>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7回　21">
            <a:extLst xmlns:a="http://schemas.openxmlformats.org/drawingml/2006/main">
              <a:ext uri="{FF2B5EF4-FFF2-40B4-BE49-F238E27FC236}">
                <a16:creationId xmlns:a16="http://schemas.microsoft.com/office/drawing/2014/main" id="{1C36396C-74E3-4743-8F4F-16B28B77BCA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21</a:t>
            </a:r>
          </a:p>
        </p:txBody>
      </p:sp>
    </p:spTree>
    <p:extLst>
      <p:ext uri="{BB962C8B-B14F-4D97-AF65-F5344CB8AC3E}">
        <p14:creationId xmlns:p14="http://schemas.microsoft.com/office/powerpoint/2010/main" val="9087072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演習3：解答">
            <a:extLst xmlns:a="http://schemas.openxmlformats.org/drawingml/2006/main">
              <a:ext uri="{FF2B5EF4-FFF2-40B4-BE49-F238E27FC236}">
                <a16:creationId xmlns:a16="http://schemas.microsoft.com/office/drawing/2014/main" id="{C1A9A4E6-0739-40B9-9D50-8C336302403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演習3：解答</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ケース</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課題の例</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正解データ</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A</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画像分類</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画像ごとの良否ラベル</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B</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物体検出</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部品の枠と種類</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C</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領域分割</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画素ごとの領域ラベル</a:t>
                      </a:r>
                    </a:p>
                  </a:txBody>
                  <a:tcPr marL="76200" marR="76200" marT="47625" marB="47625" anchor="ctr">
                    <a:solidFill>
                      <a:srgbClr val="FFFFFF"/>
                    </a:solidFill>
                  </a:tcPr>
                </a:tc>
              </a:tr>
            </a:tbl>
          </a:graphicData>
        </a:graphic>
      </p:graphicFrame>
      <p:sp>
        <p:nvSpPr>
          <p:cNvPr id="3" name="参照：Torchvision">
            <a:extLst xmlns:a="http://schemas.openxmlformats.org/drawingml/2006/main">
              <a:ext uri="{FF2B5EF4-FFF2-40B4-BE49-F238E27FC236}">
                <a16:creationId xmlns:a16="http://schemas.microsoft.com/office/drawing/2014/main" id="{9B483D5E-BF4B-4129-B8C3-03F3E545D62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参照：Torchvision</a:t>
            </a:r>
          </a:p>
        </p:txBody>
      </p:sp>
      <p:sp>
        <p:nvSpPr>
          <p:cNvPr id="4" name="第7回　22">
            <a:extLst xmlns:a="http://schemas.openxmlformats.org/drawingml/2006/main">
              <a:ext uri="{FF2B5EF4-FFF2-40B4-BE49-F238E27FC236}">
                <a16:creationId xmlns:a16="http://schemas.microsoft.com/office/drawing/2014/main" id="{9AC91BE1-F723-4905-A8A6-9635FF20470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22</a:t>
            </a:r>
          </a:p>
        </p:txBody>
      </p:sp>
    </p:spTree>
    <p:extLst>
      <p:ext uri="{BB962C8B-B14F-4D97-AF65-F5344CB8AC3E}">
        <p14:creationId xmlns:p14="http://schemas.microsoft.com/office/powerpoint/2010/main" val="50465720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まとめ・振り返り">
            <a:extLst xmlns:a="http://schemas.openxmlformats.org/drawingml/2006/main">
              <a:ext uri="{FF2B5EF4-FFF2-40B4-BE49-F238E27FC236}">
                <a16:creationId xmlns:a16="http://schemas.microsoft.com/office/drawing/2014/main" id="{8AFD5828-C0D9-4BA7-A062-1228783E806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まとめ・振り返り</a:t>
            </a:r>
          </a:p>
        </p:txBody>
      </p:sp>
      <p:sp>
        <p:nvSpPr>
          <p:cNvPr id="2" name="">
            <a:extLst xmlns:a="http://schemas.openxmlformats.org/drawingml/2006/main">
              <a:ext uri="{FF2B5EF4-FFF2-40B4-BE49-F238E27FC236}">
                <a16:creationId xmlns:a16="http://schemas.microsoft.com/office/drawing/2014/main" id="{6DE4F4D7-CBB2-430F-8B75-9CC2046AB7D4}"/>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画像は，画素とチャネルの数値で表す．</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CNNは，局所的な計算と重みの共有を使う．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分類・検出・領域分割は，出力と正解が異なる．</a:t>
            </a:r>
          </a:p>
        </p:txBody>
      </p:sp>
      <p:sp>
        <p:nvSpPr>
          <p:cNvPr id="3" name="次回：言葉・時系列を扱うAI">
            <a:extLst xmlns:a="http://schemas.openxmlformats.org/drawingml/2006/main">
              <a:ext uri="{FF2B5EF4-FFF2-40B4-BE49-F238E27FC236}">
                <a16:creationId xmlns:a16="http://schemas.microsoft.com/office/drawing/2014/main" id="{4B329C64-B3CB-459C-8E1B-A4BC743C1FDA}"/>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次回：言葉・時系列を扱うAI</a:t>
            </a:r>
          </a:p>
        </p:txBody>
      </p:sp>
      <p:sp>
        <p:nvSpPr>
          <p:cNvPr id="4" name="図・設問：本教材の作例">
            <a:extLst xmlns:a="http://schemas.openxmlformats.org/drawingml/2006/main">
              <a:ext uri="{FF2B5EF4-FFF2-40B4-BE49-F238E27FC236}">
                <a16:creationId xmlns:a16="http://schemas.microsoft.com/office/drawing/2014/main" id="{1CDCECC1-16E7-48BF-8531-FC4F1C705AE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7回　23">
            <a:extLst xmlns:a="http://schemas.openxmlformats.org/drawingml/2006/main">
              <a:ext uri="{FF2B5EF4-FFF2-40B4-BE49-F238E27FC236}">
                <a16:creationId xmlns:a16="http://schemas.microsoft.com/office/drawing/2014/main" id="{6ECFEFC0-E2C2-4E4F-8CBF-0AFEB453CDD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23</a:t>
            </a:r>
          </a:p>
        </p:txBody>
      </p:sp>
    </p:spTree>
    <p:extLst>
      <p:ext uri="{BB962C8B-B14F-4D97-AF65-F5344CB8AC3E}">
        <p14:creationId xmlns:p14="http://schemas.microsoft.com/office/powerpoint/2010/main" val="180787981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1">
            <a:extLst xmlns:a="http://schemas.openxmlformats.org/drawingml/2006/main">
              <a:ext uri="{FF2B5EF4-FFF2-40B4-BE49-F238E27FC236}">
                <a16:creationId xmlns:a16="http://schemas.microsoft.com/office/drawing/2014/main" id="{EEF9D03E-2900-4CC8-8277-8AE0E930B94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参考資料1</a:t>
            </a:r>
          </a:p>
        </p:txBody>
      </p:sp>
      <p:sp>
        <p:nvSpPr>
          <p:cNvPr id="2" name="1. Stanford CS231n：Convolutional network">
            <a:extLst xmlns:a="http://schemas.openxmlformats.org/drawingml/2006/main">
              <a:ext uri="{FF2B5EF4-FFF2-40B4-BE49-F238E27FC236}">
                <a16:creationId xmlns:a16="http://schemas.microsoft.com/office/drawing/2014/main" id="{BD3C6C45-EE25-4978-AD59-479819424FD0}"/>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a18a25b4c11d45e1"/>
              </a:rPr>
              <a:t>1. Stanford CS231n：Convolutional networks</a:t>
            </a:r>
          </a:p>
        </p:txBody>
      </p:sp>
      <p:sp>
        <p:nvSpPr>
          <p:cNvPr id="3" name="2. PyTorch：Conv2d">
            <a:extLst xmlns:a="http://schemas.openxmlformats.org/drawingml/2006/main">
              <a:ext uri="{FF2B5EF4-FFF2-40B4-BE49-F238E27FC236}">
                <a16:creationId xmlns:a16="http://schemas.microsoft.com/office/drawing/2014/main" id="{F9FDD197-D693-4060-9D9B-8388B423CB27}"/>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8af2b87b9b294103"/>
              </a:rPr>
              <a:t>2. PyTorch：Conv2d</a:t>
            </a:r>
          </a:p>
        </p:txBody>
      </p:sp>
      <p:sp>
        <p:nvSpPr>
          <p:cNvPr id="4" name="3. Torchvision：Models and pre-trained we">
            <a:extLst xmlns:a="http://schemas.openxmlformats.org/drawingml/2006/main">
              <a:ext uri="{FF2B5EF4-FFF2-40B4-BE49-F238E27FC236}">
                <a16:creationId xmlns:a16="http://schemas.microsoft.com/office/drawing/2014/main" id="{B4EA9121-9DC5-4E91-AE15-0868B086ED57}"/>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3a6636a5b1df4810"/>
              </a:rPr>
              <a:t>3. Torchvision：Models and pre-trained weights</a:t>
            </a:r>
          </a:p>
        </p:txBody>
      </p:sp>
      <p:sp>
        <p:nvSpPr>
          <p:cNvPr id="5" name="各項目をクリックすると，参考資料を開く．">
            <a:extLst xmlns:a="http://schemas.openxmlformats.org/drawingml/2006/main">
              <a:ext uri="{FF2B5EF4-FFF2-40B4-BE49-F238E27FC236}">
                <a16:creationId xmlns:a16="http://schemas.microsoft.com/office/drawing/2014/main" id="{62C77C56-E29C-4E28-8B01-F1CD01216DAB}"/>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C12D57FC-6C22-4E0E-871E-066FD810C76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7回　24">
            <a:extLst xmlns:a="http://schemas.openxmlformats.org/drawingml/2006/main">
              <a:ext uri="{FF2B5EF4-FFF2-40B4-BE49-F238E27FC236}">
                <a16:creationId xmlns:a16="http://schemas.microsoft.com/office/drawing/2014/main" id="{4FCDE4F1-631D-40EB-B56A-20F64D0BADF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24</a:t>
            </a:r>
          </a:p>
        </p:txBody>
      </p:sp>
    </p:spTree>
    <p:extLst>
      <p:ext uri="{BB962C8B-B14F-4D97-AF65-F5344CB8AC3E}">
        <p14:creationId xmlns:p14="http://schemas.microsoft.com/office/powerpoint/2010/main" val="108797604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2">
            <a:extLst xmlns:a="http://schemas.openxmlformats.org/drawingml/2006/main">
              <a:ext uri="{FF2B5EF4-FFF2-40B4-BE49-F238E27FC236}">
                <a16:creationId xmlns:a16="http://schemas.microsoft.com/office/drawing/2014/main" id="{C50D5DC7-3AF2-4EE0-B2D2-7F88A125F78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参考資料2</a:t>
            </a:r>
          </a:p>
        </p:txBody>
      </p:sp>
      <p:sp>
        <p:nvSpPr>
          <p:cNvPr id="2" name="1. TensorFlow：Image classification">
            <a:extLst xmlns:a="http://schemas.openxmlformats.org/drawingml/2006/main">
              <a:ext uri="{FF2B5EF4-FFF2-40B4-BE49-F238E27FC236}">
                <a16:creationId xmlns:a16="http://schemas.microsoft.com/office/drawing/2014/main" id="{FD61BF67-2D95-4A7D-998F-661F93818C2E}"/>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d2d4884d46a04d0f"/>
              </a:rPr>
              <a:t>1. TensorFlow：Image classification</a:t>
            </a:r>
          </a:p>
        </p:txBody>
      </p:sp>
      <p:sp>
        <p:nvSpPr>
          <p:cNvPr id="3" name="2. TensorFlow：Data augmentation">
            <a:extLst xmlns:a="http://schemas.openxmlformats.org/drawingml/2006/main">
              <a:ext uri="{FF2B5EF4-FFF2-40B4-BE49-F238E27FC236}">
                <a16:creationId xmlns:a16="http://schemas.microsoft.com/office/drawing/2014/main" id="{F75EBA3A-348E-4D5F-A400-F62066269116}"/>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a516183d94964c81"/>
              </a:rPr>
              <a:t>2. TensorFlow：Data augmentation</a:t>
            </a:r>
          </a:p>
        </p:txBody>
      </p:sp>
      <p:sp>
        <p:nvSpPr>
          <p:cNvPr id="4" name="3. TensorFlow：Transfer learning &amp; fine-t">
            <a:extLst xmlns:a="http://schemas.openxmlformats.org/drawingml/2006/main">
              <a:ext uri="{FF2B5EF4-FFF2-40B4-BE49-F238E27FC236}">
                <a16:creationId xmlns:a16="http://schemas.microsoft.com/office/drawing/2014/main" id="{65163C74-E730-4B35-BD28-2FB480B05C28}"/>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18e428831c874b1d"/>
              </a:rPr>
              <a:t>3. TensorFlow：Transfer learning &amp; fine-tuning</a:t>
            </a:r>
          </a:p>
        </p:txBody>
      </p:sp>
      <p:sp>
        <p:nvSpPr>
          <p:cNvPr id="5" name="各項目をクリックすると，参考資料を開く．">
            <a:extLst xmlns:a="http://schemas.openxmlformats.org/drawingml/2006/main">
              <a:ext uri="{FF2B5EF4-FFF2-40B4-BE49-F238E27FC236}">
                <a16:creationId xmlns:a16="http://schemas.microsoft.com/office/drawing/2014/main" id="{AD324284-7DA6-4513-ADFF-81AC82615D6A}"/>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3A16FB7B-72E6-47A8-A83F-8441F5A0A24F}"/>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7回　25">
            <a:extLst xmlns:a="http://schemas.openxmlformats.org/drawingml/2006/main">
              <a:ext uri="{FF2B5EF4-FFF2-40B4-BE49-F238E27FC236}">
                <a16:creationId xmlns:a16="http://schemas.microsoft.com/office/drawing/2014/main" id="{26B8401B-D82D-4B98-88AD-07F66902BBF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第7回　25</a:t>
            </a:r>
          </a:p>
        </p:txBody>
      </p:sp>
    </p:spTree>
    <p:extLst>
      <p:ext uri="{BB962C8B-B14F-4D97-AF65-F5344CB8AC3E}">
        <p14:creationId xmlns:p14="http://schemas.microsoft.com/office/powerpoint/2010/main" val="859564591"/>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2026-10-07T07:39:44.3370000Z</dcterms:created>
  <dcterms:modified xsi:type="dcterms:W3CDTF">2026-10-07T07:39:44.3370000Z</dcterms:modified>
</coreProperties>
</file>