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957e45e31a4823" /><Relationship Type="http://schemas.openxmlformats.org/officeDocument/2006/relationships/extended-properties" Target="/docProps/app.xml" Id="R9e9bddfc1c75456d" /><Relationship Type="http://schemas.openxmlformats.org/officeDocument/2006/relationships/officeDocument" Target="/ppt/presentation.xml" Id="Rcbae76fe9c1b4061" /></Relationships>
</file>

<file path=ppt/presentation.xml><?xml version="1.0" encoding="utf-8"?>
<p:presentation xmlns:p="http://schemas.openxmlformats.org/presentationml/2006/main">
  <p:sldMasterIdLst>
    <p:sldMasterId xmlns:r="http://schemas.openxmlformats.org/officeDocument/2006/relationships" id="2147483648" r:id="Rfa619e1c736149a8"/>
  </p:sldMasterIdLst>
  <p:notesMasterIdLst>
    <p:notesMasterId xmlns:r="http://schemas.openxmlformats.org/officeDocument/2006/relationships" r:id="Rff0ff310270e4a2d"/>
  </p:notesMasterIdLst>
  <p:sldIdLst>
    <p:sldId xmlns:r="http://schemas.openxmlformats.org/officeDocument/2006/relationships" id="256" r:id="Red2518a41ebc42f9"/>
    <p:sldId xmlns:r="http://schemas.openxmlformats.org/officeDocument/2006/relationships" id="257" r:id="R8973994f0a3444fc"/>
    <p:sldId xmlns:r="http://schemas.openxmlformats.org/officeDocument/2006/relationships" id="258" r:id="R4baa4e6bbc41459e"/>
    <p:sldId xmlns:r="http://schemas.openxmlformats.org/officeDocument/2006/relationships" id="259" r:id="R19e075c2b891438b"/>
    <p:sldId xmlns:r="http://schemas.openxmlformats.org/officeDocument/2006/relationships" id="260" r:id="Rece1d9e383cf492d"/>
    <p:sldId xmlns:r="http://schemas.openxmlformats.org/officeDocument/2006/relationships" id="261" r:id="R1bb6f7b07fc14f7e"/>
    <p:sldId xmlns:r="http://schemas.openxmlformats.org/officeDocument/2006/relationships" id="262" r:id="R539b1a0340474bac"/>
    <p:sldId xmlns:r="http://schemas.openxmlformats.org/officeDocument/2006/relationships" id="263" r:id="Ra160ce011ed64fc8"/>
    <p:sldId xmlns:r="http://schemas.openxmlformats.org/officeDocument/2006/relationships" id="264" r:id="R11d568da1412449f"/>
    <p:sldId xmlns:r="http://schemas.openxmlformats.org/officeDocument/2006/relationships" id="265" r:id="R2203cc44dd714ba8"/>
    <p:sldId xmlns:r="http://schemas.openxmlformats.org/officeDocument/2006/relationships" id="266" r:id="Rf58a473f64344d3e"/>
    <p:sldId xmlns:r="http://schemas.openxmlformats.org/officeDocument/2006/relationships" id="267" r:id="R3f53a8105c734482"/>
    <p:sldId xmlns:r="http://schemas.openxmlformats.org/officeDocument/2006/relationships" id="268" r:id="R131eb8410c054941"/>
    <p:sldId xmlns:r="http://schemas.openxmlformats.org/officeDocument/2006/relationships" id="269" r:id="R338b9f2487ce413f"/>
    <p:sldId xmlns:r="http://schemas.openxmlformats.org/officeDocument/2006/relationships" id="270" r:id="R98583e89b8a54a4b"/>
    <p:sldId xmlns:r="http://schemas.openxmlformats.org/officeDocument/2006/relationships" id="271" r:id="Ra01e468815fe443b"/>
    <p:sldId xmlns:r="http://schemas.openxmlformats.org/officeDocument/2006/relationships" id="272" r:id="R62761b054a1649a4"/>
    <p:sldId xmlns:r="http://schemas.openxmlformats.org/officeDocument/2006/relationships" id="273" r:id="R73f0aba171814489"/>
    <p:sldId xmlns:r="http://schemas.openxmlformats.org/officeDocument/2006/relationships" id="274" r:id="R8cd55f2693404253"/>
    <p:sldId xmlns:r="http://schemas.openxmlformats.org/officeDocument/2006/relationships" id="275" r:id="R245b871e9e9c45d0"/>
    <p:sldId xmlns:r="http://schemas.openxmlformats.org/officeDocument/2006/relationships" id="276" r:id="Rab20e236d2da4b6d"/>
    <p:sldId xmlns:r="http://schemas.openxmlformats.org/officeDocument/2006/relationships" id="277" r:id="Ra5585608bca949d5"/>
    <p:sldId xmlns:r="http://schemas.openxmlformats.org/officeDocument/2006/relationships" id="278" r:id="R4ced524922604977"/>
    <p:sldId xmlns:r="http://schemas.openxmlformats.org/officeDocument/2006/relationships" id="279" r:id="R988584e965f64e02"/>
    <p:sldId xmlns:r="http://schemas.openxmlformats.org/officeDocument/2006/relationships" id="280" r:id="R76b08a14b044418a"/>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69492764f584a69" /><Relationship Type="http://schemas.openxmlformats.org/officeDocument/2006/relationships/slideMaster" Target="/ppt/slideMasters/slideMaster1.xml" Id="Rfa619e1c736149a8" /><Relationship Type="http://schemas.openxmlformats.org/officeDocument/2006/relationships/notesMaster" Target="/ppt/notesMasters/notesMaster1.xml" Id="Rff0ff310270e4a2d" /><Relationship Type="http://schemas.openxmlformats.org/officeDocument/2006/relationships/presProps" Target="/ppt/presProps.xml" Id="R3e387261f9ff46e9" /><Relationship Type="http://schemas.openxmlformats.org/officeDocument/2006/relationships/viewProps" Target="/ppt/viewProps.xml" Id="Re3a16bba0b4d477c" /><Relationship Type="http://schemas.openxmlformats.org/officeDocument/2006/relationships/tableStyles" Target="/ppt/tableStyles.xml" Id="R43d234424fdd4ee9" /><Relationship Type="http://schemas.openxmlformats.org/officeDocument/2006/relationships/slide" Target="/ppt/slides/slide1.xml" Id="Red2518a41ebc42f9" /><Relationship Type="http://schemas.openxmlformats.org/officeDocument/2006/relationships/slide" Target="/ppt/slides/slide2.xml" Id="R8973994f0a3444fc" /><Relationship Type="http://schemas.openxmlformats.org/officeDocument/2006/relationships/slide" Target="/ppt/slides/slide3.xml" Id="R4baa4e6bbc41459e" /><Relationship Type="http://schemas.openxmlformats.org/officeDocument/2006/relationships/slide" Target="/ppt/slides/slide4.xml" Id="R19e075c2b891438b" /><Relationship Type="http://schemas.openxmlformats.org/officeDocument/2006/relationships/slide" Target="/ppt/slides/slide5.xml" Id="Rece1d9e383cf492d" /><Relationship Type="http://schemas.openxmlformats.org/officeDocument/2006/relationships/slide" Target="/ppt/slides/slide6.xml" Id="R1bb6f7b07fc14f7e" /><Relationship Type="http://schemas.openxmlformats.org/officeDocument/2006/relationships/slide" Target="/ppt/slides/slide7.xml" Id="R539b1a0340474bac" /><Relationship Type="http://schemas.openxmlformats.org/officeDocument/2006/relationships/slide" Target="/ppt/slides/slide8.xml" Id="Ra160ce011ed64fc8" /><Relationship Type="http://schemas.openxmlformats.org/officeDocument/2006/relationships/slide" Target="/ppt/slides/slide9.xml" Id="R11d568da1412449f" /><Relationship Type="http://schemas.openxmlformats.org/officeDocument/2006/relationships/slide" Target="/ppt/slides/slide10.xml" Id="R2203cc44dd714ba8" /><Relationship Type="http://schemas.openxmlformats.org/officeDocument/2006/relationships/slide" Target="/ppt/slides/slide11.xml" Id="Rf58a473f64344d3e" /><Relationship Type="http://schemas.openxmlformats.org/officeDocument/2006/relationships/slide" Target="/ppt/slides/slide12.xml" Id="R3f53a8105c734482" /><Relationship Type="http://schemas.openxmlformats.org/officeDocument/2006/relationships/slide" Target="/ppt/slides/slide13.xml" Id="R131eb8410c054941" /><Relationship Type="http://schemas.openxmlformats.org/officeDocument/2006/relationships/slide" Target="/ppt/slides/slide14.xml" Id="R338b9f2487ce413f" /><Relationship Type="http://schemas.openxmlformats.org/officeDocument/2006/relationships/slide" Target="/ppt/slides/slide15.xml" Id="R98583e89b8a54a4b" /><Relationship Type="http://schemas.openxmlformats.org/officeDocument/2006/relationships/slide" Target="/ppt/slides/slide16.xml" Id="Ra01e468815fe443b" /><Relationship Type="http://schemas.openxmlformats.org/officeDocument/2006/relationships/slide" Target="/ppt/slides/slide17.xml" Id="R62761b054a1649a4" /><Relationship Type="http://schemas.openxmlformats.org/officeDocument/2006/relationships/slide" Target="/ppt/slides/slide18.xml" Id="R73f0aba171814489" /><Relationship Type="http://schemas.openxmlformats.org/officeDocument/2006/relationships/slide" Target="/ppt/slides/slide19.xml" Id="R8cd55f2693404253" /><Relationship Type="http://schemas.openxmlformats.org/officeDocument/2006/relationships/slide" Target="/ppt/slides/slide20.xml" Id="R245b871e9e9c45d0" /><Relationship Type="http://schemas.openxmlformats.org/officeDocument/2006/relationships/slide" Target="/ppt/slides/slide21.xml" Id="Rab20e236d2da4b6d" /><Relationship Type="http://schemas.openxmlformats.org/officeDocument/2006/relationships/slide" Target="/ppt/slides/slide22.xml" Id="Ra5585608bca949d5" /><Relationship Type="http://schemas.openxmlformats.org/officeDocument/2006/relationships/slide" Target="/ppt/slides/slide23.xml" Id="R4ced524922604977" /><Relationship Type="http://schemas.openxmlformats.org/officeDocument/2006/relationships/slide" Target="/ppt/slides/slide24.xml" Id="R988584e965f64e02" /><Relationship Type="http://schemas.openxmlformats.org/officeDocument/2006/relationships/slide" Target="/ppt/slides/slide25.xml" Id="R76b08a14b04441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ee893991234d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2c23f6e8704746" /><Relationship Type="http://schemas.openxmlformats.org/officeDocument/2006/relationships/notesMaster" Target="/ppt/notesMasters/notesMaster1.xml" Id="Rdeff2408df754a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8ab0da8ba6468f" /><Relationship Type="http://schemas.openxmlformats.org/officeDocument/2006/relationships/notesMaster" Target="/ppt/notesMasters/notesMaster1.xml" Id="R0dd2263ba9af42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2814a3888e44cc" /><Relationship Type="http://schemas.openxmlformats.org/officeDocument/2006/relationships/notesMaster" Target="/ppt/notesMasters/notesMaster1.xml" Id="Rec826da7aff94e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d3531187cf4b2a" /><Relationship Type="http://schemas.openxmlformats.org/officeDocument/2006/relationships/notesMaster" Target="/ppt/notesMasters/notesMaster1.xml" Id="R2d5d4b7ee0cf43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80e9b2046d4cc7" /><Relationship Type="http://schemas.openxmlformats.org/officeDocument/2006/relationships/notesMaster" Target="/ppt/notesMasters/notesMaster1.xml" Id="Rddaeb7b705cb4a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28bb6bc8204a53" /><Relationship Type="http://schemas.openxmlformats.org/officeDocument/2006/relationships/notesMaster" Target="/ppt/notesMasters/notesMaster1.xml" Id="Ra816eef47eff41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ab799d52ee4fd9" /><Relationship Type="http://schemas.openxmlformats.org/officeDocument/2006/relationships/notesMaster" Target="/ppt/notesMasters/notesMaster1.xml" Id="R2ab8cb8f48f74e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df73eef5fa4df9" /><Relationship Type="http://schemas.openxmlformats.org/officeDocument/2006/relationships/notesMaster" Target="/ppt/notesMasters/notesMaster1.xml" Id="R33355af1dfef4c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6c246e31564576" /><Relationship Type="http://schemas.openxmlformats.org/officeDocument/2006/relationships/notesMaster" Target="/ppt/notesMasters/notesMaster1.xml" Id="R9dedb8687d5140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e2b5703872487e" /><Relationship Type="http://schemas.openxmlformats.org/officeDocument/2006/relationships/notesMaster" Target="/ppt/notesMasters/notesMaster1.xml" Id="R3f5a0f733d1047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92bf26cd3a46ac" /><Relationship Type="http://schemas.openxmlformats.org/officeDocument/2006/relationships/notesMaster" Target="/ppt/notesMasters/notesMaster1.xml" Id="R09d02ae3897f44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f6ef36a6b44ce8" /><Relationship Type="http://schemas.openxmlformats.org/officeDocument/2006/relationships/notesMaster" Target="/ppt/notesMasters/notesMaster1.xml" Id="R0a1bcc04d33243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410dba50e24701" /><Relationship Type="http://schemas.openxmlformats.org/officeDocument/2006/relationships/notesMaster" Target="/ppt/notesMasters/notesMaster1.xml" Id="R1530e2f483bd41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0de102bb2c409b" /><Relationship Type="http://schemas.openxmlformats.org/officeDocument/2006/relationships/notesMaster" Target="/ppt/notesMasters/notesMaster1.xml" Id="Re181e5ddec6548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ac8ecc81ee4373" /><Relationship Type="http://schemas.openxmlformats.org/officeDocument/2006/relationships/notesMaster" Target="/ppt/notesMasters/notesMaster1.xml" Id="Raa45dc7474244f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ca4128fcb44848" /><Relationship Type="http://schemas.openxmlformats.org/officeDocument/2006/relationships/notesMaster" Target="/ppt/notesMasters/notesMaster1.xml" Id="Rb0ba846d9b184e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b4f9ceda054e54" /><Relationship Type="http://schemas.openxmlformats.org/officeDocument/2006/relationships/notesMaster" Target="/ppt/notesMasters/notesMaster1.xml" Id="Re60df81e958440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9953836b214a77" /><Relationship Type="http://schemas.openxmlformats.org/officeDocument/2006/relationships/notesMaster" Target="/ppt/notesMasters/notesMaster1.xml" Id="R4c6b889ed4a848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e45543f1054288" /><Relationship Type="http://schemas.openxmlformats.org/officeDocument/2006/relationships/notesMaster" Target="/ppt/notesMasters/notesMaster1.xml" Id="R5fe5b5c0443347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9a1583fb5442c9" /><Relationship Type="http://schemas.openxmlformats.org/officeDocument/2006/relationships/notesMaster" Target="/ppt/notesMasters/notesMaster1.xml" Id="R0645fb0c410f45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ed5215461740ab" /><Relationship Type="http://schemas.openxmlformats.org/officeDocument/2006/relationships/notesMaster" Target="/ppt/notesMasters/notesMaster1.xml" Id="Rcb9a707d6f0b4e0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5a34d50e224ed5" /><Relationship Type="http://schemas.openxmlformats.org/officeDocument/2006/relationships/notesMaster" Target="/ppt/notesMasters/notesMaster1.xml" Id="R499a979b9e1345b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55c072e4e6c4f8a" /><Relationship Type="http://schemas.openxmlformats.org/officeDocument/2006/relationships/notesMaster" Target="/ppt/notesMasters/notesMaster1.xml" Id="Rb1b298dd1804403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b12e9e76e9a4372" /><Relationship Type="http://schemas.openxmlformats.org/officeDocument/2006/relationships/notesMaster" Target="/ppt/notesMasters/notesMaster1.xml" Id="R0d8a2cc05f444e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65a8e6b325746e5" /><Relationship Type="http://schemas.openxmlformats.org/officeDocument/2006/relationships/notesMaster" Target="/ppt/notesMasters/notesMaster1.xml" Id="Rdfbc3083c69e4f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AIに関する法律と契約</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日本の制度を中心に，データ・モデル・生成物を扱う段階ごとの確認事項を学ぶ．条文や例外の網羅より，判断に必要な事実と利用条件を整理する．2026年10月8日に公式資料を確認．</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a:p xmlns:a="http://schemas.openxmlformats.org/drawingml/2006/main">
            <a:r>
              <a:t/>
            </a:r>
          </a:p>
          <a:p xmlns:a="http://schemas.openxmlformats.org/drawingml/2006/main">
            <a:r>
              <a:t>個人情報保護委員会：生成AIサービスの利用に関する注意喚起</a:t>
            </a:r>
          </a:p>
          <a:p xmlns:a="http://schemas.openxmlformats.org/drawingml/2006/main">
            <a:r>
              <a:t>https://www.ppc.go.jp/news/careful_information/230602_AI_utilize_alert/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日本法を中心に学ぶ．国，時期，利用目的，契約条件で確認事項は変わる．設問は架空の事例で，条件を整理することを目的とする．</a:t>
            </a:r>
          </a:p>
          <a:p xmlns:a="http://schemas.openxmlformats.org/drawingml/2006/main">
            <a:r>
              <a:t/>
            </a:r>
          </a:p>
          <a:p xmlns:a="http://schemas.openxmlformats.org/drawingml/2006/main">
            <a:r>
              <a:t>個人情報と著作権の，基本的な考え方を説明する．</a:t>
            </a:r>
          </a:p>
          <a:p xmlns:a="http://schemas.openxmlformats.org/drawingml/2006/main">
            <a:r>
              <a:t/>
            </a:r>
          </a:p>
          <a:p xmlns:a="http://schemas.openxmlformats.org/drawingml/2006/main">
            <a:r>
              <a:t>収集・学習・生成物の利用を分けて考える．</a:t>
            </a:r>
          </a:p>
          <a:p xmlns:a="http://schemas.openxmlformats.org/drawingml/2006/main">
            <a:r>
              <a:t/>
            </a:r>
          </a:p>
          <a:p xmlns:a="http://schemas.openxmlformats.org/drawingml/2006/main">
            <a:r>
              <a:t>規約・ライセンス・契約で確認する内容を挙げる．</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技術的にできることと利用条件</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第9回の生成，第10回の運用，第11・12回のデータ利用に結び付ける．公開されているという事実だけで自由に使えると判断しない．</a:t>
            </a:r>
          </a:p>
          <a:p xmlns:a="http://schemas.openxmlformats.org/drawingml/2006/main">
            <a:r>
              <a:t/>
            </a:r>
          </a:p>
          <a:p xmlns:a="http://schemas.openxmlformats.org/drawingml/2006/main">
            <a:r>
              <a:t>データを読めても，利用する権限があるかは別に確認する．</a:t>
            </a:r>
          </a:p>
          <a:p xmlns:a="http://schemas.openxmlformats.org/drawingml/2006/main">
            <a:r>
              <a:t/>
            </a:r>
          </a:p>
          <a:p xmlns:a="http://schemas.openxmlformats.org/drawingml/2006/main">
            <a:r>
              <a:t>モデルが出力できても，公開の条件を確かめる．</a:t>
            </a:r>
          </a:p>
          <a:p xmlns:a="http://schemas.openxmlformats.org/drawingml/2006/main">
            <a:r>
              <a:t/>
            </a:r>
          </a:p>
          <a:p xmlns:a="http://schemas.openxmlformats.org/drawingml/2006/main">
            <a:r>
              <a:t>法令，契約，組織のルールを合わせて考える．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a:p xmlns:a="http://schemas.openxmlformats.org/drawingml/2006/main">
            <a:r>
              <a:t/>
            </a:r>
          </a:p>
          <a:p xmlns:a="http://schemas.openxmlformats.org/drawingml/2006/main">
            <a:r>
              <a:t>文化庁：AIと著作権について</a:t>
            </a:r>
          </a:p>
          <a:p xmlns:a="http://schemas.openxmlformats.org/drawingml/2006/main">
            <a:r>
              <a:t>https://www.bunka.go.jp/seisaku/chosakuken/aiandcopyright.html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段階ごとに確認する</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一つの段階で利用できても，次の段階まで自動的に許されるとは限らない．学習，外部サービスへの入力，成果物の公開を区別する．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文化庁：AIと著作権について</a:t>
            </a:r>
          </a:p>
          <a:p xmlns:a="http://schemas.openxmlformats.org/drawingml/2006/main">
            <a:r>
              <a:t>https://www.bunka.go.jp/seisaku/chosakuken/aiandcopyright.html</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個人情報の考え方</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氏名，顔画像，連絡先と氏名の組合せなど．個人識別符号を含む場合も法律上の定義に入る．公開情報であっても個人情報でなくなるわけではない．通則編2-1を参照．</a:t>
            </a:r>
          </a:p>
          <a:p xmlns:a="http://schemas.openxmlformats.org/drawingml/2006/main">
            <a:r>
              <a:t/>
            </a:r>
          </a:p>
          <a:p xmlns:a="http://schemas.openxmlformats.org/drawingml/2006/main">
            <a:r>
              <a:t>生存する個人について，特定の人を識別できる情報．</a:t>
            </a:r>
          </a:p>
          <a:p xmlns:a="http://schemas.openxmlformats.org/drawingml/2006/main">
            <a:r>
              <a:t/>
            </a:r>
          </a:p>
          <a:p xmlns:a="http://schemas.openxmlformats.org/drawingml/2006/main">
            <a:r>
              <a:t>他の情報と容易に照合し，識別できるものも含む．</a:t>
            </a:r>
          </a:p>
          <a:p xmlns:a="http://schemas.openxmlformats.org/drawingml/2006/main">
            <a:r>
              <a:t/>
            </a:r>
          </a:p>
          <a:p xmlns:a="http://schemas.openxmlformats.org/drawingml/2006/main">
            <a:r>
              <a:t>公開された情報や顔画像なども，該当する場合がある．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関連する用語の大まかな違い</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義務は用語と場面によって異なる．要配慮個人情報の取得などには原則本人同意が必要で例外もある．全ての個人情報の取得にいつも同意が必要と単純化しない．通則編2-3，2-6，3-3-2．</a:t>
            </a:r>
          </a:p>
          <a:p xmlns:a="http://schemas.openxmlformats.org/drawingml/2006/main">
            <a:r>
              <a:t/>
            </a:r>
          </a:p>
          <a:p xmlns:a="http://schemas.openxmlformats.org/drawingml/2006/main">
            <a:r>
              <a:t>個人情報 ／ 特定の生存する人を識別できる情報など</a:t>
            </a:r>
          </a:p>
          <a:p xmlns:a="http://schemas.openxmlformats.org/drawingml/2006/main">
            <a:r>
              <a:t>個人データ ／ 個人情報データベース等を構成する情報</a:t>
            </a:r>
          </a:p>
          <a:p xmlns:a="http://schemas.openxmlformats.org/drawingml/2006/main">
            <a:r>
              <a:t>要配慮個人情報 ／ 病歴など，特に配慮を要する一定の情報</a:t>
            </a:r>
          </a:p>
          <a:p xmlns:a="http://schemas.openxmlformats.org/drawingml/2006/main">
            <a:r>
              <a:t/>
            </a:r>
          </a:p>
          <a:p xmlns:a="http://schemas.openxmlformats.org/drawingml/2006/main">
            <a:r>
              <a:t>同じ「データ」でも，扱いの条件は同じではない．</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利用目的と安全な取扱い</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目的外利用は原則本人同意が必要で，法定の例外もある．第三者提供，外国への提供，委託の関係は場面ごとに確認する．安全管理措置は情報の性質や規模に応じて考える．通則編3-1，3-2，3-4，3-6．</a:t>
            </a:r>
          </a:p>
          <a:p xmlns:a="http://schemas.openxmlformats.org/drawingml/2006/main">
            <a:r>
              <a:t/>
            </a:r>
          </a:p>
          <a:p xmlns:a="http://schemas.openxmlformats.org/drawingml/2006/main">
            <a:r>
              <a:t>利用目的を具体化し，通知・公表などを行う．</a:t>
            </a:r>
          </a:p>
          <a:p xmlns:a="http://schemas.openxmlformats.org/drawingml/2006/main">
            <a:r>
              <a:t/>
            </a:r>
          </a:p>
          <a:p xmlns:a="http://schemas.openxmlformats.org/drawingml/2006/main">
            <a:r>
              <a:t>原則として，目的達成に必要な範囲で利用する．</a:t>
            </a:r>
          </a:p>
          <a:p xmlns:a="http://schemas.openxmlformats.org/drawingml/2006/main">
            <a:r>
              <a:t/>
            </a:r>
          </a:p>
          <a:p xmlns:a="http://schemas.openxmlformats.org/drawingml/2006/main">
            <a:r>
              <a:t>アクセス権や委託先の管理などを行う．</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生成AIサービスへの個人情報入力</a:t>
            </a:r>
          </a:p>
          <a:p xmlns:a="http://schemas.openxmlformats.org/drawingml/2006/main">
            <a:r>
              <a:t/>
            </a:r>
          </a:p>
          <a:p xmlns:a="http://schemas.openxmlformats.org/drawingml/2006/main">
            <a:r>
              <a:t>目安：4分／授業開始から25〜29分</a:t>
            </a:r>
          </a:p>
          <a:p xmlns:a="http://schemas.openxmlformats.org/drawingml/2006/main">
            <a:r>
              <a:t/>
            </a:r>
          </a:p>
          <a:p xmlns:a="http://schemas.openxmlformats.org/drawingml/2006/main">
            <a:r>
              <a:t>個人情報保護委員会の2023年6月2日注意喚起を参照．応答以外の目的で取り扱われる個人データを同意なく入力すると違反となる可能性がある．「学習しない」設定だけで他の義務が消えるという説明はしない．</a:t>
            </a:r>
          </a:p>
          <a:p xmlns:a="http://schemas.openxmlformats.org/drawingml/2006/main">
            <a:r>
              <a:t/>
            </a:r>
          </a:p>
          <a:p xmlns:a="http://schemas.openxmlformats.org/drawingml/2006/main">
            <a:r>
              <a:t>入力が，定めた利用目的に必要かを確認する．</a:t>
            </a:r>
          </a:p>
          <a:p xmlns:a="http://schemas.openxmlformats.org/drawingml/2006/main">
            <a:r>
              <a:t/>
            </a:r>
          </a:p>
          <a:p xmlns:a="http://schemas.openxmlformats.org/drawingml/2006/main">
            <a:r>
              <a:t>保存期間や，学習への利用の有無を確かめる．</a:t>
            </a:r>
          </a:p>
          <a:p xmlns:a="http://schemas.openxmlformats.org/drawingml/2006/main">
            <a:r>
              <a:t/>
            </a:r>
          </a:p>
          <a:p xmlns:a="http://schemas.openxmlformats.org/drawingml/2006/main">
            <a:r>
              <a:t>外部への提供に当たるか，必要な手続きを調べる．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個人情報保護委員会：生成AIサービスの利用に関する注意喚起</a:t>
            </a:r>
          </a:p>
          <a:p xmlns:a="http://schemas.openxmlformats.org/drawingml/2006/main">
            <a:r>
              <a:t>https://www.ppc.go.jp/news/careful_information/230602_AI_utilize_alert/</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演習1：名前を消せば十分か</a:t>
            </a:r>
          </a:p>
          <a:p xmlns:a="http://schemas.openxmlformats.org/drawingml/2006/main">
            <a:r>
              <a:t/>
            </a:r>
          </a:p>
          <a:p xmlns:a="http://schemas.openxmlformats.org/drawingml/2006/main">
            <a:r>
              <a:t>目安：6分／授業開始から29〜35分</a:t>
            </a:r>
          </a:p>
          <a:p xmlns:a="http://schemas.openxmlformats.org/drawingml/2006/main">
            <a:r>
              <a:t/>
            </a:r>
          </a:p>
          <a:p xmlns:a="http://schemas.openxmlformats.org/drawingml/2006/main">
            <a:r>
              <a:t>架空の事例．ペアで5分．学生番号を名簿と容易に照合できるという前提を追加する．相談内容に病歴などがある場合も考える．目的，提供，学習，保存の情報がなければ利用の可否を決め切れない．</a:t>
            </a:r>
          </a:p>
          <a:p xmlns:a="http://schemas.openxmlformats.org/drawingml/2006/main">
            <a:r>
              <a:t/>
            </a:r>
          </a:p>
          <a:p xmlns:a="http://schemas.openxmlformats.org/drawingml/2006/main">
            <a:r>
              <a:t>学生の相談記録を，外部AIで要約したい．</a:t>
            </a:r>
          </a:p>
          <a:p xmlns:a="http://schemas.openxmlformats.org/drawingml/2006/main">
            <a:r>
              <a:t/>
            </a:r>
          </a:p>
          <a:p xmlns:a="http://schemas.openxmlformats.org/drawingml/2006/main">
            <a:r>
              <a:t>氏名を消したが，学生番号と相談内容は残っている．</a:t>
            </a:r>
          </a:p>
          <a:p xmlns:a="http://schemas.openxmlformats.org/drawingml/2006/main">
            <a:r>
              <a:t/>
            </a:r>
          </a:p>
          <a:p xmlns:a="http://schemas.openxmlformats.org/drawingml/2006/main">
            <a:r>
              <a:t>個人情報か，入力してよいかを考える．</a:t>
            </a:r>
          </a:p>
          <a:p xmlns:a="http://schemas.openxmlformats.org/drawingml/2006/main">
            <a:r>
              <a:t/>
            </a:r>
          </a:p>
          <a:p xmlns:a="http://schemas.openxmlformats.org/drawingml/2006/main">
            <a:r>
              <a:t>匿名のように見えることだけで判断しない．</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演習1：確認すること</a:t>
            </a:r>
          </a:p>
          <a:p xmlns:a="http://schemas.openxmlformats.org/drawingml/2006/main">
            <a:r>
              <a:t/>
            </a:r>
          </a:p>
          <a:p xmlns:a="http://schemas.openxmlformats.org/drawingml/2006/main">
            <a:r>
              <a:t>目安：4分／授業開始から35〜39分</a:t>
            </a:r>
          </a:p>
          <a:p xmlns:a="http://schemas.openxmlformats.org/drawingml/2006/main">
            <a:r>
              <a:t/>
            </a:r>
          </a:p>
          <a:p xmlns:a="http://schemas.openxmlformats.org/drawingml/2006/main">
            <a:r>
              <a:t>氏名を消すことと，法定の匿名加工情報を作成することは別．架空データで演習し，実際の相談記録を入力しない．この条件だけでは入力が適法と断定できない．</a:t>
            </a:r>
          </a:p>
          <a:p xmlns:a="http://schemas.openxmlformats.org/drawingml/2006/main">
            <a:r>
              <a:t/>
            </a:r>
          </a:p>
          <a:p xmlns:a="http://schemas.openxmlformats.org/drawingml/2006/main">
            <a:r>
              <a:t>学生番号から容易に本人を識別できるなら，個人情報に当たる．</a:t>
            </a:r>
          </a:p>
          <a:p xmlns:a="http://schemas.openxmlformats.org/drawingml/2006/main">
            <a:r>
              <a:t/>
            </a:r>
          </a:p>
          <a:p xmlns:a="http://schemas.openxmlformats.org/drawingml/2006/main">
            <a:r>
              <a:t>目的・外部提供・学習や保存の条件を確かめる．</a:t>
            </a:r>
          </a:p>
          <a:p xmlns:a="http://schemas.openxmlformats.org/drawingml/2006/main">
            <a:r>
              <a:t/>
            </a:r>
          </a:p>
          <a:p xmlns:a="http://schemas.openxmlformats.org/drawingml/2006/main">
            <a:r>
              <a:t>不要な情報を減らし，承認された取扱いで利用する．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a:p xmlns:a="http://schemas.openxmlformats.org/drawingml/2006/main">
            <a:r>
              <a:t/>
            </a:r>
          </a:p>
          <a:p xmlns:a="http://schemas.openxmlformats.org/drawingml/2006/main">
            <a:r>
              <a:t>個人情報保護委員会：生成AIサービスの利用に関する注意喚起</a:t>
            </a:r>
          </a:p>
          <a:p xmlns:a="http://schemas.openxmlformats.org/drawingml/2006/main">
            <a:r>
              <a:t>https://www.ppc.go.jp/news/careful_information/230602_AI_utilize_alert/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著作権の基本的な考え方</a:t>
            </a:r>
          </a:p>
          <a:p xmlns:a="http://schemas.openxmlformats.org/drawingml/2006/main">
            <a:r>
              <a:t/>
            </a:r>
          </a:p>
          <a:p xmlns:a="http://schemas.openxmlformats.org/drawingml/2006/main">
            <a:r>
              <a:t>目安：4分／授業開始から39〜43分</a:t>
            </a:r>
          </a:p>
          <a:p xmlns:a="http://schemas.openxmlformats.org/drawingml/2006/main">
            <a:r>
              <a:t/>
            </a:r>
          </a:p>
          <a:p xmlns:a="http://schemas.openxmlformats.org/drawingml/2006/main">
            <a:r>
              <a:t>著作物の定義は著作権法2条1項1号．事実そのものやアイデアが全て著作物になるわけではない．複製，公開など利用方法ごとに判断する．文化庁の概要15頁も参照．</a:t>
            </a:r>
          </a:p>
          <a:p xmlns:a="http://schemas.openxmlformats.org/drawingml/2006/main">
            <a:r>
              <a:t/>
            </a:r>
          </a:p>
          <a:p xmlns:a="http://schemas.openxmlformats.org/drawingml/2006/main">
            <a:r>
              <a:t>文章・画像などの創作的な表現を保護する．</a:t>
            </a:r>
          </a:p>
          <a:p xmlns:a="http://schemas.openxmlformats.org/drawingml/2006/main">
            <a:r>
              <a:t/>
            </a:r>
          </a:p>
          <a:p xmlns:a="http://schemas.openxmlformats.org/drawingml/2006/main">
            <a:r>
              <a:t>アイデアそのものと，具体的な表現を区別する．</a:t>
            </a:r>
          </a:p>
          <a:p xmlns:a="http://schemas.openxmlformats.org/drawingml/2006/main">
            <a:r>
              <a:t/>
            </a:r>
          </a:p>
          <a:p xmlns:a="http://schemas.openxmlformats.org/drawingml/2006/main">
            <a:r>
              <a:t>利用には，許諾や権利制限規定の条件を確認する．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e-Gov：著作権法</a:t>
            </a:r>
          </a:p>
          <a:p xmlns:a="http://schemas.openxmlformats.org/drawingml/2006/main">
            <a:r>
              <a:t>https://laws.e-gov.go.jp/law/345AC0000000048</a:t>
            </a:r>
          </a:p>
          <a:p xmlns:a="http://schemas.openxmlformats.org/drawingml/2006/main">
            <a:r>
              <a:t/>
            </a:r>
          </a:p>
          <a:p xmlns:a="http://schemas.openxmlformats.org/drawingml/2006/main">
            <a:r>
              <a:t>文化庁：AIと著作権に関する考え方（概要）</a:t>
            </a:r>
          </a:p>
          <a:p xmlns:a="http://schemas.openxmlformats.org/drawingml/2006/main">
            <a:r>
              <a:t>https://www.bunka.go.jp/seisaku/bunkashingikai/chosakuken/pdf/94057901_01.pdf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学習段階と利用段階を分ける</a:t>
            </a:r>
          </a:p>
          <a:p xmlns:a="http://schemas.openxmlformats.org/drawingml/2006/main">
            <a:r>
              <a:t/>
            </a:r>
          </a:p>
          <a:p xmlns:a="http://schemas.openxmlformats.org/drawingml/2006/main">
            <a:r>
              <a:t>目安：4分／授業開始から43〜47分</a:t>
            </a:r>
          </a:p>
          <a:p xmlns:a="http://schemas.openxmlformats.org/drawingml/2006/main">
            <a:r>
              <a:t/>
            </a:r>
          </a:p>
          <a:p xmlns:a="http://schemas.openxmlformats.org/drawingml/2006/main">
            <a:r>
              <a:t>開発・学習が適法であっても，生成物の利用が全て適法になるとは限らない．生成物の著作物性と既存の著作物の侵害も別問題．文化庁の考え方の概要を参照．</a:t>
            </a:r>
          </a:p>
          <a:p xmlns:a="http://schemas.openxmlformats.org/drawingml/2006/main">
            <a:r>
              <a:t/>
            </a:r>
          </a:p>
          <a:p xmlns:a="http://schemas.openxmlformats.org/drawingml/2006/main">
            <a:r>
              <a:t>開発・学習 ／ 収集・複製の目的と，許諾や例外の条件</a:t>
            </a:r>
          </a:p>
          <a:p xmlns:a="http://schemas.openxmlformats.org/drawingml/2006/main">
            <a:r>
              <a:t>生成・公開 ／ 既存の表現との関係と，公開の条件</a:t>
            </a:r>
          </a:p>
          <a:p xmlns:a="http://schemas.openxmlformats.org/drawingml/2006/main">
            <a:r>
              <a:t>自分の生成物の保護 ／ 人の創作的な関与があるか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文化庁：AIと著作権に関する考え方（概要）</a:t>
            </a:r>
          </a:p>
          <a:p xmlns:a="http://schemas.openxmlformats.org/drawingml/2006/main">
            <a:r>
              <a:t>https://www.bunka.go.jp/seisaku/bunkashingikai/chosakuken/pdf/94057901_01.pdf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情報解析と著作権法第30条の4</a:t>
            </a:r>
          </a:p>
          <a:p xmlns:a="http://schemas.openxmlformats.org/drawingml/2006/main">
            <a:r>
              <a:t/>
            </a:r>
          </a:p>
          <a:p xmlns:a="http://schemas.openxmlformats.org/drawingml/2006/main">
            <a:r>
              <a:t>目安：4分／授業開始から47〜51分</a:t>
            </a:r>
          </a:p>
          <a:p xmlns:a="http://schemas.openxmlformats.org/drawingml/2006/main">
            <a:r>
              <a:t/>
            </a:r>
          </a:p>
          <a:p xmlns:a="http://schemas.openxmlformats.org/drawingml/2006/main">
            <a:r>
              <a:t>AI学習なら全て自由という規定ではない．既存の創作的表現を出力させる目的が併存する場合や，情報解析用に有償提供されるデータベースの複製など，適用されない場合がある．著作権以外の法律や契約の問題も別途残る．</a:t>
            </a:r>
          </a:p>
          <a:p xmlns:a="http://schemas.openxmlformats.org/drawingml/2006/main">
            <a:r>
              <a:t/>
            </a:r>
          </a:p>
          <a:p xmlns:a="http://schemas.openxmlformats.org/drawingml/2006/main">
            <a:r>
              <a:t>表現を享受する目的のない利用などが対象となる．</a:t>
            </a:r>
          </a:p>
          <a:p xmlns:a="http://schemas.openxmlformats.org/drawingml/2006/main">
            <a:r>
              <a:t/>
            </a:r>
          </a:p>
          <a:p xmlns:a="http://schemas.openxmlformats.org/drawingml/2006/main">
            <a:r>
              <a:t>必要と認められる限度での利用という条件がある．</a:t>
            </a:r>
          </a:p>
          <a:p xmlns:a="http://schemas.openxmlformats.org/drawingml/2006/main">
            <a:r>
              <a:t/>
            </a:r>
          </a:p>
          <a:p xmlns:a="http://schemas.openxmlformats.org/drawingml/2006/main">
            <a:r>
              <a:t>権利者の利益を不当に害する場合などは適用されない．</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文化庁：AIと著作権に関する考え方（概要）</a:t>
            </a:r>
          </a:p>
          <a:p xmlns:a="http://schemas.openxmlformats.org/drawingml/2006/main">
            <a:r>
              <a:t>https://www.bunka.go.jp/seisaku/bunkashingikai/chosakuken/pdf/94057901_01.pdf</a:t>
            </a:r>
          </a:p>
          <a:p xmlns:a="http://schemas.openxmlformats.org/drawingml/2006/main">
            <a:r>
              <a:t/>
            </a:r>
          </a:p>
          <a:p xmlns:a="http://schemas.openxmlformats.org/drawingml/2006/main">
            <a:r>
              <a:t>e-Gov：著作権法</a:t>
            </a:r>
          </a:p>
          <a:p xmlns:a="http://schemas.openxmlformats.org/drawingml/2006/main">
            <a:r>
              <a:t>https://laws.e-gov.go.jp/law/345AC0000000048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生成物と既存の著作物の関係</a:t>
            </a:r>
          </a:p>
          <a:p xmlns:a="http://schemas.openxmlformats.org/drawingml/2006/main">
            <a:r>
              <a:t/>
            </a:r>
          </a:p>
          <a:p xmlns:a="http://schemas.openxmlformats.org/drawingml/2006/main">
            <a:r>
              <a:t>目安：4分／授業開始から51〜55分</a:t>
            </a:r>
          </a:p>
          <a:p xmlns:a="http://schemas.openxmlformats.org/drawingml/2006/main">
            <a:r>
              <a:t/>
            </a:r>
          </a:p>
          <a:p xmlns:a="http://schemas.openxmlformats.org/drawingml/2006/main">
            <a:r>
              <a:t>類似性と依拠性があり，許諾も権利制限もなければ侵害となり得る．本人が元の作品を知らなくても依拠性が認められる場合がある．単に似て見えるだけで法的判断を完結させない．文化庁概要11〜12頁．</a:t>
            </a:r>
          </a:p>
          <a:p xmlns:a="http://schemas.openxmlformats.org/drawingml/2006/main">
            <a:r>
              <a:t/>
            </a:r>
          </a:p>
          <a:p xmlns:a="http://schemas.openxmlformats.org/drawingml/2006/main">
            <a:r>
              <a:t>創作的な表現が共通するかという「類似性」を考える．</a:t>
            </a:r>
          </a:p>
          <a:p xmlns:a="http://schemas.openxmlformats.org/drawingml/2006/main">
            <a:r>
              <a:t/>
            </a:r>
          </a:p>
          <a:p xmlns:a="http://schemas.openxmlformats.org/drawingml/2006/main">
            <a:r>
              <a:t>既存の著作物に基づくかという「依拠性」を考える．</a:t>
            </a:r>
          </a:p>
          <a:p xmlns:a="http://schemas.openxmlformats.org/drawingml/2006/main">
            <a:r>
              <a:t/>
            </a:r>
          </a:p>
          <a:p xmlns:a="http://schemas.openxmlformats.org/drawingml/2006/main">
            <a:r>
              <a:t>許諾や権利制限規定の条件も，利用方法ごとに確認する．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文化庁：AIと著作権に関する考え方（概要）</a:t>
            </a:r>
          </a:p>
          <a:p xmlns:a="http://schemas.openxmlformats.org/drawingml/2006/main">
            <a:r>
              <a:t>https://www.bunka.go.jp/seisaku/bunkashingikai/chosakuken/pdf/94057901_01.pdf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AI生成物に著作権があるか</a:t>
            </a:r>
          </a:p>
          <a:p xmlns:a="http://schemas.openxmlformats.org/drawingml/2006/main">
            <a:r>
              <a:t/>
            </a:r>
          </a:p>
          <a:p xmlns:a="http://schemas.openxmlformats.org/drawingml/2006/main">
            <a:r>
              <a:t>目安：4分／授業開始から55〜59分</a:t>
            </a:r>
          </a:p>
          <a:p xmlns:a="http://schemas.openxmlformats.org/drawingml/2006/main">
            <a:r>
              <a:t/>
            </a:r>
          </a:p>
          <a:p xmlns:a="http://schemas.openxmlformats.org/drawingml/2006/main">
            <a:r>
              <a:t>AIが自律的に生成したものは著作物に該当しないと考えられる．個別具体的に判断する．人による創作的な加筆・修正があればその部分は通常著作物となる．既存作品の侵害の有無とは別に確認する．文化庁概要15〜16頁．</a:t>
            </a:r>
          </a:p>
          <a:p xmlns:a="http://schemas.openxmlformats.org/drawingml/2006/main">
            <a:r>
              <a:t/>
            </a:r>
          </a:p>
          <a:p xmlns:a="http://schemas.openxmlformats.org/drawingml/2006/main">
            <a:r>
              <a:t>人の創作意図と，創作的な寄与を考える．</a:t>
            </a:r>
          </a:p>
          <a:p xmlns:a="http://schemas.openxmlformats.org/drawingml/2006/main">
            <a:r>
              <a:t/>
            </a:r>
          </a:p>
          <a:p xmlns:a="http://schemas.openxmlformats.org/drawingml/2006/main">
            <a:r>
              <a:t>AIを道具として人が創作したものは，著作物になり得る．</a:t>
            </a:r>
          </a:p>
          <a:p xmlns:a="http://schemas.openxmlformats.org/drawingml/2006/main">
            <a:r>
              <a:t/>
            </a:r>
          </a:p>
          <a:p xmlns:a="http://schemas.openxmlformats.org/drawingml/2006/main">
            <a:r>
              <a:t>指示の長さや試行回数だけで，一律に決まらない．</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文化庁：AIと著作権に関する考え方（概要）</a:t>
            </a:r>
          </a:p>
          <a:p xmlns:a="http://schemas.openxmlformats.org/drawingml/2006/main">
            <a:r>
              <a:t>https://www.bunka.go.jp/seisaku/bunkashingikai/chosakuken/pdf/94057901_01.pdf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著作権以外にも確認する</a:t>
            </a:r>
          </a:p>
          <a:p xmlns:a="http://schemas.openxmlformats.org/drawingml/2006/main">
            <a:r>
              <a:t/>
            </a:r>
          </a:p>
          <a:p xmlns:a="http://schemas.openxmlformats.org/drawingml/2006/main">
            <a:r>
              <a:t>目安：4分／授業開始から59〜63分</a:t>
            </a:r>
          </a:p>
          <a:p xmlns:a="http://schemas.openxmlformats.org/drawingml/2006/main">
            <a:r>
              <a:t/>
            </a:r>
          </a:p>
          <a:p xmlns:a="http://schemas.openxmlformats.org/drawingml/2006/main">
            <a:r>
              <a:t>著作権上使えるだけで全ての権利や契約の条件を満たすとは限らない，という学習ポイント．商標や特許の成立要件の細部は扱わない．経済産業省の契約チェックリストに沿って第三者の権利と機密性を整理する．</a:t>
            </a:r>
          </a:p>
          <a:p xmlns:a="http://schemas.openxmlformats.org/drawingml/2006/main">
            <a:r>
              <a:t/>
            </a:r>
          </a:p>
          <a:p xmlns:a="http://schemas.openxmlformats.org/drawingml/2006/main">
            <a:r>
              <a:t>商品名やロゴでは，商標などの権利を考える．</a:t>
            </a:r>
          </a:p>
          <a:p xmlns:a="http://schemas.openxmlformats.org/drawingml/2006/main">
            <a:r>
              <a:t/>
            </a:r>
          </a:p>
          <a:p xmlns:a="http://schemas.openxmlformats.org/drawingml/2006/main">
            <a:r>
              <a:t>人物の画像では，肖像やプライバシーも考える．</a:t>
            </a:r>
          </a:p>
          <a:p xmlns:a="http://schemas.openxmlformats.org/drawingml/2006/main">
            <a:r>
              <a:t/>
            </a:r>
          </a:p>
          <a:p xmlns:a="http://schemas.openxmlformats.org/drawingml/2006/main">
            <a:r>
              <a:t>機密情報や発明では，秘密の管理と契約を確認する．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ライセンスと利用条件</a:t>
            </a:r>
          </a:p>
          <a:p xmlns:a="http://schemas.openxmlformats.org/drawingml/2006/main">
            <a:r>
              <a:t/>
            </a:r>
          </a:p>
          <a:p xmlns:a="http://schemas.openxmlformats.org/drawingml/2006/main">
            <a:r>
              <a:t>目安：4分／授業開始から63〜67分</a:t>
            </a:r>
          </a:p>
          <a:p xmlns:a="http://schemas.openxmlformats.org/drawingml/2006/main">
            <a:r>
              <a:t/>
            </a:r>
          </a:p>
          <a:p xmlns:a="http://schemas.openxmlformats.org/drawingml/2006/main">
            <a:r>
              <a:t>公開されたコードやモデルにそれぞれのライセンスがある．オープンソースでも著作権表示等の条件は残る．公開されたモデルが全てOSIの定義のオープンソースという意味ではない．サービス規約も併せて読む．</a:t>
            </a:r>
          </a:p>
          <a:p xmlns:a="http://schemas.openxmlformats.org/drawingml/2006/main">
            <a:r>
              <a:t/>
            </a:r>
          </a:p>
          <a:p xmlns:a="http://schemas.openxmlformats.org/drawingml/2006/main">
            <a:r>
              <a:t>データ ／ 用途，表示，改変，再配布の条件</a:t>
            </a:r>
          </a:p>
          <a:p xmlns:a="http://schemas.openxmlformats.org/drawingml/2006/main">
            <a:r>
              <a:t>コード・モデル ／ 利用・改変・配布の許諾と条件</a:t>
            </a:r>
          </a:p>
          <a:p xmlns:a="http://schemas.openxmlformats.org/drawingml/2006/main">
            <a:r>
              <a:t>AIサービス ／ 入力の扱い，生成物の利用，禁止事項</a:t>
            </a:r>
          </a:p>
          <a:p xmlns:a="http://schemas.openxmlformats.org/drawingml/2006/main">
            <a:r>
              <a:t/>
            </a:r>
          </a:p>
          <a:p xmlns:a="http://schemas.openxmlformats.org/drawingml/2006/main">
            <a:r>
              <a:t>公開されていることと，利用条件を満たすことを分ける．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Open Source Initiative：Open Source Definition</a:t>
            </a:r>
          </a:p>
          <a:p xmlns:a="http://schemas.openxmlformats.org/drawingml/2006/main">
            <a:r>
              <a:t>https://opensource.org/osd</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機密情報を扱うとき</a:t>
            </a:r>
          </a:p>
          <a:p xmlns:a="http://schemas.openxmlformats.org/drawingml/2006/main">
            <a:r>
              <a:t/>
            </a:r>
          </a:p>
          <a:p xmlns:a="http://schemas.openxmlformats.org/drawingml/2006/main">
            <a:r>
              <a:t>目安：4分／授業開始から67〜71分</a:t>
            </a:r>
          </a:p>
          <a:p xmlns:a="http://schemas.openxmlformats.org/drawingml/2006/main">
            <a:r>
              <a:t/>
            </a:r>
          </a:p>
          <a:p xmlns:a="http://schemas.openxmlformats.org/drawingml/2006/main">
            <a:r>
              <a:t>秘密保持契約，サービス規約，アクセス管理，ログなどを確認する．営業秘密の法的な要件の暗記を課さず，情報を秘密として管理する具体的な運用を考える．</a:t>
            </a:r>
          </a:p>
          <a:p xmlns:a="http://schemas.openxmlformats.org/drawingml/2006/main">
            <a:r>
              <a:t/>
            </a:r>
          </a:p>
          <a:p xmlns:a="http://schemas.openxmlformats.org/drawingml/2006/main">
            <a:r>
              <a:t>入力の保存・再利用・閲覧者を確認する．</a:t>
            </a:r>
          </a:p>
          <a:p xmlns:a="http://schemas.openxmlformats.org/drawingml/2006/main">
            <a:r>
              <a:t/>
            </a:r>
          </a:p>
          <a:p xmlns:a="http://schemas.openxmlformats.org/drawingml/2006/main">
            <a:r>
              <a:t>誰がどの情報を外部へ出せるかを決める．</a:t>
            </a:r>
          </a:p>
          <a:p xmlns:a="http://schemas.openxmlformats.org/drawingml/2006/main">
            <a:r>
              <a:t/>
            </a:r>
          </a:p>
          <a:p xmlns:a="http://schemas.openxmlformats.org/drawingml/2006/main">
            <a:r>
              <a:t>委託先やサービスの変更時も，取扱いを見直す．</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契約で確認する：入力と開発</a:t>
            </a:r>
          </a:p>
          <a:p xmlns:a="http://schemas.openxmlformats.org/drawingml/2006/main">
            <a:r>
              <a:t/>
            </a:r>
          </a:p>
          <a:p xmlns:a="http://schemas.openxmlformats.org/drawingml/2006/main">
            <a:r>
              <a:t>目安：4分／授業開始から71〜75分</a:t>
            </a:r>
          </a:p>
          <a:p xmlns:a="http://schemas.openxmlformats.org/drawingml/2006/main">
            <a:r>
              <a:t/>
            </a:r>
          </a:p>
          <a:p xmlns:a="http://schemas.openxmlformats.org/drawingml/2006/main">
            <a:r>
              <a:t>経済産業省「AIの利用・開発に関する契約チェックリスト」（2025年2月公表）を参照．発注側と提供側の利益・リスクの分配を具体化する．必ず精度を保証できるという契約の前提を置かない．</a:t>
            </a:r>
          </a:p>
          <a:p xmlns:a="http://schemas.openxmlformats.org/drawingml/2006/main">
            <a:r>
              <a:t/>
            </a:r>
          </a:p>
          <a:p xmlns:a="http://schemas.openxmlformats.org/drawingml/2006/main">
            <a:r>
              <a:t>データの利用 ／ 目的，学習への再利用，第三者提供</a:t>
            </a:r>
          </a:p>
          <a:p xmlns:a="http://schemas.openxmlformats.org/drawingml/2006/main">
            <a:r>
              <a:t>秘密・保存 ／ 閲覧者，保存期間，削除・返却</a:t>
            </a:r>
          </a:p>
          <a:p xmlns:a="http://schemas.openxmlformats.org/drawingml/2006/main">
            <a:r>
              <a:t>開発の範囲 ／ 成果物，検収，データ準備の担当</a:t>
            </a:r>
          </a:p>
          <a:p xmlns:a="http://schemas.openxmlformats.org/drawingml/2006/main">
            <a:r>
              <a:t>変更・終了 ／ 仕様変更，追加費用，終了時の扱い</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契約で確認する：出力と運用</a:t>
            </a:r>
          </a:p>
          <a:p xmlns:a="http://schemas.openxmlformats.org/drawingml/2006/main">
            <a:r>
              <a:t/>
            </a:r>
          </a:p>
          <a:p xmlns:a="http://schemas.openxmlformats.org/drawingml/2006/main">
            <a:r>
              <a:t>目安：3分／授業開始から75〜78分</a:t>
            </a:r>
          </a:p>
          <a:p xmlns:a="http://schemas.openxmlformats.org/drawingml/2006/main">
            <a:r>
              <a:t/>
            </a:r>
          </a:p>
          <a:p xmlns:a="http://schemas.openxmlformats.org/drawingml/2006/main">
            <a:r>
              <a:t>規約上の生成物の利用許諾があっても，第三者の権利侵害を自動的に解消するわけではない．納品時だけでなく運用・終了時も含めて条件を読む．</a:t>
            </a:r>
          </a:p>
          <a:p xmlns:a="http://schemas.openxmlformats.org/drawingml/2006/main">
            <a:r>
              <a:t/>
            </a:r>
          </a:p>
          <a:p xmlns:a="http://schemas.openxmlformats.org/drawingml/2006/main">
            <a:r>
              <a:t>生成物・成果物 ／ 権利の帰属，商用利用，再配布の条件</a:t>
            </a:r>
          </a:p>
          <a:p xmlns:a="http://schemas.openxmlformats.org/drawingml/2006/main">
            <a:r>
              <a:t>性能・責任 ／ サービス水準，誤りや障害の責任分担</a:t>
            </a:r>
          </a:p>
          <a:p xmlns:a="http://schemas.openxmlformats.org/drawingml/2006/main">
            <a:r>
              <a:t>運用 ／ 監視，保守，規約変更時の対応</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演習2：生成したポスターを公開する</a:t>
            </a:r>
          </a:p>
          <a:p xmlns:a="http://schemas.openxmlformats.org/drawingml/2006/main">
            <a:r>
              <a:t/>
            </a:r>
          </a:p>
          <a:p xmlns:a="http://schemas.openxmlformats.org/drawingml/2006/main">
            <a:r>
              <a:t>目安：6分／授業開始から78〜84分</a:t>
            </a:r>
          </a:p>
          <a:p xmlns:a="http://schemas.openxmlformats.org/drawingml/2006/main">
            <a:r>
              <a:t/>
            </a:r>
          </a:p>
          <a:p xmlns:a="http://schemas.openxmlformats.org/drawingml/2006/main">
            <a:r>
              <a:t>架空の事例．ペアで5分．元の作品との創作的表現の共通性や依拠性，利用方法，権利者の許諾，商標や人物の権利も整理する．簡単な許可・禁止の二択を答えとしない．</a:t>
            </a:r>
          </a:p>
          <a:p xmlns:a="http://schemas.openxmlformats.org/drawingml/2006/main">
            <a:r>
              <a:t/>
            </a:r>
          </a:p>
          <a:p xmlns:a="http://schemas.openxmlformats.org/drawingml/2006/main">
            <a:r>
              <a:t>既存のキャラクターに似た画像をAIで作った．</a:t>
            </a:r>
          </a:p>
          <a:p xmlns:a="http://schemas.openxmlformats.org/drawingml/2006/main">
            <a:r>
              <a:t/>
            </a:r>
          </a:p>
          <a:p xmlns:a="http://schemas.openxmlformats.org/drawingml/2006/main">
            <a:r>
              <a:t>サービスの規約には「商用利用可能」と書かれている．</a:t>
            </a:r>
          </a:p>
          <a:p xmlns:a="http://schemas.openxmlformats.org/drawingml/2006/main">
            <a:r>
              <a:t/>
            </a:r>
          </a:p>
          <a:p xmlns:a="http://schemas.openxmlformats.org/drawingml/2006/main">
            <a:r>
              <a:t>この情報だけで，公開できると判断してよいか？</a:t>
            </a:r>
          </a:p>
          <a:p xmlns:a="http://schemas.openxmlformats.org/drawingml/2006/main">
            <a:r>
              <a:t/>
            </a:r>
          </a:p>
          <a:p xmlns:a="http://schemas.openxmlformats.org/drawingml/2006/main">
            <a:r>
              <a:t>サービスの規約と，第三者の権利を両方確認する．</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演習2：確認の整理</a:t>
            </a:r>
          </a:p>
          <a:p xmlns:a="http://schemas.openxmlformats.org/drawingml/2006/main">
            <a:r>
              <a:t/>
            </a:r>
          </a:p>
          <a:p xmlns:a="http://schemas.openxmlformats.org/drawingml/2006/main">
            <a:r>
              <a:t>目安：3分／授業開始から84〜87分</a:t>
            </a:r>
          </a:p>
          <a:p xmlns:a="http://schemas.openxmlformats.org/drawingml/2006/main">
            <a:r>
              <a:t/>
            </a:r>
          </a:p>
          <a:p xmlns:a="http://schemas.openxmlformats.org/drawingml/2006/main">
            <a:r>
              <a:t>具体的な画像や作成過程がないため，侵害の有無を断定しない．必要な事実を挙げられたかを確認する．生成履歴や入力素材を記録しておくと取扱いの説明に役立つ．</a:t>
            </a:r>
          </a:p>
          <a:p xmlns:a="http://schemas.openxmlformats.org/drawingml/2006/main">
            <a:r>
              <a:t/>
            </a:r>
          </a:p>
          <a:p xmlns:a="http://schemas.openxmlformats.org/drawingml/2006/main">
            <a:r>
              <a:t>規約の商用利用許諾だけで，第三者の権利は解消しない．</a:t>
            </a:r>
          </a:p>
          <a:p xmlns:a="http://schemas.openxmlformats.org/drawingml/2006/main">
            <a:r>
              <a:t/>
            </a:r>
          </a:p>
          <a:p xmlns:a="http://schemas.openxmlformats.org/drawingml/2006/main">
            <a:r>
              <a:t>画像と元の作品の関係，利用方法，許諾を確認する．</a:t>
            </a:r>
          </a:p>
          <a:p xmlns:a="http://schemas.openxmlformats.org/drawingml/2006/main">
            <a:r>
              <a:t/>
            </a:r>
          </a:p>
          <a:p xmlns:a="http://schemas.openxmlformats.org/drawingml/2006/main">
            <a:r>
              <a:t>問題が残るなら，表現や素材を見直してから公開を検討する．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文化庁：AIと著作権に関する考え方（概要）</a:t>
            </a:r>
          </a:p>
          <a:p xmlns:a="http://schemas.openxmlformats.org/drawingml/2006/main">
            <a:r>
              <a:t>https://www.bunka.go.jp/seisaku/bunkashingikai/chosakuken/pdf/94057901_01.pdf</a:t>
            </a:r>
          </a:p>
          <a:p xmlns:a="http://schemas.openxmlformats.org/drawingml/2006/main">
            <a:r>
              <a:t/>
            </a:r>
          </a:p>
          <a:p xmlns:a="http://schemas.openxmlformats.org/drawingml/2006/main">
            <a:r>
              <a:t>経済産業省：AIの利用・開発に関する契約チェックリスト</a:t>
            </a:r>
          </a:p>
          <a:p xmlns:a="http://schemas.openxmlformats.org/drawingml/2006/main">
            <a:r>
              <a:t>https://www.meti.go.jp/press/2024/02/20250218003/20250218003.html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目安：3分／授業開始から87〜90分</a:t>
            </a:r>
          </a:p>
          <a:p xmlns:a="http://schemas.openxmlformats.org/drawingml/2006/main">
            <a:r>
              <a:t/>
            </a:r>
          </a:p>
          <a:p xmlns:a="http://schemas.openxmlformats.org/drawingml/2006/main">
            <a:r>
              <a:t>出口課題：AIサービスに資料を入力する前と生成物を公開する前に，何を調べるか二つずつ書く．制度や公式資料の更新も確認する．次回は法律だけでは判断し切れない社会への影響と組織の対応を扱う．</a:t>
            </a:r>
          </a:p>
          <a:p xmlns:a="http://schemas.openxmlformats.org/drawingml/2006/main">
            <a:r>
              <a:t/>
            </a:r>
          </a:p>
          <a:p xmlns:a="http://schemas.openxmlformats.org/drawingml/2006/main">
            <a:r>
              <a:t>個人情報は，識別できるかと取扱いの目的を考える．</a:t>
            </a:r>
          </a:p>
          <a:p xmlns:a="http://schemas.openxmlformats.org/drawingml/2006/main">
            <a:r>
              <a:t/>
            </a:r>
          </a:p>
          <a:p xmlns:a="http://schemas.openxmlformats.org/drawingml/2006/main">
            <a:r>
              <a:t>著作権は，学習・生成・公開を分けて確認する．</a:t>
            </a:r>
          </a:p>
          <a:p xmlns:a="http://schemas.openxmlformats.org/drawingml/2006/main">
            <a:r>
              <a:t/>
            </a:r>
          </a:p>
          <a:p xmlns:a="http://schemas.openxmlformats.org/drawingml/2006/main">
            <a:r>
              <a:t>データ，モデル，生成物の利用条件を読む．</a:t>
            </a:r>
          </a:p>
          <a:p xmlns:a="http://schemas.openxmlformats.org/drawingml/2006/main">
            <a:r>
              <a:t/>
            </a:r>
          </a:p>
          <a:p xmlns:a="http://schemas.openxmlformats.org/drawingml/2006/main">
            <a:r>
              <a:t>次回：AI倫理とガバナンス</a:t>
            </a:r>
          </a:p>
          <a:p xmlns:a="http://schemas.openxmlformats.org/drawingml/2006/main">
            <a:r>
              <a:t/>
            </a:r>
          </a:p>
          <a:p xmlns:a="http://schemas.openxmlformats.org/drawingml/2006/main">
            <a:r>
              <a:t>参照資料（2026年10月8日確認）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a:p xmlns:a="http://schemas.openxmlformats.org/drawingml/2006/main">
            <a:r>
              <a:t/>
            </a:r>
          </a:p>
          <a:p xmlns:a="http://schemas.openxmlformats.org/drawingml/2006/main">
            <a:r>
              <a:t>個人情報保護委員会：生成AIサービスの利用に関する注意喚起</a:t>
            </a:r>
          </a:p>
          <a:p xmlns:a="http://schemas.openxmlformats.org/drawingml/2006/main">
            <a:r>
              <a:t>https://www.ppc.go.jp/news/careful_information/230602_AI_utilize_alert/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参照資料（2026年10月8日確認）</a:t>
            </a:r>
          </a:p>
          <a:p xmlns:a="http://schemas.openxmlformats.org/drawingml/2006/main">
            <a:r>
              <a:t/>
            </a:r>
          </a:p>
          <a:p xmlns:a="http://schemas.openxmlformats.org/drawingml/2006/main">
            <a:r>
              <a:t>個人情報保護委員会：通則編</a:t>
            </a:r>
          </a:p>
          <a:p xmlns:a="http://schemas.openxmlformats.org/drawingml/2006/main">
            <a:r>
              <a:t>https://www.ppc.go.jp/personalinfo/legal/guidelines_tsusoku/</a:t>
            </a:r>
          </a:p>
          <a:p xmlns:a="http://schemas.openxmlformats.org/drawingml/2006/main">
            <a:r>
              <a:t/>
            </a:r>
          </a:p>
          <a:p xmlns:a="http://schemas.openxmlformats.org/drawingml/2006/main">
            <a:r>
              <a:t>個人情報保護委員会：生成AIサービスの利用に関する注意喚起</a:t>
            </a:r>
          </a:p>
          <a:p xmlns:a="http://schemas.openxmlformats.org/drawingml/2006/main">
            <a:r>
              <a:t>https://www.ppc.go.jp/news/careful_information/230602_AI_utilize_alert/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1b6504900b45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f94772843d45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e9fafb4c2a4e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bdb24f00054b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1705e000c54a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1c84e538ee493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378db7bf18a4c1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b8bcda9398d45b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1246790f5f74dc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adcb2f37c644ef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9ff42c1f79840a7"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701dda49b44196" /><Relationship Type="http://schemas.openxmlformats.org/officeDocument/2006/relationships/slideLayout" Target="/ppt/slideLayouts/slideLayout1.xml" Id="Ra15a8a1084414255" /><Relationship Type="http://schemas.openxmlformats.org/officeDocument/2006/relationships/slideLayout" Target="/ppt/slideLayouts/slideLayout2.xml" Id="Re6c254967cab482b" /><Relationship Type="http://schemas.openxmlformats.org/officeDocument/2006/relationships/slideLayout" Target="/ppt/slideLayouts/slideLayout3.xml" Id="R7e7b0e57af5045fc" /><Relationship Type="http://schemas.openxmlformats.org/officeDocument/2006/relationships/slideLayout" Target="/ppt/slideLayouts/slideLayout4.xml" Id="R8858e866b3224bd9" /><Relationship Type="http://schemas.openxmlformats.org/officeDocument/2006/relationships/slideLayout" Target="/ppt/slideLayouts/slideLayout5.xml" Id="R1a7d964ae4f4492a" /><Relationship Type="http://schemas.openxmlformats.org/officeDocument/2006/relationships/slideLayout" Target="/ppt/slideLayouts/slideLayout6.xml" Id="R1e02316d13014958" /><Relationship Type="http://schemas.openxmlformats.org/officeDocument/2006/relationships/slideLayout" Target="/ppt/slideLayouts/slideLayout7.xml" Id="R81565b1102d1407e" /><Relationship Type="http://schemas.openxmlformats.org/officeDocument/2006/relationships/slideLayout" Target="/ppt/slideLayouts/slideLayout8.xml" Id="Re3add1897bd74baf" /><Relationship Type="http://schemas.openxmlformats.org/officeDocument/2006/relationships/slideLayout" Target="/ppt/slideLayouts/slideLayout9.xml" Id="Rd33da938de66456e" /><Relationship Type="http://schemas.openxmlformats.org/officeDocument/2006/relationships/slideLayout" Target="/ppt/slideLayouts/slideLayout10.xml" Id="R76b5c165d8a542c4" /><Relationship Type="http://schemas.openxmlformats.org/officeDocument/2006/relationships/slideLayout" Target="/ppt/slideLayouts/slideLayout11.xml" Id="Rfa1373d6ec8e43a4"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15a8a1084414255"/>
    <p:sldLayoutId xmlns:r="http://schemas.openxmlformats.org/officeDocument/2006/relationships" id="2147483650" r:id="Re6c254967cab482b"/>
    <p:sldLayoutId xmlns:r="http://schemas.openxmlformats.org/officeDocument/2006/relationships" id="2147483651" r:id="R7e7b0e57af5045fc"/>
    <p:sldLayoutId xmlns:r="http://schemas.openxmlformats.org/officeDocument/2006/relationships" id="2147483652" r:id="R8858e866b3224bd9"/>
    <p:sldLayoutId xmlns:r="http://schemas.openxmlformats.org/officeDocument/2006/relationships" id="2147483653" r:id="R1a7d964ae4f4492a"/>
    <p:sldLayoutId xmlns:r="http://schemas.openxmlformats.org/officeDocument/2006/relationships" id="2147483654" r:id="R1e02316d13014958"/>
    <p:sldLayoutId xmlns:r="http://schemas.openxmlformats.org/officeDocument/2006/relationships" id="2147483655" r:id="R81565b1102d1407e"/>
    <p:sldLayoutId xmlns:r="http://schemas.openxmlformats.org/officeDocument/2006/relationships" id="2147483656" r:id="Re3add1897bd74baf"/>
    <p:sldLayoutId xmlns:r="http://schemas.openxmlformats.org/officeDocument/2006/relationships" id="2147483657" r:id="Rd33da938de66456e"/>
    <p:sldLayoutId xmlns:r="http://schemas.openxmlformats.org/officeDocument/2006/relationships" id="2147483658" r:id="R76b5c165d8a542c4"/>
    <p:sldLayoutId xmlns:r="http://schemas.openxmlformats.org/officeDocument/2006/relationships" id="2147483659" r:id="Rfa1373d6ec8e43a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d63d24c377224613" /><Relationship Type="http://schemas.openxmlformats.org/officeDocument/2006/relationships/notesSlide" Target="/ppt/notesSlides/notesSlide1.xml" Id="Rc519a0266ede41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0b65695d26ea4b8b" /><Relationship Type="http://schemas.openxmlformats.org/officeDocument/2006/relationships/notesSlide" Target="/ppt/notesSlides/notesSlide2.xml" Id="Readc883a6e6942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ba791854e0eb47c0" /><Relationship Type="http://schemas.openxmlformats.org/officeDocument/2006/relationships/notesSlide" Target="/ppt/notesSlides/notesSlide3.xml" Id="Rb9574c88fe8444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726728ce169b45e6" /><Relationship Type="http://schemas.openxmlformats.org/officeDocument/2006/relationships/notesSlide" Target="/ppt/notesSlides/notesSlide4.xml" Id="Ra0209a58acb14e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5aa52f46596c49c6" /><Relationship Type="http://schemas.openxmlformats.org/officeDocument/2006/relationships/notesSlide" Target="/ppt/notesSlides/notesSlide5.xml" Id="R7c180f2ca16f4b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08311faf62ea4ece" /><Relationship Type="http://schemas.openxmlformats.org/officeDocument/2006/relationships/notesSlide" Target="/ppt/notesSlides/notesSlide6.xml" Id="R97885e68709b4b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ff1f72219edc405b" /><Relationship Type="http://schemas.openxmlformats.org/officeDocument/2006/relationships/notesSlide" Target="/ppt/notesSlides/notesSlide7.xml" Id="R950bb251887744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bfc9771aaad948b8" /><Relationship Type="http://schemas.openxmlformats.org/officeDocument/2006/relationships/notesSlide" Target="/ppt/notesSlides/notesSlide8.xml" Id="Re1e539347ffc4e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df02af8cb6f447c1" /><Relationship Type="http://schemas.openxmlformats.org/officeDocument/2006/relationships/notesSlide" Target="/ppt/notesSlides/notesSlide9.xml" Id="Re58346f084d146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be54bcb088dc44bc" /><Relationship Type="http://schemas.openxmlformats.org/officeDocument/2006/relationships/notesSlide" Target="/ppt/notesSlides/notesSlide10.xml" Id="R4f0cfc0b414246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e4efc81fc17a4cbd" /><Relationship Type="http://schemas.openxmlformats.org/officeDocument/2006/relationships/notesSlide" Target="/ppt/notesSlides/notesSlide11.xml" Id="Rbdbc36e3105542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371bbb7925e146e2" /><Relationship Type="http://schemas.openxmlformats.org/officeDocument/2006/relationships/notesSlide" Target="/ppt/notesSlides/notesSlide12.xml" Id="R17c3e2f72e6845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f174d86668644642" /><Relationship Type="http://schemas.openxmlformats.org/officeDocument/2006/relationships/notesSlide" Target="/ppt/notesSlides/notesSlide13.xml" Id="Rd3d6e5c9577549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b48555d6bcf442cc" /><Relationship Type="http://schemas.openxmlformats.org/officeDocument/2006/relationships/notesSlide" Target="/ppt/notesSlides/notesSlide14.xml" Id="Rb17cc9bc27d146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5ced8a33ecd243c2" /><Relationship Type="http://schemas.openxmlformats.org/officeDocument/2006/relationships/notesSlide" Target="/ppt/notesSlides/notesSlide15.xml" Id="R12ae5bdb708644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ec2eeea2715e4fa5" /><Relationship Type="http://schemas.openxmlformats.org/officeDocument/2006/relationships/notesSlide" Target="/ppt/notesSlides/notesSlide16.xml" Id="Rcc10c85b35324e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f3ea8a7b67d340a0" /><Relationship Type="http://schemas.openxmlformats.org/officeDocument/2006/relationships/notesSlide" Target="/ppt/notesSlides/notesSlide17.xml" Id="R16aa615d13e347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6861e32f85844772" /><Relationship Type="http://schemas.openxmlformats.org/officeDocument/2006/relationships/notesSlide" Target="/ppt/notesSlides/notesSlide18.xml" Id="R75dc70f39ec5413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3e21dbde49644346" /><Relationship Type="http://schemas.openxmlformats.org/officeDocument/2006/relationships/notesSlide" Target="/ppt/notesSlides/notesSlide19.xml" Id="R147250a6c0ed4c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bd9336f8c7f84d0d" /><Relationship Type="http://schemas.openxmlformats.org/officeDocument/2006/relationships/notesSlide" Target="/ppt/notesSlides/notesSlide20.xml" Id="Rf2a6df3732744f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2d10e0fc72404b4f" /><Relationship Type="http://schemas.openxmlformats.org/officeDocument/2006/relationships/notesSlide" Target="/ppt/notesSlides/notesSlide21.xml" Id="Rf5f89227881a41c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6a33557422b34ce7" /><Relationship Type="http://schemas.openxmlformats.org/officeDocument/2006/relationships/notesSlide" Target="/ppt/notesSlides/notesSlide22.xml" Id="Rd0897262756640c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cafa422ec96841c8" /><Relationship Type="http://schemas.openxmlformats.org/officeDocument/2006/relationships/notesSlide" Target="/ppt/notesSlides/notesSlide23.xml" Id="R23510bb8268e43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da21393f16084f90" /><Relationship Type="http://schemas.openxmlformats.org/officeDocument/2006/relationships/hyperlink" Target="https://www.ppc.go.jp/personalinfo/legal/guidelines_tsusoku/" TargetMode="External" Id="R7fd4d5efcdbe446a" /><Relationship Type="http://schemas.openxmlformats.org/officeDocument/2006/relationships/hyperlink" Target="https://www.ppc.go.jp/news/careful_information/230602_AI_utilize_alert/" TargetMode="External" Id="R85dbe2a6fa6e4dc9" /><Relationship Type="http://schemas.openxmlformats.org/officeDocument/2006/relationships/hyperlink" Target="https://www.bunka.go.jp/seisaku/chosakuken/aiandcopyright.html" TargetMode="External" Id="R5fae260cd4e34ec5" /><Relationship Type="http://schemas.openxmlformats.org/officeDocument/2006/relationships/hyperlink" Target="https://www.bunka.go.jp/seisaku/bunkashingikai/chosakuken/pdf/94057901_01.pdf" TargetMode="External" Id="R195a76f5e8994434" /><Relationship Type="http://schemas.openxmlformats.org/officeDocument/2006/relationships/notesSlide" Target="/ppt/notesSlides/notesSlide24.xml" Id="Rb4b609b67a814ea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ee1f863e4e8d4eca" /><Relationship Type="http://schemas.openxmlformats.org/officeDocument/2006/relationships/hyperlink" Target="https://laws.e-gov.go.jp/law/345AC0000000048" TargetMode="External" Id="Rccbffa91a1554da9" /><Relationship Type="http://schemas.openxmlformats.org/officeDocument/2006/relationships/hyperlink" Target="https://www.meti.go.jp/press/2024/02/20250218003/20250218003.html" TargetMode="External" Id="R04be16c3352f4e9d" /><Relationship Type="http://schemas.openxmlformats.org/officeDocument/2006/relationships/hyperlink" Target="https://opensource.org/osd" TargetMode="External" Id="R1aad4010368e41b4" /><Relationship Type="http://schemas.openxmlformats.org/officeDocument/2006/relationships/notesSlide" Target="/ppt/notesSlides/notesSlide25.xml" Id="R7b8a1ebbbffa4c3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13&#10;G検定">
            <a:extLst xmlns:a="http://schemas.openxmlformats.org/drawingml/2006/main">
              <a:ext uri="{FF2B5EF4-FFF2-40B4-BE49-F238E27FC236}">
                <a16:creationId xmlns:a16="http://schemas.microsoft.com/office/drawing/2014/main" id="{D195DCEA-CE66-4F1C-A37E-33C2596F984D}"/>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情報技術者（民間資格）13</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AIに関する法律と契約">
            <a:extLst xmlns:a="http://schemas.openxmlformats.org/drawingml/2006/main">
              <a:ext uri="{FF2B5EF4-FFF2-40B4-BE49-F238E27FC236}">
                <a16:creationId xmlns:a16="http://schemas.microsoft.com/office/drawing/2014/main" id="{51E173F4-2333-4B96-8B53-E01BEEAF36E6}"/>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AIに関する法律と契約</a:t>
            </a:r>
          </a:p>
        </p:txBody>
      </p:sp>
      <p:sp>
        <p:nvSpPr>
          <p:cNvPr id="3" name="第13回 ／ 90分 ／ 全25枚">
            <a:extLst xmlns:a="http://schemas.openxmlformats.org/drawingml/2006/main">
              <a:ext uri="{FF2B5EF4-FFF2-40B4-BE49-F238E27FC236}">
                <a16:creationId xmlns:a16="http://schemas.microsoft.com/office/drawing/2014/main" id="{E80588CC-58E5-47AA-9D7A-216A96AF530B}"/>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第13回 ／ 90分 ／ 全25枚</a:t>
            </a:r>
          </a:p>
        </p:txBody>
      </p:sp>
      <p:sp>
        <p:nvSpPr>
          <p:cNvPr id="4" name="参照：個人情報保護委員会">
            <a:extLst xmlns:a="http://schemas.openxmlformats.org/drawingml/2006/main">
              <a:ext uri="{FF2B5EF4-FFF2-40B4-BE49-F238E27FC236}">
                <a16:creationId xmlns:a16="http://schemas.microsoft.com/office/drawing/2014/main" id="{B458D19E-C710-45EC-8340-FE0371D4525D}"/>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参照：個人情報保護委員会</a:t>
            </a:r>
          </a:p>
        </p:txBody>
      </p:sp>
      <p:sp>
        <p:nvSpPr>
          <p:cNvPr id="5" name="第13回　1">
            <a:extLst xmlns:a="http://schemas.openxmlformats.org/drawingml/2006/main">
              <a:ext uri="{FF2B5EF4-FFF2-40B4-BE49-F238E27FC236}">
                <a16:creationId xmlns:a16="http://schemas.microsoft.com/office/drawing/2014/main" id="{09A35B40-AEE8-4F6E-8B20-C3A3C3B8AE5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a:t>
            </a:r>
          </a:p>
        </p:txBody>
      </p:sp>
    </p:spTree>
    <p:extLst>
      <p:ext uri="{BB962C8B-B14F-4D97-AF65-F5344CB8AC3E}">
        <p14:creationId xmlns:p14="http://schemas.microsoft.com/office/powerpoint/2010/main" val="10513195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20EF62A0-990F-42B3-8241-A6B2A30BC6D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2D11E2A8-E87D-480A-9E6F-4C8CFAD1D38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個人情報と著作権の，基本的な考え方を説明する．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収集・学習・生成物の利用を分けて考える．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規約・ライセンス・契約で確認する内容を挙げる．</a:t>
            </a:r>
          </a:p>
        </p:txBody>
      </p:sp>
      <p:sp>
        <p:nvSpPr>
          <p:cNvPr id="3" name="図・設問：本教材の作例">
            <a:extLst xmlns:a="http://schemas.openxmlformats.org/drawingml/2006/main">
              <a:ext uri="{FF2B5EF4-FFF2-40B4-BE49-F238E27FC236}">
                <a16:creationId xmlns:a16="http://schemas.microsoft.com/office/drawing/2014/main" id="{CE743A47-6181-46C3-BABE-493B5F450D5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13回　2">
            <a:extLst xmlns:a="http://schemas.openxmlformats.org/drawingml/2006/main">
              <a:ext uri="{FF2B5EF4-FFF2-40B4-BE49-F238E27FC236}">
                <a16:creationId xmlns:a16="http://schemas.microsoft.com/office/drawing/2014/main" id="{5CD72BB4-D58C-4468-A328-459640E9E7E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2</a:t>
            </a:r>
          </a:p>
        </p:txBody>
      </p:sp>
    </p:spTree>
    <p:extLst>
      <p:ext uri="{BB962C8B-B14F-4D97-AF65-F5344CB8AC3E}">
        <p14:creationId xmlns:p14="http://schemas.microsoft.com/office/powerpoint/2010/main" val="17957374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技術的にできることと利用条件">
            <a:extLst xmlns:a="http://schemas.openxmlformats.org/drawingml/2006/main">
              <a:ext uri="{FF2B5EF4-FFF2-40B4-BE49-F238E27FC236}">
                <a16:creationId xmlns:a16="http://schemas.microsoft.com/office/drawing/2014/main" id="{2D06778F-EB24-4AF9-A67A-3D11DA79577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技術的にできることと利用条件</a:t>
            </a:r>
          </a:p>
        </p:txBody>
      </p:sp>
      <p:sp>
        <p:nvSpPr>
          <p:cNvPr id="2" name="">
            <a:extLst xmlns:a="http://schemas.openxmlformats.org/drawingml/2006/main">
              <a:ext uri="{FF2B5EF4-FFF2-40B4-BE49-F238E27FC236}">
                <a16:creationId xmlns:a16="http://schemas.microsoft.com/office/drawing/2014/main" id="{3A0ADD6F-32CF-42BF-B2D3-67C10F13614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データを読めても，利用する権限があるかは別に確認する．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モデルが出力できても，公開の条件を確かめる．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法令，契約，組織のルールを合わせて考える．</a:t>
            </a:r>
          </a:p>
        </p:txBody>
      </p:sp>
      <p:sp>
        <p:nvSpPr>
          <p:cNvPr id="3" name="参照：経済産業省／文化庁">
            <a:extLst xmlns:a="http://schemas.openxmlformats.org/drawingml/2006/main">
              <a:ext uri="{FF2B5EF4-FFF2-40B4-BE49-F238E27FC236}">
                <a16:creationId xmlns:a16="http://schemas.microsoft.com/office/drawing/2014/main" id="{05A54A21-02EB-4294-AA1D-8D56B41CBF4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参照：経済産業省／文化庁</a:t>
            </a:r>
          </a:p>
        </p:txBody>
      </p:sp>
      <p:sp>
        <p:nvSpPr>
          <p:cNvPr id="4" name="第13回　3">
            <a:extLst xmlns:a="http://schemas.openxmlformats.org/drawingml/2006/main">
              <a:ext uri="{FF2B5EF4-FFF2-40B4-BE49-F238E27FC236}">
                <a16:creationId xmlns:a16="http://schemas.microsoft.com/office/drawing/2014/main" id="{000C7A86-A0C1-4163-B577-02C9CE9B87F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3</a:t>
            </a:r>
          </a:p>
        </p:txBody>
      </p:sp>
    </p:spTree>
    <p:extLst>
      <p:ext uri="{BB962C8B-B14F-4D97-AF65-F5344CB8AC3E}">
        <p14:creationId xmlns:p14="http://schemas.microsoft.com/office/powerpoint/2010/main" val="11924915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段階ごとに確認する">
            <a:extLst xmlns:a="http://schemas.openxmlformats.org/drawingml/2006/main">
              <a:ext uri="{FF2B5EF4-FFF2-40B4-BE49-F238E27FC236}">
                <a16:creationId xmlns:a16="http://schemas.microsoft.com/office/drawing/2014/main" id="{D41FD7EF-CD4B-4828-839C-A09D3C2721C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段階ごとに確認する</a:t>
            </a:r>
          </a:p>
        </p:txBody>
      </p:sp>
      <p:sp>
        <p:nvSpPr>
          <p:cNvPr id="2" name="データの取得&#10;利用条件を確認">
            <a:extLst xmlns:a="http://schemas.openxmlformats.org/drawingml/2006/main">
              <a:ext uri="{FF2B5EF4-FFF2-40B4-BE49-F238E27FC236}">
                <a16:creationId xmlns:a16="http://schemas.microsoft.com/office/drawing/2014/main" id="{8D1E2A1C-4E48-4795-A2E7-C3D4B5D5D13E}"/>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データの取得</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利用条件を確認</a:t>
            </a:r>
          </a:p>
        </p:txBody>
      </p:sp>
      <p:sp>
        <p:nvSpPr>
          <p:cNvPr id="3" name="学習・AI入力&#10;取扱いを確認">
            <a:extLst xmlns:a="http://schemas.openxmlformats.org/drawingml/2006/main">
              <a:ext uri="{FF2B5EF4-FFF2-40B4-BE49-F238E27FC236}">
                <a16:creationId xmlns:a16="http://schemas.microsoft.com/office/drawing/2014/main" id="{D140CDFC-D27E-46B6-9782-760D9C2C916F}"/>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学習・AI入力</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取扱いを確認</a:t>
            </a:r>
          </a:p>
        </p:txBody>
      </p:sp>
      <p:sp>
        <p:nvSpPr>
          <p:cNvPr id="4" name="生成物の利用&#10;権利と規約を確認">
            <a:extLst xmlns:a="http://schemas.openxmlformats.org/drawingml/2006/main">
              <a:ext uri="{FF2B5EF4-FFF2-40B4-BE49-F238E27FC236}">
                <a16:creationId xmlns:a16="http://schemas.microsoft.com/office/drawing/2014/main" id="{67A4C130-642E-4D62-B876-E889E88E72DE}"/>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生成物の利用</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権利と規約を確認</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文化庁／経済産業省">
            <a:extLst xmlns:a="http://schemas.openxmlformats.org/drawingml/2006/main">
              <a:ext uri="{FF2B5EF4-FFF2-40B4-BE49-F238E27FC236}">
                <a16:creationId xmlns:a16="http://schemas.microsoft.com/office/drawing/2014/main" id="{561DECC0-1627-40C3-91BF-2A9C11F10A6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参照：文化庁／経済産業省</a:t>
            </a:r>
          </a:p>
        </p:txBody>
      </p:sp>
      <p:sp>
        <p:nvSpPr>
          <p:cNvPr id="8" name="第13回　4">
            <a:extLst xmlns:a="http://schemas.openxmlformats.org/drawingml/2006/main">
              <a:ext uri="{FF2B5EF4-FFF2-40B4-BE49-F238E27FC236}">
                <a16:creationId xmlns:a16="http://schemas.microsoft.com/office/drawing/2014/main" id="{602D7007-8049-4549-A1B7-528590BF064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4</a:t>
            </a:r>
          </a:p>
        </p:txBody>
      </p:sp>
    </p:spTree>
    <p:extLst>
      <p:ext uri="{BB962C8B-B14F-4D97-AF65-F5344CB8AC3E}">
        <p14:creationId xmlns:p14="http://schemas.microsoft.com/office/powerpoint/2010/main" val="15416696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個人情報の考え方">
            <a:extLst xmlns:a="http://schemas.openxmlformats.org/drawingml/2006/main">
              <a:ext uri="{FF2B5EF4-FFF2-40B4-BE49-F238E27FC236}">
                <a16:creationId xmlns:a16="http://schemas.microsoft.com/office/drawing/2014/main" id="{534D3ECA-899E-45B8-B99C-0D8CD68B507B}"/>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個人情報の考え方</a:t>
            </a:r>
          </a:p>
        </p:txBody>
      </p:sp>
      <p:sp>
        <p:nvSpPr>
          <p:cNvPr id="2" name="">
            <a:extLst xmlns:a="http://schemas.openxmlformats.org/drawingml/2006/main">
              <a:ext uri="{FF2B5EF4-FFF2-40B4-BE49-F238E27FC236}">
                <a16:creationId xmlns:a16="http://schemas.microsoft.com/office/drawing/2014/main" id="{FA31A23B-472E-4491-B675-D0BF0B00B955}"/>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生存する個人について，特定の人を識別できる情報．</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他の情報と容易に照合し，識別できるものも含む．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公開された情報や顔画像なども，該当する場合がある．</a:t>
            </a:r>
          </a:p>
        </p:txBody>
      </p:sp>
      <p:sp>
        <p:nvSpPr>
          <p:cNvPr id="3" name="参照：個人情報保護委員会">
            <a:extLst xmlns:a="http://schemas.openxmlformats.org/drawingml/2006/main">
              <a:ext uri="{FF2B5EF4-FFF2-40B4-BE49-F238E27FC236}">
                <a16:creationId xmlns:a16="http://schemas.microsoft.com/office/drawing/2014/main" id="{47853E85-CEEF-4488-9293-B2F962128D14}"/>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参照：個人情報保護委員会</a:t>
            </a:r>
          </a:p>
        </p:txBody>
      </p:sp>
      <p:sp>
        <p:nvSpPr>
          <p:cNvPr id="4" name="第13回　5">
            <a:extLst xmlns:a="http://schemas.openxmlformats.org/drawingml/2006/main">
              <a:ext uri="{FF2B5EF4-FFF2-40B4-BE49-F238E27FC236}">
                <a16:creationId xmlns:a16="http://schemas.microsoft.com/office/drawing/2014/main" id="{B70301E2-4795-4F6C-AB29-434430AF20E5}"/>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5</a:t>
            </a:r>
          </a:p>
        </p:txBody>
      </p:sp>
    </p:spTree>
    <p:extLst>
      <p:ext uri="{BB962C8B-B14F-4D97-AF65-F5344CB8AC3E}">
        <p14:creationId xmlns:p14="http://schemas.microsoft.com/office/powerpoint/2010/main" val="4112947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関連する用語の大まかな違い">
            <a:extLst xmlns:a="http://schemas.openxmlformats.org/drawingml/2006/main">
              <a:ext uri="{FF2B5EF4-FFF2-40B4-BE49-F238E27FC236}">
                <a16:creationId xmlns:a16="http://schemas.microsoft.com/office/drawing/2014/main" id="{4682A610-C2FE-456E-86A0-16F7CA853F0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関連する用語の大まかな違い</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用語</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考え方</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個人情報</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特定の生存する人を識別できる情報など</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個人データ</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個人情報データベース等を構成する情報</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要配慮個人情報</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病歴など，特に配慮を要する一定の情報</a:t>
                      </a:r>
                    </a:p>
                  </a:txBody>
                  <a:tcPr marL="76200" marR="76200" marT="47625" marB="47625" anchor="ctr">
                    <a:solidFill>
                      <a:srgbClr val="FFFFFF"/>
                    </a:solidFill>
                  </a:tcPr>
                </a:tc>
              </a:tr>
            </a:tbl>
          </a:graphicData>
        </a:graphic>
      </p:graphicFrame>
      <p:sp>
        <p:nvSpPr>
          <p:cNvPr id="3" name="同じ「データ」でも，扱いの条件は同じではない．">
            <a:extLst xmlns:a="http://schemas.openxmlformats.org/drawingml/2006/main">
              <a:ext uri="{FF2B5EF4-FFF2-40B4-BE49-F238E27FC236}">
                <a16:creationId xmlns:a16="http://schemas.microsoft.com/office/drawing/2014/main" id="{7A880502-5D4E-4D88-A390-492F69E2FE7C}"/>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同じ「データ」でも，扱いの条件は同じではない．</a:t>
            </a:r>
          </a:p>
        </p:txBody>
      </p:sp>
      <p:sp>
        <p:nvSpPr>
          <p:cNvPr id="4" name="参照：個人情報保護委員会">
            <a:extLst xmlns:a="http://schemas.openxmlformats.org/drawingml/2006/main">
              <a:ext uri="{FF2B5EF4-FFF2-40B4-BE49-F238E27FC236}">
                <a16:creationId xmlns:a16="http://schemas.microsoft.com/office/drawing/2014/main" id="{1AC495B8-8DC9-4E9B-9FC1-1C6B970C577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参照：個人情報保護委員会</a:t>
            </a:r>
          </a:p>
        </p:txBody>
      </p:sp>
      <p:sp>
        <p:nvSpPr>
          <p:cNvPr id="5" name="第13回　6">
            <a:extLst xmlns:a="http://schemas.openxmlformats.org/drawingml/2006/main">
              <a:ext uri="{FF2B5EF4-FFF2-40B4-BE49-F238E27FC236}">
                <a16:creationId xmlns:a16="http://schemas.microsoft.com/office/drawing/2014/main" id="{B72010AF-FAAF-4C30-A9F8-71B6480610C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6</a:t>
            </a:r>
          </a:p>
        </p:txBody>
      </p:sp>
    </p:spTree>
    <p:extLst>
      <p:ext uri="{BB962C8B-B14F-4D97-AF65-F5344CB8AC3E}">
        <p14:creationId xmlns:p14="http://schemas.microsoft.com/office/powerpoint/2010/main" val="18478580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利用目的と安全な取扱い">
            <a:extLst xmlns:a="http://schemas.openxmlformats.org/drawingml/2006/main">
              <a:ext uri="{FF2B5EF4-FFF2-40B4-BE49-F238E27FC236}">
                <a16:creationId xmlns:a16="http://schemas.microsoft.com/office/drawing/2014/main" id="{190336E0-DA0A-45CE-9B00-0AE7370FB67F}"/>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利用目的と安全な取扱い</a:t>
            </a:r>
          </a:p>
        </p:txBody>
      </p:sp>
      <p:sp>
        <p:nvSpPr>
          <p:cNvPr id="2" name="">
            <a:extLst xmlns:a="http://schemas.openxmlformats.org/drawingml/2006/main">
              <a:ext uri="{FF2B5EF4-FFF2-40B4-BE49-F238E27FC236}">
                <a16:creationId xmlns:a16="http://schemas.microsoft.com/office/drawing/2014/main" id="{5BDDB761-FC2D-4893-B2EA-071056CDBACA}"/>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利用目的を具体化し，通知・公表などを行う．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原則として，目的達成に必要な範囲で利用する．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アクセス権や委託先の管理などを行う．</a:t>
            </a:r>
          </a:p>
        </p:txBody>
      </p:sp>
      <p:sp>
        <p:nvSpPr>
          <p:cNvPr id="3" name="参照：個人情報保護委員会">
            <a:extLst xmlns:a="http://schemas.openxmlformats.org/drawingml/2006/main">
              <a:ext uri="{FF2B5EF4-FFF2-40B4-BE49-F238E27FC236}">
                <a16:creationId xmlns:a16="http://schemas.microsoft.com/office/drawing/2014/main" id="{3D8E3F14-8D15-411E-B8A8-A37FBC7BF30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参照：個人情報保護委員会</a:t>
            </a:r>
          </a:p>
        </p:txBody>
      </p:sp>
      <p:sp>
        <p:nvSpPr>
          <p:cNvPr id="4" name="第13回　7">
            <a:extLst xmlns:a="http://schemas.openxmlformats.org/drawingml/2006/main">
              <a:ext uri="{FF2B5EF4-FFF2-40B4-BE49-F238E27FC236}">
                <a16:creationId xmlns:a16="http://schemas.microsoft.com/office/drawing/2014/main" id="{BA59105C-66E9-407B-9846-B273877CB37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7</a:t>
            </a:r>
          </a:p>
        </p:txBody>
      </p:sp>
    </p:spTree>
    <p:extLst>
      <p:ext uri="{BB962C8B-B14F-4D97-AF65-F5344CB8AC3E}">
        <p14:creationId xmlns:p14="http://schemas.microsoft.com/office/powerpoint/2010/main" val="15780388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生成AIサービスへの個人情報入力">
            <a:extLst xmlns:a="http://schemas.openxmlformats.org/drawingml/2006/main">
              <a:ext uri="{FF2B5EF4-FFF2-40B4-BE49-F238E27FC236}">
                <a16:creationId xmlns:a16="http://schemas.microsoft.com/office/drawing/2014/main" id="{8470F47F-1BC7-480C-9BBD-EA3BF613C27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生成AIサービスへの個人情報入力</a:t>
            </a:r>
          </a:p>
        </p:txBody>
      </p:sp>
      <p:sp>
        <p:nvSpPr>
          <p:cNvPr id="2" name="">
            <a:extLst xmlns:a="http://schemas.openxmlformats.org/drawingml/2006/main">
              <a:ext uri="{FF2B5EF4-FFF2-40B4-BE49-F238E27FC236}">
                <a16:creationId xmlns:a16="http://schemas.microsoft.com/office/drawing/2014/main" id="{DFB570FF-0777-48CB-A052-0116E91FDC2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入力が，定めた利用目的に必要かを確認する．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保存期間や，学習への利用の有無を確かめる．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外部への提供に当たるか，必要な手続きを調べる．</a:t>
            </a:r>
          </a:p>
        </p:txBody>
      </p:sp>
      <p:sp>
        <p:nvSpPr>
          <p:cNvPr id="3" name="参照：個人情報保護委員会／経済産業省">
            <a:extLst xmlns:a="http://schemas.openxmlformats.org/drawingml/2006/main">
              <a:ext uri="{FF2B5EF4-FFF2-40B4-BE49-F238E27FC236}">
                <a16:creationId xmlns:a16="http://schemas.microsoft.com/office/drawing/2014/main" id="{7AA065B2-146F-43F9-8D05-95BD083A863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参照：個人情報保護委員会／経済産業省</a:t>
            </a:r>
          </a:p>
        </p:txBody>
      </p:sp>
      <p:sp>
        <p:nvSpPr>
          <p:cNvPr id="4" name="第13回　8">
            <a:extLst xmlns:a="http://schemas.openxmlformats.org/drawingml/2006/main">
              <a:ext uri="{FF2B5EF4-FFF2-40B4-BE49-F238E27FC236}">
                <a16:creationId xmlns:a16="http://schemas.microsoft.com/office/drawing/2014/main" id="{9EE424FF-4724-4E06-A7CC-F63D3CA8F6F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8</a:t>
            </a:r>
          </a:p>
        </p:txBody>
      </p:sp>
    </p:spTree>
    <p:extLst>
      <p:ext uri="{BB962C8B-B14F-4D97-AF65-F5344CB8AC3E}">
        <p14:creationId xmlns:p14="http://schemas.microsoft.com/office/powerpoint/2010/main" val="14296718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1：名前を消せば十分か">
            <a:extLst xmlns:a="http://schemas.openxmlformats.org/drawingml/2006/main">
              <a:ext uri="{FF2B5EF4-FFF2-40B4-BE49-F238E27FC236}">
                <a16:creationId xmlns:a16="http://schemas.microsoft.com/office/drawing/2014/main" id="{DEE427D4-32FD-41E2-90EC-30C9CD5809DA}"/>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演習1：名前を消せば十分か</a:t>
            </a:r>
          </a:p>
        </p:txBody>
      </p:sp>
      <p:sp>
        <p:nvSpPr>
          <p:cNvPr id="2" name="">
            <a:extLst xmlns:a="http://schemas.openxmlformats.org/drawingml/2006/main">
              <a:ext uri="{FF2B5EF4-FFF2-40B4-BE49-F238E27FC236}">
                <a16:creationId xmlns:a16="http://schemas.microsoft.com/office/drawing/2014/main" id="{F8B37F66-2288-4339-8517-04152CFFC40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学生の相談記録を，外部AIで要約したい．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氏名を消したが，学生番号と相談内容は残っている．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個人情報か，入力してよいかを考える．</a:t>
            </a:r>
          </a:p>
        </p:txBody>
      </p:sp>
      <p:sp>
        <p:nvSpPr>
          <p:cNvPr id="3" name="匿名のように見えることだけで判断しない．">
            <a:extLst xmlns:a="http://schemas.openxmlformats.org/drawingml/2006/main">
              <a:ext uri="{FF2B5EF4-FFF2-40B4-BE49-F238E27FC236}">
                <a16:creationId xmlns:a16="http://schemas.microsoft.com/office/drawing/2014/main" id="{F0AE34A1-BAEA-4BD3-ACB7-FA147CC9E55C}"/>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匿名のように見えることだけで判断しない．</a:t>
            </a:r>
          </a:p>
        </p:txBody>
      </p:sp>
      <p:sp>
        <p:nvSpPr>
          <p:cNvPr id="4" name="図・設問：本教材の作例">
            <a:extLst xmlns:a="http://schemas.openxmlformats.org/drawingml/2006/main">
              <a:ext uri="{FF2B5EF4-FFF2-40B4-BE49-F238E27FC236}">
                <a16:creationId xmlns:a16="http://schemas.microsoft.com/office/drawing/2014/main" id="{D42FF90A-80D0-4674-8A11-BA22060A1FE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3回　9">
            <a:extLst xmlns:a="http://schemas.openxmlformats.org/drawingml/2006/main">
              <a:ext uri="{FF2B5EF4-FFF2-40B4-BE49-F238E27FC236}">
                <a16:creationId xmlns:a16="http://schemas.microsoft.com/office/drawing/2014/main" id="{B4D66438-81F7-4208-897F-1CE48126F7C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9</a:t>
            </a:r>
          </a:p>
        </p:txBody>
      </p:sp>
    </p:spTree>
    <p:extLst>
      <p:ext uri="{BB962C8B-B14F-4D97-AF65-F5344CB8AC3E}">
        <p14:creationId xmlns:p14="http://schemas.microsoft.com/office/powerpoint/2010/main" val="16376734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1：確認すること">
            <a:extLst xmlns:a="http://schemas.openxmlformats.org/drawingml/2006/main">
              <a:ext uri="{FF2B5EF4-FFF2-40B4-BE49-F238E27FC236}">
                <a16:creationId xmlns:a16="http://schemas.microsoft.com/office/drawing/2014/main" id="{8B835543-7F38-4555-B895-A350AF1F137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演習1：確認すること</a:t>
            </a:r>
          </a:p>
        </p:txBody>
      </p:sp>
      <p:sp>
        <p:nvSpPr>
          <p:cNvPr id="2" name="">
            <a:extLst xmlns:a="http://schemas.openxmlformats.org/drawingml/2006/main">
              <a:ext uri="{FF2B5EF4-FFF2-40B4-BE49-F238E27FC236}">
                <a16:creationId xmlns:a16="http://schemas.microsoft.com/office/drawing/2014/main" id="{0B3CB386-A456-46FE-971C-07907DD1482A}"/>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学生番号から容易に本人を識別できるなら，個人情報に当たる．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目的・外部提供・学習や保存の条件を確かめる．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不要な情報を減らし，承認された取扱いで利用する．</a:t>
            </a:r>
          </a:p>
        </p:txBody>
      </p:sp>
      <p:sp>
        <p:nvSpPr>
          <p:cNvPr id="3" name="参照：個人情報保護委員会">
            <a:extLst xmlns:a="http://schemas.openxmlformats.org/drawingml/2006/main">
              <a:ext uri="{FF2B5EF4-FFF2-40B4-BE49-F238E27FC236}">
                <a16:creationId xmlns:a16="http://schemas.microsoft.com/office/drawing/2014/main" id="{60191FDD-2846-474A-8D3A-896AA65A947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参照：個人情報保護委員会</a:t>
            </a:r>
          </a:p>
        </p:txBody>
      </p:sp>
      <p:sp>
        <p:nvSpPr>
          <p:cNvPr id="4" name="第13回　10">
            <a:extLst xmlns:a="http://schemas.openxmlformats.org/drawingml/2006/main">
              <a:ext uri="{FF2B5EF4-FFF2-40B4-BE49-F238E27FC236}">
                <a16:creationId xmlns:a16="http://schemas.microsoft.com/office/drawing/2014/main" id="{1CAF463C-CA6C-4E6C-8881-E69E17E10DC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10</a:t>
            </a:r>
          </a:p>
        </p:txBody>
      </p:sp>
    </p:spTree>
    <p:extLst>
      <p:ext uri="{BB962C8B-B14F-4D97-AF65-F5344CB8AC3E}">
        <p14:creationId xmlns:p14="http://schemas.microsoft.com/office/powerpoint/2010/main" val="160753736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著作権の基本的な考え方">
            <a:extLst xmlns:a="http://schemas.openxmlformats.org/drawingml/2006/main">
              <a:ext uri="{FF2B5EF4-FFF2-40B4-BE49-F238E27FC236}">
                <a16:creationId xmlns:a16="http://schemas.microsoft.com/office/drawing/2014/main" id="{CDDE089D-9003-4192-A03B-BDE197ABBFE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著作権の基本的な考え方</a:t>
            </a:r>
          </a:p>
        </p:txBody>
      </p:sp>
      <p:sp>
        <p:nvSpPr>
          <p:cNvPr id="2" name="">
            <a:extLst xmlns:a="http://schemas.openxmlformats.org/drawingml/2006/main">
              <a:ext uri="{FF2B5EF4-FFF2-40B4-BE49-F238E27FC236}">
                <a16:creationId xmlns:a16="http://schemas.microsoft.com/office/drawing/2014/main" id="{01D4BC7C-9072-41B2-9A12-A2713BCF9CE6}"/>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文章・画像などの創作的な表現を保護する．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アイデアそのものと，具体的な表現を区別する．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利用には，許諾や権利制限規定の条件を確認する．</a:t>
            </a:r>
          </a:p>
        </p:txBody>
      </p:sp>
      <p:sp>
        <p:nvSpPr>
          <p:cNvPr id="3" name="参照：e-Gov／文化庁">
            <a:extLst xmlns:a="http://schemas.openxmlformats.org/drawingml/2006/main">
              <a:ext uri="{FF2B5EF4-FFF2-40B4-BE49-F238E27FC236}">
                <a16:creationId xmlns:a16="http://schemas.microsoft.com/office/drawing/2014/main" id="{9C386EE1-BEBB-4362-B90E-5804934524F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参照：e-Gov／文化庁</a:t>
            </a:r>
          </a:p>
        </p:txBody>
      </p:sp>
      <p:sp>
        <p:nvSpPr>
          <p:cNvPr id="4" name="第13回　11">
            <a:extLst xmlns:a="http://schemas.openxmlformats.org/drawingml/2006/main">
              <a:ext uri="{FF2B5EF4-FFF2-40B4-BE49-F238E27FC236}">
                <a16:creationId xmlns:a16="http://schemas.microsoft.com/office/drawing/2014/main" id="{D5F68CD1-3A9C-4947-B345-7B2DFE9F81F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11</a:t>
            </a:r>
          </a:p>
        </p:txBody>
      </p:sp>
    </p:spTree>
    <p:extLst>
      <p:ext uri="{BB962C8B-B14F-4D97-AF65-F5344CB8AC3E}">
        <p14:creationId xmlns:p14="http://schemas.microsoft.com/office/powerpoint/2010/main" val="20896526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学習段階と利用段階を分ける">
            <a:extLst xmlns:a="http://schemas.openxmlformats.org/drawingml/2006/main">
              <a:ext uri="{FF2B5EF4-FFF2-40B4-BE49-F238E27FC236}">
                <a16:creationId xmlns:a16="http://schemas.microsoft.com/office/drawing/2014/main" id="{A91F4BC4-B90B-4122-A38E-C0056402701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学習段階と利用段階を分ける</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段階</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確認することの例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開発・学習</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収集・複製の目的と，許諾や例外の条件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生成・公開</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既存の表現との関係と，公開の条件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自分の生成物の保護</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人の創作的な関与があるか</a:t>
                      </a:r>
                    </a:p>
                  </a:txBody>
                  <a:tcPr marL="76200" marR="76200" marT="47625" marB="47625" anchor="ctr">
                    <a:solidFill>
                      <a:srgbClr val="FFFFFF"/>
                    </a:solidFill>
                  </a:tcPr>
                </a:tc>
              </a:tr>
            </a:tbl>
          </a:graphicData>
        </a:graphic>
      </p:graphicFrame>
      <p:sp>
        <p:nvSpPr>
          <p:cNvPr id="3" name="参照：文化庁">
            <a:extLst xmlns:a="http://schemas.openxmlformats.org/drawingml/2006/main">
              <a:ext uri="{FF2B5EF4-FFF2-40B4-BE49-F238E27FC236}">
                <a16:creationId xmlns:a16="http://schemas.microsoft.com/office/drawing/2014/main" id="{617BEAF2-503B-44D1-9623-AA368BEEFC6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参照：文化庁</a:t>
            </a:r>
          </a:p>
        </p:txBody>
      </p:sp>
      <p:sp>
        <p:nvSpPr>
          <p:cNvPr id="4" name="第13回　12">
            <a:extLst xmlns:a="http://schemas.openxmlformats.org/drawingml/2006/main">
              <a:ext uri="{FF2B5EF4-FFF2-40B4-BE49-F238E27FC236}">
                <a16:creationId xmlns:a16="http://schemas.microsoft.com/office/drawing/2014/main" id="{F1AE6C38-1AFA-4098-938D-385A980FC6B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12</a:t>
            </a:r>
          </a:p>
        </p:txBody>
      </p:sp>
    </p:spTree>
    <p:extLst>
      <p:ext uri="{BB962C8B-B14F-4D97-AF65-F5344CB8AC3E}">
        <p14:creationId xmlns:p14="http://schemas.microsoft.com/office/powerpoint/2010/main" val="2766447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情報解析と著作権法第30条の4">
            <a:extLst xmlns:a="http://schemas.openxmlformats.org/drawingml/2006/main">
              <a:ext uri="{FF2B5EF4-FFF2-40B4-BE49-F238E27FC236}">
                <a16:creationId xmlns:a16="http://schemas.microsoft.com/office/drawing/2014/main" id="{7C35F7D9-B60C-4BA1-9B12-C168B274F6E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情報解析と著作権法第30条の4</a:t>
            </a:r>
          </a:p>
        </p:txBody>
      </p:sp>
      <p:sp>
        <p:nvSpPr>
          <p:cNvPr id="2" name="">
            <a:extLst xmlns:a="http://schemas.openxmlformats.org/drawingml/2006/main">
              <a:ext uri="{FF2B5EF4-FFF2-40B4-BE49-F238E27FC236}">
                <a16:creationId xmlns:a16="http://schemas.microsoft.com/office/drawing/2014/main" id="{7689C271-6C12-4DFC-9D00-36ADA27CCA74}"/>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表現を享受する目的のない利用などが対象となる．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必要と認められる限度での利用という条件がある．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権利者の利益を不当に害する場合などは適用されない．</a:t>
            </a:r>
          </a:p>
        </p:txBody>
      </p:sp>
      <p:sp>
        <p:nvSpPr>
          <p:cNvPr id="3" name="参照：文化庁／e-Gov">
            <a:extLst xmlns:a="http://schemas.openxmlformats.org/drawingml/2006/main">
              <a:ext uri="{FF2B5EF4-FFF2-40B4-BE49-F238E27FC236}">
                <a16:creationId xmlns:a16="http://schemas.microsoft.com/office/drawing/2014/main" id="{46C59FAE-A79A-409E-83F3-B2F7E709874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参照：文化庁／e-Gov</a:t>
            </a:r>
          </a:p>
        </p:txBody>
      </p:sp>
      <p:sp>
        <p:nvSpPr>
          <p:cNvPr id="4" name="第13回　13">
            <a:extLst xmlns:a="http://schemas.openxmlformats.org/drawingml/2006/main">
              <a:ext uri="{FF2B5EF4-FFF2-40B4-BE49-F238E27FC236}">
                <a16:creationId xmlns:a16="http://schemas.microsoft.com/office/drawing/2014/main" id="{5F832AFC-5B35-4153-91B9-0597BBF35CD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13</a:t>
            </a:r>
          </a:p>
        </p:txBody>
      </p:sp>
    </p:spTree>
    <p:extLst>
      <p:ext uri="{BB962C8B-B14F-4D97-AF65-F5344CB8AC3E}">
        <p14:creationId xmlns:p14="http://schemas.microsoft.com/office/powerpoint/2010/main" val="20339709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生成物と既存の著作物の関係">
            <a:extLst xmlns:a="http://schemas.openxmlformats.org/drawingml/2006/main">
              <a:ext uri="{FF2B5EF4-FFF2-40B4-BE49-F238E27FC236}">
                <a16:creationId xmlns:a16="http://schemas.microsoft.com/office/drawing/2014/main" id="{E9EEA210-3173-46E0-9D76-6AF7AAF8C0B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生成物と既存の著作物の関係</a:t>
            </a:r>
          </a:p>
        </p:txBody>
      </p:sp>
      <p:sp>
        <p:nvSpPr>
          <p:cNvPr id="2" name="">
            <a:extLst xmlns:a="http://schemas.openxmlformats.org/drawingml/2006/main">
              <a:ext uri="{FF2B5EF4-FFF2-40B4-BE49-F238E27FC236}">
                <a16:creationId xmlns:a16="http://schemas.microsoft.com/office/drawing/2014/main" id="{AB10ADF4-BD54-4AA0-9AC5-70C5A1FA274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創作的な表現が共通するかという「類似性」を考える．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既存の著作物に基づくかという「依拠性」を考える．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許諾や権利制限規定の条件も，利用方法ごとに確認する．</a:t>
            </a:r>
          </a:p>
        </p:txBody>
      </p:sp>
      <p:sp>
        <p:nvSpPr>
          <p:cNvPr id="3" name="参照：文化庁">
            <a:extLst xmlns:a="http://schemas.openxmlformats.org/drawingml/2006/main">
              <a:ext uri="{FF2B5EF4-FFF2-40B4-BE49-F238E27FC236}">
                <a16:creationId xmlns:a16="http://schemas.microsoft.com/office/drawing/2014/main" id="{1A89D0A1-CC09-4E3E-8D5E-B72B4B559B4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参照：文化庁</a:t>
            </a:r>
          </a:p>
        </p:txBody>
      </p:sp>
      <p:sp>
        <p:nvSpPr>
          <p:cNvPr id="4" name="第13回　14">
            <a:extLst xmlns:a="http://schemas.openxmlformats.org/drawingml/2006/main">
              <a:ext uri="{FF2B5EF4-FFF2-40B4-BE49-F238E27FC236}">
                <a16:creationId xmlns:a16="http://schemas.microsoft.com/office/drawing/2014/main" id="{DC7AB58F-54FC-4792-A388-F4C3EC85D45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14</a:t>
            </a:r>
          </a:p>
        </p:txBody>
      </p:sp>
    </p:spTree>
    <p:extLst>
      <p:ext uri="{BB962C8B-B14F-4D97-AF65-F5344CB8AC3E}">
        <p14:creationId xmlns:p14="http://schemas.microsoft.com/office/powerpoint/2010/main" val="16316423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AI生成物に著作権があるか">
            <a:extLst xmlns:a="http://schemas.openxmlformats.org/drawingml/2006/main">
              <a:ext uri="{FF2B5EF4-FFF2-40B4-BE49-F238E27FC236}">
                <a16:creationId xmlns:a16="http://schemas.microsoft.com/office/drawing/2014/main" id="{9A5E1E61-56C3-4397-BCB8-141DD31463B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AI生成物に著作権があるか</a:t>
            </a:r>
          </a:p>
        </p:txBody>
      </p:sp>
      <p:sp>
        <p:nvSpPr>
          <p:cNvPr id="2" name="">
            <a:extLst xmlns:a="http://schemas.openxmlformats.org/drawingml/2006/main">
              <a:ext uri="{FF2B5EF4-FFF2-40B4-BE49-F238E27FC236}">
                <a16:creationId xmlns:a16="http://schemas.microsoft.com/office/drawing/2014/main" id="{0AB77611-2D75-4224-A1DA-CF9E97DB579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人の創作意図と，創作的な寄与を考える．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AIを道具として人が創作したものは，著作物になり得る．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指示の長さや試行回数だけで，一律に決まらない．</a:t>
            </a:r>
          </a:p>
        </p:txBody>
      </p:sp>
      <p:sp>
        <p:nvSpPr>
          <p:cNvPr id="3" name="参照：文化庁">
            <a:extLst xmlns:a="http://schemas.openxmlformats.org/drawingml/2006/main">
              <a:ext uri="{FF2B5EF4-FFF2-40B4-BE49-F238E27FC236}">
                <a16:creationId xmlns:a16="http://schemas.microsoft.com/office/drawing/2014/main" id="{733B9C68-18B9-4813-BEF4-D8A99521C7D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参照：文化庁</a:t>
            </a:r>
          </a:p>
        </p:txBody>
      </p:sp>
      <p:sp>
        <p:nvSpPr>
          <p:cNvPr id="4" name="第13回　15">
            <a:extLst xmlns:a="http://schemas.openxmlformats.org/drawingml/2006/main">
              <a:ext uri="{FF2B5EF4-FFF2-40B4-BE49-F238E27FC236}">
                <a16:creationId xmlns:a16="http://schemas.microsoft.com/office/drawing/2014/main" id="{2ACD6D90-25B4-40E9-8DE6-4073A488361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15</a:t>
            </a:r>
          </a:p>
        </p:txBody>
      </p:sp>
    </p:spTree>
    <p:extLst>
      <p:ext uri="{BB962C8B-B14F-4D97-AF65-F5344CB8AC3E}">
        <p14:creationId xmlns:p14="http://schemas.microsoft.com/office/powerpoint/2010/main" val="11653313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著作権以外にも確認する">
            <a:extLst xmlns:a="http://schemas.openxmlformats.org/drawingml/2006/main">
              <a:ext uri="{FF2B5EF4-FFF2-40B4-BE49-F238E27FC236}">
                <a16:creationId xmlns:a16="http://schemas.microsoft.com/office/drawing/2014/main" id="{EB6EB62A-8B07-453B-8F94-19198AA2DB5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著作権以外にも確認する</a:t>
            </a:r>
          </a:p>
        </p:txBody>
      </p:sp>
      <p:sp>
        <p:nvSpPr>
          <p:cNvPr id="2" name="">
            <a:extLst xmlns:a="http://schemas.openxmlformats.org/drawingml/2006/main">
              <a:ext uri="{FF2B5EF4-FFF2-40B4-BE49-F238E27FC236}">
                <a16:creationId xmlns:a16="http://schemas.microsoft.com/office/drawing/2014/main" id="{88CCA0A6-BB66-4DE0-B0B0-5BA08A93C4A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商品名やロゴでは，商標などの権利を考える．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人物の画像では，肖像やプライバシーも考える．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機密情報や発明では，秘密の管理と契約を確認する．</a:t>
            </a:r>
          </a:p>
        </p:txBody>
      </p:sp>
      <p:sp>
        <p:nvSpPr>
          <p:cNvPr id="3" name="参照：経済産業省">
            <a:extLst xmlns:a="http://schemas.openxmlformats.org/drawingml/2006/main">
              <a:ext uri="{FF2B5EF4-FFF2-40B4-BE49-F238E27FC236}">
                <a16:creationId xmlns:a16="http://schemas.microsoft.com/office/drawing/2014/main" id="{631E2AA3-E1F1-473A-BD7A-A3102A231E2A}"/>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a:t>
            </a:r>
          </a:p>
        </p:txBody>
      </p:sp>
      <p:sp>
        <p:nvSpPr>
          <p:cNvPr id="4" name="第13回　16">
            <a:extLst xmlns:a="http://schemas.openxmlformats.org/drawingml/2006/main">
              <a:ext uri="{FF2B5EF4-FFF2-40B4-BE49-F238E27FC236}">
                <a16:creationId xmlns:a16="http://schemas.microsoft.com/office/drawing/2014/main" id="{60E79D2A-C847-4C2D-87FE-6E705A203C8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16</a:t>
            </a:r>
          </a:p>
        </p:txBody>
      </p:sp>
    </p:spTree>
    <p:extLst>
      <p:ext uri="{BB962C8B-B14F-4D97-AF65-F5344CB8AC3E}">
        <p14:creationId xmlns:p14="http://schemas.microsoft.com/office/powerpoint/2010/main" val="158108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ライセンスと利用条件">
            <a:extLst xmlns:a="http://schemas.openxmlformats.org/drawingml/2006/main">
              <a:ext uri="{FF2B5EF4-FFF2-40B4-BE49-F238E27FC236}">
                <a16:creationId xmlns:a16="http://schemas.microsoft.com/office/drawing/2014/main" id="{A5530A24-5963-4AED-B478-9DDA1913FDE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ライセンスと利用条件</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対象</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読む内容の例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データ</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用途，表示，改変，再配布の条件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コード・モデル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利用・改変・配布の許諾と条件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AIサービス</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入力の扱い，生成物の利用，禁止事項</a:t>
                      </a:r>
                    </a:p>
                  </a:txBody>
                  <a:tcPr marL="76200" marR="76200" marT="47625" marB="47625" anchor="ctr">
                    <a:solidFill>
                      <a:srgbClr val="FFFFFF"/>
                    </a:solidFill>
                  </a:tcPr>
                </a:tc>
              </a:tr>
            </a:tbl>
          </a:graphicData>
        </a:graphic>
      </p:graphicFrame>
      <p:sp>
        <p:nvSpPr>
          <p:cNvPr id="3" name="公開されていることと，利用条件を満たすことを分ける．">
            <a:extLst xmlns:a="http://schemas.openxmlformats.org/drawingml/2006/main">
              <a:ext uri="{FF2B5EF4-FFF2-40B4-BE49-F238E27FC236}">
                <a16:creationId xmlns:a16="http://schemas.microsoft.com/office/drawing/2014/main" id="{53189FAA-93C6-499D-9611-44D2BEB4740E}"/>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公開されていることと，利用条件を満たすことを分ける．</a:t>
            </a:r>
          </a:p>
        </p:txBody>
      </p:sp>
      <p:sp>
        <p:nvSpPr>
          <p:cNvPr id="4" name="参照：Open Source Initiative／経済産業省">
            <a:extLst xmlns:a="http://schemas.openxmlformats.org/drawingml/2006/main">
              <a:ext uri="{FF2B5EF4-FFF2-40B4-BE49-F238E27FC236}">
                <a16:creationId xmlns:a16="http://schemas.microsoft.com/office/drawing/2014/main" id="{D2DB45E4-E798-4FEF-BC90-F1A9CFF1AD1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参照：Open Source Initiative／経済産業省</a:t>
            </a:r>
          </a:p>
        </p:txBody>
      </p:sp>
      <p:sp>
        <p:nvSpPr>
          <p:cNvPr id="5" name="第13回　17">
            <a:extLst xmlns:a="http://schemas.openxmlformats.org/drawingml/2006/main">
              <a:ext uri="{FF2B5EF4-FFF2-40B4-BE49-F238E27FC236}">
                <a16:creationId xmlns:a16="http://schemas.microsoft.com/office/drawing/2014/main" id="{267143A8-CA78-48F1-8337-8CF36C3985A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17</a:t>
            </a:r>
          </a:p>
        </p:txBody>
      </p:sp>
    </p:spTree>
    <p:extLst>
      <p:ext uri="{BB962C8B-B14F-4D97-AF65-F5344CB8AC3E}">
        <p14:creationId xmlns:p14="http://schemas.microsoft.com/office/powerpoint/2010/main" val="8210132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機密情報を扱うとき">
            <a:extLst xmlns:a="http://schemas.openxmlformats.org/drawingml/2006/main">
              <a:ext uri="{FF2B5EF4-FFF2-40B4-BE49-F238E27FC236}">
                <a16:creationId xmlns:a16="http://schemas.microsoft.com/office/drawing/2014/main" id="{BBC0BA83-E9FB-412B-AA4A-97C96B043BF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機密情報を扱うとき</a:t>
            </a:r>
          </a:p>
        </p:txBody>
      </p:sp>
      <p:sp>
        <p:nvSpPr>
          <p:cNvPr id="2" name="">
            <a:extLst xmlns:a="http://schemas.openxmlformats.org/drawingml/2006/main">
              <a:ext uri="{FF2B5EF4-FFF2-40B4-BE49-F238E27FC236}">
                <a16:creationId xmlns:a16="http://schemas.microsoft.com/office/drawing/2014/main" id="{8B658105-5DEC-487E-B011-13DACC48B5A1}"/>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入力の保存・再利用・閲覧者を確認する．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誰がどの情報を外部へ出せるかを決める．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委託先やサービスの変更時も，取扱いを見直す．</a:t>
            </a:r>
          </a:p>
        </p:txBody>
      </p:sp>
      <p:sp>
        <p:nvSpPr>
          <p:cNvPr id="3" name="参照：経済産業省">
            <a:extLst xmlns:a="http://schemas.openxmlformats.org/drawingml/2006/main">
              <a:ext uri="{FF2B5EF4-FFF2-40B4-BE49-F238E27FC236}">
                <a16:creationId xmlns:a16="http://schemas.microsoft.com/office/drawing/2014/main" id="{CA8A7A34-15D1-4C6C-8608-A884194BE60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a:t>
            </a:r>
          </a:p>
        </p:txBody>
      </p:sp>
      <p:sp>
        <p:nvSpPr>
          <p:cNvPr id="4" name="第13回　18">
            <a:extLst xmlns:a="http://schemas.openxmlformats.org/drawingml/2006/main">
              <a:ext uri="{FF2B5EF4-FFF2-40B4-BE49-F238E27FC236}">
                <a16:creationId xmlns:a16="http://schemas.microsoft.com/office/drawing/2014/main" id="{4C7303C6-8FDF-4C9C-B9C8-281F9198471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18</a:t>
            </a:r>
          </a:p>
        </p:txBody>
      </p:sp>
    </p:spTree>
    <p:extLst>
      <p:ext uri="{BB962C8B-B14F-4D97-AF65-F5344CB8AC3E}">
        <p14:creationId xmlns:p14="http://schemas.microsoft.com/office/powerpoint/2010/main" val="10284539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契約で確認する：入力と開発">
            <a:extLst xmlns:a="http://schemas.openxmlformats.org/drawingml/2006/main">
              <a:ext uri="{FF2B5EF4-FFF2-40B4-BE49-F238E27FC236}">
                <a16:creationId xmlns:a16="http://schemas.microsoft.com/office/drawing/2014/main" id="{6B08D5E8-20FF-4EE3-AF01-D1B7C83EB7EC}"/>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契約で確認する：入力と開発</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項目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確認する内容</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データの利用</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目的，学習への再利用，第三者提供</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秘密・保存</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閲覧者，保存期間，削除・返却</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開発の範囲</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成果物，検収，データ準備の担当</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変更・終了</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仕様変更，追加費用，終了時の扱い</a:t>
                      </a:r>
                    </a:p>
                  </a:txBody>
                  <a:tcPr marL="76200" marR="76200" marT="47625" marB="47625" anchor="ctr">
                    <a:solidFill>
                      <a:srgbClr val="FFFFFF"/>
                    </a:solidFill>
                  </a:tcPr>
                </a:tc>
              </a:tr>
            </a:tbl>
          </a:graphicData>
        </a:graphic>
      </p:graphicFrame>
      <p:sp>
        <p:nvSpPr>
          <p:cNvPr id="3" name="参照：経済産業省">
            <a:extLst xmlns:a="http://schemas.openxmlformats.org/drawingml/2006/main">
              <a:ext uri="{FF2B5EF4-FFF2-40B4-BE49-F238E27FC236}">
                <a16:creationId xmlns:a16="http://schemas.microsoft.com/office/drawing/2014/main" id="{8FC1DB27-2CA8-445B-94C7-31662DB52CC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a:t>
            </a:r>
          </a:p>
        </p:txBody>
      </p:sp>
      <p:sp>
        <p:nvSpPr>
          <p:cNvPr id="4" name="第13回　19">
            <a:extLst xmlns:a="http://schemas.openxmlformats.org/drawingml/2006/main">
              <a:ext uri="{FF2B5EF4-FFF2-40B4-BE49-F238E27FC236}">
                <a16:creationId xmlns:a16="http://schemas.microsoft.com/office/drawing/2014/main" id="{BE011012-86B2-486D-B016-2860B8226C3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19</a:t>
            </a:r>
          </a:p>
        </p:txBody>
      </p:sp>
    </p:spTree>
    <p:extLst>
      <p:ext uri="{BB962C8B-B14F-4D97-AF65-F5344CB8AC3E}">
        <p14:creationId xmlns:p14="http://schemas.microsoft.com/office/powerpoint/2010/main" val="19403258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契約で確認する：出力と運用">
            <a:extLst xmlns:a="http://schemas.openxmlformats.org/drawingml/2006/main">
              <a:ext uri="{FF2B5EF4-FFF2-40B4-BE49-F238E27FC236}">
                <a16:creationId xmlns:a16="http://schemas.microsoft.com/office/drawing/2014/main" id="{4716C8BD-43E8-4E0A-9EB7-4F52C5E476A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契約で確認する：出力と運用</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項目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確認する内容</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生成物・成果物</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権利の帰属，商用利用，再配布の条件</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性能・責任</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サービス水準，誤りや障害の責任分担</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運用</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監視，保守，規約変更時の対応</a:t>
                      </a:r>
                    </a:p>
                  </a:txBody>
                  <a:tcPr marL="76200" marR="76200" marT="47625" marB="47625" anchor="ctr">
                    <a:solidFill>
                      <a:srgbClr val="FFFFFF"/>
                    </a:solidFill>
                  </a:tcPr>
                </a:tc>
              </a:tr>
            </a:tbl>
          </a:graphicData>
        </a:graphic>
      </p:graphicFrame>
      <p:sp>
        <p:nvSpPr>
          <p:cNvPr id="3" name="参照：経済産業省">
            <a:extLst xmlns:a="http://schemas.openxmlformats.org/drawingml/2006/main">
              <a:ext uri="{FF2B5EF4-FFF2-40B4-BE49-F238E27FC236}">
                <a16:creationId xmlns:a16="http://schemas.microsoft.com/office/drawing/2014/main" id="{A7A9B470-36AD-450C-9250-58B2464B273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参照：経済産業省</a:t>
            </a:r>
          </a:p>
        </p:txBody>
      </p:sp>
      <p:sp>
        <p:nvSpPr>
          <p:cNvPr id="4" name="第13回　20">
            <a:extLst xmlns:a="http://schemas.openxmlformats.org/drawingml/2006/main">
              <a:ext uri="{FF2B5EF4-FFF2-40B4-BE49-F238E27FC236}">
                <a16:creationId xmlns:a16="http://schemas.microsoft.com/office/drawing/2014/main" id="{716847B4-F807-40ED-B165-F3CF98DEFC4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20</a:t>
            </a:r>
          </a:p>
        </p:txBody>
      </p:sp>
    </p:spTree>
    <p:extLst>
      <p:ext uri="{BB962C8B-B14F-4D97-AF65-F5344CB8AC3E}">
        <p14:creationId xmlns:p14="http://schemas.microsoft.com/office/powerpoint/2010/main" val="53771823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演習2：生成したポスターを公開する">
            <a:extLst xmlns:a="http://schemas.openxmlformats.org/drawingml/2006/main">
              <a:ext uri="{FF2B5EF4-FFF2-40B4-BE49-F238E27FC236}">
                <a16:creationId xmlns:a16="http://schemas.microsoft.com/office/drawing/2014/main" id="{C54F8EA4-3DBE-439A-A698-21D8FBF3108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演習2：生成したポスターを公開する</a:t>
            </a:r>
          </a:p>
        </p:txBody>
      </p:sp>
      <p:sp>
        <p:nvSpPr>
          <p:cNvPr id="2" name="">
            <a:extLst xmlns:a="http://schemas.openxmlformats.org/drawingml/2006/main">
              <a:ext uri="{FF2B5EF4-FFF2-40B4-BE49-F238E27FC236}">
                <a16:creationId xmlns:a16="http://schemas.microsoft.com/office/drawing/2014/main" id="{23D5B23D-4B2C-4F77-AB8D-A839A46838CA}"/>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既存のキャラクターに似た画像をAIで作った．</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サービスの規約には「商用利用可能」と書かれている．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この情報だけで，公開できると判断してよいか？</a:t>
            </a:r>
          </a:p>
        </p:txBody>
      </p:sp>
      <p:sp>
        <p:nvSpPr>
          <p:cNvPr id="3" name="サービスの規約と，第三者の権利を両方確認する．">
            <a:extLst xmlns:a="http://schemas.openxmlformats.org/drawingml/2006/main">
              <a:ext uri="{FF2B5EF4-FFF2-40B4-BE49-F238E27FC236}">
                <a16:creationId xmlns:a16="http://schemas.microsoft.com/office/drawing/2014/main" id="{C8E75FFD-F444-4A0B-9D10-0DD5AAC6438A}"/>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サービスの規約と，第三者の権利を両方確認する．</a:t>
            </a:r>
          </a:p>
        </p:txBody>
      </p:sp>
      <p:sp>
        <p:nvSpPr>
          <p:cNvPr id="4" name="図・設問：本教材の作例">
            <a:extLst xmlns:a="http://schemas.openxmlformats.org/drawingml/2006/main">
              <a:ext uri="{FF2B5EF4-FFF2-40B4-BE49-F238E27FC236}">
                <a16:creationId xmlns:a16="http://schemas.microsoft.com/office/drawing/2014/main" id="{A1332387-5EDA-4C68-B22B-9D722208F5F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3回　21">
            <a:extLst xmlns:a="http://schemas.openxmlformats.org/drawingml/2006/main">
              <a:ext uri="{FF2B5EF4-FFF2-40B4-BE49-F238E27FC236}">
                <a16:creationId xmlns:a16="http://schemas.microsoft.com/office/drawing/2014/main" id="{2073B4EB-1D58-4957-88C8-DFE70B2A2D6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21</a:t>
            </a:r>
          </a:p>
        </p:txBody>
      </p:sp>
    </p:spTree>
    <p:extLst>
      <p:ext uri="{BB962C8B-B14F-4D97-AF65-F5344CB8AC3E}">
        <p14:creationId xmlns:p14="http://schemas.microsoft.com/office/powerpoint/2010/main" val="7841070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演習2：確認の整理">
            <a:extLst xmlns:a="http://schemas.openxmlformats.org/drawingml/2006/main">
              <a:ext uri="{FF2B5EF4-FFF2-40B4-BE49-F238E27FC236}">
                <a16:creationId xmlns:a16="http://schemas.microsoft.com/office/drawing/2014/main" id="{F8B9197B-7B3A-475A-B2FE-C8F901FD5B8A}"/>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演習2：確認の整理</a:t>
            </a:r>
          </a:p>
        </p:txBody>
      </p:sp>
      <p:sp>
        <p:nvSpPr>
          <p:cNvPr id="2" name="">
            <a:extLst xmlns:a="http://schemas.openxmlformats.org/drawingml/2006/main">
              <a:ext uri="{FF2B5EF4-FFF2-40B4-BE49-F238E27FC236}">
                <a16:creationId xmlns:a16="http://schemas.microsoft.com/office/drawing/2014/main" id="{CDD0D5F3-493A-4018-9E4C-10EE10BACB37}"/>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規約の商用利用許諾だけで，第三者の権利は解消しない．</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画像と元の作品の関係，利用方法，許諾を確認する．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問題が残るなら，表現や素材を見直してから公開を検討する．</a:t>
            </a:r>
          </a:p>
        </p:txBody>
      </p:sp>
      <p:sp>
        <p:nvSpPr>
          <p:cNvPr id="3" name="参照：文化庁／経済産業省">
            <a:extLst xmlns:a="http://schemas.openxmlformats.org/drawingml/2006/main">
              <a:ext uri="{FF2B5EF4-FFF2-40B4-BE49-F238E27FC236}">
                <a16:creationId xmlns:a16="http://schemas.microsoft.com/office/drawing/2014/main" id="{39FB0F3B-207C-4B6C-B256-6F80189E5C0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参照：文化庁／経済産業省</a:t>
            </a:r>
          </a:p>
        </p:txBody>
      </p:sp>
      <p:sp>
        <p:nvSpPr>
          <p:cNvPr id="4" name="第13回　22">
            <a:extLst xmlns:a="http://schemas.openxmlformats.org/drawingml/2006/main">
              <a:ext uri="{FF2B5EF4-FFF2-40B4-BE49-F238E27FC236}">
                <a16:creationId xmlns:a16="http://schemas.microsoft.com/office/drawing/2014/main" id="{8C20BA34-876F-4ECA-8605-DF3CCF34CA9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22</a:t>
            </a:r>
          </a:p>
        </p:txBody>
      </p:sp>
    </p:spTree>
    <p:extLst>
      <p:ext uri="{BB962C8B-B14F-4D97-AF65-F5344CB8AC3E}">
        <p14:creationId xmlns:p14="http://schemas.microsoft.com/office/powerpoint/2010/main" val="131019558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60B751C8-F0B9-44D7-A954-4FEC22A434C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4BEEA31C-F425-4DF1-92F8-B34096A921A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個人情報は，識別できるかと取扱いの目的を考える．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著作権は，学習・生成・公開を分けて確認する．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データ，モデル，生成物の利用条件を読む．</a:t>
            </a:r>
          </a:p>
        </p:txBody>
      </p:sp>
      <p:sp>
        <p:nvSpPr>
          <p:cNvPr id="3" name="次回：AI倫理とガバナンス">
            <a:extLst xmlns:a="http://schemas.openxmlformats.org/drawingml/2006/main">
              <a:ext uri="{FF2B5EF4-FFF2-40B4-BE49-F238E27FC236}">
                <a16:creationId xmlns:a16="http://schemas.microsoft.com/office/drawing/2014/main" id="{406EF080-239C-4AB1-B93D-272818AD4416}"/>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次回：AI倫理とガバナンス</a:t>
            </a:r>
          </a:p>
        </p:txBody>
      </p:sp>
      <p:sp>
        <p:nvSpPr>
          <p:cNvPr id="4" name="図・設問：本教材の作例">
            <a:extLst xmlns:a="http://schemas.openxmlformats.org/drawingml/2006/main">
              <a:ext uri="{FF2B5EF4-FFF2-40B4-BE49-F238E27FC236}">
                <a16:creationId xmlns:a16="http://schemas.microsoft.com/office/drawing/2014/main" id="{977396CF-C3E4-4481-A124-2C827C5568A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3回　23">
            <a:extLst xmlns:a="http://schemas.openxmlformats.org/drawingml/2006/main">
              <a:ext uri="{FF2B5EF4-FFF2-40B4-BE49-F238E27FC236}">
                <a16:creationId xmlns:a16="http://schemas.microsoft.com/office/drawing/2014/main" id="{8124458B-E617-474D-9A9D-C30232A27D3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23</a:t>
            </a:r>
          </a:p>
        </p:txBody>
      </p:sp>
    </p:spTree>
    <p:extLst>
      <p:ext uri="{BB962C8B-B14F-4D97-AF65-F5344CB8AC3E}">
        <p14:creationId xmlns:p14="http://schemas.microsoft.com/office/powerpoint/2010/main" val="147065610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参考資料1">
            <a:extLst xmlns:a="http://schemas.openxmlformats.org/drawingml/2006/main">
              <a:ext uri="{FF2B5EF4-FFF2-40B4-BE49-F238E27FC236}">
                <a16:creationId xmlns:a16="http://schemas.microsoft.com/office/drawing/2014/main" id="{A2C403DB-D5D0-4A4D-B447-633C1E9EE02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個人情報保護委員会：通則編">
            <a:extLst xmlns:a="http://schemas.openxmlformats.org/drawingml/2006/main">
              <a:ext uri="{FF2B5EF4-FFF2-40B4-BE49-F238E27FC236}">
                <a16:creationId xmlns:a16="http://schemas.microsoft.com/office/drawing/2014/main" id="{6533E24B-A3D6-4865-9E39-B3A950F0DA28}"/>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7fd4d5efcdbe446a"/>
              </a:rPr>
              <a:t>1. 個人情報保護委員会：通則編</a:t>
            </a:r>
          </a:p>
        </p:txBody>
      </p:sp>
      <p:sp>
        <p:nvSpPr>
          <p:cNvPr id="3" name="2. 個人情報保護委員会：生成AIサービスの利用に関する注意喚起">
            <a:extLst xmlns:a="http://schemas.openxmlformats.org/drawingml/2006/main">
              <a:ext uri="{FF2B5EF4-FFF2-40B4-BE49-F238E27FC236}">
                <a16:creationId xmlns:a16="http://schemas.microsoft.com/office/drawing/2014/main" id="{E50E0D19-E759-49F0-9FDA-76865E3E8633}"/>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85dbe2a6fa6e4dc9"/>
              </a:rPr>
              <a:t>2. 個人情報保護委員会：生成AIサービスの利用に関する注意喚起</a:t>
            </a:r>
          </a:p>
        </p:txBody>
      </p:sp>
      <p:sp>
        <p:nvSpPr>
          <p:cNvPr id="4" name="3. 文化庁：AIと著作権について">
            <a:extLst xmlns:a="http://schemas.openxmlformats.org/drawingml/2006/main">
              <a:ext uri="{FF2B5EF4-FFF2-40B4-BE49-F238E27FC236}">
                <a16:creationId xmlns:a16="http://schemas.microsoft.com/office/drawing/2014/main" id="{69F8B25C-0641-4F98-8597-03F14A51A9A0}"/>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5fae260cd4e34ec5"/>
              </a:rPr>
              <a:t>3. 文化庁：AIと著作権について</a:t>
            </a:r>
          </a:p>
        </p:txBody>
      </p:sp>
      <p:sp>
        <p:nvSpPr>
          <p:cNvPr id="5" name="4. 文化庁：AIと著作権に関する考え方（概要）">
            <a:extLst xmlns:a="http://schemas.openxmlformats.org/drawingml/2006/main">
              <a:ext uri="{FF2B5EF4-FFF2-40B4-BE49-F238E27FC236}">
                <a16:creationId xmlns:a16="http://schemas.microsoft.com/office/drawing/2014/main" id="{537DB1B6-C5D5-489F-9537-FE5BCB9423B1}"/>
              </a:ext>
            </a:extLst>
          </p:cNvPr>
          <p:cNvSpPr>
            <a:spLocks xmlns:a="http://schemas.openxmlformats.org/drawingml/2006/main" noGrp="1"/>
          </p:cNvSpPr>
          <p:nvPr/>
        </p:nvSpPr>
        <p:spPr>
          <a:xfrm xmlns:a="http://schemas.openxmlformats.org/drawingml/2006/main">
            <a:off x="548640" y="3447288"/>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195a76f5e8994434"/>
              </a:rPr>
              <a:t>4. 文化庁：AIと著作権に関する考え方（概要）</a:t>
            </a:r>
          </a:p>
        </p:txBody>
      </p:sp>
      <p:sp>
        <p:nvSpPr>
          <p:cNvPr id="6" name="各項目をクリックすると，参考資料を開く．">
            <a:extLst xmlns:a="http://schemas.openxmlformats.org/drawingml/2006/main">
              <a:ext uri="{FF2B5EF4-FFF2-40B4-BE49-F238E27FC236}">
                <a16:creationId xmlns:a16="http://schemas.microsoft.com/office/drawing/2014/main" id="{042686D6-E553-42E9-A40F-B88E6B3008BC}"/>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7" name="参考資料のリンクは各項目・講師用ノートに記載">
            <a:extLst xmlns:a="http://schemas.openxmlformats.org/drawingml/2006/main">
              <a:ext uri="{FF2B5EF4-FFF2-40B4-BE49-F238E27FC236}">
                <a16:creationId xmlns:a16="http://schemas.microsoft.com/office/drawing/2014/main" id="{63AE6531-0C1B-4A80-91D8-7EBBA32E91F7}"/>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8" name="第13回　24">
            <a:extLst xmlns:a="http://schemas.openxmlformats.org/drawingml/2006/main">
              <a:ext uri="{FF2B5EF4-FFF2-40B4-BE49-F238E27FC236}">
                <a16:creationId xmlns:a16="http://schemas.microsoft.com/office/drawing/2014/main" id="{189A990E-7BCA-446D-B8E1-3C99F133EFD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24</a:t>
            </a:r>
          </a:p>
        </p:txBody>
      </p:sp>
    </p:spTree>
    <p:extLst>
      <p:ext uri="{BB962C8B-B14F-4D97-AF65-F5344CB8AC3E}">
        <p14:creationId xmlns:p14="http://schemas.microsoft.com/office/powerpoint/2010/main" val="32592206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50962E28-2011-48E4-9615-3954347B378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e-Gov：著作権法">
            <a:extLst xmlns:a="http://schemas.openxmlformats.org/drawingml/2006/main">
              <a:ext uri="{FF2B5EF4-FFF2-40B4-BE49-F238E27FC236}">
                <a16:creationId xmlns:a16="http://schemas.microsoft.com/office/drawing/2014/main" id="{A3A1D768-6037-4924-A37F-5674B8D541CD}"/>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ccbffa91a1554da9"/>
              </a:rPr>
              <a:t>1. e-Gov：著作権法</a:t>
            </a:r>
          </a:p>
        </p:txBody>
      </p:sp>
      <p:sp>
        <p:nvSpPr>
          <p:cNvPr id="3" name="2. 経済産業省：AIの利用・開発に関する契約チェックリスト">
            <a:extLst xmlns:a="http://schemas.openxmlformats.org/drawingml/2006/main">
              <a:ext uri="{FF2B5EF4-FFF2-40B4-BE49-F238E27FC236}">
                <a16:creationId xmlns:a16="http://schemas.microsoft.com/office/drawing/2014/main" id="{A76E979A-53C0-45E1-B293-1782C79B8051}"/>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04be16c3352f4e9d"/>
              </a:rPr>
              <a:t>2. 経済産業省：AIの利用・開発に関する契約チェックリスト</a:t>
            </a:r>
          </a:p>
        </p:txBody>
      </p:sp>
      <p:sp>
        <p:nvSpPr>
          <p:cNvPr id="4" name="3. Open Source Initiative：Open Source De">
            <a:extLst xmlns:a="http://schemas.openxmlformats.org/drawingml/2006/main">
              <a:ext uri="{FF2B5EF4-FFF2-40B4-BE49-F238E27FC236}">
                <a16:creationId xmlns:a16="http://schemas.microsoft.com/office/drawing/2014/main" id="{8F53A1FB-4AFE-4017-AD04-9342E5E08635}"/>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1aad4010368e41b4"/>
              </a:rPr>
              <a:t>3. Open Source Initiative：Open Source Definition</a:t>
            </a:r>
          </a:p>
        </p:txBody>
      </p:sp>
      <p:sp>
        <p:nvSpPr>
          <p:cNvPr id="5" name="各項目をクリックすると，参考資料を開く．">
            <a:extLst xmlns:a="http://schemas.openxmlformats.org/drawingml/2006/main">
              <a:ext uri="{FF2B5EF4-FFF2-40B4-BE49-F238E27FC236}">
                <a16:creationId xmlns:a16="http://schemas.microsoft.com/office/drawing/2014/main" id="{A10137DB-C7BC-4CFB-B199-3039E6391AF1}"/>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9025023D-DAB7-4EF7-9E4B-98BF1E3B7B2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13回　25">
            <a:extLst xmlns:a="http://schemas.openxmlformats.org/drawingml/2006/main">
              <a:ext uri="{FF2B5EF4-FFF2-40B4-BE49-F238E27FC236}">
                <a16:creationId xmlns:a16="http://schemas.microsoft.com/office/drawing/2014/main" id="{103C610B-0B8C-42E1-ADBD-62C85CAD786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第13回　25</a:t>
            </a:r>
          </a:p>
        </p:txBody>
      </p:sp>
    </p:spTree>
    <p:extLst>
      <p:ext uri="{BB962C8B-B14F-4D97-AF65-F5344CB8AC3E}">
        <p14:creationId xmlns:p14="http://schemas.microsoft.com/office/powerpoint/2010/main" val="32933265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2026-10-08T06:10:50.3360000Z</dcterms:created>
  <dcterms:modified xsi:type="dcterms:W3CDTF">2026-10-08T06:10:50.3360000Z</dcterms:modified>
</coreProperties>
</file>