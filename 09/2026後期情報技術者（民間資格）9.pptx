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0bbadd3a6e4016" /><Relationship Type="http://schemas.openxmlformats.org/officeDocument/2006/relationships/extended-properties" Target="/docProps/app.xml" Id="R8ef9a8a7e16c4876" /><Relationship Type="http://schemas.openxmlformats.org/officeDocument/2006/relationships/officeDocument" Target="/ppt/presentation.xml" Id="Rd43ac5ca166b43bf" /></Relationships>
</file>

<file path=ppt/presentation.xml><?xml version="1.0" encoding="utf-8"?>
<p:presentation xmlns:p="http://schemas.openxmlformats.org/presentationml/2006/main">
  <p:sldMasterIdLst>
    <p:sldMasterId xmlns:r="http://schemas.openxmlformats.org/officeDocument/2006/relationships" id="2147483648" r:id="R2b4d9567ce154823"/>
  </p:sldMasterIdLst>
  <p:notesMasterIdLst>
    <p:notesMasterId xmlns:r="http://schemas.openxmlformats.org/officeDocument/2006/relationships" r:id="Ree396cb2a0b247ec"/>
  </p:notesMasterIdLst>
  <p:sldIdLst>
    <p:sldId xmlns:r="http://schemas.openxmlformats.org/officeDocument/2006/relationships" id="256" r:id="R42e3bcd2f7e4496d"/>
    <p:sldId xmlns:r="http://schemas.openxmlformats.org/officeDocument/2006/relationships" id="257" r:id="Rad35761ef5994281"/>
    <p:sldId xmlns:r="http://schemas.openxmlformats.org/officeDocument/2006/relationships" id="258" r:id="Rcb1a8ba6e3634450"/>
    <p:sldId xmlns:r="http://schemas.openxmlformats.org/officeDocument/2006/relationships" id="259" r:id="R52a1165da6bc4aa6"/>
    <p:sldId xmlns:r="http://schemas.openxmlformats.org/officeDocument/2006/relationships" id="260" r:id="R3dbee653ca8843b0"/>
    <p:sldId xmlns:r="http://schemas.openxmlformats.org/officeDocument/2006/relationships" id="261" r:id="R96c7b06d65dd4dc0"/>
    <p:sldId xmlns:r="http://schemas.openxmlformats.org/officeDocument/2006/relationships" id="262" r:id="R0193b6d804024684"/>
    <p:sldId xmlns:r="http://schemas.openxmlformats.org/officeDocument/2006/relationships" id="263" r:id="R67d6a7ff88e34bdc"/>
    <p:sldId xmlns:r="http://schemas.openxmlformats.org/officeDocument/2006/relationships" id="264" r:id="R22896619a56e4991"/>
    <p:sldId xmlns:r="http://schemas.openxmlformats.org/officeDocument/2006/relationships" id="265" r:id="Ra4bec3ab09104e65"/>
    <p:sldId xmlns:r="http://schemas.openxmlformats.org/officeDocument/2006/relationships" id="266" r:id="Rb1a143a1b5794c96"/>
    <p:sldId xmlns:r="http://schemas.openxmlformats.org/officeDocument/2006/relationships" id="267" r:id="Rd14c69eac10d4063"/>
    <p:sldId xmlns:r="http://schemas.openxmlformats.org/officeDocument/2006/relationships" id="268" r:id="R9c32741d707e4aef"/>
    <p:sldId xmlns:r="http://schemas.openxmlformats.org/officeDocument/2006/relationships" id="269" r:id="Recd03ef0dae545d6"/>
    <p:sldId xmlns:r="http://schemas.openxmlformats.org/officeDocument/2006/relationships" id="270" r:id="R34b0871548b047cb"/>
    <p:sldId xmlns:r="http://schemas.openxmlformats.org/officeDocument/2006/relationships" id="271" r:id="R9abced921f5f448d"/>
    <p:sldId xmlns:r="http://schemas.openxmlformats.org/officeDocument/2006/relationships" id="272" r:id="Rd2a19abaf6d54f19"/>
    <p:sldId xmlns:r="http://schemas.openxmlformats.org/officeDocument/2006/relationships" id="273" r:id="R6c83a058117b4c7c"/>
    <p:sldId xmlns:r="http://schemas.openxmlformats.org/officeDocument/2006/relationships" id="274" r:id="R2bf45aae8786483d"/>
    <p:sldId xmlns:r="http://schemas.openxmlformats.org/officeDocument/2006/relationships" id="275" r:id="R1918723671ed47cc"/>
    <p:sldId xmlns:r="http://schemas.openxmlformats.org/officeDocument/2006/relationships" id="276" r:id="R8d0c27fc35394de6"/>
    <p:sldId xmlns:r="http://schemas.openxmlformats.org/officeDocument/2006/relationships" id="277" r:id="R5b7aa1d183244f98"/>
    <p:sldId xmlns:r="http://schemas.openxmlformats.org/officeDocument/2006/relationships" id="278" r:id="R6fd93c97d5d44936"/>
    <p:sldId xmlns:r="http://schemas.openxmlformats.org/officeDocument/2006/relationships" id="279" r:id="Rfc0c86cb86d24238"/>
    <p:sldId xmlns:r="http://schemas.openxmlformats.org/officeDocument/2006/relationships" id="280" r:id="Re50931dd27974c03"/>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9cd942cc56574701" /><Relationship Type="http://schemas.openxmlformats.org/officeDocument/2006/relationships/slideMaster" Target="/ppt/slideMasters/slideMaster1.xml" Id="R2b4d9567ce154823" /><Relationship Type="http://schemas.openxmlformats.org/officeDocument/2006/relationships/notesMaster" Target="/ppt/notesMasters/notesMaster1.xml" Id="Ree396cb2a0b247ec" /><Relationship Type="http://schemas.openxmlformats.org/officeDocument/2006/relationships/presProps" Target="/ppt/presProps.xml" Id="R2b1546ca7977487f" /><Relationship Type="http://schemas.openxmlformats.org/officeDocument/2006/relationships/viewProps" Target="/ppt/viewProps.xml" Id="R20dff9c6b04447fd" /><Relationship Type="http://schemas.openxmlformats.org/officeDocument/2006/relationships/tableStyles" Target="/ppt/tableStyles.xml" Id="Rd9701508414946b7" /><Relationship Type="http://schemas.openxmlformats.org/officeDocument/2006/relationships/slide" Target="/ppt/slides/slide1.xml" Id="R42e3bcd2f7e4496d" /><Relationship Type="http://schemas.openxmlformats.org/officeDocument/2006/relationships/slide" Target="/ppt/slides/slide2.xml" Id="Rad35761ef5994281" /><Relationship Type="http://schemas.openxmlformats.org/officeDocument/2006/relationships/slide" Target="/ppt/slides/slide3.xml" Id="Rcb1a8ba6e3634450" /><Relationship Type="http://schemas.openxmlformats.org/officeDocument/2006/relationships/slide" Target="/ppt/slides/slide4.xml" Id="R52a1165da6bc4aa6" /><Relationship Type="http://schemas.openxmlformats.org/officeDocument/2006/relationships/slide" Target="/ppt/slides/slide5.xml" Id="R3dbee653ca8843b0" /><Relationship Type="http://schemas.openxmlformats.org/officeDocument/2006/relationships/slide" Target="/ppt/slides/slide6.xml" Id="R96c7b06d65dd4dc0" /><Relationship Type="http://schemas.openxmlformats.org/officeDocument/2006/relationships/slide" Target="/ppt/slides/slide7.xml" Id="R0193b6d804024684" /><Relationship Type="http://schemas.openxmlformats.org/officeDocument/2006/relationships/slide" Target="/ppt/slides/slide8.xml" Id="R67d6a7ff88e34bdc" /><Relationship Type="http://schemas.openxmlformats.org/officeDocument/2006/relationships/slide" Target="/ppt/slides/slide9.xml" Id="R22896619a56e4991" /><Relationship Type="http://schemas.openxmlformats.org/officeDocument/2006/relationships/slide" Target="/ppt/slides/slide10.xml" Id="Ra4bec3ab09104e65" /><Relationship Type="http://schemas.openxmlformats.org/officeDocument/2006/relationships/slide" Target="/ppt/slides/slide11.xml" Id="Rb1a143a1b5794c96" /><Relationship Type="http://schemas.openxmlformats.org/officeDocument/2006/relationships/slide" Target="/ppt/slides/slide12.xml" Id="Rd14c69eac10d4063" /><Relationship Type="http://schemas.openxmlformats.org/officeDocument/2006/relationships/slide" Target="/ppt/slides/slide13.xml" Id="R9c32741d707e4aef" /><Relationship Type="http://schemas.openxmlformats.org/officeDocument/2006/relationships/slide" Target="/ppt/slides/slide14.xml" Id="Recd03ef0dae545d6" /><Relationship Type="http://schemas.openxmlformats.org/officeDocument/2006/relationships/slide" Target="/ppt/slides/slide15.xml" Id="R34b0871548b047cb" /><Relationship Type="http://schemas.openxmlformats.org/officeDocument/2006/relationships/slide" Target="/ppt/slides/slide16.xml" Id="R9abced921f5f448d" /><Relationship Type="http://schemas.openxmlformats.org/officeDocument/2006/relationships/slide" Target="/ppt/slides/slide17.xml" Id="Rd2a19abaf6d54f19" /><Relationship Type="http://schemas.openxmlformats.org/officeDocument/2006/relationships/slide" Target="/ppt/slides/slide18.xml" Id="R6c83a058117b4c7c" /><Relationship Type="http://schemas.openxmlformats.org/officeDocument/2006/relationships/slide" Target="/ppt/slides/slide19.xml" Id="R2bf45aae8786483d" /><Relationship Type="http://schemas.openxmlformats.org/officeDocument/2006/relationships/slide" Target="/ppt/slides/slide20.xml" Id="R1918723671ed47cc" /><Relationship Type="http://schemas.openxmlformats.org/officeDocument/2006/relationships/slide" Target="/ppt/slides/slide21.xml" Id="R8d0c27fc35394de6" /><Relationship Type="http://schemas.openxmlformats.org/officeDocument/2006/relationships/slide" Target="/ppt/slides/slide22.xml" Id="R5b7aa1d183244f98" /><Relationship Type="http://schemas.openxmlformats.org/officeDocument/2006/relationships/slide" Target="/ppt/slides/slide23.xml" Id="R6fd93c97d5d44936" /><Relationship Type="http://schemas.openxmlformats.org/officeDocument/2006/relationships/slide" Target="/ppt/slides/slide24.xml" Id="Rfc0c86cb86d24238" /><Relationship Type="http://schemas.openxmlformats.org/officeDocument/2006/relationships/slide" Target="/ppt/slides/slide25.xml" Id="Re50931dd27974c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c76a50258042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7c9d0f8e004dbc" /><Relationship Type="http://schemas.openxmlformats.org/officeDocument/2006/relationships/notesMaster" Target="/ppt/notesMasters/notesMaster1.xml" Id="Rd44b66b4ee6848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4709a2b06648c4" /><Relationship Type="http://schemas.openxmlformats.org/officeDocument/2006/relationships/notesMaster" Target="/ppt/notesMasters/notesMaster1.xml" Id="R90afa23c9b0045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df0a63b67047f1" /><Relationship Type="http://schemas.openxmlformats.org/officeDocument/2006/relationships/notesMaster" Target="/ppt/notesMasters/notesMaster1.xml" Id="Ra05464d34d044c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f12fc0b00f4aaf" /><Relationship Type="http://schemas.openxmlformats.org/officeDocument/2006/relationships/notesMaster" Target="/ppt/notesMasters/notesMaster1.xml" Id="Rd084bdcb7e1045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5d4fd6f1d94631" /><Relationship Type="http://schemas.openxmlformats.org/officeDocument/2006/relationships/notesMaster" Target="/ppt/notesMasters/notesMaster1.xml" Id="R3ee3d76b40834d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554e895f9f4eda" /><Relationship Type="http://schemas.openxmlformats.org/officeDocument/2006/relationships/notesMaster" Target="/ppt/notesMasters/notesMaster1.xml" Id="R75a629713a6446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c1c3bf4eb7436c" /><Relationship Type="http://schemas.openxmlformats.org/officeDocument/2006/relationships/notesMaster" Target="/ppt/notesMasters/notesMaster1.xml" Id="R1af836e303b145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495bcf22374cb8" /><Relationship Type="http://schemas.openxmlformats.org/officeDocument/2006/relationships/notesMaster" Target="/ppt/notesMasters/notesMaster1.xml" Id="R8aef986739b840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c3bb4611a14049" /><Relationship Type="http://schemas.openxmlformats.org/officeDocument/2006/relationships/notesMaster" Target="/ppt/notesMasters/notesMaster1.xml" Id="Rfe5400fd18df4b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65542a394e4f74" /><Relationship Type="http://schemas.openxmlformats.org/officeDocument/2006/relationships/notesMaster" Target="/ppt/notesMasters/notesMaster1.xml" Id="R01e61dc904dd43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1282b5bf094e2a" /><Relationship Type="http://schemas.openxmlformats.org/officeDocument/2006/relationships/notesMaster" Target="/ppt/notesMasters/notesMaster1.xml" Id="R7fe60f0e99724f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531482859847b6" /><Relationship Type="http://schemas.openxmlformats.org/officeDocument/2006/relationships/notesMaster" Target="/ppt/notesMasters/notesMaster1.xml" Id="R87cb4b7306c741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6ed6a8895a49a5" /><Relationship Type="http://schemas.openxmlformats.org/officeDocument/2006/relationships/notesMaster" Target="/ppt/notesMasters/notesMaster1.xml" Id="Rac73dc485a8d46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ba560ddd444fa8" /><Relationship Type="http://schemas.openxmlformats.org/officeDocument/2006/relationships/notesMaster" Target="/ppt/notesMasters/notesMaster1.xml" Id="R76896c1fffdd45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52aaf39d014aab" /><Relationship Type="http://schemas.openxmlformats.org/officeDocument/2006/relationships/notesMaster" Target="/ppt/notesMasters/notesMaster1.xml" Id="R4266229958eb45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f377bb08064b86" /><Relationship Type="http://schemas.openxmlformats.org/officeDocument/2006/relationships/notesMaster" Target="/ppt/notesMasters/notesMaster1.xml" Id="Rfdb86faec5d54e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8ef2edd4284e28" /><Relationship Type="http://schemas.openxmlformats.org/officeDocument/2006/relationships/notesMaster" Target="/ppt/notesMasters/notesMaster1.xml" Id="Rb760ec520c624b9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f09edaeed946db" /><Relationship Type="http://schemas.openxmlformats.org/officeDocument/2006/relationships/notesMaster" Target="/ppt/notesMasters/notesMaster1.xml" Id="R6279a8a2d8a64c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400cd79a5b4048" /><Relationship Type="http://schemas.openxmlformats.org/officeDocument/2006/relationships/notesMaster" Target="/ppt/notesMasters/notesMaster1.xml" Id="Ra64fb6b8bb4a45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b34c4d28daa4544" /><Relationship Type="http://schemas.openxmlformats.org/officeDocument/2006/relationships/notesMaster" Target="/ppt/notesMasters/notesMaster1.xml" Id="R71e9dc3d12ac43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da3ec514b3a4885" /><Relationship Type="http://schemas.openxmlformats.org/officeDocument/2006/relationships/notesMaster" Target="/ppt/notesMasters/notesMaster1.xml" Id="Rd050d6e3331c45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e149893d24d4513" /><Relationship Type="http://schemas.openxmlformats.org/officeDocument/2006/relationships/notesMaster" Target="/ppt/notesMasters/notesMaster1.xml" Id="R9eab2ac29cae4a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e14464956ba4cdc" /><Relationship Type="http://schemas.openxmlformats.org/officeDocument/2006/relationships/notesMaster" Target="/ppt/notesMasters/notesMaster1.xml" Id="R5d6312a610cc4a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c21395993ef4d18" /><Relationship Type="http://schemas.openxmlformats.org/officeDocument/2006/relationships/notesMaster" Target="/ppt/notesMasters/notesMaster1.xml" Id="Raa5a0435b95145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d9539f9c50e4f9e" /><Relationship Type="http://schemas.openxmlformats.org/officeDocument/2006/relationships/notesMaster" Target="/ppt/notesMasters/notesMaster1.xml" Id="R0139b4b725b344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生成AIと大規模言語モデル</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文章や画像を生成する仕組みと，出力の確認方法を学ぶ．流行の製品名や性能順位より，入力・生成・根拠確認の流れを重視する．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a:p xmlns:a="http://schemas.openxmlformats.org/drawingml/2006/main">
            <a:r>
              <a:t/>
            </a:r>
          </a:p>
          <a:p xmlns:a="http://schemas.openxmlformats.org/drawingml/2006/main">
            <a:r>
              <a:t>Google：Fine-tuning, distillation, prompting</a:t>
            </a:r>
          </a:p>
          <a:p xmlns:a="http://schemas.openxmlformats.org/drawingml/2006/main">
            <a:r>
              <a:t>https://developers.google.com/machine-learning/crash-course/llm/tuning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AIサービスの操作を全員へ要求しない．紙上の演習だけでも仕組みと使い方を考えられるように進める．</a:t>
            </a:r>
          </a:p>
          <a:p xmlns:a="http://schemas.openxmlformats.org/drawingml/2006/main">
            <a:r>
              <a:t/>
            </a:r>
          </a:p>
          <a:p xmlns:a="http://schemas.openxmlformats.org/drawingml/2006/main">
            <a:r>
              <a:t>識別と生成の違いを説明する．</a:t>
            </a:r>
          </a:p>
          <a:p xmlns:a="http://schemas.openxmlformats.org/drawingml/2006/main">
            <a:r>
              <a:t/>
            </a:r>
          </a:p>
          <a:p xmlns:a="http://schemas.openxmlformats.org/drawingml/2006/main">
            <a:r>
              <a:t>LLMの学習と，文章生成の流れを説明する．</a:t>
            </a:r>
          </a:p>
          <a:p xmlns:a="http://schemas.openxmlformats.org/drawingml/2006/main">
            <a:r>
              <a:t/>
            </a:r>
          </a:p>
          <a:p xmlns:a="http://schemas.openxmlformats.org/drawingml/2006/main">
            <a:r>
              <a:t>外部情報の参照と，人による確認を組み合わせる．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識別と生成</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同じモデルやサービスで分類と生成を行う場合もある．生成は全ての内容が新しく正しいことを意味しない．</a:t>
            </a:r>
          </a:p>
          <a:p xmlns:a="http://schemas.openxmlformats.org/drawingml/2006/main">
            <a:r>
              <a:t/>
            </a:r>
          </a:p>
          <a:p xmlns:a="http://schemas.openxmlformats.org/drawingml/2006/main">
            <a:r>
              <a:t>識別 ／ 画像や文章 ／ カテゴリ・数値</a:t>
            </a:r>
          </a:p>
          <a:p xmlns:a="http://schemas.openxmlformats.org/drawingml/2006/main">
            <a:r>
              <a:t>生成 ／ 指示や条件など ／ 文章・画像・音声など</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a:p xmlns:a="http://schemas.openxmlformats.org/drawingml/2006/main">
            <a:r>
              <a:t/>
            </a:r>
          </a:p>
          <a:p xmlns:a="http://schemas.openxmlformats.org/drawingml/2006/main">
            <a:r>
              <a:t>Goodfellow et al.：Generative Adversarial Nets</a:t>
            </a:r>
          </a:p>
          <a:p xmlns:a="http://schemas.openxmlformats.org/drawingml/2006/main">
            <a:r>
              <a:t>https://arxiv.org/abs/1406.2661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大規模言語モデル（LLM）</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大規模の境界を特定のパラメータ数で固定しない．現代の多くのLLMはTransformerを使うが，LLMという概念を構造一つと同一視しない．</a:t>
            </a:r>
          </a:p>
          <a:p xmlns:a="http://schemas.openxmlformats.org/drawingml/2006/main">
            <a:r>
              <a:t/>
            </a:r>
          </a:p>
          <a:p xmlns:a="http://schemas.openxmlformats.org/drawingml/2006/main">
            <a:r>
              <a:t>大量のテキストなどから，言語のパターンを学ぶ．</a:t>
            </a:r>
          </a:p>
          <a:p xmlns:a="http://schemas.openxmlformats.org/drawingml/2006/main">
            <a:r>
              <a:t/>
            </a:r>
          </a:p>
          <a:p xmlns:a="http://schemas.openxmlformats.org/drawingml/2006/main">
            <a:r>
              <a:t>文章生成では，次のトークンの分布を予測する．</a:t>
            </a:r>
          </a:p>
          <a:p xmlns:a="http://schemas.openxmlformats.org/drawingml/2006/main">
            <a:r>
              <a:t/>
            </a:r>
          </a:p>
          <a:p xmlns:a="http://schemas.openxmlformats.org/drawingml/2006/main">
            <a:r>
              <a:t>指示や文脈を入力として，多くの課題へ利用する．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文章生成の繰り返し</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自己回帰的な生成の基本例．終了トークンや長さの条件まで繰り返す．先に完成した文章を丸ごと取り出すという説明にはしない．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演習1：次のトークン</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架空の三候補だけを持つ作例．常に最大値を選ぶ場合の候補と，確率に従って選ぶ場合の違いを考える．実際のモデルから取得した分布ではない．</a:t>
            </a:r>
          </a:p>
          <a:p xmlns:a="http://schemas.openxmlformats.org/drawingml/2006/main">
            <a:r>
              <a:t/>
            </a:r>
          </a:p>
          <a:p xmlns:a="http://schemas.openxmlformats.org/drawingml/2006/main">
            <a:r>
              <a:t>晴れ ／ 0.6</a:t>
            </a:r>
          </a:p>
          <a:p xmlns:a="http://schemas.openxmlformats.org/drawingml/2006/main">
            <a:r>
              <a:t>雨 ／ 0.3</a:t>
            </a:r>
          </a:p>
          <a:p xmlns:a="http://schemas.openxmlformats.org/drawingml/2006/main">
            <a:r>
              <a:t>雪 ／ 0.1</a:t>
            </a:r>
          </a:p>
          <a:p xmlns:a="http://schemas.openxmlformats.org/drawingml/2006/main">
            <a:r>
              <a:t/>
            </a:r>
          </a:p>
          <a:p xmlns:a="http://schemas.openxmlformats.org/drawingml/2006/main">
            <a:r>
              <a:t>最大値を選ぶ場合と，確率で選ぶ場合を比べる．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演習1：解答</a:t>
            </a:r>
          </a:p>
          <a:p xmlns:a="http://schemas.openxmlformats.org/drawingml/2006/main">
            <a:r>
              <a:t/>
            </a:r>
          </a:p>
          <a:p xmlns:a="http://schemas.openxmlformats.org/drawingml/2006/main">
            <a:r>
              <a:t>目安：4分／授業開始から21〜25分</a:t>
            </a:r>
          </a:p>
          <a:p xmlns:a="http://schemas.openxmlformats.org/drawingml/2006/main">
            <a:r>
              <a:t/>
            </a:r>
          </a:p>
          <a:p xmlns:a="http://schemas.openxmlformats.org/drawingml/2006/main">
            <a:r>
              <a:t>候補の確率は文脈に対するモデルの値．天気予報として晴れる確率60%を保証する例ではない．予測の意味と現実の確率を混同しない．</a:t>
            </a:r>
          </a:p>
          <a:p xmlns:a="http://schemas.openxmlformats.org/drawingml/2006/main">
            <a:r>
              <a:t/>
            </a:r>
          </a:p>
          <a:p xmlns:a="http://schemas.openxmlformats.org/drawingml/2006/main">
            <a:r>
              <a:t>最大値を選ぶ方法では，この例は「晴れ」．</a:t>
            </a:r>
          </a:p>
          <a:p xmlns:a="http://schemas.openxmlformats.org/drawingml/2006/main">
            <a:r>
              <a:t/>
            </a:r>
          </a:p>
          <a:p xmlns:a="http://schemas.openxmlformats.org/drawingml/2006/main">
            <a:r>
              <a:t>確率に従って選ぶ方法では，「雨」「雪」も選び得る．</a:t>
            </a:r>
          </a:p>
          <a:p xmlns:a="http://schemas.openxmlformats.org/drawingml/2006/main">
            <a:r>
              <a:t/>
            </a:r>
          </a:p>
          <a:p xmlns:a="http://schemas.openxmlformats.org/drawingml/2006/main">
            <a:r>
              <a:t>同じ指示でも，選び方によって結果が変わる．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事前学習の考え方</a:t>
            </a:r>
          </a:p>
          <a:p xmlns:a="http://schemas.openxmlformats.org/drawingml/2006/main">
            <a:r>
              <a:t/>
            </a:r>
          </a:p>
          <a:p xmlns:a="http://schemas.openxmlformats.org/drawingml/2006/main">
            <a:r>
              <a:t>目安：4分／授業開始から25〜29分</a:t>
            </a:r>
          </a:p>
          <a:p xmlns:a="http://schemas.openxmlformats.org/drawingml/2006/main">
            <a:r>
              <a:t/>
            </a:r>
          </a:p>
          <a:p xmlns:a="http://schemas.openxmlformats.org/drawingml/2006/main">
            <a:r>
              <a:t>自己教師あり学習の例．次トークン予測やマスクした語の予測など，課題はモデルによって違う．第8回のBERTの学習と生成を区別する．</a:t>
            </a:r>
          </a:p>
          <a:p xmlns:a="http://schemas.openxmlformats.org/drawingml/2006/main">
            <a:r>
              <a:t/>
            </a:r>
          </a:p>
          <a:p xmlns:a="http://schemas.openxmlformats.org/drawingml/2006/main">
            <a:r>
              <a:t>テキストの一部から，別の部分を予測して学ぶ．</a:t>
            </a:r>
          </a:p>
          <a:p xmlns:a="http://schemas.openxmlformats.org/drawingml/2006/main">
            <a:r>
              <a:t/>
            </a:r>
          </a:p>
          <a:p xmlns:a="http://schemas.openxmlformats.org/drawingml/2006/main">
            <a:r>
              <a:t>大量の例で，重みを調整する．</a:t>
            </a:r>
          </a:p>
          <a:p xmlns:a="http://schemas.openxmlformats.org/drawingml/2006/main">
            <a:r>
              <a:t/>
            </a:r>
          </a:p>
          <a:p xmlns:a="http://schemas.openxmlformats.org/drawingml/2006/main">
            <a:r>
              <a:t>人が全ての文へ手作業で正解ラベルを付ける必要はない．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a:p xmlns:a="http://schemas.openxmlformats.org/drawingml/2006/main">
            <a:r>
              <a:t/>
            </a:r>
          </a:p>
          <a:p xmlns:a="http://schemas.openxmlformats.org/drawingml/2006/main">
            <a:r>
              <a:t>Devlin et al.：BERT</a:t>
            </a:r>
          </a:p>
          <a:p xmlns:a="http://schemas.openxmlformats.org/drawingml/2006/main">
            <a:r>
              <a:t>https://arxiv.org/abs/1810.04805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追加学習とプロンプト</a:t>
            </a:r>
          </a:p>
          <a:p xmlns:a="http://schemas.openxmlformats.org/drawingml/2006/main">
            <a:r>
              <a:t/>
            </a:r>
          </a:p>
          <a:p xmlns:a="http://schemas.openxmlformats.org/drawingml/2006/main">
            <a:r>
              <a:t>目安：4分／授業開始から29〜33分</a:t>
            </a:r>
          </a:p>
          <a:p xmlns:a="http://schemas.openxmlformats.org/drawingml/2006/main">
            <a:r>
              <a:t/>
            </a:r>
          </a:p>
          <a:p xmlns:a="http://schemas.openxmlformats.org/drawingml/2006/main">
            <a:r>
              <a:t>人の評価を使う調整は複数の方法があり，必ず一つのアルゴリズムを使うわけではない．プロンプトで通常，モデルの重みを更新しない．</a:t>
            </a:r>
          </a:p>
          <a:p xmlns:a="http://schemas.openxmlformats.org/drawingml/2006/main">
            <a:r>
              <a:t/>
            </a:r>
          </a:p>
          <a:p xmlns:a="http://schemas.openxmlformats.org/drawingml/2006/main">
            <a:r>
              <a:t>ファインチューニング ／ 課題の例を使い，パラメータを更新</a:t>
            </a:r>
          </a:p>
          <a:p xmlns:a="http://schemas.openxmlformats.org/drawingml/2006/main">
            <a:r>
              <a:t>プロンプトの工夫 ／ 指示や例を入力に加える</a:t>
            </a:r>
          </a:p>
          <a:p xmlns:a="http://schemas.openxmlformats.org/drawingml/2006/main">
            <a:r>
              <a:t>人の評価を使う調整 ／ 望ましい応答へ近づくよう追加で学ぶ</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Google：Fine-tuning, distillation, prompting</a:t>
            </a:r>
          </a:p>
          <a:p xmlns:a="http://schemas.openxmlformats.org/drawingml/2006/main">
            <a:r>
              <a:t>https://developers.google.com/machine-learning/crash-course/llm/tuning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入力の文脈と制約</a:t>
            </a:r>
          </a:p>
          <a:p xmlns:a="http://schemas.openxmlformats.org/drawingml/2006/main">
            <a:r>
              <a:t/>
            </a:r>
          </a:p>
          <a:p xmlns:a="http://schemas.openxmlformats.org/drawingml/2006/main">
            <a:r>
              <a:t>目安：4分／授業開始から33〜37分</a:t>
            </a:r>
          </a:p>
          <a:p xmlns:a="http://schemas.openxmlformats.org/drawingml/2006/main">
            <a:r>
              <a:t/>
            </a:r>
          </a:p>
          <a:p xmlns:a="http://schemas.openxmlformats.org/drawingml/2006/main">
            <a:r>
              <a:t>コンテキストの上限値は製品ごとに変わるため数値を固定しない．長く入力すれば必ず性能が上がるという説明を避ける．</a:t>
            </a:r>
          </a:p>
          <a:p xmlns:a="http://schemas.openxmlformats.org/drawingml/2006/main">
            <a:r>
              <a:t/>
            </a:r>
          </a:p>
          <a:p xmlns:a="http://schemas.openxmlformats.org/drawingml/2006/main">
            <a:r>
              <a:t>入力の長さには，モデルやサービスの制約がある．</a:t>
            </a:r>
          </a:p>
          <a:p xmlns:a="http://schemas.openxmlformats.org/drawingml/2006/main">
            <a:r>
              <a:t/>
            </a:r>
          </a:p>
          <a:p xmlns:a="http://schemas.openxmlformats.org/drawingml/2006/main">
            <a:r>
              <a:t>必要な背景情報と，求める出力を具体的に書く．</a:t>
            </a:r>
          </a:p>
          <a:p xmlns:a="http://schemas.openxmlformats.org/drawingml/2006/main">
            <a:r>
              <a:t/>
            </a:r>
          </a:p>
          <a:p xmlns:a="http://schemas.openxmlformats.org/drawingml/2006/main">
            <a:r>
              <a:t>長い入力の全てを，正確に使えるとは限らない．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a:p xmlns:a="http://schemas.openxmlformats.org/drawingml/2006/main">
            <a:r>
              <a:t/>
            </a:r>
          </a:p>
          <a:p xmlns:a="http://schemas.openxmlformats.org/drawingml/2006/main">
            <a:r>
              <a:t>Google：Fine-tuning, distillation, prompting</a:t>
            </a:r>
          </a:p>
          <a:p xmlns:a="http://schemas.openxmlformats.org/drawingml/2006/main">
            <a:r>
              <a:t>https://developers.google.com/machine-learning/crash-course/llm/tuning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生成の多様さと温度</a:t>
            </a:r>
          </a:p>
          <a:p xmlns:a="http://schemas.openxmlformats.org/drawingml/2006/main">
            <a:r>
              <a:t/>
            </a:r>
          </a:p>
          <a:p xmlns:a="http://schemas.openxmlformats.org/drawingml/2006/main">
            <a:r>
              <a:t>目安：4分／授業開始から37〜41分</a:t>
            </a:r>
          </a:p>
          <a:p xmlns:a="http://schemas.openxmlformats.org/drawingml/2006/main">
            <a:r>
              <a:t/>
            </a:r>
          </a:p>
          <a:p xmlns:a="http://schemas.openxmlformats.org/drawingml/2006/main">
            <a:r>
              <a:t>一般的に低い温度は高確率の候補へ集中させる．温度0の扱いや再現性は実装によって違うため，同じ設定なら必ず同一出力と断定しない．</a:t>
            </a:r>
          </a:p>
          <a:p xmlns:a="http://schemas.openxmlformats.org/drawingml/2006/main">
            <a:r>
              <a:t/>
            </a:r>
          </a:p>
          <a:p xmlns:a="http://schemas.openxmlformats.org/drawingml/2006/main">
            <a:r>
              <a:t>温度などの設定で，候補の分布や選び方を変える．</a:t>
            </a:r>
          </a:p>
          <a:p xmlns:a="http://schemas.openxmlformats.org/drawingml/2006/main">
            <a:r>
              <a:t/>
            </a:r>
          </a:p>
          <a:p xmlns:a="http://schemas.openxmlformats.org/drawingml/2006/main">
            <a:r>
              <a:t>多様な出力が，必要な課題もある．</a:t>
            </a:r>
          </a:p>
          <a:p xmlns:a="http://schemas.openxmlformats.org/drawingml/2006/main">
            <a:r>
              <a:t/>
            </a:r>
          </a:p>
          <a:p xmlns:a="http://schemas.openxmlformats.org/drawingml/2006/main">
            <a:r>
              <a:t>設定を変えるだけで，事実の正しさは保証できない．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基盤モデルとマルチモーダル</a:t>
            </a:r>
          </a:p>
          <a:p xmlns:a="http://schemas.openxmlformats.org/drawingml/2006/main">
            <a:r>
              <a:t/>
            </a:r>
          </a:p>
          <a:p xmlns:a="http://schemas.openxmlformats.org/drawingml/2006/main">
            <a:r>
              <a:t>目安：4分／授業開始から41〜45分</a:t>
            </a:r>
          </a:p>
          <a:p xmlns:a="http://schemas.openxmlformats.org/drawingml/2006/main">
            <a:r>
              <a:t/>
            </a:r>
          </a:p>
          <a:p xmlns:a="http://schemas.openxmlformats.org/drawingml/2006/main">
            <a:r>
              <a:t>基盤モデルはLLMだけを指すわけではない．複数のデータ種類を扱えても，全ての種類の理解や精度が同じとは限らない．</a:t>
            </a:r>
          </a:p>
          <a:p xmlns:a="http://schemas.openxmlformats.org/drawingml/2006/main">
            <a:r>
              <a:t/>
            </a:r>
          </a:p>
          <a:p xmlns:a="http://schemas.openxmlformats.org/drawingml/2006/main">
            <a:r>
              <a:t>基盤モデル ／ 大規模な学習結果を，多くの課題の基盤にする</a:t>
            </a:r>
          </a:p>
          <a:p xmlns:a="http://schemas.openxmlformats.org/drawingml/2006/main">
            <a:r>
              <a:t>マルチモーダル ／ 文章と画像など，複数種類の入力・出力を扱う</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GANの基本的な考え方</a:t>
            </a:r>
          </a:p>
          <a:p xmlns:a="http://schemas.openxmlformats.org/drawingml/2006/main">
            <a:r>
              <a:t/>
            </a:r>
          </a:p>
          <a:p xmlns:a="http://schemas.openxmlformats.org/drawingml/2006/main">
            <a:r>
              <a:t>目安：4分／授業開始から45〜49分</a:t>
            </a:r>
          </a:p>
          <a:p xmlns:a="http://schemas.openxmlformats.org/drawingml/2006/main">
            <a:r>
              <a:t/>
            </a:r>
          </a:p>
          <a:p xmlns:a="http://schemas.openxmlformats.org/drawingml/2006/main">
            <a:r>
              <a:t>Generative Adversarial Networkは生成器と識別器を組み合わせて学ぶ．図は学習の関係の模式図で，生成時に必ず識別器へ問い合わせるという意味ではない．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Goodfellow et al.：Generative Adversarial Nets</a:t>
            </a:r>
          </a:p>
          <a:p xmlns:a="http://schemas.openxmlformats.org/drawingml/2006/main">
            <a:r>
              <a:t>https://arxiv.org/abs/1406.2661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VAEの基本的な考え方</a:t>
            </a:r>
          </a:p>
          <a:p xmlns:a="http://schemas.openxmlformats.org/drawingml/2006/main">
            <a:r>
              <a:t/>
            </a:r>
          </a:p>
          <a:p xmlns:a="http://schemas.openxmlformats.org/drawingml/2006/main">
            <a:r>
              <a:t>目安：4分／授業開始から49〜53分</a:t>
            </a:r>
          </a:p>
          <a:p xmlns:a="http://schemas.openxmlformats.org/drawingml/2006/main">
            <a:r>
              <a:t/>
            </a:r>
          </a:p>
          <a:p xmlns:a="http://schemas.openxmlformats.org/drawingml/2006/main">
            <a:r>
              <a:t>Variational Autoencoderは再構成と潜在表現の分布を考えるモデル．潜在空間から値を取り出して生成できる．普通のオートエンコーダと確率的な扱いを区別する．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Kingma &amp; Welling：Auto-Encoding Variational Bayes</a:t>
            </a:r>
          </a:p>
          <a:p xmlns:a="http://schemas.openxmlformats.org/drawingml/2006/main">
            <a:r>
              <a:t>https://arxiv.org/abs/1312.6114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拡散モデルの考え方</a:t>
            </a:r>
          </a:p>
          <a:p xmlns:a="http://schemas.openxmlformats.org/drawingml/2006/main">
            <a:r>
              <a:t/>
            </a:r>
          </a:p>
          <a:p xmlns:a="http://schemas.openxmlformats.org/drawingml/2006/main">
            <a:r>
              <a:t>目安：4分／授業開始から53〜57分</a:t>
            </a:r>
          </a:p>
          <a:p xmlns:a="http://schemas.openxmlformats.org/drawingml/2006/main">
            <a:r>
              <a:t/>
            </a:r>
          </a:p>
          <a:p xmlns:a="http://schemas.openxmlformats.org/drawingml/2006/main">
            <a:r>
              <a:t>学習ではデータを徐々にノイズ化する過程を使い，逆方向の計算を学ぶ．生成時は典型的にノイズから段階的にデータへ変換する．毎回完全に元の画像を復元する説明ではない．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Ho et al.：Denoising Diffusion Probabilistic Models</a:t>
            </a:r>
          </a:p>
          <a:p xmlns:a="http://schemas.openxmlformats.org/drawingml/2006/main">
            <a:r>
              <a:t>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生成モデルの整理</a:t>
            </a:r>
          </a:p>
          <a:p xmlns:a="http://schemas.openxmlformats.org/drawingml/2006/main">
            <a:r>
              <a:t/>
            </a:r>
          </a:p>
          <a:p xmlns:a="http://schemas.openxmlformats.org/drawingml/2006/main">
            <a:r>
              <a:t>目安：4分／授業開始から57〜61分</a:t>
            </a:r>
          </a:p>
          <a:p xmlns:a="http://schemas.openxmlformats.org/drawingml/2006/main">
            <a:r>
              <a:t/>
            </a:r>
          </a:p>
          <a:p xmlns:a="http://schemas.openxmlformats.org/drawingml/2006/main">
            <a:r>
              <a:t>これらは大まかな整理．技術を組み合わせる場合もあり，画像生成は必ず一方式と固定しない．製品名とモデル方式の暗記は課さない．</a:t>
            </a:r>
          </a:p>
          <a:p xmlns:a="http://schemas.openxmlformats.org/drawingml/2006/main">
            <a:r>
              <a:t/>
            </a:r>
          </a:p>
          <a:p xmlns:a="http://schemas.openxmlformats.org/drawingml/2006/main">
            <a:r>
              <a:t>自己回帰モデル ／ 次の要素を順に予測する</a:t>
            </a:r>
          </a:p>
          <a:p xmlns:a="http://schemas.openxmlformats.org/drawingml/2006/main">
            <a:r>
              <a:t>GAN ／ 生成器と識別器を組み合わせて学ぶ</a:t>
            </a:r>
          </a:p>
          <a:p xmlns:a="http://schemas.openxmlformats.org/drawingml/2006/main">
            <a:r>
              <a:t>VAE ／ 潜在変数の分布を使う</a:t>
            </a:r>
          </a:p>
          <a:p xmlns:a="http://schemas.openxmlformats.org/drawingml/2006/main">
            <a:r>
              <a:t>拡散モデル ／ ノイズを段階的に除く計算を学ぶ</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a:p xmlns:a="http://schemas.openxmlformats.org/drawingml/2006/main">
            <a:r>
              <a:t/>
            </a:r>
          </a:p>
          <a:p xmlns:a="http://schemas.openxmlformats.org/drawingml/2006/main">
            <a:r>
              <a:t>Goodfellow et al.：Generative Adversarial Nets</a:t>
            </a:r>
          </a:p>
          <a:p xmlns:a="http://schemas.openxmlformats.org/drawingml/2006/main">
            <a:r>
              <a:t>https://arxiv.org/abs/1406.2661</a:t>
            </a:r>
          </a:p>
          <a:p xmlns:a="http://schemas.openxmlformats.org/drawingml/2006/main">
            <a:r>
              <a:t/>
            </a:r>
          </a:p>
          <a:p xmlns:a="http://schemas.openxmlformats.org/drawingml/2006/main">
            <a:r>
              <a:t>Kingma &amp; Welling：Auto-Encoding Variational Bayes</a:t>
            </a:r>
          </a:p>
          <a:p xmlns:a="http://schemas.openxmlformats.org/drawingml/2006/main">
            <a:r>
              <a:t>https://arxiv.org/abs/1312.6114</a:t>
            </a:r>
          </a:p>
          <a:p xmlns:a="http://schemas.openxmlformats.org/drawingml/2006/main">
            <a:r>
              <a:t/>
            </a:r>
          </a:p>
          <a:p xmlns:a="http://schemas.openxmlformats.org/drawingml/2006/main">
            <a:r>
              <a:t>Ho et al.：Denoising Diffusion Probabilistic Models</a:t>
            </a:r>
          </a:p>
          <a:p xmlns:a="http://schemas.openxmlformats.org/drawingml/2006/main">
            <a:r>
              <a:t>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RAG：外部情報を参照した生成</a:t>
            </a:r>
          </a:p>
          <a:p xmlns:a="http://schemas.openxmlformats.org/drawingml/2006/main">
            <a:r>
              <a:t/>
            </a:r>
          </a:p>
          <a:p xmlns:a="http://schemas.openxmlformats.org/drawingml/2006/main">
            <a:r>
              <a:t>目安：4分／授業開始から61〜65分</a:t>
            </a:r>
          </a:p>
          <a:p xmlns:a="http://schemas.openxmlformats.org/drawingml/2006/main">
            <a:r>
              <a:t/>
            </a:r>
          </a:p>
          <a:p xmlns:a="http://schemas.openxmlformats.org/drawingml/2006/main">
            <a:r>
              <a:t>Retrieval-Augmented Generation．外部の検索結果を文脈として使う．検索の失敗や古い資料，資料の誤解釈でも誤りが起こり得る．モデルの重みを必ず更新する方法ではない．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Lewis et al.：Retrieval-Augmented Generation</a:t>
            </a:r>
          </a:p>
          <a:p xmlns:a="http://schemas.openxmlformats.org/drawingml/2006/main">
            <a:r>
              <a:t>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RAGでも必要な確認</a:t>
            </a:r>
          </a:p>
          <a:p xmlns:a="http://schemas.openxmlformats.org/drawingml/2006/main">
            <a:r>
              <a:t/>
            </a:r>
          </a:p>
          <a:p xmlns:a="http://schemas.openxmlformats.org/drawingml/2006/main">
            <a:r>
              <a:t>目安：4分／授業開始から65〜69分</a:t>
            </a:r>
          </a:p>
          <a:p xmlns:a="http://schemas.openxmlformats.org/drawingml/2006/main">
            <a:r>
              <a:t/>
            </a:r>
          </a:p>
          <a:p xmlns:a="http://schemas.openxmlformats.org/drawingml/2006/main">
            <a:r>
              <a:t>リンクがあるだけで正しいと判断しない．外部資料中の指示を実行してしまうプロンプトインジェクションもシステム設計で考慮する．</a:t>
            </a:r>
          </a:p>
          <a:p xmlns:a="http://schemas.openxmlformats.org/drawingml/2006/main">
            <a:r>
              <a:t/>
            </a:r>
          </a:p>
          <a:p xmlns:a="http://schemas.openxmlformats.org/drawingml/2006/main">
            <a:r>
              <a:t>検索した資料が，質問に合うかを確認する．</a:t>
            </a:r>
          </a:p>
          <a:p xmlns:a="http://schemas.openxmlformats.org/drawingml/2006/main">
            <a:r>
              <a:t/>
            </a:r>
          </a:p>
          <a:p xmlns:a="http://schemas.openxmlformats.org/drawingml/2006/main">
            <a:r>
              <a:t>資料の更新日と，参照する権限を確認する．</a:t>
            </a:r>
          </a:p>
          <a:p xmlns:a="http://schemas.openxmlformats.org/drawingml/2006/main">
            <a:r>
              <a:t/>
            </a:r>
          </a:p>
          <a:p xmlns:a="http://schemas.openxmlformats.org/drawingml/2006/main">
            <a:r>
              <a:t>回答が根拠の内容を正しく使ったかを確かめる．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Lewis et al.：Retrieval-Augmented Generation</a:t>
            </a:r>
          </a:p>
          <a:p xmlns:a="http://schemas.openxmlformats.org/drawingml/2006/main">
            <a:r>
              <a:t>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演習2：要約の指示</a:t>
            </a:r>
          </a:p>
          <a:p xmlns:a="http://schemas.openxmlformats.org/drawingml/2006/main">
            <a:r>
              <a:t/>
            </a:r>
          </a:p>
          <a:p xmlns:a="http://schemas.openxmlformats.org/drawingml/2006/main">
            <a:r>
              <a:t>目安：6分／授業開始から69〜75分</a:t>
            </a:r>
          </a:p>
          <a:p xmlns:a="http://schemas.openxmlformats.org/drawingml/2006/main">
            <a:r>
              <a:t/>
            </a:r>
          </a:p>
          <a:p xmlns:a="http://schemas.openxmlformats.org/drawingml/2006/main">
            <a:r>
              <a:t>ペアで5分．サービスの利用や実在の個人情報の入力は不要．指示を書き，どの点を確認するかも付ける．</a:t>
            </a:r>
          </a:p>
          <a:p xmlns:a="http://schemas.openxmlformats.org/drawingml/2006/main">
            <a:r>
              <a:t/>
            </a:r>
          </a:p>
          <a:p xmlns:a="http://schemas.openxmlformats.org/drawingml/2006/main">
            <a:r>
              <a:t>学内の案内文を，新入生向けに要約したい．</a:t>
            </a:r>
          </a:p>
          <a:p xmlns:a="http://schemas.openxmlformats.org/drawingml/2006/main">
            <a:r>
              <a:t/>
            </a:r>
          </a:p>
          <a:p xmlns:a="http://schemas.openxmlformats.org/drawingml/2006/main">
            <a:r>
              <a:t>必要な背景情報，出力形式，残す情報を考える．</a:t>
            </a:r>
          </a:p>
          <a:p xmlns:a="http://schemas.openxmlformats.org/drawingml/2006/main">
            <a:r>
              <a:t/>
            </a:r>
          </a:p>
          <a:p xmlns:a="http://schemas.openxmlformats.org/drawingml/2006/main">
            <a:r>
              <a:t>原文にない情報を補わない指示を作る．</a:t>
            </a:r>
          </a:p>
          <a:p xmlns:a="http://schemas.openxmlformats.org/drawingml/2006/main">
            <a:r>
              <a:t/>
            </a:r>
          </a:p>
          <a:p xmlns:a="http://schemas.openxmlformats.org/drawingml/2006/main">
            <a:r>
              <a:t>目的と，確認すべき内容を具体化する．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演習2：指示の例</a:t>
            </a:r>
          </a:p>
          <a:p xmlns:a="http://schemas.openxmlformats.org/drawingml/2006/main">
            <a:r>
              <a:t/>
            </a:r>
          </a:p>
          <a:p xmlns:a="http://schemas.openxmlformats.org/drawingml/2006/main">
            <a:r>
              <a:t>目安：4分／授業開始から75〜79分</a:t>
            </a:r>
          </a:p>
          <a:p xmlns:a="http://schemas.openxmlformats.org/drawingml/2006/main">
            <a:r>
              <a:t/>
            </a:r>
          </a:p>
          <a:p xmlns:a="http://schemas.openxmlformats.org/drawingml/2006/main">
            <a:r>
              <a:t>この文面は指示の一例で，完全な結果を保証するものではない．200字の条件と日時などの保存が両立するか，出力を読んで確認する．</a:t>
            </a:r>
          </a:p>
          <a:p xmlns:a="http://schemas.openxmlformats.org/drawingml/2006/main">
            <a:r>
              <a:t/>
            </a:r>
          </a:p>
          <a:p xmlns:a="http://schemas.openxmlformats.org/drawingml/2006/main">
            <a:r>
              <a:t>新入生向けに，次の案内文を200字以内で要約してください．</a:t>
            </a:r>
          </a:p>
          <a:p xmlns:a="http://schemas.openxmlformats.org/drawingml/2006/main">
            <a:r>
              <a:t/>
            </a:r>
          </a:p>
          <a:p xmlns:a="http://schemas.openxmlformats.org/drawingml/2006/main">
            <a:r>
              <a:t>日時・場所・持ち物は残してください．</a:t>
            </a:r>
          </a:p>
          <a:p xmlns:a="http://schemas.openxmlformats.org/drawingml/2006/main">
            <a:r>
              <a:t/>
            </a:r>
          </a:p>
          <a:p xmlns:a="http://schemas.openxmlformats.org/drawingml/2006/main">
            <a:r>
              <a:t>原文にない情報は加えず，不明な点は「不明」としてください．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Google：Fine-tuning, distillation, prompting</a:t>
            </a:r>
          </a:p>
          <a:p xmlns:a="http://schemas.openxmlformats.org/drawingml/2006/main">
            <a:r>
              <a:t>https://developers.google.com/machine-learning/crash-course/llm/tuning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生成結果の確認</a:t>
            </a:r>
          </a:p>
          <a:p xmlns:a="http://schemas.openxmlformats.org/drawingml/2006/main">
            <a:r>
              <a:t/>
            </a:r>
          </a:p>
          <a:p xmlns:a="http://schemas.openxmlformats.org/drawingml/2006/main">
            <a:r>
              <a:t>目安：4分／授業開始から79〜83分</a:t>
            </a:r>
          </a:p>
          <a:p xmlns:a="http://schemas.openxmlformats.org/drawingml/2006/main">
            <a:r>
              <a:t/>
            </a:r>
          </a:p>
          <a:p xmlns:a="http://schemas.openxmlformats.org/drawingml/2006/main">
            <a:r>
              <a:t>確認の負担も含めて利用価値を判断する．著作権や個人情報の具体的な制度は第13回で扱う．</a:t>
            </a:r>
          </a:p>
          <a:p xmlns:a="http://schemas.openxmlformats.org/drawingml/2006/main">
            <a:r>
              <a:t/>
            </a:r>
          </a:p>
          <a:p xmlns:a="http://schemas.openxmlformats.org/drawingml/2006/main">
            <a:r>
              <a:t>事実 ／ 一次資料と照合する</a:t>
            </a:r>
          </a:p>
          <a:p xmlns:a="http://schemas.openxmlformats.org/drawingml/2006/main">
            <a:r>
              <a:t>原文の意味 ／ 省略・誤解・追加を読む</a:t>
            </a:r>
          </a:p>
          <a:p xmlns:a="http://schemas.openxmlformats.org/drawingml/2006/main">
            <a:r>
              <a:t>引用・出典 ／ リンク先が主張を支えるかを読む</a:t>
            </a:r>
          </a:p>
          <a:p xmlns:a="http://schemas.openxmlformats.org/drawingml/2006/main">
            <a:r>
              <a:t>利用条件 ／ 入力と出力の権利・規約を確認する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Google：Fine-tuning, distillation, prompting</a:t>
            </a:r>
          </a:p>
          <a:p xmlns:a="http://schemas.openxmlformats.org/drawingml/2006/main">
            <a:r>
              <a:t>https://developers.google.com/machine-learning/crash-course/llm/tuning</a:t>
            </a:r>
          </a:p>
          <a:p xmlns:a="http://schemas.openxmlformats.org/drawingml/2006/main">
            <a:r>
              <a:t/>
            </a:r>
          </a:p>
          <a:p xmlns:a="http://schemas.openxmlformats.org/drawingml/2006/main">
            <a:r>
              <a:t>Lewis et al.：Retrieval-Augmented Generation</a:t>
            </a:r>
          </a:p>
          <a:p xmlns:a="http://schemas.openxmlformats.org/drawingml/2006/main">
            <a:r>
              <a:t>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使い方と限界</a:t>
            </a:r>
          </a:p>
          <a:p xmlns:a="http://schemas.openxmlformats.org/drawingml/2006/main">
            <a:r>
              <a:t/>
            </a:r>
          </a:p>
          <a:p xmlns:a="http://schemas.openxmlformats.org/drawingml/2006/main">
            <a:r>
              <a:t>目安：4分／授業開始から83〜87分</a:t>
            </a:r>
          </a:p>
          <a:p xmlns:a="http://schemas.openxmlformats.org/drawingml/2006/main">
            <a:r>
              <a:t/>
            </a:r>
          </a:p>
          <a:p xmlns:a="http://schemas.openxmlformats.org/drawingml/2006/main">
            <a:r>
              <a:t>回答が流暢なことと根拠が正しいことを区別する．モデルが必ず検索して答えるという説明はしない．人による確認も形式だけでは不十分で，必要な知識と権限が要る．</a:t>
            </a:r>
          </a:p>
          <a:p xmlns:a="http://schemas.openxmlformats.org/drawingml/2006/main">
            <a:r>
              <a:t/>
            </a:r>
          </a:p>
          <a:p xmlns:a="http://schemas.openxmlformats.org/drawingml/2006/main">
            <a:r>
              <a:t>下書き，言い換え，候補出しなどに利用する．</a:t>
            </a:r>
          </a:p>
          <a:p xmlns:a="http://schemas.openxmlformats.org/drawingml/2006/main">
            <a:r>
              <a:t/>
            </a:r>
          </a:p>
          <a:p xmlns:a="http://schemas.openxmlformats.org/drawingml/2006/main">
            <a:r>
              <a:t>もっともらしい誤りや，偏った出力があり得る．</a:t>
            </a:r>
          </a:p>
          <a:p xmlns:a="http://schemas.openxmlformats.org/drawingml/2006/main">
            <a:r>
              <a:t/>
            </a:r>
          </a:p>
          <a:p xmlns:a="http://schemas.openxmlformats.org/drawingml/2006/main">
            <a:r>
              <a:t>重要な判断に使う場合は，確認の担当と手順を決める．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a:p xmlns:a="http://schemas.openxmlformats.org/drawingml/2006/main">
            <a:r>
              <a:t/>
            </a:r>
          </a:p>
          <a:p xmlns:a="http://schemas.openxmlformats.org/drawingml/2006/main">
            <a:r>
              <a:t>Google：Fine-tuning, distillation, prompting</a:t>
            </a:r>
          </a:p>
          <a:p xmlns:a="http://schemas.openxmlformats.org/drawingml/2006/main">
            <a:r>
              <a:t>https://developers.google.com/machine-learning/crash-course/llm/tuning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目安：3分／授業開始から87〜90分</a:t>
            </a:r>
          </a:p>
          <a:p xmlns:a="http://schemas.openxmlformats.org/drawingml/2006/main">
            <a:r>
              <a:t/>
            </a:r>
          </a:p>
          <a:p xmlns:a="http://schemas.openxmlformats.org/drawingml/2006/main">
            <a:r>
              <a:t>出口課題：RAGとファインチューニングで何を変えるか説明する．次回は課題設定から運用までを扱う．</a:t>
            </a:r>
          </a:p>
          <a:p xmlns:a="http://schemas.openxmlformats.org/drawingml/2006/main">
            <a:r>
              <a:t/>
            </a:r>
          </a:p>
          <a:p xmlns:a="http://schemas.openxmlformats.org/drawingml/2006/main">
            <a:r>
              <a:t>LLMは，文脈を使って次のトークンを予測する．</a:t>
            </a:r>
          </a:p>
          <a:p xmlns:a="http://schemas.openxmlformats.org/drawingml/2006/main">
            <a:r>
              <a:t/>
            </a:r>
          </a:p>
          <a:p xmlns:a="http://schemas.openxmlformats.org/drawingml/2006/main">
            <a:r>
              <a:t>生成モデルには，複数の仕組みがある．</a:t>
            </a:r>
          </a:p>
          <a:p xmlns:a="http://schemas.openxmlformats.org/drawingml/2006/main">
            <a:r>
              <a:t/>
            </a:r>
          </a:p>
          <a:p xmlns:a="http://schemas.openxmlformats.org/drawingml/2006/main">
            <a:r>
              <a:t>外部資料の参照と，出力の検証を組み合わせる．</a:t>
            </a:r>
          </a:p>
          <a:p xmlns:a="http://schemas.openxmlformats.org/drawingml/2006/main">
            <a:r>
              <a:t/>
            </a:r>
          </a:p>
          <a:p xmlns:a="http://schemas.openxmlformats.org/drawingml/2006/main">
            <a:r>
              <a:t>次回：AIの応用と開発プロジェクト</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a:p xmlns:a="http://schemas.openxmlformats.org/drawingml/2006/main">
            <a:r>
              <a:t/>
            </a:r>
          </a:p>
          <a:p xmlns:a="http://schemas.openxmlformats.org/drawingml/2006/main">
            <a:r>
              <a:t>Google：Fine-tuning, distillation, prompting</a:t>
            </a:r>
          </a:p>
          <a:p xmlns:a="http://schemas.openxmlformats.org/drawingml/2006/main">
            <a:r>
              <a:t>https://developers.google.com/machine-learning/crash-course/llm/tuning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a:p xmlns:a="http://schemas.openxmlformats.org/drawingml/2006/main">
            <a:r>
              <a:t/>
            </a:r>
          </a:p>
          <a:p xmlns:a="http://schemas.openxmlformats.org/drawingml/2006/main">
            <a:r>
              <a:t>Google：Fine-tuning, distillation, prompting</a:t>
            </a:r>
          </a:p>
          <a:p xmlns:a="http://schemas.openxmlformats.org/drawingml/2006/main">
            <a:r>
              <a:t>https://developers.google.com/machine-learning/crash-course/llm/tuning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13a613ce6641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7f08b0417548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452cc8c64848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65c4b0274844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45977ced784a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ebdb2e58be453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e624c096a214f1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f8e05380bfc41b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c14c9c72117433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e8b9cc17a7e4a1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37d1f9c7d4c4187"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d10155ae14419f" /><Relationship Type="http://schemas.openxmlformats.org/officeDocument/2006/relationships/slideLayout" Target="/ppt/slideLayouts/slideLayout1.xml" Id="Ra5c722096a414ce2" /><Relationship Type="http://schemas.openxmlformats.org/officeDocument/2006/relationships/slideLayout" Target="/ppt/slideLayouts/slideLayout2.xml" Id="R0cc79fc96b974e5e" /><Relationship Type="http://schemas.openxmlformats.org/officeDocument/2006/relationships/slideLayout" Target="/ppt/slideLayouts/slideLayout3.xml" Id="R33caefe25e5d44ab" /><Relationship Type="http://schemas.openxmlformats.org/officeDocument/2006/relationships/slideLayout" Target="/ppt/slideLayouts/slideLayout4.xml" Id="R2372cbe54cf24670" /><Relationship Type="http://schemas.openxmlformats.org/officeDocument/2006/relationships/slideLayout" Target="/ppt/slideLayouts/slideLayout5.xml" Id="Rbe21d2d7056f4e91" /><Relationship Type="http://schemas.openxmlformats.org/officeDocument/2006/relationships/slideLayout" Target="/ppt/slideLayouts/slideLayout6.xml" Id="R21f0024ba74f4a88" /><Relationship Type="http://schemas.openxmlformats.org/officeDocument/2006/relationships/slideLayout" Target="/ppt/slideLayouts/slideLayout7.xml" Id="R7788f98cf65f42e4" /><Relationship Type="http://schemas.openxmlformats.org/officeDocument/2006/relationships/slideLayout" Target="/ppt/slideLayouts/slideLayout8.xml" Id="Ra1cadc464e194c97" /><Relationship Type="http://schemas.openxmlformats.org/officeDocument/2006/relationships/slideLayout" Target="/ppt/slideLayouts/slideLayout9.xml" Id="R018b4ce122454c1f" /><Relationship Type="http://schemas.openxmlformats.org/officeDocument/2006/relationships/slideLayout" Target="/ppt/slideLayouts/slideLayout10.xml" Id="R1e4c6200cdd74b61" /><Relationship Type="http://schemas.openxmlformats.org/officeDocument/2006/relationships/slideLayout" Target="/ppt/slideLayouts/slideLayout11.xml" Id="Rffdac3ebb7654d4b"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5c722096a414ce2"/>
    <p:sldLayoutId xmlns:r="http://schemas.openxmlformats.org/officeDocument/2006/relationships" id="2147483650" r:id="R0cc79fc96b974e5e"/>
    <p:sldLayoutId xmlns:r="http://schemas.openxmlformats.org/officeDocument/2006/relationships" id="2147483651" r:id="R33caefe25e5d44ab"/>
    <p:sldLayoutId xmlns:r="http://schemas.openxmlformats.org/officeDocument/2006/relationships" id="2147483652" r:id="R2372cbe54cf24670"/>
    <p:sldLayoutId xmlns:r="http://schemas.openxmlformats.org/officeDocument/2006/relationships" id="2147483653" r:id="Rbe21d2d7056f4e91"/>
    <p:sldLayoutId xmlns:r="http://schemas.openxmlformats.org/officeDocument/2006/relationships" id="2147483654" r:id="R21f0024ba74f4a88"/>
    <p:sldLayoutId xmlns:r="http://schemas.openxmlformats.org/officeDocument/2006/relationships" id="2147483655" r:id="R7788f98cf65f42e4"/>
    <p:sldLayoutId xmlns:r="http://schemas.openxmlformats.org/officeDocument/2006/relationships" id="2147483656" r:id="Ra1cadc464e194c97"/>
    <p:sldLayoutId xmlns:r="http://schemas.openxmlformats.org/officeDocument/2006/relationships" id="2147483657" r:id="R018b4ce122454c1f"/>
    <p:sldLayoutId xmlns:r="http://schemas.openxmlformats.org/officeDocument/2006/relationships" id="2147483658" r:id="R1e4c6200cdd74b61"/>
    <p:sldLayoutId xmlns:r="http://schemas.openxmlformats.org/officeDocument/2006/relationships" id="2147483659" r:id="Rffdac3ebb7654d4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30561f64b8c74577" /><Relationship Type="http://schemas.openxmlformats.org/officeDocument/2006/relationships/notesSlide" Target="/ppt/notesSlides/notesSlide1.xml" Id="R7329b94d81e048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f767ec741bab459a" /><Relationship Type="http://schemas.openxmlformats.org/officeDocument/2006/relationships/notesSlide" Target="/ppt/notesSlides/notesSlide2.xml" Id="Rb5bca611cc0c4c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2e569fe015b54395" /><Relationship Type="http://schemas.openxmlformats.org/officeDocument/2006/relationships/notesSlide" Target="/ppt/notesSlides/notesSlide3.xml" Id="Rdeec11c4d84444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f337988b1e2a4423" /><Relationship Type="http://schemas.openxmlformats.org/officeDocument/2006/relationships/notesSlide" Target="/ppt/notesSlides/notesSlide4.xml" Id="R562dc82418b748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ccf6474184224564" /><Relationship Type="http://schemas.openxmlformats.org/officeDocument/2006/relationships/notesSlide" Target="/ppt/notesSlides/notesSlide5.xml" Id="R55acde75358243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2d100cebd7864d82" /><Relationship Type="http://schemas.openxmlformats.org/officeDocument/2006/relationships/notesSlide" Target="/ppt/notesSlides/notesSlide6.xml" Id="R04be18154de344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d7a2f306760b47c3" /><Relationship Type="http://schemas.openxmlformats.org/officeDocument/2006/relationships/notesSlide" Target="/ppt/notesSlides/notesSlide7.xml" Id="R4dd0a7b13c7f4e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d89465024585447f" /><Relationship Type="http://schemas.openxmlformats.org/officeDocument/2006/relationships/notesSlide" Target="/ppt/notesSlides/notesSlide8.xml" Id="R6226ffab0c7a47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14c93601d2f04aea" /><Relationship Type="http://schemas.openxmlformats.org/officeDocument/2006/relationships/notesSlide" Target="/ppt/notesSlides/notesSlide9.xml" Id="Rc992d91a8fff4b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d52f2f74b9ed4f7f" /><Relationship Type="http://schemas.openxmlformats.org/officeDocument/2006/relationships/notesSlide" Target="/ppt/notesSlides/notesSlide10.xml" Id="R20fdf0a372c648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7a8159458d8a40a8" /><Relationship Type="http://schemas.openxmlformats.org/officeDocument/2006/relationships/notesSlide" Target="/ppt/notesSlides/notesSlide11.xml" Id="Rb9f4accc36294e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f7de1d0d067b4d3a" /><Relationship Type="http://schemas.openxmlformats.org/officeDocument/2006/relationships/notesSlide" Target="/ppt/notesSlides/notesSlide12.xml" Id="R0017dd896bb547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4dd724c29f9442fa" /><Relationship Type="http://schemas.openxmlformats.org/officeDocument/2006/relationships/notesSlide" Target="/ppt/notesSlides/notesSlide13.xml" Id="Raf282e7e234742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75e7444a0273495b" /><Relationship Type="http://schemas.openxmlformats.org/officeDocument/2006/relationships/notesSlide" Target="/ppt/notesSlides/notesSlide14.xml" Id="R7b13dd908c6947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fb14178a81cf44ab" /><Relationship Type="http://schemas.openxmlformats.org/officeDocument/2006/relationships/notesSlide" Target="/ppt/notesSlides/notesSlide15.xml" Id="R280e25d8a48e4d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4cd66dd5966347e0" /><Relationship Type="http://schemas.openxmlformats.org/officeDocument/2006/relationships/notesSlide" Target="/ppt/notesSlides/notesSlide16.xml" Id="R796a96c6e4b7461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e4dae9e1b17e4c14" /><Relationship Type="http://schemas.openxmlformats.org/officeDocument/2006/relationships/notesSlide" Target="/ppt/notesSlides/notesSlide17.xml" Id="R3626b17d9cb3474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ad8abcc0d5ab425b" /><Relationship Type="http://schemas.openxmlformats.org/officeDocument/2006/relationships/notesSlide" Target="/ppt/notesSlides/notesSlide18.xml" Id="Re73eaa5e7a4e42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c9336eaf32ae4ccb" /><Relationship Type="http://schemas.openxmlformats.org/officeDocument/2006/relationships/notesSlide" Target="/ppt/notesSlides/notesSlide19.xml" Id="Rd244a8fcd9924e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780f891fc5d14384" /><Relationship Type="http://schemas.openxmlformats.org/officeDocument/2006/relationships/notesSlide" Target="/ppt/notesSlides/notesSlide20.xml" Id="Rea7cc87de8c342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b1dd0736a266459a" /><Relationship Type="http://schemas.openxmlformats.org/officeDocument/2006/relationships/notesSlide" Target="/ppt/notesSlides/notesSlide21.xml" Id="R592386defdc942c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1d70aa54538e407d" /><Relationship Type="http://schemas.openxmlformats.org/officeDocument/2006/relationships/notesSlide" Target="/ppt/notesSlides/notesSlide22.xml" Id="R32b95d8f3f6043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ee3be790a57e4c5f" /><Relationship Type="http://schemas.openxmlformats.org/officeDocument/2006/relationships/notesSlide" Target="/ppt/notesSlides/notesSlide23.xml" Id="R8e918188c7e044f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c042a741c3cb43fc" /><Relationship Type="http://schemas.openxmlformats.org/officeDocument/2006/relationships/hyperlink" Target="https://developers.google.com/machine-learning/crash-course/llm" TargetMode="External" Id="R980f04d980b54d06" /><Relationship Type="http://schemas.openxmlformats.org/officeDocument/2006/relationships/hyperlink" Target="https://developers.google.com/machine-learning/crash-course/llm/tuning" TargetMode="External" Id="Rc91a994f112548ae" /><Relationship Type="http://schemas.openxmlformats.org/officeDocument/2006/relationships/hyperlink" Target="https://arxiv.org/abs/1406.2661" TargetMode="External" Id="R2af39c723ae846d9" /><Relationship Type="http://schemas.openxmlformats.org/officeDocument/2006/relationships/notesSlide" Target="/ppt/notesSlides/notesSlide24.xml" Id="R7cabc42864554a1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841c69662ccf4506" /><Relationship Type="http://schemas.openxmlformats.org/officeDocument/2006/relationships/hyperlink" Target="https://arxiv.org/abs/1312.6114" TargetMode="External" Id="R74a2d7dd96a8434f" /><Relationship Type="http://schemas.openxmlformats.org/officeDocument/2006/relationships/hyperlink" Target="https://arxiv.org/abs/2006.11239" TargetMode="External" Id="Re20ac132181d42c7" /><Relationship Type="http://schemas.openxmlformats.org/officeDocument/2006/relationships/hyperlink" Target="https://arxiv.org/abs/2005.11401" TargetMode="External" Id="Rb9c8cea563ef42f6" /><Relationship Type="http://schemas.openxmlformats.org/officeDocument/2006/relationships/notesSlide" Target="/ppt/notesSlides/notesSlide25.xml" Id="R30e9d3da21ef40a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9&#10;G検定">
            <a:extLst xmlns:a="http://schemas.openxmlformats.org/drawingml/2006/main">
              <a:ext uri="{FF2B5EF4-FFF2-40B4-BE49-F238E27FC236}">
                <a16:creationId xmlns:a16="http://schemas.microsoft.com/office/drawing/2014/main" id="{9604B6E9-D84C-4E36-AAF4-1490FC7D8005}"/>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情報技術者（民間資格）9</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生成AIと大規模言語モデル">
            <a:extLst xmlns:a="http://schemas.openxmlformats.org/drawingml/2006/main">
              <a:ext uri="{FF2B5EF4-FFF2-40B4-BE49-F238E27FC236}">
                <a16:creationId xmlns:a16="http://schemas.microsoft.com/office/drawing/2014/main" id="{8ACC99B6-3CA1-4F97-8654-3B3ADD1649DF}"/>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生成AIと大規模言語モデル</a:t>
            </a:r>
          </a:p>
        </p:txBody>
      </p:sp>
      <p:sp>
        <p:nvSpPr>
          <p:cNvPr id="3" name="第9回 ／ 90分 ／ 全25枚">
            <a:extLst xmlns:a="http://schemas.openxmlformats.org/drawingml/2006/main">
              <a:ext uri="{FF2B5EF4-FFF2-40B4-BE49-F238E27FC236}">
                <a16:creationId xmlns:a16="http://schemas.microsoft.com/office/drawing/2014/main" id="{3DD16E52-3CCE-4C1D-AE9D-FA5BB2B6BEF0}"/>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第9回 ／ 90分 ／ 全25枚</a:t>
            </a:r>
          </a:p>
        </p:txBody>
      </p:sp>
      <p:sp>
        <p:nvSpPr>
          <p:cNvPr id="4" name="参照：Google">
            <a:extLst xmlns:a="http://schemas.openxmlformats.org/drawingml/2006/main">
              <a:ext uri="{FF2B5EF4-FFF2-40B4-BE49-F238E27FC236}">
                <a16:creationId xmlns:a16="http://schemas.microsoft.com/office/drawing/2014/main" id="{EADAA36F-AB2B-4B26-BF72-D583CFC5D30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9回　1">
            <a:extLst xmlns:a="http://schemas.openxmlformats.org/drawingml/2006/main">
              <a:ext uri="{FF2B5EF4-FFF2-40B4-BE49-F238E27FC236}">
                <a16:creationId xmlns:a16="http://schemas.microsoft.com/office/drawing/2014/main" id="{D689F8D6-4E1E-4328-BAB5-535121F2E70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a:t>
            </a:r>
          </a:p>
        </p:txBody>
      </p:sp>
    </p:spTree>
    <p:extLst>
      <p:ext uri="{BB962C8B-B14F-4D97-AF65-F5344CB8AC3E}">
        <p14:creationId xmlns:p14="http://schemas.microsoft.com/office/powerpoint/2010/main" val="19095460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C5E13508-07E5-445D-B6A3-5B629FB409AA}"/>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B1BE6FB5-F1AD-4FC8-9512-FFF5D24E63B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識別と生成の違いを説明する．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LLMの学習と，文章生成の流れを説明する．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外部情報の参照と，人による確認を組み合わせる．</a:t>
            </a:r>
          </a:p>
        </p:txBody>
      </p:sp>
      <p:sp>
        <p:nvSpPr>
          <p:cNvPr id="3" name="図・設問：本教材の作例">
            <a:extLst xmlns:a="http://schemas.openxmlformats.org/drawingml/2006/main">
              <a:ext uri="{FF2B5EF4-FFF2-40B4-BE49-F238E27FC236}">
                <a16:creationId xmlns:a16="http://schemas.microsoft.com/office/drawing/2014/main" id="{754A4E93-A0BA-475D-8EE7-FCD1106B87C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9回　2">
            <a:extLst xmlns:a="http://schemas.openxmlformats.org/drawingml/2006/main">
              <a:ext uri="{FF2B5EF4-FFF2-40B4-BE49-F238E27FC236}">
                <a16:creationId xmlns:a16="http://schemas.microsoft.com/office/drawing/2014/main" id="{6148CD82-BF04-4F5F-91B0-B6AB8DDBA57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2</a:t>
            </a:r>
          </a:p>
        </p:txBody>
      </p:sp>
    </p:spTree>
    <p:extLst>
      <p:ext uri="{BB962C8B-B14F-4D97-AF65-F5344CB8AC3E}">
        <p14:creationId xmlns:p14="http://schemas.microsoft.com/office/powerpoint/2010/main" val="12848504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識別と生成">
            <a:extLst xmlns:a="http://schemas.openxmlformats.org/drawingml/2006/main">
              <a:ext uri="{FF2B5EF4-FFF2-40B4-BE49-F238E27FC236}">
                <a16:creationId xmlns:a16="http://schemas.microsoft.com/office/drawing/2014/main" id="{99DFC4BF-6CAE-446D-AF45-9613423CC95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識別と生成</a:t>
            </a:r>
          </a:p>
        </p:txBody>
      </p:sp>
      <p:graphicFrame>
        <p:nvGraphicFramePr>
          <p:cNvPr id="6" name=""/>
          <p:cNvGraphicFramePr/>
          <p:nvPr/>
        </p:nvGraphicFramePr>
        <p:xfrm>
          <a:off xmlns:a="http://schemas.openxmlformats.org/drawingml/2006/main" x="365760" y="1243584"/>
          <a:ext xmlns:a="http://schemas.openxmlformats.org/drawingml/2006/main" cx="8366760" cy="1892808"/>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働き</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入力</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出力の例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識別</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画像や文章</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カテゴリ・数値</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生成</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指示や条件など</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文章・画像・音声など</a:t>
                      </a:r>
                    </a:p>
                  </a:txBody>
                  <a:tcPr marL="76200" marR="76200" marT="47625" marB="47625" anchor="ctr">
                    <a:solidFill>
                      <a:srgbClr val="FFFFFF"/>
                    </a:solidFill>
                  </a:tcPr>
                </a:tc>
              </a:tr>
            </a:tbl>
          </a:graphicData>
        </a:graphic>
      </p:graphicFrame>
      <p:sp>
        <p:nvSpPr>
          <p:cNvPr id="3" name="参照：Google／Goodfellow et al.">
            <a:extLst xmlns:a="http://schemas.openxmlformats.org/drawingml/2006/main">
              <a:ext uri="{FF2B5EF4-FFF2-40B4-BE49-F238E27FC236}">
                <a16:creationId xmlns:a16="http://schemas.microsoft.com/office/drawing/2014/main" id="{5010BE9E-0874-4284-9F7E-7CE3EA43CC9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参照：Google／Goodfellow et al.</a:t>
            </a:r>
          </a:p>
        </p:txBody>
      </p:sp>
      <p:sp>
        <p:nvSpPr>
          <p:cNvPr id="4" name="第9回　3">
            <a:extLst xmlns:a="http://schemas.openxmlformats.org/drawingml/2006/main">
              <a:ext uri="{FF2B5EF4-FFF2-40B4-BE49-F238E27FC236}">
                <a16:creationId xmlns:a16="http://schemas.microsoft.com/office/drawing/2014/main" id="{66705D84-6769-409A-90C9-1544B3D9D40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3</a:t>
            </a:r>
          </a:p>
        </p:txBody>
      </p:sp>
    </p:spTree>
    <p:extLst>
      <p:ext uri="{BB962C8B-B14F-4D97-AF65-F5344CB8AC3E}">
        <p14:creationId xmlns:p14="http://schemas.microsoft.com/office/powerpoint/2010/main" val="2099528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大規模言語モデル（LLM）">
            <a:extLst xmlns:a="http://schemas.openxmlformats.org/drawingml/2006/main">
              <a:ext uri="{FF2B5EF4-FFF2-40B4-BE49-F238E27FC236}">
                <a16:creationId xmlns:a16="http://schemas.microsoft.com/office/drawing/2014/main" id="{4B1F8017-B8F1-4518-A1E8-570C6B47341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大規模言語モデル（LLM）</a:t>
            </a:r>
          </a:p>
        </p:txBody>
      </p:sp>
      <p:sp>
        <p:nvSpPr>
          <p:cNvPr id="2" name="">
            <a:extLst xmlns:a="http://schemas.openxmlformats.org/drawingml/2006/main">
              <a:ext uri="{FF2B5EF4-FFF2-40B4-BE49-F238E27FC236}">
                <a16:creationId xmlns:a16="http://schemas.microsoft.com/office/drawing/2014/main" id="{33D82459-365A-4EDF-BF0E-5D82686C981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大量のテキストなどから，言語のパターンを学ぶ．</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文章生成では，次のトークンの分布を予測する．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指示や文脈を入力として，多くの課題へ利用する．</a:t>
            </a:r>
          </a:p>
        </p:txBody>
      </p:sp>
      <p:sp>
        <p:nvSpPr>
          <p:cNvPr id="3" name="参照：Google">
            <a:extLst xmlns:a="http://schemas.openxmlformats.org/drawingml/2006/main">
              <a:ext uri="{FF2B5EF4-FFF2-40B4-BE49-F238E27FC236}">
                <a16:creationId xmlns:a16="http://schemas.microsoft.com/office/drawing/2014/main" id="{D508ADC8-D11B-4428-97FC-353153BA3E2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9回　4">
            <a:extLst xmlns:a="http://schemas.openxmlformats.org/drawingml/2006/main">
              <a:ext uri="{FF2B5EF4-FFF2-40B4-BE49-F238E27FC236}">
                <a16:creationId xmlns:a16="http://schemas.microsoft.com/office/drawing/2014/main" id="{0F781CC2-3F4A-4AA3-BA57-4AE6E4CE1DC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4</a:t>
            </a:r>
          </a:p>
        </p:txBody>
      </p:sp>
    </p:spTree>
    <p:extLst>
      <p:ext uri="{BB962C8B-B14F-4D97-AF65-F5344CB8AC3E}">
        <p14:creationId xmlns:p14="http://schemas.microsoft.com/office/powerpoint/2010/main" val="2575015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文章生成の繰り返し">
            <a:extLst xmlns:a="http://schemas.openxmlformats.org/drawingml/2006/main">
              <a:ext uri="{FF2B5EF4-FFF2-40B4-BE49-F238E27FC236}">
                <a16:creationId xmlns:a16="http://schemas.microsoft.com/office/drawing/2014/main" id="{38F4DBDF-3F65-49C8-B65C-3611BF8F8D9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文章生成の繰り返し</a:t>
            </a:r>
          </a:p>
        </p:txBody>
      </p:sp>
      <p:sp>
        <p:nvSpPr>
          <p:cNvPr id="2" name="現在までの&#10;トークン">
            <a:extLst xmlns:a="http://schemas.openxmlformats.org/drawingml/2006/main">
              <a:ext uri="{FF2B5EF4-FFF2-40B4-BE49-F238E27FC236}">
                <a16:creationId xmlns:a16="http://schemas.microsoft.com/office/drawing/2014/main" id="{6A875814-6684-4C0B-8091-BD267BC053B8}"/>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現在までの</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トークン</a:t>
            </a:r>
          </a:p>
        </p:txBody>
      </p:sp>
      <p:sp>
        <p:nvSpPr>
          <p:cNvPr id="3" name="次のトークンの&#10;分布を計算">
            <a:extLst xmlns:a="http://schemas.openxmlformats.org/drawingml/2006/main">
              <a:ext uri="{FF2B5EF4-FFF2-40B4-BE49-F238E27FC236}">
                <a16:creationId xmlns:a16="http://schemas.microsoft.com/office/drawing/2014/main" id="{D3B51E23-F529-4022-A82D-7AF0B544E050}"/>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次のトークンの</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分布を計算</a:t>
            </a:r>
          </a:p>
        </p:txBody>
      </p:sp>
      <p:sp>
        <p:nvSpPr>
          <p:cNvPr id="4" name="一つを選び&#10;入力に追加">
            <a:extLst xmlns:a="http://schemas.openxmlformats.org/drawingml/2006/main">
              <a:ext uri="{FF2B5EF4-FFF2-40B4-BE49-F238E27FC236}">
                <a16:creationId xmlns:a16="http://schemas.microsoft.com/office/drawing/2014/main" id="{0D57C35D-972B-4B5B-A870-6B77EC9FD90D}"/>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一つを選び</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入力に追加</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Google">
            <a:extLst xmlns:a="http://schemas.openxmlformats.org/drawingml/2006/main">
              <a:ext uri="{FF2B5EF4-FFF2-40B4-BE49-F238E27FC236}">
                <a16:creationId xmlns:a16="http://schemas.microsoft.com/office/drawing/2014/main" id="{3AA4ED63-B3E9-4E20-898D-9AD4A1B2880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8" name="第9回　5">
            <a:extLst xmlns:a="http://schemas.openxmlformats.org/drawingml/2006/main">
              <a:ext uri="{FF2B5EF4-FFF2-40B4-BE49-F238E27FC236}">
                <a16:creationId xmlns:a16="http://schemas.microsoft.com/office/drawing/2014/main" id="{44E50BBA-4572-4278-A678-04407A6955D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5</a:t>
            </a:r>
          </a:p>
        </p:txBody>
      </p:sp>
    </p:spTree>
    <p:extLst>
      <p:ext uri="{BB962C8B-B14F-4D97-AF65-F5344CB8AC3E}">
        <p14:creationId xmlns:p14="http://schemas.microsoft.com/office/powerpoint/2010/main" val="11489941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次のトークン">
            <a:extLst xmlns:a="http://schemas.openxmlformats.org/drawingml/2006/main">
              <a:ext uri="{FF2B5EF4-FFF2-40B4-BE49-F238E27FC236}">
                <a16:creationId xmlns:a16="http://schemas.microsoft.com/office/drawing/2014/main" id="{459F5183-620C-4C61-AF96-E510DC73377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演習1：次のトークン</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候補</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予測した確率</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晴れ</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0.6</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雨</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0.3</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雪</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0.1</a:t>
                      </a:r>
                    </a:p>
                  </a:txBody>
                  <a:tcPr marL="76200" marR="76200" marT="47625" marB="47625" anchor="ctr">
                    <a:solidFill>
                      <a:srgbClr val="FFFFFF"/>
                    </a:solidFill>
                  </a:tcPr>
                </a:tc>
              </a:tr>
            </a:tbl>
          </a:graphicData>
        </a:graphic>
      </p:graphicFrame>
      <p:sp>
        <p:nvSpPr>
          <p:cNvPr id="3" name="最大値を選ぶ場合と，確率で選ぶ場合を比べる．">
            <a:extLst xmlns:a="http://schemas.openxmlformats.org/drawingml/2006/main">
              <a:ext uri="{FF2B5EF4-FFF2-40B4-BE49-F238E27FC236}">
                <a16:creationId xmlns:a16="http://schemas.microsoft.com/office/drawing/2014/main" id="{C657A6EC-9C25-4E22-B8A8-5C7910C74085}"/>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最大値を選ぶ場合と，確率で選ぶ場合を比べる．</a:t>
            </a:r>
          </a:p>
        </p:txBody>
      </p:sp>
      <p:sp>
        <p:nvSpPr>
          <p:cNvPr id="4" name="参照：Google">
            <a:extLst xmlns:a="http://schemas.openxmlformats.org/drawingml/2006/main">
              <a:ext uri="{FF2B5EF4-FFF2-40B4-BE49-F238E27FC236}">
                <a16:creationId xmlns:a16="http://schemas.microsoft.com/office/drawing/2014/main" id="{229DF5EF-5D7D-49BB-973E-E10246A0882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9回　6">
            <a:extLst xmlns:a="http://schemas.openxmlformats.org/drawingml/2006/main">
              <a:ext uri="{FF2B5EF4-FFF2-40B4-BE49-F238E27FC236}">
                <a16:creationId xmlns:a16="http://schemas.microsoft.com/office/drawing/2014/main" id="{78BDC3FA-B5BE-4B32-A38B-6974DECB9DB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6</a:t>
            </a:r>
          </a:p>
        </p:txBody>
      </p:sp>
    </p:spTree>
    <p:extLst>
      <p:ext uri="{BB962C8B-B14F-4D97-AF65-F5344CB8AC3E}">
        <p14:creationId xmlns:p14="http://schemas.microsoft.com/office/powerpoint/2010/main" val="14975964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1：解答">
            <a:extLst xmlns:a="http://schemas.openxmlformats.org/drawingml/2006/main">
              <a:ext uri="{FF2B5EF4-FFF2-40B4-BE49-F238E27FC236}">
                <a16:creationId xmlns:a16="http://schemas.microsoft.com/office/drawing/2014/main" id="{1BA394DC-FD10-4636-A1C8-5F0551B5D52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演習1：解答</a:t>
            </a:r>
          </a:p>
        </p:txBody>
      </p:sp>
      <p:sp>
        <p:nvSpPr>
          <p:cNvPr id="2" name="">
            <a:extLst xmlns:a="http://schemas.openxmlformats.org/drawingml/2006/main">
              <a:ext uri="{FF2B5EF4-FFF2-40B4-BE49-F238E27FC236}">
                <a16:creationId xmlns:a16="http://schemas.microsoft.com/office/drawing/2014/main" id="{C1ACF1AC-EE13-4865-977F-1DBFDB30EE9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最大値を選ぶ方法では，この例は「晴れ」．</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確率に従って選ぶ方法では，「雨」「雪」も選び得る．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同じ指示でも，選び方によって結果が変わる．</a:t>
            </a:r>
          </a:p>
        </p:txBody>
      </p:sp>
      <p:sp>
        <p:nvSpPr>
          <p:cNvPr id="3" name="参照：Google">
            <a:extLst xmlns:a="http://schemas.openxmlformats.org/drawingml/2006/main">
              <a:ext uri="{FF2B5EF4-FFF2-40B4-BE49-F238E27FC236}">
                <a16:creationId xmlns:a16="http://schemas.microsoft.com/office/drawing/2014/main" id="{2EEEB397-C677-45A6-A922-1EDA38B673B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9回　7">
            <a:extLst xmlns:a="http://schemas.openxmlformats.org/drawingml/2006/main">
              <a:ext uri="{FF2B5EF4-FFF2-40B4-BE49-F238E27FC236}">
                <a16:creationId xmlns:a16="http://schemas.microsoft.com/office/drawing/2014/main" id="{D9D4FF39-8243-43A8-A45B-3F69BC52595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7</a:t>
            </a:r>
          </a:p>
        </p:txBody>
      </p:sp>
    </p:spTree>
    <p:extLst>
      <p:ext uri="{BB962C8B-B14F-4D97-AF65-F5344CB8AC3E}">
        <p14:creationId xmlns:p14="http://schemas.microsoft.com/office/powerpoint/2010/main" val="21078468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事前学習の考え方">
            <a:extLst xmlns:a="http://schemas.openxmlformats.org/drawingml/2006/main">
              <a:ext uri="{FF2B5EF4-FFF2-40B4-BE49-F238E27FC236}">
                <a16:creationId xmlns:a16="http://schemas.microsoft.com/office/drawing/2014/main" id="{E2EEC005-45FB-495D-AD64-347594BAA00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事前学習の考え方</a:t>
            </a:r>
          </a:p>
        </p:txBody>
      </p:sp>
      <p:sp>
        <p:nvSpPr>
          <p:cNvPr id="2" name="">
            <a:extLst xmlns:a="http://schemas.openxmlformats.org/drawingml/2006/main">
              <a:ext uri="{FF2B5EF4-FFF2-40B4-BE49-F238E27FC236}">
                <a16:creationId xmlns:a16="http://schemas.microsoft.com/office/drawing/2014/main" id="{9CCC8C7D-00E2-4888-A680-768CD78E63E9}"/>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テキストの一部から，別の部分を予測して学ぶ．</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大量の例で，重みを調整する．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人が全ての文へ手作業で正解ラベルを付ける必要はない．</a:t>
            </a:r>
          </a:p>
        </p:txBody>
      </p:sp>
      <p:sp>
        <p:nvSpPr>
          <p:cNvPr id="3" name="参照：Google／Devlin et al.">
            <a:extLst xmlns:a="http://schemas.openxmlformats.org/drawingml/2006/main">
              <a:ext uri="{FF2B5EF4-FFF2-40B4-BE49-F238E27FC236}">
                <a16:creationId xmlns:a16="http://schemas.microsoft.com/office/drawing/2014/main" id="{A964D8E3-035C-4018-8610-9971CC3323B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参照：Google／Devlin et al.</a:t>
            </a:r>
          </a:p>
        </p:txBody>
      </p:sp>
      <p:sp>
        <p:nvSpPr>
          <p:cNvPr id="4" name="第9回　8">
            <a:extLst xmlns:a="http://schemas.openxmlformats.org/drawingml/2006/main">
              <a:ext uri="{FF2B5EF4-FFF2-40B4-BE49-F238E27FC236}">
                <a16:creationId xmlns:a16="http://schemas.microsoft.com/office/drawing/2014/main" id="{BC36BE3D-0414-4D17-B404-1944F40820D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8</a:t>
            </a:r>
          </a:p>
        </p:txBody>
      </p:sp>
    </p:spTree>
    <p:extLst>
      <p:ext uri="{BB962C8B-B14F-4D97-AF65-F5344CB8AC3E}">
        <p14:creationId xmlns:p14="http://schemas.microsoft.com/office/powerpoint/2010/main" val="5177483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追加学習とプロンプト">
            <a:extLst xmlns:a="http://schemas.openxmlformats.org/drawingml/2006/main">
              <a:ext uri="{FF2B5EF4-FFF2-40B4-BE49-F238E27FC236}">
                <a16:creationId xmlns:a16="http://schemas.microsoft.com/office/drawing/2014/main" id="{D1F43785-8489-4B93-8A0B-A6871402D03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追加学習とプロンプト</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方法</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変えるもの</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ファインチューニング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課題の例を使い，パラメータを更新</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プロンプトの工夫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指示や例を入力に加える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人の評価を使う調整</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望ましい応答へ近づくよう追加で学ぶ</a:t>
                      </a:r>
                    </a:p>
                  </a:txBody>
                  <a:tcPr marL="76200" marR="76200" marT="47625" marB="47625" anchor="ctr">
                    <a:solidFill>
                      <a:srgbClr val="FFFFFF"/>
                    </a:solidFill>
                  </a:tcPr>
                </a:tc>
              </a:tr>
            </a:tbl>
          </a:graphicData>
        </a:graphic>
      </p:graphicFrame>
      <p:sp>
        <p:nvSpPr>
          <p:cNvPr id="3" name="参照：Google">
            <a:extLst xmlns:a="http://schemas.openxmlformats.org/drawingml/2006/main">
              <a:ext uri="{FF2B5EF4-FFF2-40B4-BE49-F238E27FC236}">
                <a16:creationId xmlns:a16="http://schemas.microsoft.com/office/drawing/2014/main" id="{ADB3624A-794F-4017-898D-18E6942A290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9回　9">
            <a:extLst xmlns:a="http://schemas.openxmlformats.org/drawingml/2006/main">
              <a:ext uri="{FF2B5EF4-FFF2-40B4-BE49-F238E27FC236}">
                <a16:creationId xmlns:a16="http://schemas.microsoft.com/office/drawing/2014/main" id="{EC9CF100-77C0-4847-B9D1-05BCE769D6A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9</a:t>
            </a:r>
          </a:p>
        </p:txBody>
      </p:sp>
    </p:spTree>
    <p:extLst>
      <p:ext uri="{BB962C8B-B14F-4D97-AF65-F5344CB8AC3E}">
        <p14:creationId xmlns:p14="http://schemas.microsoft.com/office/powerpoint/2010/main" val="5678106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入力の文脈と制約">
            <a:extLst xmlns:a="http://schemas.openxmlformats.org/drawingml/2006/main">
              <a:ext uri="{FF2B5EF4-FFF2-40B4-BE49-F238E27FC236}">
                <a16:creationId xmlns:a16="http://schemas.microsoft.com/office/drawing/2014/main" id="{D01EA294-4F1A-495B-8F35-24F268A5455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入力の文脈と制約</a:t>
            </a:r>
          </a:p>
        </p:txBody>
      </p:sp>
      <p:sp>
        <p:nvSpPr>
          <p:cNvPr id="2" name="">
            <a:extLst xmlns:a="http://schemas.openxmlformats.org/drawingml/2006/main">
              <a:ext uri="{FF2B5EF4-FFF2-40B4-BE49-F238E27FC236}">
                <a16:creationId xmlns:a16="http://schemas.microsoft.com/office/drawing/2014/main" id="{5A769549-0446-4CCC-948B-92B540DCF0E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入力の長さには，モデルやサービスの制約がある．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必要な背景情報と，求める出力を具体的に書く．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長い入力の全てを，正確に使えるとは限らない．</a:t>
            </a:r>
          </a:p>
        </p:txBody>
      </p:sp>
      <p:sp>
        <p:nvSpPr>
          <p:cNvPr id="3" name="参照：Google">
            <a:extLst xmlns:a="http://schemas.openxmlformats.org/drawingml/2006/main">
              <a:ext uri="{FF2B5EF4-FFF2-40B4-BE49-F238E27FC236}">
                <a16:creationId xmlns:a16="http://schemas.microsoft.com/office/drawing/2014/main" id="{3F1E551B-858A-4A7F-946B-029381FC858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9回　10">
            <a:extLst xmlns:a="http://schemas.openxmlformats.org/drawingml/2006/main">
              <a:ext uri="{FF2B5EF4-FFF2-40B4-BE49-F238E27FC236}">
                <a16:creationId xmlns:a16="http://schemas.microsoft.com/office/drawing/2014/main" id="{1918A46B-01E8-4112-9737-1402D254C01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10</a:t>
            </a:r>
          </a:p>
        </p:txBody>
      </p:sp>
    </p:spTree>
    <p:extLst>
      <p:ext uri="{BB962C8B-B14F-4D97-AF65-F5344CB8AC3E}">
        <p14:creationId xmlns:p14="http://schemas.microsoft.com/office/powerpoint/2010/main" val="20582864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生成の多様さと温度">
            <a:extLst xmlns:a="http://schemas.openxmlformats.org/drawingml/2006/main">
              <a:ext uri="{FF2B5EF4-FFF2-40B4-BE49-F238E27FC236}">
                <a16:creationId xmlns:a16="http://schemas.microsoft.com/office/drawing/2014/main" id="{0221EA76-734F-4D90-AF9E-0E899A410A3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生成の多様さと温度</a:t>
            </a:r>
          </a:p>
        </p:txBody>
      </p:sp>
      <p:sp>
        <p:nvSpPr>
          <p:cNvPr id="2" name="">
            <a:extLst xmlns:a="http://schemas.openxmlformats.org/drawingml/2006/main">
              <a:ext uri="{FF2B5EF4-FFF2-40B4-BE49-F238E27FC236}">
                <a16:creationId xmlns:a16="http://schemas.microsoft.com/office/drawing/2014/main" id="{3070B81F-0A41-4FB3-9423-F38DF8FC51F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温度などの設定で，候補の分布や選び方を変える．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多様な出力が，必要な課題もある．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設定を変えるだけで，事実の正しさは保証できない．</a:t>
            </a:r>
          </a:p>
        </p:txBody>
      </p:sp>
      <p:sp>
        <p:nvSpPr>
          <p:cNvPr id="3" name="参照：Google">
            <a:extLst xmlns:a="http://schemas.openxmlformats.org/drawingml/2006/main">
              <a:ext uri="{FF2B5EF4-FFF2-40B4-BE49-F238E27FC236}">
                <a16:creationId xmlns:a16="http://schemas.microsoft.com/office/drawing/2014/main" id="{91F21145-BB50-423D-A3A6-FEA59B264C5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9回　11">
            <a:extLst xmlns:a="http://schemas.openxmlformats.org/drawingml/2006/main">
              <a:ext uri="{FF2B5EF4-FFF2-40B4-BE49-F238E27FC236}">
                <a16:creationId xmlns:a16="http://schemas.microsoft.com/office/drawing/2014/main" id="{4A45C8A0-A3F3-4DF6-82B6-3165F481EF1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11</a:t>
            </a:r>
          </a:p>
        </p:txBody>
      </p:sp>
    </p:spTree>
    <p:extLst>
      <p:ext uri="{BB962C8B-B14F-4D97-AF65-F5344CB8AC3E}">
        <p14:creationId xmlns:p14="http://schemas.microsoft.com/office/powerpoint/2010/main" val="2702370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基盤モデルとマルチモーダル">
            <a:extLst xmlns:a="http://schemas.openxmlformats.org/drawingml/2006/main">
              <a:ext uri="{FF2B5EF4-FFF2-40B4-BE49-F238E27FC236}">
                <a16:creationId xmlns:a16="http://schemas.microsoft.com/office/drawing/2014/main" id="{4D41EA7A-D04E-4FA9-92C6-AD812D15212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基盤モデルとマルチモーダル</a:t>
            </a:r>
          </a:p>
        </p:txBody>
      </p:sp>
      <p:graphicFrame>
        <p:nvGraphicFramePr>
          <p:cNvPr id="6" name=""/>
          <p:cNvGraphicFramePr/>
          <p:nvPr/>
        </p:nvGraphicFramePr>
        <p:xfrm>
          <a:off xmlns:a="http://schemas.openxmlformats.org/drawingml/2006/main" x="365760" y="1243584"/>
          <a:ext xmlns:a="http://schemas.openxmlformats.org/drawingml/2006/main" cx="8366760" cy="1892808"/>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考え方</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基盤モデル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大規模な学習結果を，多くの課題の基盤にする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マルチモーダル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文章と画像など，複数種類の入力・出力を扱う</a:t>
                      </a:r>
                    </a:p>
                  </a:txBody>
                  <a:tcPr marL="76200" marR="76200" marT="47625" marB="47625" anchor="ctr">
                    <a:solidFill>
                      <a:srgbClr val="FFFFFF"/>
                    </a:solidFill>
                  </a:tcPr>
                </a:tc>
              </a:tr>
            </a:tbl>
          </a:graphicData>
        </a:graphic>
      </p:graphicFrame>
      <p:sp>
        <p:nvSpPr>
          <p:cNvPr id="3" name="参照：Google">
            <a:extLst xmlns:a="http://schemas.openxmlformats.org/drawingml/2006/main">
              <a:ext uri="{FF2B5EF4-FFF2-40B4-BE49-F238E27FC236}">
                <a16:creationId xmlns:a16="http://schemas.microsoft.com/office/drawing/2014/main" id="{FF726F23-08D8-4FDF-A0B4-5127F61460E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9回　12">
            <a:extLst xmlns:a="http://schemas.openxmlformats.org/drawingml/2006/main">
              <a:ext uri="{FF2B5EF4-FFF2-40B4-BE49-F238E27FC236}">
                <a16:creationId xmlns:a16="http://schemas.microsoft.com/office/drawing/2014/main" id="{C10BE284-F64A-4754-A667-84D40A1AB31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12</a:t>
            </a:r>
          </a:p>
        </p:txBody>
      </p:sp>
    </p:spTree>
    <p:extLst>
      <p:ext uri="{BB962C8B-B14F-4D97-AF65-F5344CB8AC3E}">
        <p14:creationId xmlns:p14="http://schemas.microsoft.com/office/powerpoint/2010/main" val="5055108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Nの基本的な考え方">
            <a:extLst xmlns:a="http://schemas.openxmlformats.org/drawingml/2006/main">
              <a:ext uri="{FF2B5EF4-FFF2-40B4-BE49-F238E27FC236}">
                <a16:creationId xmlns:a16="http://schemas.microsoft.com/office/drawing/2014/main" id="{80CBDF1E-52DF-46C7-8DDF-2E2B7D8DD98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GANの基本的な考え方</a:t>
            </a:r>
          </a:p>
        </p:txBody>
      </p:sp>
      <p:sp>
        <p:nvSpPr>
          <p:cNvPr id="2" name="生成器&#10;データを作る">
            <a:extLst xmlns:a="http://schemas.openxmlformats.org/drawingml/2006/main">
              <a:ext uri="{FF2B5EF4-FFF2-40B4-BE49-F238E27FC236}">
                <a16:creationId xmlns:a16="http://schemas.microsoft.com/office/drawing/2014/main" id="{29F82907-EA3A-401B-A82D-DA51AF642141}"/>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生成器</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データを作る</a:t>
            </a:r>
          </a:p>
        </p:txBody>
      </p:sp>
      <p:sp>
        <p:nvSpPr>
          <p:cNvPr id="3" name="識別器&#10;実データと区別">
            <a:extLst xmlns:a="http://schemas.openxmlformats.org/drawingml/2006/main">
              <a:ext uri="{FF2B5EF4-FFF2-40B4-BE49-F238E27FC236}">
                <a16:creationId xmlns:a16="http://schemas.microsoft.com/office/drawing/2014/main" id="{C55326CE-5B99-4F17-B380-E8AF1A05D1B4}"/>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識別器</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実データと区別</a:t>
            </a:r>
          </a:p>
        </p:txBody>
      </p:sp>
      <p:sp>
        <p:nvSpPr>
          <p:cNvPr id="4" name="二つのモデルを&#10;競うように学習">
            <a:extLst xmlns:a="http://schemas.openxmlformats.org/drawingml/2006/main">
              <a:ext uri="{FF2B5EF4-FFF2-40B4-BE49-F238E27FC236}">
                <a16:creationId xmlns:a16="http://schemas.microsoft.com/office/drawing/2014/main" id="{D5BE664D-BA09-47A6-943E-F6DE077F3D12}"/>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二つのモデルを</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競うように学習</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Goodfellow et al.">
            <a:extLst xmlns:a="http://schemas.openxmlformats.org/drawingml/2006/main">
              <a:ext uri="{FF2B5EF4-FFF2-40B4-BE49-F238E27FC236}">
                <a16:creationId xmlns:a16="http://schemas.microsoft.com/office/drawing/2014/main" id="{6E5B5276-26F4-4B92-B7A5-9C96E0302CF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参照：Goodfellow et al.</a:t>
            </a:r>
          </a:p>
        </p:txBody>
      </p:sp>
      <p:sp>
        <p:nvSpPr>
          <p:cNvPr id="8" name="第9回　13">
            <a:extLst xmlns:a="http://schemas.openxmlformats.org/drawingml/2006/main">
              <a:ext uri="{FF2B5EF4-FFF2-40B4-BE49-F238E27FC236}">
                <a16:creationId xmlns:a16="http://schemas.microsoft.com/office/drawing/2014/main" id="{A9F77445-F9E7-4B42-97E3-03D1DD98D06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13</a:t>
            </a:r>
          </a:p>
        </p:txBody>
      </p:sp>
    </p:spTree>
    <p:extLst>
      <p:ext uri="{BB962C8B-B14F-4D97-AF65-F5344CB8AC3E}">
        <p14:creationId xmlns:p14="http://schemas.microsoft.com/office/powerpoint/2010/main" val="17267954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AEの基本的な考え方">
            <a:extLst xmlns:a="http://schemas.openxmlformats.org/drawingml/2006/main">
              <a:ext uri="{FF2B5EF4-FFF2-40B4-BE49-F238E27FC236}">
                <a16:creationId xmlns:a16="http://schemas.microsoft.com/office/drawing/2014/main" id="{6525D01F-DA1E-4D71-A883-C766156602F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VAEの基本的な考え方</a:t>
            </a:r>
          </a:p>
        </p:txBody>
      </p:sp>
      <p:sp>
        <p:nvSpPr>
          <p:cNvPr id="2" name="入力を&#10;潜在変数の分布へ">
            <a:extLst xmlns:a="http://schemas.openxmlformats.org/drawingml/2006/main">
              <a:ext uri="{FF2B5EF4-FFF2-40B4-BE49-F238E27FC236}">
                <a16:creationId xmlns:a16="http://schemas.microsoft.com/office/drawing/2014/main" id="{1CC3C1DF-023A-4FD7-BEC7-8BA9FE8EF6CF}"/>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入力を</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潜在変数の分布へ</a:t>
            </a:r>
          </a:p>
        </p:txBody>
      </p:sp>
      <p:sp>
        <p:nvSpPr>
          <p:cNvPr id="3" name="分布から&#10;値を取り出す">
            <a:extLst xmlns:a="http://schemas.openxmlformats.org/drawingml/2006/main">
              <a:ext uri="{FF2B5EF4-FFF2-40B4-BE49-F238E27FC236}">
                <a16:creationId xmlns:a16="http://schemas.microsoft.com/office/drawing/2014/main" id="{073D08D1-78B6-4D97-ABBA-22EB19868805}"/>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分布から</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値を取り出す</a:t>
            </a:r>
          </a:p>
        </p:txBody>
      </p:sp>
      <p:sp>
        <p:nvSpPr>
          <p:cNvPr id="4" name="デコーダで&#10;データへ変換">
            <a:extLst xmlns:a="http://schemas.openxmlformats.org/drawingml/2006/main">
              <a:ext uri="{FF2B5EF4-FFF2-40B4-BE49-F238E27FC236}">
                <a16:creationId xmlns:a16="http://schemas.microsoft.com/office/drawing/2014/main" id="{70F23B1C-2E6C-4807-99AA-862FC00EE062}"/>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デコーダで</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データへ変換</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Kingma &amp; Welling">
            <a:extLst xmlns:a="http://schemas.openxmlformats.org/drawingml/2006/main">
              <a:ext uri="{FF2B5EF4-FFF2-40B4-BE49-F238E27FC236}">
                <a16:creationId xmlns:a16="http://schemas.microsoft.com/office/drawing/2014/main" id="{2167ED82-2664-439F-9090-8EDD2B76E76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参照：Kingma &amp; Welling</a:t>
            </a:r>
          </a:p>
        </p:txBody>
      </p:sp>
      <p:sp>
        <p:nvSpPr>
          <p:cNvPr id="8" name="第9回　14">
            <a:extLst xmlns:a="http://schemas.openxmlformats.org/drawingml/2006/main">
              <a:ext uri="{FF2B5EF4-FFF2-40B4-BE49-F238E27FC236}">
                <a16:creationId xmlns:a16="http://schemas.microsoft.com/office/drawing/2014/main" id="{764E4F5D-C262-47E3-B985-F2DC4D006EA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14</a:t>
            </a:r>
          </a:p>
        </p:txBody>
      </p:sp>
    </p:spTree>
    <p:extLst>
      <p:ext uri="{BB962C8B-B14F-4D97-AF65-F5344CB8AC3E}">
        <p14:creationId xmlns:p14="http://schemas.microsoft.com/office/powerpoint/2010/main" val="11753575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拡散モデルの考え方">
            <a:extLst xmlns:a="http://schemas.openxmlformats.org/drawingml/2006/main">
              <a:ext uri="{FF2B5EF4-FFF2-40B4-BE49-F238E27FC236}">
                <a16:creationId xmlns:a16="http://schemas.microsoft.com/office/drawing/2014/main" id="{BD78C970-F384-47C1-ADEF-D1CEEA9F11D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拡散モデルの考え方</a:t>
            </a:r>
          </a:p>
        </p:txBody>
      </p:sp>
      <p:sp>
        <p:nvSpPr>
          <p:cNvPr id="2" name="学習時&#10;ノイズを加える">
            <a:extLst xmlns:a="http://schemas.openxmlformats.org/drawingml/2006/main">
              <a:ext uri="{FF2B5EF4-FFF2-40B4-BE49-F238E27FC236}">
                <a16:creationId xmlns:a16="http://schemas.microsoft.com/office/drawing/2014/main" id="{DE1F1AD5-639B-491D-81F8-E3547B0AF4F7}"/>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学習時</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ノイズを加える</a:t>
            </a:r>
          </a:p>
        </p:txBody>
      </p:sp>
      <p:sp>
        <p:nvSpPr>
          <p:cNvPr id="3" name="ノイズを除く&#10;計算を学ぶ">
            <a:extLst xmlns:a="http://schemas.openxmlformats.org/drawingml/2006/main">
              <a:ext uri="{FF2B5EF4-FFF2-40B4-BE49-F238E27FC236}">
                <a16:creationId xmlns:a16="http://schemas.microsoft.com/office/drawing/2014/main" id="{C4B76618-8663-4101-A80E-9012A4717B46}"/>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ノイズを除く</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計算を学ぶ</a:t>
            </a:r>
          </a:p>
        </p:txBody>
      </p:sp>
      <p:sp>
        <p:nvSpPr>
          <p:cNvPr id="4" name="生成時&#10;段階的に除く">
            <a:extLst xmlns:a="http://schemas.openxmlformats.org/drawingml/2006/main">
              <a:ext uri="{FF2B5EF4-FFF2-40B4-BE49-F238E27FC236}">
                <a16:creationId xmlns:a16="http://schemas.microsoft.com/office/drawing/2014/main" id="{95B84481-3634-4672-8DBE-719DDE83D8F8}"/>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生成時</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段階的に除く</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Ho et al.">
            <a:extLst xmlns:a="http://schemas.openxmlformats.org/drawingml/2006/main">
              <a:ext uri="{FF2B5EF4-FFF2-40B4-BE49-F238E27FC236}">
                <a16:creationId xmlns:a16="http://schemas.microsoft.com/office/drawing/2014/main" id="{94CE46B0-DFE5-44E7-AB13-4BC371ABFAF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参照：Ho et al.</a:t>
            </a:r>
          </a:p>
        </p:txBody>
      </p:sp>
      <p:sp>
        <p:nvSpPr>
          <p:cNvPr id="8" name="第9回　15">
            <a:extLst xmlns:a="http://schemas.openxmlformats.org/drawingml/2006/main">
              <a:ext uri="{FF2B5EF4-FFF2-40B4-BE49-F238E27FC236}">
                <a16:creationId xmlns:a16="http://schemas.microsoft.com/office/drawing/2014/main" id="{DCE85CBE-435F-4FD7-9BD1-7EE900E33B4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15</a:t>
            </a:r>
          </a:p>
        </p:txBody>
      </p:sp>
    </p:spTree>
    <p:extLst>
      <p:ext uri="{BB962C8B-B14F-4D97-AF65-F5344CB8AC3E}">
        <p14:creationId xmlns:p14="http://schemas.microsoft.com/office/powerpoint/2010/main" val="3736684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生成モデルの整理">
            <a:extLst xmlns:a="http://schemas.openxmlformats.org/drawingml/2006/main">
              <a:ext uri="{FF2B5EF4-FFF2-40B4-BE49-F238E27FC236}">
                <a16:creationId xmlns:a16="http://schemas.microsoft.com/office/drawing/2014/main" id="{FEFB3360-592E-4BA7-911F-0D4974D9762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生成モデルの整理</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モデル</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基本的な考え方</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自己回帰モデル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次の要素を順に予測する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GAN</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生成器と識別器を組み合わせて学ぶ</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VAE</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潜在変数の分布を使う</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拡散モデル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ノイズを段階的に除く計算を学ぶ</a:t>
                      </a:r>
                    </a:p>
                  </a:txBody>
                  <a:tcPr marL="76200" marR="76200" marT="47625" marB="47625" anchor="ctr">
                    <a:solidFill>
                      <a:srgbClr val="FFFFFF"/>
                    </a:solidFill>
                  </a:tcPr>
                </a:tc>
              </a:tr>
            </a:tbl>
          </a:graphicData>
        </a:graphic>
      </p:graphicFrame>
      <p:sp>
        <p:nvSpPr>
          <p:cNvPr id="3" name="参照：Google／Goodfellow et al.／Kingma &amp; Wel">
            <a:extLst xmlns:a="http://schemas.openxmlformats.org/drawingml/2006/main">
              <a:ext uri="{FF2B5EF4-FFF2-40B4-BE49-F238E27FC236}">
                <a16:creationId xmlns:a16="http://schemas.microsoft.com/office/drawing/2014/main" id="{89456DB6-BA19-40B1-A681-574EC79A1E5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参照：Google／Goodfellow et al.／Kingma &amp; Welling／Ho et al.</a:t>
            </a:r>
          </a:p>
        </p:txBody>
      </p:sp>
      <p:sp>
        <p:nvSpPr>
          <p:cNvPr id="4" name="第9回　16">
            <a:extLst xmlns:a="http://schemas.openxmlformats.org/drawingml/2006/main">
              <a:ext uri="{FF2B5EF4-FFF2-40B4-BE49-F238E27FC236}">
                <a16:creationId xmlns:a16="http://schemas.microsoft.com/office/drawing/2014/main" id="{461707AE-03D3-494F-8D2F-769E503FB71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16</a:t>
            </a:r>
          </a:p>
        </p:txBody>
      </p:sp>
    </p:spTree>
    <p:extLst>
      <p:ext uri="{BB962C8B-B14F-4D97-AF65-F5344CB8AC3E}">
        <p14:creationId xmlns:p14="http://schemas.microsoft.com/office/powerpoint/2010/main" val="1437582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AG：外部情報を参照した生成">
            <a:extLst xmlns:a="http://schemas.openxmlformats.org/drawingml/2006/main">
              <a:ext uri="{FF2B5EF4-FFF2-40B4-BE49-F238E27FC236}">
                <a16:creationId xmlns:a16="http://schemas.microsoft.com/office/drawing/2014/main" id="{53D74808-255D-4D9C-8CA2-5BCA773350B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RAG：外部情報を参照した生成</a:t>
            </a:r>
          </a:p>
        </p:txBody>
      </p:sp>
      <p:sp>
        <p:nvSpPr>
          <p:cNvPr id="2" name="質問に関連する&#10;資料を検索">
            <a:extLst xmlns:a="http://schemas.openxmlformats.org/drawingml/2006/main">
              <a:ext uri="{FF2B5EF4-FFF2-40B4-BE49-F238E27FC236}">
                <a16:creationId xmlns:a16="http://schemas.microsoft.com/office/drawing/2014/main" id="{0DED36CA-61F4-4238-98B5-4DA52377E2A6}"/>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質問に関連する</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資料を検索</a:t>
            </a:r>
          </a:p>
        </p:txBody>
      </p:sp>
      <p:sp>
        <p:nvSpPr>
          <p:cNvPr id="3" name="資料と質問を&#10;モデルへ入力">
            <a:extLst xmlns:a="http://schemas.openxmlformats.org/drawingml/2006/main">
              <a:ext uri="{FF2B5EF4-FFF2-40B4-BE49-F238E27FC236}">
                <a16:creationId xmlns:a16="http://schemas.microsoft.com/office/drawing/2014/main" id="{0841A167-AD40-4EFB-87C9-445E4CDC575B}"/>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資料と質問を</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モデルへ入力</a:t>
            </a:r>
          </a:p>
        </p:txBody>
      </p:sp>
      <p:sp>
        <p:nvSpPr>
          <p:cNvPr id="4" name="回答と根拠を&#10;確認">
            <a:extLst xmlns:a="http://schemas.openxmlformats.org/drawingml/2006/main">
              <a:ext uri="{FF2B5EF4-FFF2-40B4-BE49-F238E27FC236}">
                <a16:creationId xmlns:a16="http://schemas.microsoft.com/office/drawing/2014/main" id="{AE66958F-311D-43A1-B023-AC7642F2EDBA}"/>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回答と根拠を</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確認</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Lewis et al.">
            <a:extLst xmlns:a="http://schemas.openxmlformats.org/drawingml/2006/main">
              <a:ext uri="{FF2B5EF4-FFF2-40B4-BE49-F238E27FC236}">
                <a16:creationId xmlns:a16="http://schemas.microsoft.com/office/drawing/2014/main" id="{66CC6DB7-BF47-4AFB-9276-47691B94F44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参照：Lewis et al.</a:t>
            </a:r>
          </a:p>
        </p:txBody>
      </p:sp>
      <p:sp>
        <p:nvSpPr>
          <p:cNvPr id="8" name="第9回　17">
            <a:extLst xmlns:a="http://schemas.openxmlformats.org/drawingml/2006/main">
              <a:ext uri="{FF2B5EF4-FFF2-40B4-BE49-F238E27FC236}">
                <a16:creationId xmlns:a16="http://schemas.microsoft.com/office/drawing/2014/main" id="{C678A4D3-EE12-4B6D-B883-18F5359B84C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17</a:t>
            </a:r>
          </a:p>
        </p:txBody>
      </p:sp>
    </p:spTree>
    <p:extLst>
      <p:ext uri="{BB962C8B-B14F-4D97-AF65-F5344CB8AC3E}">
        <p14:creationId xmlns:p14="http://schemas.microsoft.com/office/powerpoint/2010/main" val="90684236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RAGでも必要な確認">
            <a:extLst xmlns:a="http://schemas.openxmlformats.org/drawingml/2006/main">
              <a:ext uri="{FF2B5EF4-FFF2-40B4-BE49-F238E27FC236}">
                <a16:creationId xmlns:a16="http://schemas.microsoft.com/office/drawing/2014/main" id="{64F99CB3-FC76-47B2-BC14-BE01F209F14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RAGでも必要な確認</a:t>
            </a:r>
          </a:p>
        </p:txBody>
      </p:sp>
      <p:sp>
        <p:nvSpPr>
          <p:cNvPr id="2" name="">
            <a:extLst xmlns:a="http://schemas.openxmlformats.org/drawingml/2006/main">
              <a:ext uri="{FF2B5EF4-FFF2-40B4-BE49-F238E27FC236}">
                <a16:creationId xmlns:a16="http://schemas.microsoft.com/office/drawing/2014/main" id="{4D7EEFA3-C46B-4A61-A7BE-9D1FFEDDC8B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検索した資料が，質問に合うかを確認する．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資料の更新日と，参照する権限を確認する．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回答が根拠の内容を正しく使ったかを確かめる．</a:t>
            </a:r>
          </a:p>
        </p:txBody>
      </p:sp>
      <p:sp>
        <p:nvSpPr>
          <p:cNvPr id="3" name="参照：Lewis et al.">
            <a:extLst xmlns:a="http://schemas.openxmlformats.org/drawingml/2006/main">
              <a:ext uri="{FF2B5EF4-FFF2-40B4-BE49-F238E27FC236}">
                <a16:creationId xmlns:a16="http://schemas.microsoft.com/office/drawing/2014/main" id="{3BC55216-995A-4E93-BF96-ED276AE1956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参照：Lewis et al.</a:t>
            </a:r>
          </a:p>
        </p:txBody>
      </p:sp>
      <p:sp>
        <p:nvSpPr>
          <p:cNvPr id="4" name="第9回　18">
            <a:extLst xmlns:a="http://schemas.openxmlformats.org/drawingml/2006/main">
              <a:ext uri="{FF2B5EF4-FFF2-40B4-BE49-F238E27FC236}">
                <a16:creationId xmlns:a16="http://schemas.microsoft.com/office/drawing/2014/main" id="{F67DC13B-7D56-4DCC-9170-FAB388B90D2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18</a:t>
            </a:r>
          </a:p>
        </p:txBody>
      </p:sp>
    </p:spTree>
    <p:extLst>
      <p:ext uri="{BB962C8B-B14F-4D97-AF65-F5344CB8AC3E}">
        <p14:creationId xmlns:p14="http://schemas.microsoft.com/office/powerpoint/2010/main" val="5687606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要約の指示">
            <a:extLst xmlns:a="http://schemas.openxmlformats.org/drawingml/2006/main">
              <a:ext uri="{FF2B5EF4-FFF2-40B4-BE49-F238E27FC236}">
                <a16:creationId xmlns:a16="http://schemas.microsoft.com/office/drawing/2014/main" id="{7F7B3789-BB85-485C-B360-D2D99421EF1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演習2：要約の指示</a:t>
            </a:r>
          </a:p>
        </p:txBody>
      </p:sp>
      <p:sp>
        <p:nvSpPr>
          <p:cNvPr id="2" name="">
            <a:extLst xmlns:a="http://schemas.openxmlformats.org/drawingml/2006/main">
              <a:ext uri="{FF2B5EF4-FFF2-40B4-BE49-F238E27FC236}">
                <a16:creationId xmlns:a16="http://schemas.microsoft.com/office/drawing/2014/main" id="{850D20E6-A907-4B1C-80AF-517AA6528740}"/>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学内の案内文を，新入生向けに要約したい．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必要な背景情報，出力形式，残す情報を考える．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原文にない情報を補わない指示を作る．</a:t>
            </a:r>
          </a:p>
        </p:txBody>
      </p:sp>
      <p:sp>
        <p:nvSpPr>
          <p:cNvPr id="3" name="目的と，確認すべき内容を具体化する．">
            <a:extLst xmlns:a="http://schemas.openxmlformats.org/drawingml/2006/main">
              <a:ext uri="{FF2B5EF4-FFF2-40B4-BE49-F238E27FC236}">
                <a16:creationId xmlns:a16="http://schemas.microsoft.com/office/drawing/2014/main" id="{34706FA9-FC23-4ED3-84AC-3ACB743517BC}"/>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目的と，確認すべき内容を具体化する．</a:t>
            </a:r>
          </a:p>
        </p:txBody>
      </p:sp>
      <p:sp>
        <p:nvSpPr>
          <p:cNvPr id="4" name="図・設問：本教材の作例">
            <a:extLst xmlns:a="http://schemas.openxmlformats.org/drawingml/2006/main">
              <a:ext uri="{FF2B5EF4-FFF2-40B4-BE49-F238E27FC236}">
                <a16:creationId xmlns:a16="http://schemas.microsoft.com/office/drawing/2014/main" id="{17C6D25B-2BCC-457E-824D-D3BE1632059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9回　19">
            <a:extLst xmlns:a="http://schemas.openxmlformats.org/drawingml/2006/main">
              <a:ext uri="{FF2B5EF4-FFF2-40B4-BE49-F238E27FC236}">
                <a16:creationId xmlns:a16="http://schemas.microsoft.com/office/drawing/2014/main" id="{52421D5A-17BD-4A95-A465-0546EAAC914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19</a:t>
            </a:r>
          </a:p>
        </p:txBody>
      </p:sp>
    </p:spTree>
    <p:extLst>
      <p:ext uri="{BB962C8B-B14F-4D97-AF65-F5344CB8AC3E}">
        <p14:creationId xmlns:p14="http://schemas.microsoft.com/office/powerpoint/2010/main" val="25613086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2：指示の例">
            <a:extLst xmlns:a="http://schemas.openxmlformats.org/drawingml/2006/main">
              <a:ext uri="{FF2B5EF4-FFF2-40B4-BE49-F238E27FC236}">
                <a16:creationId xmlns:a16="http://schemas.microsoft.com/office/drawing/2014/main" id="{52246795-4D17-431A-B409-8D80283E881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演習2：指示の例</a:t>
            </a:r>
          </a:p>
        </p:txBody>
      </p:sp>
      <p:sp>
        <p:nvSpPr>
          <p:cNvPr id="2" name="">
            <a:extLst xmlns:a="http://schemas.openxmlformats.org/drawingml/2006/main">
              <a:ext uri="{FF2B5EF4-FFF2-40B4-BE49-F238E27FC236}">
                <a16:creationId xmlns:a16="http://schemas.microsoft.com/office/drawing/2014/main" id="{5C9CFEA1-C5F4-4E53-86CF-E41CBA72D18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新入生向けに，次の案内文を200字以内で要約してください．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日時・場所・持ち物は残してください．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原文にない情報は加えず，不明な点は「不明」としてください．</a:t>
            </a:r>
          </a:p>
        </p:txBody>
      </p:sp>
      <p:sp>
        <p:nvSpPr>
          <p:cNvPr id="3" name="参照：Google">
            <a:extLst xmlns:a="http://schemas.openxmlformats.org/drawingml/2006/main">
              <a:ext uri="{FF2B5EF4-FFF2-40B4-BE49-F238E27FC236}">
                <a16:creationId xmlns:a16="http://schemas.microsoft.com/office/drawing/2014/main" id="{6BC0BBD2-C968-4380-B267-E16661D56F7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9回　20">
            <a:extLst xmlns:a="http://schemas.openxmlformats.org/drawingml/2006/main">
              <a:ext uri="{FF2B5EF4-FFF2-40B4-BE49-F238E27FC236}">
                <a16:creationId xmlns:a16="http://schemas.microsoft.com/office/drawing/2014/main" id="{F50B5B5E-7A1F-4727-AEDC-8CF6A9DBD30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20</a:t>
            </a:r>
          </a:p>
        </p:txBody>
      </p:sp>
    </p:spTree>
    <p:extLst>
      <p:ext uri="{BB962C8B-B14F-4D97-AF65-F5344CB8AC3E}">
        <p14:creationId xmlns:p14="http://schemas.microsoft.com/office/powerpoint/2010/main" val="21039005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生成結果の確認">
            <a:extLst xmlns:a="http://schemas.openxmlformats.org/drawingml/2006/main">
              <a:ext uri="{FF2B5EF4-FFF2-40B4-BE49-F238E27FC236}">
                <a16:creationId xmlns:a16="http://schemas.microsoft.com/office/drawing/2014/main" id="{9578931A-A6F9-4D3E-A8D6-D08EF836D2E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生成結果の確認</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確認すること</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方法の例</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事実</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一次資料と照合する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原文の意味</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省略・誤解・追加を読む</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引用・出典</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リンク先が主張を支えるかを読む</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利用条件</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入力と出力の権利・規約を確認する</a:t>
                      </a:r>
                    </a:p>
                  </a:txBody>
                  <a:tcPr marL="76200" marR="76200" marT="47625" marB="47625" anchor="ctr">
                    <a:solidFill>
                      <a:srgbClr val="FFFFFF"/>
                    </a:solidFill>
                  </a:tcPr>
                </a:tc>
              </a:tr>
            </a:tbl>
          </a:graphicData>
        </a:graphic>
      </p:graphicFrame>
      <p:sp>
        <p:nvSpPr>
          <p:cNvPr id="3" name="参照：Google／Lewis et al.">
            <a:extLst xmlns:a="http://schemas.openxmlformats.org/drawingml/2006/main">
              <a:ext uri="{FF2B5EF4-FFF2-40B4-BE49-F238E27FC236}">
                <a16:creationId xmlns:a16="http://schemas.microsoft.com/office/drawing/2014/main" id="{67C39054-6D1B-4BB3-8BCE-1328DF5EF0DD}"/>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参照：Google／Lewis et al.</a:t>
            </a:r>
          </a:p>
        </p:txBody>
      </p:sp>
      <p:sp>
        <p:nvSpPr>
          <p:cNvPr id="4" name="第9回　21">
            <a:extLst xmlns:a="http://schemas.openxmlformats.org/drawingml/2006/main">
              <a:ext uri="{FF2B5EF4-FFF2-40B4-BE49-F238E27FC236}">
                <a16:creationId xmlns:a16="http://schemas.microsoft.com/office/drawing/2014/main" id="{B246C76D-73F6-4DB2-A9D0-B57A5E505C8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21</a:t>
            </a:r>
          </a:p>
        </p:txBody>
      </p:sp>
    </p:spTree>
    <p:extLst>
      <p:ext uri="{BB962C8B-B14F-4D97-AF65-F5344CB8AC3E}">
        <p14:creationId xmlns:p14="http://schemas.microsoft.com/office/powerpoint/2010/main" val="104577909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使い方と限界">
            <a:extLst xmlns:a="http://schemas.openxmlformats.org/drawingml/2006/main">
              <a:ext uri="{FF2B5EF4-FFF2-40B4-BE49-F238E27FC236}">
                <a16:creationId xmlns:a16="http://schemas.microsoft.com/office/drawing/2014/main" id="{2720EB8F-18C0-48F3-BFE9-2C339C02DA0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使い方と限界</a:t>
            </a:r>
          </a:p>
        </p:txBody>
      </p:sp>
      <p:sp>
        <p:nvSpPr>
          <p:cNvPr id="2" name="">
            <a:extLst xmlns:a="http://schemas.openxmlformats.org/drawingml/2006/main">
              <a:ext uri="{FF2B5EF4-FFF2-40B4-BE49-F238E27FC236}">
                <a16:creationId xmlns:a16="http://schemas.microsoft.com/office/drawing/2014/main" id="{D3389970-7B36-4892-AAD8-5B7F6CCF9681}"/>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下書き，言い換え，候補出しなどに利用する．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もっともらしい誤りや，偏った出力があり得る．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重要な判断に使う場合は，確認の担当と手順を決める．</a:t>
            </a:r>
          </a:p>
        </p:txBody>
      </p:sp>
      <p:sp>
        <p:nvSpPr>
          <p:cNvPr id="3" name="参照：Google">
            <a:extLst xmlns:a="http://schemas.openxmlformats.org/drawingml/2006/main">
              <a:ext uri="{FF2B5EF4-FFF2-40B4-BE49-F238E27FC236}">
                <a16:creationId xmlns:a16="http://schemas.microsoft.com/office/drawing/2014/main" id="{1F535FE1-DCAF-4736-86C4-C33C4948D2A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9回　22">
            <a:extLst xmlns:a="http://schemas.openxmlformats.org/drawingml/2006/main">
              <a:ext uri="{FF2B5EF4-FFF2-40B4-BE49-F238E27FC236}">
                <a16:creationId xmlns:a16="http://schemas.microsoft.com/office/drawing/2014/main" id="{49C532F7-34CD-49F8-B3A6-9784CC9AFEA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22</a:t>
            </a:r>
          </a:p>
        </p:txBody>
      </p:sp>
    </p:spTree>
    <p:extLst>
      <p:ext uri="{BB962C8B-B14F-4D97-AF65-F5344CB8AC3E}">
        <p14:creationId xmlns:p14="http://schemas.microsoft.com/office/powerpoint/2010/main" val="170327636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D4A17C10-0295-4767-A788-E4D3C08589A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D59BE221-B1C0-4A41-84E9-A182904EE4F1}"/>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LLMは，文脈を使って次のトークンを予測する．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生成モデルには，複数の仕組みがある．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外部資料の参照と，出力の検証を組み合わせる．</a:t>
            </a:r>
          </a:p>
        </p:txBody>
      </p:sp>
      <p:sp>
        <p:nvSpPr>
          <p:cNvPr id="3" name="次回：AIの応用と開発プロジェクト">
            <a:extLst xmlns:a="http://schemas.openxmlformats.org/drawingml/2006/main">
              <a:ext uri="{FF2B5EF4-FFF2-40B4-BE49-F238E27FC236}">
                <a16:creationId xmlns:a16="http://schemas.microsoft.com/office/drawing/2014/main" id="{192D253F-B868-4C6C-ACB2-98E2F79A3D34}"/>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次回：AIの応用と開発プロジェクト</a:t>
            </a:r>
          </a:p>
        </p:txBody>
      </p:sp>
      <p:sp>
        <p:nvSpPr>
          <p:cNvPr id="4" name="図・設問：本教材の作例">
            <a:extLst xmlns:a="http://schemas.openxmlformats.org/drawingml/2006/main">
              <a:ext uri="{FF2B5EF4-FFF2-40B4-BE49-F238E27FC236}">
                <a16:creationId xmlns:a16="http://schemas.microsoft.com/office/drawing/2014/main" id="{500DE8F9-0ADB-4918-96CD-9CDC6D3FD90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9回　23">
            <a:extLst xmlns:a="http://schemas.openxmlformats.org/drawingml/2006/main">
              <a:ext uri="{FF2B5EF4-FFF2-40B4-BE49-F238E27FC236}">
                <a16:creationId xmlns:a16="http://schemas.microsoft.com/office/drawing/2014/main" id="{31666403-D172-435B-82C9-E46F1C62292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23</a:t>
            </a:r>
          </a:p>
        </p:txBody>
      </p:sp>
    </p:spTree>
    <p:extLst>
      <p:ext uri="{BB962C8B-B14F-4D97-AF65-F5344CB8AC3E}">
        <p14:creationId xmlns:p14="http://schemas.microsoft.com/office/powerpoint/2010/main" val="151299993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1">
            <a:extLst xmlns:a="http://schemas.openxmlformats.org/drawingml/2006/main">
              <a:ext uri="{FF2B5EF4-FFF2-40B4-BE49-F238E27FC236}">
                <a16:creationId xmlns:a16="http://schemas.microsoft.com/office/drawing/2014/main" id="{3AF06BB9-2BCF-4DE1-9B5E-ED3B09AB49F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Google：Introduction to Large Language">
            <a:extLst xmlns:a="http://schemas.openxmlformats.org/drawingml/2006/main">
              <a:ext uri="{FF2B5EF4-FFF2-40B4-BE49-F238E27FC236}">
                <a16:creationId xmlns:a16="http://schemas.microsoft.com/office/drawing/2014/main" id="{12513268-E3EE-4804-B689-696E498987B2}"/>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980f04d980b54d06"/>
              </a:rPr>
              <a:t>1. Google：Introduction to Large Language Models</a:t>
            </a:r>
          </a:p>
        </p:txBody>
      </p:sp>
      <p:sp>
        <p:nvSpPr>
          <p:cNvPr id="3" name="2. Google：Fine-tuning, distillation, pro">
            <a:extLst xmlns:a="http://schemas.openxmlformats.org/drawingml/2006/main">
              <a:ext uri="{FF2B5EF4-FFF2-40B4-BE49-F238E27FC236}">
                <a16:creationId xmlns:a16="http://schemas.microsoft.com/office/drawing/2014/main" id="{24840916-A1E9-4024-84EC-700605176452}"/>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c91a994f112548ae"/>
              </a:rPr>
              <a:t>2. Google：Fine-tuning, distillation, prompting</a:t>
            </a:r>
          </a:p>
        </p:txBody>
      </p:sp>
      <p:sp>
        <p:nvSpPr>
          <p:cNvPr id="4" name="3. Goodfellow et al.：Generative Adversar">
            <a:extLst xmlns:a="http://schemas.openxmlformats.org/drawingml/2006/main">
              <a:ext uri="{FF2B5EF4-FFF2-40B4-BE49-F238E27FC236}">
                <a16:creationId xmlns:a16="http://schemas.microsoft.com/office/drawing/2014/main" id="{9F21B04E-89EF-451D-89D7-A8CA9767A80B}"/>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2af39c723ae846d9"/>
              </a:rPr>
              <a:t>3. Goodfellow et al.：Generative Adversarial Nets</a:t>
            </a:r>
          </a:p>
        </p:txBody>
      </p:sp>
      <p:sp>
        <p:nvSpPr>
          <p:cNvPr id="5" name="各項目をクリックすると，参考資料を開く．">
            <a:extLst xmlns:a="http://schemas.openxmlformats.org/drawingml/2006/main">
              <a:ext uri="{FF2B5EF4-FFF2-40B4-BE49-F238E27FC236}">
                <a16:creationId xmlns:a16="http://schemas.microsoft.com/office/drawing/2014/main" id="{74B54800-DCF5-4249-B721-F39D5D504EFD}"/>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E00D5469-A45F-4E7E-ACFF-ABC22336BF7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9回　24">
            <a:extLst xmlns:a="http://schemas.openxmlformats.org/drawingml/2006/main">
              <a:ext uri="{FF2B5EF4-FFF2-40B4-BE49-F238E27FC236}">
                <a16:creationId xmlns:a16="http://schemas.microsoft.com/office/drawing/2014/main" id="{8F4035C3-E046-4EE0-A4D3-C042741C468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24</a:t>
            </a:r>
          </a:p>
        </p:txBody>
      </p:sp>
    </p:spTree>
    <p:extLst>
      <p:ext uri="{BB962C8B-B14F-4D97-AF65-F5344CB8AC3E}">
        <p14:creationId xmlns:p14="http://schemas.microsoft.com/office/powerpoint/2010/main" val="18183679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E704C9E6-6EF4-42CF-9A44-41D9BDF676E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Kingma &amp; Welling：Auto-Encoding Variat">
            <a:extLst xmlns:a="http://schemas.openxmlformats.org/drawingml/2006/main">
              <a:ext uri="{FF2B5EF4-FFF2-40B4-BE49-F238E27FC236}">
                <a16:creationId xmlns:a16="http://schemas.microsoft.com/office/drawing/2014/main" id="{3F3312B7-D910-4A65-B48A-6FD3D69A602C}"/>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74a2d7dd96a8434f"/>
              </a:rPr>
              <a:t>1. Kingma &amp; Welling：Auto-Encoding Variational Bayes</a:t>
            </a:r>
          </a:p>
        </p:txBody>
      </p:sp>
      <p:sp>
        <p:nvSpPr>
          <p:cNvPr id="3" name="2. Ho et al.：Denoising Diffusion Probabi">
            <a:extLst xmlns:a="http://schemas.openxmlformats.org/drawingml/2006/main">
              <a:ext uri="{FF2B5EF4-FFF2-40B4-BE49-F238E27FC236}">
                <a16:creationId xmlns:a16="http://schemas.microsoft.com/office/drawing/2014/main" id="{34369FD2-D8B1-4E21-B8DD-B4C117F8631B}"/>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e20ac132181d42c7"/>
              </a:rPr>
              <a:t>2. Ho et al.：Denoising Diffusion Probabilistic Models</a:t>
            </a:r>
          </a:p>
        </p:txBody>
      </p:sp>
      <p:sp>
        <p:nvSpPr>
          <p:cNvPr id="4" name="3. Lewis et al.：Retrieval-Augmented Gene">
            <a:extLst xmlns:a="http://schemas.openxmlformats.org/drawingml/2006/main">
              <a:ext uri="{FF2B5EF4-FFF2-40B4-BE49-F238E27FC236}">
                <a16:creationId xmlns:a16="http://schemas.microsoft.com/office/drawing/2014/main" id="{B6367B0B-BE59-4938-B186-533E21DA79BD}"/>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b9c8cea563ef42f6"/>
              </a:rPr>
              <a:t>3. Lewis et al.：Retrieval-Augmented Generation</a:t>
            </a:r>
          </a:p>
        </p:txBody>
      </p:sp>
      <p:sp>
        <p:nvSpPr>
          <p:cNvPr id="5" name="各項目をクリックすると，参考資料を開く．">
            <a:extLst xmlns:a="http://schemas.openxmlformats.org/drawingml/2006/main">
              <a:ext uri="{FF2B5EF4-FFF2-40B4-BE49-F238E27FC236}">
                <a16:creationId xmlns:a16="http://schemas.microsoft.com/office/drawing/2014/main" id="{5964C076-F658-42C9-BF1A-FABFE1EEEA9C}"/>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142F6BCC-A61E-41B6-B1C9-D1F442CA6B4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9回　25">
            <a:extLst xmlns:a="http://schemas.openxmlformats.org/drawingml/2006/main">
              <a:ext uri="{FF2B5EF4-FFF2-40B4-BE49-F238E27FC236}">
                <a16:creationId xmlns:a16="http://schemas.microsoft.com/office/drawing/2014/main" id="{827BF073-9475-43DA-96D0-A3646AD0D2F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第9回　25</a:t>
            </a:r>
          </a:p>
        </p:txBody>
      </p:sp>
    </p:spTree>
    <p:extLst>
      <p:ext uri="{BB962C8B-B14F-4D97-AF65-F5344CB8AC3E}">
        <p14:creationId xmlns:p14="http://schemas.microsoft.com/office/powerpoint/2010/main" val="55121182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2026-10-08T05:42:51.4750000Z</dcterms:created>
  <dcterms:modified xsi:type="dcterms:W3CDTF">2026-10-08T05:42:51.4760000Z</dcterms:modified>
</coreProperties>
</file>