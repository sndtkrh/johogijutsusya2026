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b2bfb1c9734a6b" /><Relationship Type="http://schemas.openxmlformats.org/officeDocument/2006/relationships/extended-properties" Target="/docProps/app.xml" Id="R19c043589ce64100" /><Relationship Type="http://schemas.openxmlformats.org/officeDocument/2006/relationships/officeDocument" Target="/ppt/presentation.xml" Id="Ref0ac2bd9c59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adf8bf4124918"/>
  </p:sldMasterIdLst>
  <p:notesMasterIdLst>
    <p:notesMasterId xmlns:r="http://schemas.openxmlformats.org/officeDocument/2006/relationships" r:id="Rd35a61dea3024013"/>
  </p:notesMasterIdLst>
  <p:sldIdLst>
    <p:sldId xmlns:r="http://schemas.openxmlformats.org/officeDocument/2006/relationships" id="256" r:id="R52c069feb4544b1c"/>
    <p:sldId xmlns:r="http://schemas.openxmlformats.org/officeDocument/2006/relationships" id="257" r:id="R4e48d78b8b9a444f"/>
    <p:sldId xmlns:r="http://schemas.openxmlformats.org/officeDocument/2006/relationships" id="258" r:id="R00cce60dae784bea"/>
    <p:sldId xmlns:r="http://schemas.openxmlformats.org/officeDocument/2006/relationships" id="259" r:id="R57be7ea142434fdd"/>
    <p:sldId xmlns:r="http://schemas.openxmlformats.org/officeDocument/2006/relationships" id="260" r:id="R33b962516adb46be"/>
    <p:sldId xmlns:r="http://schemas.openxmlformats.org/officeDocument/2006/relationships" id="261" r:id="R7606c864cf7b48d9"/>
    <p:sldId xmlns:r="http://schemas.openxmlformats.org/officeDocument/2006/relationships" id="262" r:id="R69a1f63fec6e4896"/>
    <p:sldId xmlns:r="http://schemas.openxmlformats.org/officeDocument/2006/relationships" id="263" r:id="R08b3467454784ce0"/>
    <p:sldId xmlns:r="http://schemas.openxmlformats.org/officeDocument/2006/relationships" id="264" r:id="R9660b3fc4ad34b97"/>
    <p:sldId xmlns:r="http://schemas.openxmlformats.org/officeDocument/2006/relationships" id="265" r:id="Re4a3a52b40b2471e"/>
    <p:sldId xmlns:r="http://schemas.openxmlformats.org/officeDocument/2006/relationships" id="266" r:id="R758587372c8244f9"/>
    <p:sldId xmlns:r="http://schemas.openxmlformats.org/officeDocument/2006/relationships" id="267" r:id="R7f9217cc339e4eec"/>
    <p:sldId xmlns:r="http://schemas.openxmlformats.org/officeDocument/2006/relationships" id="268" r:id="Raf172c25b6724efb"/>
    <p:sldId xmlns:r="http://schemas.openxmlformats.org/officeDocument/2006/relationships" id="269" r:id="R0db028ab85e7468f"/>
    <p:sldId xmlns:r="http://schemas.openxmlformats.org/officeDocument/2006/relationships" id="270" r:id="Rf078010b648a49ef"/>
    <p:sldId xmlns:r="http://schemas.openxmlformats.org/officeDocument/2006/relationships" id="271" r:id="R3cbdf64201fd4b92"/>
    <p:sldId xmlns:r="http://schemas.openxmlformats.org/officeDocument/2006/relationships" id="272" r:id="R446ee5c4363f4511"/>
    <p:sldId xmlns:r="http://schemas.openxmlformats.org/officeDocument/2006/relationships" id="273" r:id="R40d98f8c0204424a"/>
    <p:sldId xmlns:r="http://schemas.openxmlformats.org/officeDocument/2006/relationships" id="274" r:id="R5b34eddb7cd541bc"/>
    <p:sldId xmlns:r="http://schemas.openxmlformats.org/officeDocument/2006/relationships" id="275" r:id="R71dbf02181a1480b"/>
    <p:sldId xmlns:r="http://schemas.openxmlformats.org/officeDocument/2006/relationships" id="276" r:id="R509d934bb7c34d62"/>
    <p:sldId xmlns:r="http://schemas.openxmlformats.org/officeDocument/2006/relationships" id="277" r:id="Re0c8bbe06a4b434d"/>
    <p:sldId xmlns:r="http://schemas.openxmlformats.org/officeDocument/2006/relationships" id="278" r:id="R212eaf8f14ae4d00"/>
    <p:sldId xmlns:r="http://schemas.openxmlformats.org/officeDocument/2006/relationships" id="279" r:id="R2aecc42bae7f436c"/>
    <p:sldId xmlns:r="http://schemas.openxmlformats.org/officeDocument/2006/relationships" id="280" r:id="Ra6ad4526facf4bf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38a41420ab462b" /><Relationship Type="http://schemas.openxmlformats.org/officeDocument/2006/relationships/slideMaster" Target="/ppt/slideMasters/slideMaster1.xml" Id="R5bcadf8bf4124918" /><Relationship Type="http://schemas.openxmlformats.org/officeDocument/2006/relationships/notesMaster" Target="/ppt/notesMasters/notesMaster1.xml" Id="Rd35a61dea3024013" /><Relationship Type="http://schemas.openxmlformats.org/officeDocument/2006/relationships/presProps" Target="/ppt/presProps.xml" Id="R657a38ebbbb6486b" /><Relationship Type="http://schemas.openxmlformats.org/officeDocument/2006/relationships/viewProps" Target="/ppt/viewProps.xml" Id="R2f20ef6aeab141d2" /><Relationship Type="http://schemas.openxmlformats.org/officeDocument/2006/relationships/tableStyles" Target="/ppt/tableStyles.xml" Id="R0bdaf42a747e434d" /><Relationship Type="http://schemas.openxmlformats.org/officeDocument/2006/relationships/slide" Target="/ppt/slides/slide1.xml" Id="R52c069feb4544b1c" /><Relationship Type="http://schemas.openxmlformats.org/officeDocument/2006/relationships/slide" Target="/ppt/slides/slide2.xml" Id="R4e48d78b8b9a444f" /><Relationship Type="http://schemas.openxmlformats.org/officeDocument/2006/relationships/slide" Target="/ppt/slides/slide3.xml" Id="R00cce60dae784bea" /><Relationship Type="http://schemas.openxmlformats.org/officeDocument/2006/relationships/slide" Target="/ppt/slides/slide4.xml" Id="R57be7ea142434fdd" /><Relationship Type="http://schemas.openxmlformats.org/officeDocument/2006/relationships/slide" Target="/ppt/slides/slide5.xml" Id="R33b962516adb46be" /><Relationship Type="http://schemas.openxmlformats.org/officeDocument/2006/relationships/slide" Target="/ppt/slides/slide6.xml" Id="R7606c864cf7b48d9" /><Relationship Type="http://schemas.openxmlformats.org/officeDocument/2006/relationships/slide" Target="/ppt/slides/slide7.xml" Id="R69a1f63fec6e4896" /><Relationship Type="http://schemas.openxmlformats.org/officeDocument/2006/relationships/slide" Target="/ppt/slides/slide8.xml" Id="R08b3467454784ce0" /><Relationship Type="http://schemas.openxmlformats.org/officeDocument/2006/relationships/slide" Target="/ppt/slides/slide9.xml" Id="R9660b3fc4ad34b97" /><Relationship Type="http://schemas.openxmlformats.org/officeDocument/2006/relationships/slide" Target="/ppt/slides/slide10.xml" Id="Re4a3a52b40b2471e" /><Relationship Type="http://schemas.openxmlformats.org/officeDocument/2006/relationships/slide" Target="/ppt/slides/slide11.xml" Id="R758587372c8244f9" /><Relationship Type="http://schemas.openxmlformats.org/officeDocument/2006/relationships/slide" Target="/ppt/slides/slide12.xml" Id="R7f9217cc339e4eec" /><Relationship Type="http://schemas.openxmlformats.org/officeDocument/2006/relationships/slide" Target="/ppt/slides/slide13.xml" Id="Raf172c25b6724efb" /><Relationship Type="http://schemas.openxmlformats.org/officeDocument/2006/relationships/slide" Target="/ppt/slides/slide14.xml" Id="R0db028ab85e7468f" /><Relationship Type="http://schemas.openxmlformats.org/officeDocument/2006/relationships/slide" Target="/ppt/slides/slide15.xml" Id="Rf078010b648a49ef" /><Relationship Type="http://schemas.openxmlformats.org/officeDocument/2006/relationships/slide" Target="/ppt/slides/slide16.xml" Id="R3cbdf64201fd4b92" /><Relationship Type="http://schemas.openxmlformats.org/officeDocument/2006/relationships/slide" Target="/ppt/slides/slide17.xml" Id="R446ee5c4363f4511" /><Relationship Type="http://schemas.openxmlformats.org/officeDocument/2006/relationships/slide" Target="/ppt/slides/slide18.xml" Id="R40d98f8c0204424a" /><Relationship Type="http://schemas.openxmlformats.org/officeDocument/2006/relationships/slide" Target="/ppt/slides/slide19.xml" Id="R5b34eddb7cd541bc" /><Relationship Type="http://schemas.openxmlformats.org/officeDocument/2006/relationships/slide" Target="/ppt/slides/slide20.xml" Id="R71dbf02181a1480b" /><Relationship Type="http://schemas.openxmlformats.org/officeDocument/2006/relationships/slide" Target="/ppt/slides/slide21.xml" Id="R509d934bb7c34d62" /><Relationship Type="http://schemas.openxmlformats.org/officeDocument/2006/relationships/slide" Target="/ppt/slides/slide22.xml" Id="Re0c8bbe06a4b434d" /><Relationship Type="http://schemas.openxmlformats.org/officeDocument/2006/relationships/slide" Target="/ppt/slides/slide23.xml" Id="R212eaf8f14ae4d00" /><Relationship Type="http://schemas.openxmlformats.org/officeDocument/2006/relationships/slide" Target="/ppt/slides/slide24.xml" Id="R2aecc42bae7f436c" /><Relationship Type="http://schemas.openxmlformats.org/officeDocument/2006/relationships/slide" Target="/ppt/slides/slide25.xml" Id="Ra6ad4526facf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fabe106921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ebe0d42644353" /><Relationship Type="http://schemas.openxmlformats.org/officeDocument/2006/relationships/notesMaster" Target="/ppt/notesMasters/notesMaster1.xml" Id="R532ced17354048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6b6647ae6543f3" /><Relationship Type="http://schemas.openxmlformats.org/officeDocument/2006/relationships/notesMaster" Target="/ppt/notesMasters/notesMaster1.xml" Id="Rec1566de3710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462ca12be4e17" /><Relationship Type="http://schemas.openxmlformats.org/officeDocument/2006/relationships/notesMaster" Target="/ppt/notesMasters/notesMaster1.xml" Id="R583bf63c123a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da6490c3f949da" /><Relationship Type="http://schemas.openxmlformats.org/officeDocument/2006/relationships/notesMaster" Target="/ppt/notesMasters/notesMaster1.xml" Id="Re574d83630a2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c96e50f003485e" /><Relationship Type="http://schemas.openxmlformats.org/officeDocument/2006/relationships/notesMaster" Target="/ppt/notesMasters/notesMaster1.xml" Id="Rcd163fbebc83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de21c2e714635" /><Relationship Type="http://schemas.openxmlformats.org/officeDocument/2006/relationships/notesMaster" Target="/ppt/notesMasters/notesMaster1.xml" Id="R2b9a0faa383943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2c4d87fa104368" /><Relationship Type="http://schemas.openxmlformats.org/officeDocument/2006/relationships/notesMaster" Target="/ppt/notesMasters/notesMaster1.xml" Id="Raac482933279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c8e87402fc4aa7" /><Relationship Type="http://schemas.openxmlformats.org/officeDocument/2006/relationships/notesMaster" Target="/ppt/notesMasters/notesMaster1.xml" Id="Rc32a6833696a48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e4ee9db4b3443a" /><Relationship Type="http://schemas.openxmlformats.org/officeDocument/2006/relationships/notesMaster" Target="/ppt/notesMasters/notesMaster1.xml" Id="R587d267afe3741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7a01f72fd54fa7" /><Relationship Type="http://schemas.openxmlformats.org/officeDocument/2006/relationships/notesMaster" Target="/ppt/notesMasters/notesMaster1.xml" Id="Rdf74f41a79f946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3c9372fe504536" /><Relationship Type="http://schemas.openxmlformats.org/officeDocument/2006/relationships/notesMaster" Target="/ppt/notesMasters/notesMaster1.xml" Id="R5f005d02f0a44a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56e58dfea248e2" /><Relationship Type="http://schemas.openxmlformats.org/officeDocument/2006/relationships/notesMaster" Target="/ppt/notesMasters/notesMaster1.xml" Id="R9b359df807ca49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87fcaac3944a2a" /><Relationship Type="http://schemas.openxmlformats.org/officeDocument/2006/relationships/notesMaster" Target="/ppt/notesMasters/notesMaster1.xml" Id="Rd98d0172daff40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662e05b53945cb" /><Relationship Type="http://schemas.openxmlformats.org/officeDocument/2006/relationships/notesMaster" Target="/ppt/notesMasters/notesMaster1.xml" Id="R03fc8a2695374e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6c450fb81c4548" /><Relationship Type="http://schemas.openxmlformats.org/officeDocument/2006/relationships/notesMaster" Target="/ppt/notesMasters/notesMaster1.xml" Id="Rea9df55f15ae43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b142fe84024e3c" /><Relationship Type="http://schemas.openxmlformats.org/officeDocument/2006/relationships/notesMaster" Target="/ppt/notesMasters/notesMaster1.xml" Id="Rdc9fffc7b7fc44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8eaaff9c1340d5" /><Relationship Type="http://schemas.openxmlformats.org/officeDocument/2006/relationships/notesMaster" Target="/ppt/notesMasters/notesMaster1.xml" Id="R2d6330581c0a40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608d4041ee44c2" /><Relationship Type="http://schemas.openxmlformats.org/officeDocument/2006/relationships/notesMaster" Target="/ppt/notesMasters/notesMaster1.xml" Id="Re155d0ab33b44e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a9b4ae57eb4f21" /><Relationship Type="http://schemas.openxmlformats.org/officeDocument/2006/relationships/notesMaster" Target="/ppt/notesMasters/notesMaster1.xml" Id="Ra711c75696e845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cf15262d934412" /><Relationship Type="http://schemas.openxmlformats.org/officeDocument/2006/relationships/notesMaster" Target="/ppt/notesMasters/notesMaster1.xml" Id="R65aada29633644e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9b4a2f33f941f3" /><Relationship Type="http://schemas.openxmlformats.org/officeDocument/2006/relationships/notesMaster" Target="/ppt/notesMasters/notesMaster1.xml" Id="Re741cc8b92df4c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1d8e517f5949cd" /><Relationship Type="http://schemas.openxmlformats.org/officeDocument/2006/relationships/notesMaster" Target="/ppt/notesMasters/notesMaster1.xml" Id="R58109459385b42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73625df2694dfa" /><Relationship Type="http://schemas.openxmlformats.org/officeDocument/2006/relationships/notesMaster" Target="/ppt/notesMasters/notesMaster1.xml" Id="R8ee155bc4f1142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50cc86b95640a1" /><Relationship Type="http://schemas.openxmlformats.org/officeDocument/2006/relationships/notesMaster" Target="/ppt/notesMasters/notesMaster1.xml" Id="R099311a0238e46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19e33297c1a4c3e" /><Relationship Type="http://schemas.openxmlformats.org/officeDocument/2006/relationships/notesMaster" Target="/ppt/notesMasters/notesMaster1.xml" Id="Rf057d15d4f3b48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AIの応用と開発プロジェクト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目安：1分／授業開始から0〜1分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推薦・異常検知・強化学習を例に，課題を入出力へ変換し，評価・運用まで考える．モデルを作る前後の仕事も扱う．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Google：Rules of Machine Learning</a:t>
            </a:r>
          </a:p>
          <a:p xmlns:a="http://schemas.openxmlformats.org/drawingml/2006/main">
            <a:r>
              <a:t>https://developers.google.com/machine-learning/guides/rules-of-ml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今日の到達目標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目安：4分／授業開始から1〜5分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技術名を選ぶ前に，誰の何を改善したいかを言葉にする．最後に小さなAI利用案を作る．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推薦・異常検知・強化学習の目的を比較する．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業務の課題を，入力・出力・評価へ整理する．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導入後の監視と，人による確認を考える．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第9回からのつながり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目安：4分／授業開始から5〜9分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例えば案内文の下書きと自動審査では，許容できる誤りや確認の方法が違う．生成モデルだけで全ての問題を解決する前提を置かない．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生成AIの回答も，利用する目的に合わせて評価する．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検索，予測，ルールなどを組み合わせられる．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誤りの影響と，確認にかかる時間も考える．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応用と必要な出力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目安：4分／授業開始から9〜13分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同じ業務にも複数の定式化がある．不正検知はラベルがあれば教師あり分類，少なければ異常検知などの候補がある．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推薦 ／ 利用者へ提示する候補 ／ 役立つ候補か，多様性はあるか</a:t>
            </a:r>
          </a:p>
          <a:p xmlns:a="http://schemas.openxmlformats.org/drawingml/2006/main">
            <a:r>
              <a:t>異常検知 ／ 異常度や確認候補 ／ 見逃しと誤報の負担</a:t>
            </a:r>
          </a:p>
          <a:p xmlns:a="http://schemas.openxmlformats.org/drawingml/2006/main">
            <a:r>
              <a:t>強化学習 ／ 状況に応じた行動 ／ 長期の結果と安全性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Google：Recommendation systems</a:t>
            </a:r>
          </a:p>
          <a:p xmlns:a="http://schemas.openxmlformats.org/drawingml/2006/main">
            <a:r>
              <a:t>https://developers.google.com/machine-learning/recommendation/overview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scikit-learn：Novelty and outlier detection</a:t>
            </a:r>
          </a:p>
          <a:p xmlns:a="http://schemas.openxmlformats.org/drawingml/2006/main">
            <a:r>
              <a:t>https://scikit-learn.org/stable/modules/outlier_detection.html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Sutton &amp; Barto：Reinforcement Learning</a:t>
            </a:r>
          </a:p>
          <a:p xmlns:a="http://schemas.openxmlformats.org/drawingml/2006/main">
            <a:r>
              <a:t>http://incompleteideas.net/book/the-book-2nd.html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推薦システムの基本的な流れ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目安：4分／授業開始から13〜17分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検索・スコアリング・再ランキングの大まかな流れ．在庫や重複，多様性などの条件も最終的な表示で考慮する．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Google：Recommendation systems</a:t>
            </a:r>
          </a:p>
          <a:p xmlns:a="http://schemas.openxmlformats.org/drawingml/2006/main">
            <a:r>
              <a:t>https://developers.google.com/machine-learning/recommendation/overview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推薦の手がかり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目安：4分／授業開始から17〜21分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クリックは関心の手がかりだが，満足したという正解とは限らない．履歴の収集目的と利用条件も確認する．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内容に基づく方法 ／ 商品の属性・文章など ／ 似た候補に偏りやすい</a:t>
            </a:r>
          </a:p>
          <a:p xmlns:a="http://schemas.openxmlformats.org/drawingml/2006/main">
            <a:r>
              <a:t>協調フィルタリング ／ 利用者と商品の利用履歴 ／ 新しい利用者・商品は履歴が少ない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クリック数だけで，有用性を判断しない．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Google：Recommendation systems</a:t>
            </a:r>
          </a:p>
          <a:p xmlns:a="http://schemas.openxmlformats.org/drawingml/2006/main">
            <a:r>
              <a:t>https://developers.google.com/machine-learning/recommendation/overview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異常検知の考え方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目安：4分／授業開始から21〜25分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outlier detectionとnovelty detectionには学習データの前提の違いがある．ここでは稀なデータを候補にする共通の直感を扱う．正解があれば誤報と見逃しを別途測る．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通常と異なるデータを，確認の候補にする．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異常度が高い順に，人が調べることもある．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珍しいデータが，必ず故障や不正とは限らない．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scikit-learn：Novelty and outlier detection</a:t>
            </a:r>
          </a:p>
          <a:p xmlns:a="http://schemas.openxmlformats.org/drawingml/2006/main">
            <a:r>
              <a:t>https://scikit-learn.org/stable/modules/outlier_detection.html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強化学習：行動と結果の繰り返し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目安：4分／授業開始から25〜29分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環境の状態を観察し，方策に従って行動する．結果として次の状態と報酬を得る．図は概念図で，データをオンラインで安全に収集できる保証ではない．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Sutton &amp; Barto：Reinforcement Learning</a:t>
            </a:r>
          </a:p>
          <a:p xmlns:a="http://schemas.openxmlformats.org/drawingml/2006/main">
            <a:r>
              <a:t>http://incompleteideas.net/book/the-book-2nd.html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報酬の設計で結果が変わる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目安：4分／授業開始から29〜33分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短期の報酬と長期の累積報酬を区別する．報酬以外に制約や運用ルールも必要になる．現実環境の試行錯誤を無条件に許可しない．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移動の速さだけ ／ 危険な動きを選ぶ可能性 ／ 衝突や禁止行動を扱う</a:t>
            </a:r>
          </a:p>
          <a:p xmlns:a="http://schemas.openxmlformats.org/drawingml/2006/main">
            <a:r>
              <a:t>クリック数だけ ／ 刺激の強い候補へ偏る可能性 ／ 満足度や不利益も確認する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報酬は，目的を完全に表すとは限らない．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Sutton &amp; Barto：Reinforcement Learning</a:t>
            </a:r>
          </a:p>
          <a:p xmlns:a="http://schemas.openxmlformats.org/drawingml/2006/main">
            <a:r>
              <a:t>http://incompleteideas.net/book/the-book-2nd.html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最初に課題を具体化する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目安：4分／授業開始から33〜37分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図書館の返却忘れを減らしたいという架空の例なら，延滞率や連絡作業の負担を現状で測る．AIを導入したという事実を目標にしない．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誰が，どの場面で困っているかを決める．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改善したい結果と，現状の数値を確かめる．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予測結果を使う人と，行動を決める．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Google：Rules of Machine Learning</a:t>
            </a:r>
          </a:p>
          <a:p xmlns:a="http://schemas.openxmlformats.org/drawingml/2006/main">
            <a:r>
              <a:t>https://developers.google.com/machine-learning/guides/rules-of-ml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課題を入出力へ変換する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目安：4分／授業開始から37〜41分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予測と行動の間に意思決定がある．将来の実測値を入力に使う情報漏れと，入力取得の費用を考える．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利用する時点 ／ 前日夕方</a:t>
            </a:r>
          </a:p>
          <a:p xmlns:a="http://schemas.openxmlformats.org/drawingml/2006/main">
            <a:r>
              <a:t>入力 ／ 過去の販売数，曜日，その時点の天気予報</a:t>
            </a:r>
          </a:p>
          <a:p xmlns:a="http://schemas.openxmlformats.org/drawingml/2006/main">
            <a:r>
              <a:t>出力 ／ 翌日の販売数の予測</a:t>
            </a:r>
          </a:p>
          <a:p xmlns:a="http://schemas.openxmlformats.org/drawingml/2006/main">
            <a:r>
              <a:t>利用する行動 ／ 仕込み量を担当者が決める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比較の基準を作る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目安：4分／授業開始から41〜45分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ベースラインと同じテスト条件で比較する．複雑なモデルでも運用費用が増え，改善が小さい場合がある．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現在の運用や，簡単なルールを測る．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例えば「同じ曜日の平均」を予測の基準にする．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精度だけでなく，費用や作業時間も比べる．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Google：Rules of Machine Learning</a:t>
            </a:r>
          </a:p>
          <a:p xmlns:a="http://schemas.openxmlformats.org/drawingml/2006/main">
            <a:r>
              <a:t>https://developers.google.com/machine-learning/guides/rules-of-ml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開発の流れと見直し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目安：4分／授業開始から45〜49分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一方向で終わる工程ではない．使えるデータや失敗例から課題設定へ戻ることがある．実証実験の成功と本番運用の成功は区別する．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データ準備で確認すること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目安：4分／授業開始から49〜53分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権利や個人情報も収集前に確認する．この回は品質と継続取得を中心に扱い，第13回で法的な条件を学ぶ．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予測時点で，継続して取得できるか．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欠損・重複・ラベルの揺れがないか．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対象や期間が，利用する場面に合っているか．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Google：Rules of Machine Learning</a:t>
            </a:r>
          </a:p>
          <a:p xmlns:a="http://schemas.openxmlformats.org/drawingml/2006/main">
            <a:r>
              <a:t>https://developers.google.com/machine-learning/guides/rules-of-ml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評価データは利用場面に合わせる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目安：4分／授業開始から53〜57分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ランダム分割で独立性が保てる課題と，時系列・グループ分割が必要な課題を区別する．学習と本番で同じ前処理を使う．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将来の販売なら，未来の期間で評価する．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同じ人や店舗の記録が混ざる影響を考える．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テスト結果を見て調整を繰り返さない．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scikit-learn：Common pitfalls</a:t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評価には複数の観点がある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目安：4分／授業開始から57〜61分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オフラインの指標と導入後の効果を混同しない．比較条件や利用者の違いを考慮し，導入が効果の原因かも確かめる．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モデルの予測 ／ 誤差，適合率，再現率</a:t>
            </a:r>
          </a:p>
          <a:p xmlns:a="http://schemas.openxmlformats.org/drawingml/2006/main">
            <a:r>
              <a:t>業務の結果 ／ 廃棄量，作業時間，満足度</a:t>
            </a:r>
          </a:p>
          <a:p xmlns:a="http://schemas.openxmlformats.org/drawingml/2006/main">
            <a:r>
              <a:t>運用の条件 ／ 応答時間，費用，障害時の対応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演習1：確認できる件数の制約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目安：5分／授業開始から61〜66分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個人2分，ペア2分，確認1分．TP=10，FP=30，FN=10．実際の異常数を把握できた架空の評価データである．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一日に異常候補を40件出し，本当に異常だったのは10件．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実際の異常は一日に20件あったとする．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適合率・再現率と，調べる件数を求める．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精度と，確認作業の負担を一緒に見る．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演習1：解答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目安：4分／授業開始から66〜70分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閾値を変えると候補の数と誤り方も変わる．確認可能件数や見逃しの影響を考え，検証データで閾値を決める．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適合率＝10÷40＝25％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再現率＝10÷20＝50％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40件の確認が必要で，異常10件を見逃している．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scikit-learn：Metrics and scoring</a:t>
            </a:r>
          </a:p>
          <a:p xmlns:a="http://schemas.openxmlformats.org/drawingml/2006/main">
            <a:r>
              <a:t>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説明可能性と限界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目安：4分／授業開始から70〜74分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Permutation importanceは列を入れ替えたときの性能低下を測る．相関のある特徴などで解釈が難しい．重要度が小さいことから現実に無関係と結論づけない．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どの特徴を使ったかを，分析する方法がある．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特徴量の重要度は，そのモデルとデータで変わる．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予測に使う関係と，現実の因果関係は区別する．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scikit-learn：Permutation feature importance</a:t>
            </a:r>
          </a:p>
          <a:p xmlns:a="http://schemas.openxmlformats.org/drawingml/2006/main">
            <a:r>
              <a:t>https://scikit-learn.org/stable/modules/permutation_importance.html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導入後も結果を監視する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目安：4分／授業開始から74〜78分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季節や利用者が変わると性能が変わり得る．データドリフトは入力分布の変化，概念ドリフトは入力と正解の関係の変化として区別する．監視から自動再学習を無条件に行わない．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入力の分布，欠損，応答時間などを確認する．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正解が後で分かるなら，予測の誤りを継続して測る．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データの変化に応じて，再評価や停止を判断する．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人による確認を設計する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目安：3分／授業開始から78〜81分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確認担当者が読めない量の出力を出しても形式的な確認になる．自動化バイアスに注意し，異議申立ての経路も考える．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対象 ／ どの結果を，人が確認するか</a:t>
            </a:r>
          </a:p>
          <a:p xmlns:a="http://schemas.openxmlformats.org/drawingml/2006/main">
            <a:r>
              <a:t>情報 ／ 判断に必要な根拠と不確実性</a:t>
            </a:r>
          </a:p>
          <a:p xmlns:a="http://schemas.openxmlformats.org/drawingml/2006/main">
            <a:r>
              <a:t>権限 ／ 訂正・停止・差し戻しを誰が行うか</a:t>
            </a:r>
          </a:p>
          <a:p xmlns:a="http://schemas.openxmlformats.org/drawingml/2006/main">
            <a:r>
              <a:t>記録 ／ 誤りと対応を，次の改善へ残す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演習2：小さなAI利用案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目安：6分／授業開始から81〜87分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ペアで6分．例：学食の仕込み量支援．前日までの販売と翌日の予報→販売予測．同曜日平均とMAE・廃棄量で比較．担当者が在庫や行事と照合する．全て架空の利用案で個人情報を集めない．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学食・図書館・設備点検から，一つの課題を選ぶ．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入力，出力，比較の基準，評価指標を決める．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誤った場合の影響と，確認する人を決める．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モデルの前後も含めて，利用案を説明する．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まとめ・振り返り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目安：3分／授業開始から87〜90分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出口課題：演習2の利用案を目的，入出力，評価，運用の四つで説明する．次回は表形式データを実際に分割し，モデルを学習して比較する．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AIの出力を，誰のどの行動へ使うかを決める．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現状の方法と，利用場面に合う条件で比較する．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導入後の変化と，人による対応を設計する．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次回：実習1・データから学習して評価する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参考資料：授業時間外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授業内容の参考資料．図・数値・設問は出典を別途示したものを除き，本講義の作例．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Google：Rules of Machine Learning</a:t>
            </a:r>
          </a:p>
          <a:p xmlns:a="http://schemas.openxmlformats.org/drawingml/2006/main">
            <a:r>
              <a:t>https://developers.google.com/machine-learning/guides/rules-of-ml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参考資料：授業時間外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本文の補足と参考資料．演習は講義用の作例で，公式試験問題ではない．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参照資料（2026年10月7日確認）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Google：Rules of Machine Learning</a:t>
            </a:r>
          </a:p>
          <a:p xmlns:a="http://schemas.openxmlformats.org/drawingml/2006/main">
            <a:r>
              <a:t>https://developers.google.com/machine-learning/guides/rules-of-ml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c0bbbcd8e49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9699bd11343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3970e9b994d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ca1b99bbc43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e4502dbe548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07fc1cb394b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fbb920ccc4a9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e4dc2dfe64c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b421fbc534d8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8e8c0ede04d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2c43272f4471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97F7A9FC-42F9-4272-8061-420BE7C155B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F9B35A9-3FE9-4BFF-B656-B4D6A3DC0A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EE4E9B5-D82D-45CC-A6B5-C4CEFF56E3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BFD5D03B-80CF-46D0-B675-64FA89A7F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E87C2054-8E80-4D76-8DEF-3392908A46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A48A6AB9-704A-4EBC-BC7C-E63FA18B1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D7215D3D-AF97-4F0E-9656-152FBCF3D2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DF7B5FDE-C912-4BA0-875F-484DCB7B2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B16BA528-8965-4793-9AC8-05865DDFC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0E39A5F4-B176-4DAE-9CB7-A20333506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E172536-B60A-4A31-A2FA-7BA7BF19B8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C24B9CB-9CE1-4429-8F38-7501BA6A20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A50B932F-4A9D-4C20-9484-8CF9B39F5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10A4A5C6-0B08-48A3-9AF9-3CC6EB89A4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7B5EE8FA-8AA8-4DEE-8C01-771682B3C2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A6C772D8-01E9-4327-9C03-7A26C992D7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929D0ACB-6748-4C74-A363-D9CD176913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B4C4AB4-01B0-4B64-8073-04A7A1310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F925D32E-2AA0-42B4-B90E-E867F36D2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73D0385D-11D1-44BD-9DCD-3C92F13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0351056-57DF-4898-A954-791E5DBBA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5D8E1582-629C-417E-97AF-90F193595A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9DF51F9B-459E-40E6-BF85-67159A6AAE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8784D298-F9D4-481C-A581-8DD66EEBFE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90CDD5AF-DC6A-4D21-B2D6-412F53B788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BC7FC0E-748E-4525-B97C-CEA11BA1A0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F82A840-592C-4A06-880C-CBB4FCCE248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FA60046D-6491-4CEE-A2BA-C9D70926FC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009999C1-0D75-43B3-B331-E10DC6D33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EA545E12-B334-450B-8E0B-4F79F102D5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f9b6bf0c24738" /><Relationship Type="http://schemas.openxmlformats.org/officeDocument/2006/relationships/slideLayout" Target="/ppt/slideLayouts/slideLayout1.xml" Id="R8185b51dfa89468f" /><Relationship Type="http://schemas.openxmlformats.org/officeDocument/2006/relationships/slideLayout" Target="/ppt/slideLayouts/slideLayout2.xml" Id="Rd0f19b33d8fd4fd4" /><Relationship Type="http://schemas.openxmlformats.org/officeDocument/2006/relationships/slideLayout" Target="/ppt/slideLayouts/slideLayout3.xml" Id="R6953b5c85a524e64" /><Relationship Type="http://schemas.openxmlformats.org/officeDocument/2006/relationships/slideLayout" Target="/ppt/slideLayouts/slideLayout4.xml" Id="R50df869957ed4e31" /><Relationship Type="http://schemas.openxmlformats.org/officeDocument/2006/relationships/slideLayout" Target="/ppt/slideLayouts/slideLayout5.xml" Id="Rc061e69db7af4512" /><Relationship Type="http://schemas.openxmlformats.org/officeDocument/2006/relationships/slideLayout" Target="/ppt/slideLayouts/slideLayout6.xml" Id="R833230cc5a04480c" /><Relationship Type="http://schemas.openxmlformats.org/officeDocument/2006/relationships/slideLayout" Target="/ppt/slideLayouts/slideLayout7.xml" Id="R5bf3edde8034454b" /><Relationship Type="http://schemas.openxmlformats.org/officeDocument/2006/relationships/slideLayout" Target="/ppt/slideLayouts/slideLayout8.xml" Id="R2920d665e1604144" /><Relationship Type="http://schemas.openxmlformats.org/officeDocument/2006/relationships/slideLayout" Target="/ppt/slideLayouts/slideLayout9.xml" Id="R7a906bdc4b1d4b36" /><Relationship Type="http://schemas.openxmlformats.org/officeDocument/2006/relationships/slideLayout" Target="/ppt/slideLayouts/slideLayout10.xml" Id="R2eab1fd802e34d43" /><Relationship Type="http://schemas.openxmlformats.org/officeDocument/2006/relationships/slideLayout" Target="/ppt/slideLayouts/slideLayout11.xml" Id="R3e1686e516e14e0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74A3540-C64F-46E3-B616-206CF115C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E08F150-A23F-4348-8C7A-55D3B350A2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4D6018B7-7DF8-468E-A6FA-83523D47D8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85b51dfa89468f"/>
    <p:sldLayoutId xmlns:r="http://schemas.openxmlformats.org/officeDocument/2006/relationships" id="2147483650" r:id="Rd0f19b33d8fd4fd4"/>
    <p:sldLayoutId xmlns:r="http://schemas.openxmlformats.org/officeDocument/2006/relationships" id="2147483651" r:id="R6953b5c85a524e64"/>
    <p:sldLayoutId xmlns:r="http://schemas.openxmlformats.org/officeDocument/2006/relationships" id="2147483652" r:id="R50df869957ed4e31"/>
    <p:sldLayoutId xmlns:r="http://schemas.openxmlformats.org/officeDocument/2006/relationships" id="2147483653" r:id="Rc061e69db7af4512"/>
    <p:sldLayoutId xmlns:r="http://schemas.openxmlformats.org/officeDocument/2006/relationships" id="2147483654" r:id="R833230cc5a04480c"/>
    <p:sldLayoutId xmlns:r="http://schemas.openxmlformats.org/officeDocument/2006/relationships" id="2147483655" r:id="R5bf3edde8034454b"/>
    <p:sldLayoutId xmlns:r="http://schemas.openxmlformats.org/officeDocument/2006/relationships" id="2147483656" r:id="R2920d665e1604144"/>
    <p:sldLayoutId xmlns:r="http://schemas.openxmlformats.org/officeDocument/2006/relationships" id="2147483657" r:id="R7a906bdc4b1d4b36"/>
    <p:sldLayoutId xmlns:r="http://schemas.openxmlformats.org/officeDocument/2006/relationships" id="2147483658" r:id="R2eab1fd802e34d43"/>
    <p:sldLayoutId xmlns:r="http://schemas.openxmlformats.org/officeDocument/2006/relationships" id="2147483659" r:id="R3e1686e516e14e0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4699c027527445c" /><Relationship Type="http://schemas.openxmlformats.org/officeDocument/2006/relationships/notesSlide" Target="/ppt/notesSlides/notesSlide1.xml" Id="Re291d0e4770c4b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1d72dee19a1447a" /><Relationship Type="http://schemas.openxmlformats.org/officeDocument/2006/relationships/notesSlide" Target="/ppt/notesSlides/notesSlide2.xml" Id="Rdd3d35d3684d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61da2043eb84a94" /><Relationship Type="http://schemas.openxmlformats.org/officeDocument/2006/relationships/notesSlide" Target="/ppt/notesSlides/notesSlide3.xml" Id="R57d01b53cd8045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d291306ae6f4668" /><Relationship Type="http://schemas.openxmlformats.org/officeDocument/2006/relationships/notesSlide" Target="/ppt/notesSlides/notesSlide4.xml" Id="R3a63d8d6900e48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19b50e79ae8496d" /><Relationship Type="http://schemas.openxmlformats.org/officeDocument/2006/relationships/notesSlide" Target="/ppt/notesSlides/notesSlide5.xml" Id="R755e1ec21f394a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586252637c14169" /><Relationship Type="http://schemas.openxmlformats.org/officeDocument/2006/relationships/notesSlide" Target="/ppt/notesSlides/notesSlide6.xml" Id="Reb5f0efbbe664c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a3479e7010e48b7" /><Relationship Type="http://schemas.openxmlformats.org/officeDocument/2006/relationships/notesSlide" Target="/ppt/notesSlides/notesSlide7.xml" Id="R8165343af2ab42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81a6fd138a74e5e" /><Relationship Type="http://schemas.openxmlformats.org/officeDocument/2006/relationships/notesSlide" Target="/ppt/notesSlides/notesSlide8.xml" Id="R00c78e520b344d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8f28b8c4d76483c" /><Relationship Type="http://schemas.openxmlformats.org/officeDocument/2006/relationships/notesSlide" Target="/ppt/notesSlides/notesSlide9.xml" Id="R197f24b8d2854f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6e655593f7244cd" /><Relationship Type="http://schemas.openxmlformats.org/officeDocument/2006/relationships/notesSlide" Target="/ppt/notesSlides/notesSlide10.xml" Id="Rac2294391d454d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fb3bb0ba212409e" /><Relationship Type="http://schemas.openxmlformats.org/officeDocument/2006/relationships/notesSlide" Target="/ppt/notesSlides/notesSlide11.xml" Id="R9fac548b0bea4d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17ca31cdadb4fc0" /><Relationship Type="http://schemas.openxmlformats.org/officeDocument/2006/relationships/notesSlide" Target="/ppt/notesSlides/notesSlide12.xml" Id="R8e2832f628f641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8c795e1b8ef4012" /><Relationship Type="http://schemas.openxmlformats.org/officeDocument/2006/relationships/notesSlide" Target="/ppt/notesSlides/notesSlide13.xml" Id="Rd7d772fd348d46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512f8fb284240ca" /><Relationship Type="http://schemas.openxmlformats.org/officeDocument/2006/relationships/notesSlide" Target="/ppt/notesSlides/notesSlide14.xml" Id="R557c963bc13246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689c8c6b97144d3" /><Relationship Type="http://schemas.openxmlformats.org/officeDocument/2006/relationships/notesSlide" Target="/ppt/notesSlides/notesSlide15.xml" Id="Rd7eb9f0db8e24c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294b60a1a82421a" /><Relationship Type="http://schemas.openxmlformats.org/officeDocument/2006/relationships/notesSlide" Target="/ppt/notesSlides/notesSlide16.xml" Id="Rde23a2461ac3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a58432a85fb4d71" /><Relationship Type="http://schemas.openxmlformats.org/officeDocument/2006/relationships/notesSlide" Target="/ppt/notesSlides/notesSlide17.xml" Id="Re74bf91c6eee40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d3c83f381c24515" /><Relationship Type="http://schemas.openxmlformats.org/officeDocument/2006/relationships/notesSlide" Target="/ppt/notesSlides/notesSlide18.xml" Id="R7dbe7e943fe240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015de4613d14fc8" /><Relationship Type="http://schemas.openxmlformats.org/officeDocument/2006/relationships/notesSlide" Target="/ppt/notesSlides/notesSlide19.xml" Id="R0a1228ae1f8746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40d5682355140ec" /><Relationship Type="http://schemas.openxmlformats.org/officeDocument/2006/relationships/notesSlide" Target="/ppt/notesSlides/notesSlide20.xml" Id="R60fb5123498244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639cb7979b54727" /><Relationship Type="http://schemas.openxmlformats.org/officeDocument/2006/relationships/notesSlide" Target="/ppt/notesSlides/notesSlide21.xml" Id="R984280db930946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06c89f7e1c04198" /><Relationship Type="http://schemas.openxmlformats.org/officeDocument/2006/relationships/notesSlide" Target="/ppt/notesSlides/notesSlide22.xml" Id="Rf94d0f62d9b245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791069f0b594900" /><Relationship Type="http://schemas.openxmlformats.org/officeDocument/2006/relationships/notesSlide" Target="/ppt/notesSlides/notesSlide23.xml" Id="Rfafe329d997345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4b07190d19d4ef0" /><Relationship Type="http://schemas.openxmlformats.org/officeDocument/2006/relationships/hyperlink" Target="https://developers.google.com/machine-learning/crash-course/production-ml-systems" TargetMode="External" Id="Rdae8bbe30d3245de" /><Relationship Type="http://schemas.openxmlformats.org/officeDocument/2006/relationships/hyperlink" Target="https://developers.google.com/machine-learning/guides/rules-of-ml" TargetMode="External" Id="R1cc3fac2840d4cb3" /><Relationship Type="http://schemas.openxmlformats.org/officeDocument/2006/relationships/hyperlink" Target="https://developers.google.com/machine-learning/recommendation/overview" TargetMode="External" Id="R724265e8e8644787" /><Relationship Type="http://schemas.openxmlformats.org/officeDocument/2006/relationships/notesSlide" Target="/ppt/notesSlides/notesSlide24.xml" Id="R83ba2aa7bd0649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10097da25f249b1" /><Relationship Type="http://schemas.openxmlformats.org/officeDocument/2006/relationships/hyperlink" Target="https://scikit-learn.org/stable/modules/outlier_detection.html" TargetMode="External" Id="R915e311d9b2b41a4" /><Relationship Type="http://schemas.openxmlformats.org/officeDocument/2006/relationships/hyperlink" Target="http://incompleteideas.net/book/the-book-2nd.html" TargetMode="External" Id="R426735dfecc146dd" /><Relationship Type="http://schemas.openxmlformats.org/officeDocument/2006/relationships/hyperlink" Target="https://scikit-learn.org/stable/modules/permutation_importance.html" TargetMode="External" Id="R21380e307c9c44bc" /><Relationship Type="http://schemas.openxmlformats.org/officeDocument/2006/relationships/notesSlide" Target="/ppt/notesSlides/notesSlide25.xml" Id="R95058a8060fa4d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情報技術者（民間資格）10&#10;G検定">
            <a:extLst xmlns:a="http://schemas.openxmlformats.org/drawingml/2006/main">
              <a:ext uri="{FF2B5EF4-FFF2-40B4-BE49-F238E27FC236}">
                <a16:creationId xmlns:a16="http://schemas.microsoft.com/office/drawing/2014/main" id="{43090741-B436-4A6C-95EC-68E49BCD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740664"/>
            <a:ext cx="8522208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情報技術者（民間資格）10</a:t>
            </a:r>
          </a:p>
          <a:p xmlns:a="http://schemas.openxmlformats.org/drawingml/2006/main">
            <a:pPr algn="ctr">
              <a:def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G検定</a:t>
            </a:r>
          </a:p>
        </p:txBody>
      </p:sp>
      <p:sp>
        <p:nvSpPr>
          <p:cNvPr id="2" name="AIの応用と開発プロジェクト">
            <a:extLst xmlns:a="http://schemas.openxmlformats.org/drawingml/2006/main">
              <a:ext uri="{FF2B5EF4-FFF2-40B4-BE49-F238E27FC236}">
                <a16:creationId xmlns:a16="http://schemas.microsoft.com/office/drawing/2014/main" id="{F9581DD3-4585-448B-BE6F-C0A7CEE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8229600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AIの応用と開発プロジェクト</a:t>
            </a:r>
          </a:p>
        </p:txBody>
      </p:sp>
      <p:sp>
        <p:nvSpPr>
          <p:cNvPr id="3" name="第10回 ／ 90分 ／ 全25枚">
            <a:extLst xmlns:a="http://schemas.openxmlformats.org/drawingml/2006/main">
              <a:ext uri="{FF2B5EF4-FFF2-40B4-BE49-F238E27FC236}">
                <a16:creationId xmlns:a16="http://schemas.microsoft.com/office/drawing/2014/main" id="{057A7E71-341E-48F6-BC82-159E6A8A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5384"/>
            <a:ext cx="822960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6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 ／ 90分 ／ 全25枚</a:t>
            </a:r>
          </a:p>
        </p:txBody>
      </p:sp>
      <p:sp>
        <p:nvSpPr>
          <p:cNvPr id="4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8E27C94E-4FEF-47E2-B459-5C64237B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5" name="第10回　1">
            <a:extLst xmlns:a="http://schemas.openxmlformats.org/drawingml/2006/main">
              <a:ext uri="{FF2B5EF4-FFF2-40B4-BE49-F238E27FC236}">
                <a16:creationId xmlns:a16="http://schemas.microsoft.com/office/drawing/2014/main" id="{44EAC9F9-99E5-47DD-BF16-9F658AF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</a:t>
            </a:r>
          </a:p>
        </p:txBody>
      </p:sp>
    </p:spTree>
    <p:extLst>
      <p:ext uri="{BB962C8B-B14F-4D97-AF65-F5344CB8AC3E}">
        <p14:creationId xmlns:p14="http://schemas.microsoft.com/office/powerpoint/2010/main" val="1169015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今日の到達目標">
            <a:extLst xmlns:a="http://schemas.openxmlformats.org/drawingml/2006/main">
              <a:ext uri="{FF2B5EF4-FFF2-40B4-BE49-F238E27FC236}">
                <a16:creationId xmlns:a16="http://schemas.microsoft.com/office/drawing/2014/main" id="{CC478CDF-EDD8-4DEB-9812-C713B08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今日の到達目標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1570B-69ED-4405-8284-EB123837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推薦・異常検知・強化学習の目的を比較する．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業務の課題を，入力・出力・評価へ整理する．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導入後の監視と，人による確認を考える．</a:t>
            </a:r>
          </a:p>
        </p:txBody>
      </p:sp>
      <p:sp>
        <p:nvSpPr>
          <p:cNvPr id="3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F7399E4F-37F3-486B-9097-21D742EF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4" name="第10回　2">
            <a:extLst xmlns:a="http://schemas.openxmlformats.org/drawingml/2006/main">
              <a:ext uri="{FF2B5EF4-FFF2-40B4-BE49-F238E27FC236}">
                <a16:creationId xmlns:a16="http://schemas.microsoft.com/office/drawing/2014/main" id="{8561E3EA-9A02-4DBF-B386-D1BCC0F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2</a:t>
            </a:r>
          </a:p>
        </p:txBody>
      </p:sp>
    </p:spTree>
    <p:extLst>
      <p:ext uri="{BB962C8B-B14F-4D97-AF65-F5344CB8AC3E}">
        <p14:creationId xmlns:p14="http://schemas.microsoft.com/office/powerpoint/2010/main" val="2019672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9回からのつながり">
            <a:extLst xmlns:a="http://schemas.openxmlformats.org/drawingml/2006/main">
              <a:ext uri="{FF2B5EF4-FFF2-40B4-BE49-F238E27FC236}">
                <a16:creationId xmlns:a16="http://schemas.microsoft.com/office/drawing/2014/main" id="{AF8C6FCE-65AF-4111-8B70-6DCE58F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第9回からのつながり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C30C2-050C-4130-9962-1A50DC55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生成AIの回答も，利用する目的に合わせて評価する．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検索，予測，ルールなどを組み合わせられる．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誤りの影響と，確認にかかる時間も考える．</a:t>
            </a:r>
          </a:p>
        </p:txBody>
      </p:sp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4D4F52C0-9F7C-4044-A986-36FFEFF3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3">
            <a:extLst xmlns:a="http://schemas.openxmlformats.org/drawingml/2006/main">
              <a:ext uri="{FF2B5EF4-FFF2-40B4-BE49-F238E27FC236}">
                <a16:creationId xmlns:a16="http://schemas.microsoft.com/office/drawing/2014/main" id="{9FA0344B-B4D4-4C9C-A9A7-765DEBB4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3</a:t>
            </a:r>
          </a:p>
        </p:txBody>
      </p:sp>
    </p:spTree>
    <p:extLst>
      <p:ext uri="{BB962C8B-B14F-4D97-AF65-F5344CB8AC3E}">
        <p14:creationId xmlns:p14="http://schemas.microsoft.com/office/powerpoint/2010/main" val="2601316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応用と必要な出力">
            <a:extLst xmlns:a="http://schemas.openxmlformats.org/drawingml/2006/main">
              <a:ext uri="{FF2B5EF4-FFF2-40B4-BE49-F238E27FC236}">
                <a16:creationId xmlns:a16="http://schemas.microsoft.com/office/drawing/2014/main" id="{4C439060-4199-4EA8-9536-6A77E575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応用と必要な出力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52374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8920"/>
                <a:gridCol w="2788920"/>
                <a:gridCol w="278892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応用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出力の例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確かめる点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推薦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利用者へ提示する候補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役立つ候補か，多様性はあるか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異常検知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異常度や確認候補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見逃しと誤報の負担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強化学習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状況に応じた行動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長期の結果と安全性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Google／scikit-learn／Sutton &amp; Barto">
            <a:extLst xmlns:a="http://schemas.openxmlformats.org/drawingml/2006/main">
              <a:ext uri="{FF2B5EF4-FFF2-40B4-BE49-F238E27FC236}">
                <a16:creationId xmlns:a16="http://schemas.microsoft.com/office/drawing/2014/main" id="{C43B6DC2-0318-4DC1-809D-A785705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参照：Google／scikit-learn／Sutton &amp; Barto</a:t>
            </a:r>
          </a:p>
        </p:txBody>
      </p:sp>
      <p:sp>
        <p:nvSpPr>
          <p:cNvPr id="4" name="第10回　4">
            <a:extLst xmlns:a="http://schemas.openxmlformats.org/drawingml/2006/main">
              <a:ext uri="{FF2B5EF4-FFF2-40B4-BE49-F238E27FC236}">
                <a16:creationId xmlns:a16="http://schemas.microsoft.com/office/drawing/2014/main" id="{8C07E7F4-89B7-4FAF-99AB-86DA9308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4</a:t>
            </a:r>
          </a:p>
        </p:txBody>
      </p:sp>
    </p:spTree>
    <p:extLst>
      <p:ext uri="{BB962C8B-B14F-4D97-AF65-F5344CB8AC3E}">
        <p14:creationId xmlns:p14="http://schemas.microsoft.com/office/powerpoint/2010/main" val="820091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推薦システムの基本的な流れ">
            <a:extLst xmlns:a="http://schemas.openxmlformats.org/drawingml/2006/main">
              <a:ext uri="{FF2B5EF4-FFF2-40B4-BE49-F238E27FC236}">
                <a16:creationId xmlns:a16="http://schemas.microsoft.com/office/drawing/2014/main" id="{9AB3821C-3F74-4F80-9950-C6811186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推薦システムの基本的な流れ</a:t>
            </a:r>
          </a:p>
        </p:txBody>
      </p:sp>
      <p:sp>
        <p:nvSpPr>
          <p:cNvPr id="2" name="候補を集める">
            <a:extLst xmlns:a="http://schemas.openxmlformats.org/drawingml/2006/main">
              <a:ext uri="{FF2B5EF4-FFF2-40B4-BE49-F238E27FC236}">
                <a16:creationId xmlns:a16="http://schemas.microsoft.com/office/drawing/2014/main" id="{647E5730-A96E-4E00-BC6B-C14E71B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230428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候補を集める</a:t>
            </a:r>
          </a:p>
        </p:txBody>
      </p:sp>
      <p:sp>
        <p:nvSpPr>
          <p:cNvPr id="3" name="関連の強さを&#10;評価する">
            <a:extLst xmlns:a="http://schemas.openxmlformats.org/drawingml/2006/main">
              <a:ext uri="{FF2B5EF4-FFF2-40B4-BE49-F238E27FC236}">
                <a16:creationId xmlns:a16="http://schemas.microsoft.com/office/drawing/2014/main" id="{7B8B9A12-6905-433F-A417-887CCDAC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828800"/>
            <a:ext cx="230428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関連の強さを</a:t>
            </a:r>
          </a:p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評価する</a:t>
            </a:r>
          </a:p>
        </p:txBody>
      </p:sp>
      <p:sp>
        <p:nvSpPr>
          <p:cNvPr id="4" name="表示する候補を&#10;調整する">
            <a:extLst xmlns:a="http://schemas.openxmlformats.org/drawingml/2006/main">
              <a:ext uri="{FF2B5EF4-FFF2-40B4-BE49-F238E27FC236}">
                <a16:creationId xmlns:a16="http://schemas.microsoft.com/office/drawing/2014/main" id="{6BF8D335-E218-4EF8-8AFA-27518DC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828800"/>
            <a:ext cx="230428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表示する候補を</a:t>
            </a:r>
          </a:p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調整する</a:t>
            </a:r>
          </a:p>
        </p:txBody>
      </p:sp>
      <p:cxnSp>
        <p:nvCxnSpPr>
          <p:cNvPr id="1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898648" y="2308860"/>
            <a:ext cx="34747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550408" y="2308860"/>
            <a:ext cx="34747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sp>
        <p:nvSpPr>
          <p:cNvPr id="7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954893E2-F427-4D7B-9995-7094EF6B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8" name="第10回　5">
            <a:extLst xmlns:a="http://schemas.openxmlformats.org/drawingml/2006/main">
              <a:ext uri="{FF2B5EF4-FFF2-40B4-BE49-F238E27FC236}">
                <a16:creationId xmlns:a16="http://schemas.microsoft.com/office/drawing/2014/main" id="{C9120837-E3B2-4F2A-9B8B-5D44BD1C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5</a:t>
            </a:r>
          </a:p>
        </p:txBody>
      </p:sp>
    </p:spTree>
    <p:extLst>
      <p:ext uri="{BB962C8B-B14F-4D97-AF65-F5344CB8AC3E}">
        <p14:creationId xmlns:p14="http://schemas.microsoft.com/office/powerpoint/2010/main" val="1909921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推薦の手がかり">
            <a:extLst xmlns:a="http://schemas.openxmlformats.org/drawingml/2006/main">
              <a:ext uri="{FF2B5EF4-FFF2-40B4-BE49-F238E27FC236}">
                <a16:creationId xmlns:a16="http://schemas.microsoft.com/office/drawing/2014/main" id="{3142B6C7-1D41-47F2-86F0-18971636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推薦の手がかり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1892808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8920"/>
                <a:gridCol w="2788920"/>
                <a:gridCol w="278892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方法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手がかり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考える課題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内容に基づく方法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商品の属性・文章など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似た候補に偏りやすい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協調フィルタリング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利用者と商品の利用履歴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新しい利用者・商品は履歴が少ない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クリック数だけで，有用性を判断しない．">
            <a:extLst xmlns:a="http://schemas.openxmlformats.org/drawingml/2006/main">
              <a:ext uri="{FF2B5EF4-FFF2-40B4-BE49-F238E27FC236}">
                <a16:creationId xmlns:a16="http://schemas.microsoft.com/office/drawing/2014/main" id="{1624CB75-78D0-4E44-8394-86CE8E20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クリック数だけで，有用性を判断しない．</a:t>
            </a:r>
          </a:p>
        </p:txBody>
      </p:sp>
      <p:sp>
        <p:nvSpPr>
          <p:cNvPr id="4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5428506B-22A2-42BE-9716-D8B8296D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5" name="第10回　6">
            <a:extLst xmlns:a="http://schemas.openxmlformats.org/drawingml/2006/main">
              <a:ext uri="{FF2B5EF4-FFF2-40B4-BE49-F238E27FC236}">
                <a16:creationId xmlns:a16="http://schemas.microsoft.com/office/drawing/2014/main" id="{51D74967-08E1-40F0-8695-9DBB66D3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6</a:t>
            </a:r>
          </a:p>
        </p:txBody>
      </p:sp>
    </p:spTree>
    <p:extLst>
      <p:ext uri="{BB962C8B-B14F-4D97-AF65-F5344CB8AC3E}">
        <p14:creationId xmlns:p14="http://schemas.microsoft.com/office/powerpoint/2010/main" val="1115085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異常検知の考え方">
            <a:extLst xmlns:a="http://schemas.openxmlformats.org/drawingml/2006/main">
              <a:ext uri="{FF2B5EF4-FFF2-40B4-BE49-F238E27FC236}">
                <a16:creationId xmlns:a16="http://schemas.microsoft.com/office/drawing/2014/main" id="{A8A87C19-03FE-46D3-B654-DFEBA85E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異常検知の考え方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2E719-5D2A-4E16-A7BF-FD33E27F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通常と異なるデータを，確認の候補にする．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異常度が高い順に，人が調べることもある．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珍しいデータが，必ず故障や不正とは限らない．</a:t>
            </a:r>
          </a:p>
        </p:txBody>
      </p:sp>
      <p:sp>
        <p:nvSpPr>
          <p:cNvPr id="3" name="参照：scikit-learn">
            <a:extLst xmlns:a="http://schemas.openxmlformats.org/drawingml/2006/main">
              <a:ext uri="{FF2B5EF4-FFF2-40B4-BE49-F238E27FC236}">
                <a16:creationId xmlns:a16="http://schemas.microsoft.com/office/drawing/2014/main" id="{D6B58940-DD04-45F4-B725-3F8D76E6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参照：scikit-learn</a:t>
            </a:r>
          </a:p>
        </p:txBody>
      </p:sp>
      <p:sp>
        <p:nvSpPr>
          <p:cNvPr id="4" name="第10回　7">
            <a:extLst xmlns:a="http://schemas.openxmlformats.org/drawingml/2006/main">
              <a:ext uri="{FF2B5EF4-FFF2-40B4-BE49-F238E27FC236}">
                <a16:creationId xmlns:a16="http://schemas.microsoft.com/office/drawing/2014/main" id="{ACED6ECB-B467-4F37-8773-D815328D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7</a:t>
            </a:r>
          </a:p>
        </p:txBody>
      </p:sp>
    </p:spTree>
    <p:extLst>
      <p:ext uri="{BB962C8B-B14F-4D97-AF65-F5344CB8AC3E}">
        <p14:creationId xmlns:p14="http://schemas.microsoft.com/office/powerpoint/2010/main" val="1907250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強化学習：行動と結果の繰り返し">
            <a:extLst xmlns:a="http://schemas.openxmlformats.org/drawingml/2006/main">
              <a:ext uri="{FF2B5EF4-FFF2-40B4-BE49-F238E27FC236}">
                <a16:creationId xmlns:a16="http://schemas.microsoft.com/office/drawing/2014/main" id="{90FD09B8-B68B-45FF-871C-F39F2685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強化学習：行動と結果の繰り返し</a:t>
            </a:r>
          </a:p>
        </p:txBody>
      </p:sp>
      <p:sp>
        <p:nvSpPr>
          <p:cNvPr id="2" name="エージェント">
            <a:extLst xmlns:a="http://schemas.openxmlformats.org/drawingml/2006/main">
              <a:ext uri="{FF2B5EF4-FFF2-40B4-BE49-F238E27FC236}">
                <a16:creationId xmlns:a16="http://schemas.microsoft.com/office/drawing/2014/main" id="{F9257EA5-E939-4D3E-A848-F32D2118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08760"/>
            <a:ext cx="24688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エージェント</a:t>
            </a:r>
          </a:p>
        </p:txBody>
      </p:sp>
      <p:sp>
        <p:nvSpPr>
          <p:cNvPr id="3" name="行動">
            <a:extLst xmlns:a="http://schemas.openxmlformats.org/drawingml/2006/main">
              <a:ext uri="{FF2B5EF4-FFF2-40B4-BE49-F238E27FC236}">
                <a16:creationId xmlns:a16="http://schemas.microsoft.com/office/drawing/2014/main" id="{4C8E6A07-DF75-4981-895D-53E872A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508760"/>
            <a:ext cx="24688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行動</a:t>
            </a:r>
          </a:p>
        </p:txBody>
      </p:sp>
      <p:sp>
        <p:nvSpPr>
          <p:cNvPr id="4" name="環境">
            <a:extLst xmlns:a="http://schemas.openxmlformats.org/drawingml/2006/main">
              <a:ext uri="{FF2B5EF4-FFF2-40B4-BE49-F238E27FC236}">
                <a16:creationId xmlns:a16="http://schemas.microsoft.com/office/drawing/2014/main" id="{9A20F0C1-1331-43A2-B581-7EB6B856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246120"/>
            <a:ext cx="24688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環境</a:t>
            </a:r>
          </a:p>
        </p:txBody>
      </p:sp>
      <p:sp>
        <p:nvSpPr>
          <p:cNvPr id="5" name="次の状態・報酬">
            <a:extLst xmlns:a="http://schemas.openxmlformats.org/drawingml/2006/main">
              <a:ext uri="{FF2B5EF4-FFF2-40B4-BE49-F238E27FC236}">
                <a16:creationId xmlns:a16="http://schemas.microsoft.com/office/drawing/2014/main" id="{1B9375CB-8F53-419A-BBB3-DA87FBEE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24688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次の状態・報酬</a:t>
            </a:r>
          </a:p>
        </p:txBody>
      </p:sp>
      <p:cxnSp>
        <p:nvCxnSpPr>
          <p:cNvPr id="1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429000" y="1897380"/>
            <a:ext cx="219456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858000" y="2286000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3429000" y="3634740"/>
            <a:ext cx="219456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5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V="1">
            <a:off x="2194560" y="2286000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sp>
        <p:nvSpPr>
          <p:cNvPr id="10" name="参照：Sutton &amp; Barto">
            <a:extLst xmlns:a="http://schemas.openxmlformats.org/drawingml/2006/main">
              <a:ext uri="{FF2B5EF4-FFF2-40B4-BE49-F238E27FC236}">
                <a16:creationId xmlns:a16="http://schemas.microsoft.com/office/drawing/2014/main" id="{15247D54-F87D-41A9-B50B-EA30D205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参照：Sutton &amp; Barto</a:t>
            </a:r>
          </a:p>
        </p:txBody>
      </p:sp>
      <p:sp>
        <p:nvSpPr>
          <p:cNvPr id="11" name="第10回　8">
            <a:extLst xmlns:a="http://schemas.openxmlformats.org/drawingml/2006/main">
              <a:ext uri="{FF2B5EF4-FFF2-40B4-BE49-F238E27FC236}">
                <a16:creationId xmlns:a16="http://schemas.microsoft.com/office/drawing/2014/main" id="{3D52AB50-46EB-48FB-ADBD-47BE9644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8</a:t>
            </a:r>
          </a:p>
        </p:txBody>
      </p:sp>
    </p:spTree>
    <p:extLst>
      <p:ext uri="{BB962C8B-B14F-4D97-AF65-F5344CB8AC3E}">
        <p14:creationId xmlns:p14="http://schemas.microsoft.com/office/powerpoint/2010/main" val="329921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報酬の設計で結果が変わる">
            <a:extLst xmlns:a="http://schemas.openxmlformats.org/drawingml/2006/main">
              <a:ext uri="{FF2B5EF4-FFF2-40B4-BE49-F238E27FC236}">
                <a16:creationId xmlns:a16="http://schemas.microsoft.com/office/drawing/2014/main" id="{B6A77DB7-758C-4413-8486-6A8BFB9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報酬の設計で結果が変わる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1892808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8920"/>
                <a:gridCol w="2788920"/>
                <a:gridCol w="278892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報酬の例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起こり得る問題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考える条件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移動の速さだけ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危険な動きを選ぶ可能性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衝突や禁止行動を扱う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クリック数だけ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刺激の強い候補へ偏る可能性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満足度や不利益も確認する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報酬は，目的を完全に表すとは限らない．">
            <a:extLst xmlns:a="http://schemas.openxmlformats.org/drawingml/2006/main">
              <a:ext uri="{FF2B5EF4-FFF2-40B4-BE49-F238E27FC236}">
                <a16:creationId xmlns:a16="http://schemas.microsoft.com/office/drawing/2014/main" id="{DDAF7303-9D38-435E-A1F0-4B029A53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報酬は，目的を完全に表すとは限らない．</a:t>
            </a:r>
          </a:p>
        </p:txBody>
      </p:sp>
      <p:sp>
        <p:nvSpPr>
          <p:cNvPr id="4" name="参照：Sutton &amp; Barto">
            <a:extLst xmlns:a="http://schemas.openxmlformats.org/drawingml/2006/main">
              <a:ext uri="{FF2B5EF4-FFF2-40B4-BE49-F238E27FC236}">
                <a16:creationId xmlns:a16="http://schemas.microsoft.com/office/drawing/2014/main" id="{5EDD6246-5923-48A1-B9D8-9997030E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参照：Sutton &amp; Barto</a:t>
            </a:r>
          </a:p>
        </p:txBody>
      </p:sp>
      <p:sp>
        <p:nvSpPr>
          <p:cNvPr id="5" name="第10回　9">
            <a:extLst xmlns:a="http://schemas.openxmlformats.org/drawingml/2006/main">
              <a:ext uri="{FF2B5EF4-FFF2-40B4-BE49-F238E27FC236}">
                <a16:creationId xmlns:a16="http://schemas.microsoft.com/office/drawing/2014/main" id="{E0FD57A9-303D-472E-9CD5-5CE03432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9</a:t>
            </a:r>
          </a:p>
        </p:txBody>
      </p:sp>
    </p:spTree>
    <p:extLst>
      <p:ext uri="{BB962C8B-B14F-4D97-AF65-F5344CB8AC3E}">
        <p14:creationId xmlns:p14="http://schemas.microsoft.com/office/powerpoint/2010/main" val="1724761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最初に課題を具体化する">
            <a:extLst xmlns:a="http://schemas.openxmlformats.org/drawingml/2006/main">
              <a:ext uri="{FF2B5EF4-FFF2-40B4-BE49-F238E27FC236}">
                <a16:creationId xmlns:a16="http://schemas.microsoft.com/office/drawing/2014/main" id="{FEEA183E-B8F9-4CD9-A352-D445DED5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最初に課題を具体化する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76DD7-D311-4A15-BBEF-35BCBB45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誰が，どの場面で困っているかを決める．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改善したい結果と，現状の数値を確かめる．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予測結果を使う人と，行動を決める．</a:t>
            </a:r>
          </a:p>
        </p:txBody>
      </p:sp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02E67FB7-E672-49B0-93AB-6D2287E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10">
            <a:extLst xmlns:a="http://schemas.openxmlformats.org/drawingml/2006/main">
              <a:ext uri="{FF2B5EF4-FFF2-40B4-BE49-F238E27FC236}">
                <a16:creationId xmlns:a16="http://schemas.microsoft.com/office/drawing/2014/main" id="{A15490C4-7134-4015-BE54-503C83EC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10</a:t>
            </a:r>
          </a:p>
        </p:txBody>
      </p:sp>
    </p:spTree>
    <p:extLst>
      <p:ext uri="{BB962C8B-B14F-4D97-AF65-F5344CB8AC3E}">
        <p14:creationId xmlns:p14="http://schemas.microsoft.com/office/powerpoint/2010/main" val="18242427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課題を入出力へ変換する">
            <a:extLst xmlns:a="http://schemas.openxmlformats.org/drawingml/2006/main">
              <a:ext uri="{FF2B5EF4-FFF2-40B4-BE49-F238E27FC236}">
                <a16:creationId xmlns:a16="http://schemas.microsoft.com/office/drawing/2014/main" id="{3A6F2A79-6CB0-4473-920C-2EF3FFD2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課題を入出力へ変換する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95351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4560"/>
                <a:gridCol w="6172200"/>
              </a:tblGrid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項目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学食の販売予測の作例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利用する時点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前日夕方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入力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過去の販売数，曜日，その時点の天気予報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出力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翌日の販売数の予測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利用する行動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仕込み量を担当者が決める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D4ACB666-55EB-47D9-AE9F-09BA9D0B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11">
            <a:extLst xmlns:a="http://schemas.openxmlformats.org/drawingml/2006/main">
              <a:ext uri="{FF2B5EF4-FFF2-40B4-BE49-F238E27FC236}">
                <a16:creationId xmlns:a16="http://schemas.microsoft.com/office/drawing/2014/main" id="{6FFC8B70-B091-4192-86D2-1FFA31D3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11</a:t>
            </a:r>
          </a:p>
        </p:txBody>
      </p:sp>
    </p:spTree>
    <p:extLst>
      <p:ext uri="{BB962C8B-B14F-4D97-AF65-F5344CB8AC3E}">
        <p14:creationId xmlns:p14="http://schemas.microsoft.com/office/powerpoint/2010/main" val="244149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比較の基準を作る">
            <a:extLst xmlns:a="http://schemas.openxmlformats.org/drawingml/2006/main">
              <a:ext uri="{FF2B5EF4-FFF2-40B4-BE49-F238E27FC236}">
                <a16:creationId xmlns:a16="http://schemas.microsoft.com/office/drawing/2014/main" id="{AA89A916-74A8-4E26-AADF-A58AC616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比較の基準を作る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60357-68D2-44BB-A854-B13B5445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現在の運用や，簡単なルールを測る．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例えば「同じ曜日の平均」を予測の基準にする．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精度だけでなく，費用や作業時間も比べる．</a:t>
            </a:r>
          </a:p>
        </p:txBody>
      </p:sp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618489B5-BA32-4992-9DB2-434DB1F2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12">
            <a:extLst xmlns:a="http://schemas.openxmlformats.org/drawingml/2006/main">
              <a:ext uri="{FF2B5EF4-FFF2-40B4-BE49-F238E27FC236}">
                <a16:creationId xmlns:a16="http://schemas.microsoft.com/office/drawing/2014/main" id="{B2CDB24B-76E9-440D-A520-311095CB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12</a:t>
            </a:r>
          </a:p>
        </p:txBody>
      </p:sp>
    </p:spTree>
    <p:extLst>
      <p:ext uri="{BB962C8B-B14F-4D97-AF65-F5344CB8AC3E}">
        <p14:creationId xmlns:p14="http://schemas.microsoft.com/office/powerpoint/2010/main" val="5670918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開発の流れと見直し">
            <a:extLst xmlns:a="http://schemas.openxmlformats.org/drawingml/2006/main">
              <a:ext uri="{FF2B5EF4-FFF2-40B4-BE49-F238E27FC236}">
                <a16:creationId xmlns:a16="http://schemas.microsoft.com/office/drawing/2014/main" id="{C1DB217A-1664-4487-971C-811DDA9E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開発の流れと見直し</a:t>
            </a:r>
          </a:p>
        </p:txBody>
      </p:sp>
      <p:sp>
        <p:nvSpPr>
          <p:cNvPr id="2" name="課題・評価を&#10;決める">
            <a:extLst xmlns:a="http://schemas.openxmlformats.org/drawingml/2006/main">
              <a:ext uri="{FF2B5EF4-FFF2-40B4-BE49-F238E27FC236}">
                <a16:creationId xmlns:a16="http://schemas.microsoft.com/office/drawing/2014/main" id="{93125EFB-A4C2-4F20-B167-CDBCA212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230428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課題・評価を</a:t>
            </a:r>
          </a:p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決める</a:t>
            </a:r>
          </a:p>
        </p:txBody>
      </p:sp>
      <p:sp>
        <p:nvSpPr>
          <p:cNvPr id="3" name="データとモデルを&#10;検証する">
            <a:extLst xmlns:a="http://schemas.openxmlformats.org/drawingml/2006/main">
              <a:ext uri="{FF2B5EF4-FFF2-40B4-BE49-F238E27FC236}">
                <a16:creationId xmlns:a16="http://schemas.microsoft.com/office/drawing/2014/main" id="{51BE62EB-53FA-436A-91D5-EB46C0D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828800"/>
            <a:ext cx="230428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データとモデルを</a:t>
            </a:r>
          </a:p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検証する</a:t>
            </a:r>
          </a:p>
        </p:txBody>
      </p:sp>
      <p:sp>
        <p:nvSpPr>
          <p:cNvPr id="4" name="導入・監視し&#10;見直す">
            <a:extLst xmlns:a="http://schemas.openxmlformats.org/drawingml/2006/main">
              <a:ext uri="{FF2B5EF4-FFF2-40B4-BE49-F238E27FC236}">
                <a16:creationId xmlns:a16="http://schemas.microsoft.com/office/drawing/2014/main" id="{5AF141B2-42C6-408C-BFF7-1D264C1F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828800"/>
            <a:ext cx="230428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</a:ln>
        </p:spPr>
        <p:txBody>
          <a:bodyPr xmlns:a="http://schemas.openxmlformats.org/drawingml/2006/main" wrap="square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導入・監視し</a:t>
            </a:r>
          </a:p>
          <a:p xmlns:a="http://schemas.openxmlformats.org/drawingml/2006/main">
            <a:pPr algn="ctr">
              <a:def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00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rPr>
              <a:t>見直す</a:t>
            </a:r>
          </a:p>
        </p:txBody>
      </p:sp>
      <p:cxnSp>
        <p:nvCxnSpPr>
          <p:cNvPr id="1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898648" y="2308860"/>
            <a:ext cx="34747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550408" y="2308860"/>
            <a:ext cx="34747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07070"/>
            </a:solidFill>
            <a:tailEnd type="triangle" w="sm" len="sm"/>
          </a:ln>
        </p:spPr>
      </p:cxnSp>
      <p:sp>
        <p:nvSpPr>
          <p:cNvPr id="7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93602457-4C7F-4A9F-949D-B8EF7F3A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8" name="第10回　13">
            <a:extLst xmlns:a="http://schemas.openxmlformats.org/drawingml/2006/main">
              <a:ext uri="{FF2B5EF4-FFF2-40B4-BE49-F238E27FC236}">
                <a16:creationId xmlns:a16="http://schemas.microsoft.com/office/drawing/2014/main" id="{9AD31B9F-7C01-48E3-A940-CA15992E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13</a:t>
            </a:r>
          </a:p>
        </p:txBody>
      </p:sp>
    </p:spTree>
    <p:extLst>
      <p:ext uri="{BB962C8B-B14F-4D97-AF65-F5344CB8AC3E}">
        <p14:creationId xmlns:p14="http://schemas.microsoft.com/office/powerpoint/2010/main" val="783993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データ準備で確認すること">
            <a:extLst xmlns:a="http://schemas.openxmlformats.org/drawingml/2006/main">
              <a:ext uri="{FF2B5EF4-FFF2-40B4-BE49-F238E27FC236}">
                <a16:creationId xmlns:a16="http://schemas.microsoft.com/office/drawing/2014/main" id="{79E50039-BB3B-4458-9F7B-B88B44E5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データ準備で確認すること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BB269-C840-4844-A30A-3758D32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予測時点で，継続して取得できるか．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欠損・重複・ラベルの揺れがないか．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対象や期間が，利用する場面に合っているか．</a:t>
            </a:r>
          </a:p>
        </p:txBody>
      </p:sp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700EF2C4-A08D-4316-AAB8-C64C3457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14">
            <a:extLst xmlns:a="http://schemas.openxmlformats.org/drawingml/2006/main">
              <a:ext uri="{FF2B5EF4-FFF2-40B4-BE49-F238E27FC236}">
                <a16:creationId xmlns:a16="http://schemas.microsoft.com/office/drawing/2014/main" id="{6E02295B-5669-4CCA-9F46-CAB6D907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14</a:t>
            </a:r>
          </a:p>
        </p:txBody>
      </p:sp>
    </p:spTree>
    <p:extLst>
      <p:ext uri="{BB962C8B-B14F-4D97-AF65-F5344CB8AC3E}">
        <p14:creationId xmlns:p14="http://schemas.microsoft.com/office/powerpoint/2010/main" val="10290693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評価データは利用場面に合わせる">
            <a:extLst xmlns:a="http://schemas.openxmlformats.org/drawingml/2006/main">
              <a:ext uri="{FF2B5EF4-FFF2-40B4-BE49-F238E27FC236}">
                <a16:creationId xmlns:a16="http://schemas.microsoft.com/office/drawing/2014/main" id="{A3C633E6-815D-4F0F-A026-174EF653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評価データは利用場面に合わせる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D3392-AF34-4AA5-8A8E-EF38952A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将来の販売なら，未来の期間で評価する．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同じ人や店舗の記録が混ざる影響を考える．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テスト結果を見て調整を繰り返さない．</a:t>
            </a:r>
          </a:p>
        </p:txBody>
      </p:sp>
      <p:sp>
        <p:nvSpPr>
          <p:cNvPr id="3" name="参照：Google／scikit-learn">
            <a:extLst xmlns:a="http://schemas.openxmlformats.org/drawingml/2006/main">
              <a:ext uri="{FF2B5EF4-FFF2-40B4-BE49-F238E27FC236}">
                <a16:creationId xmlns:a16="http://schemas.microsoft.com/office/drawing/2014/main" id="{FAAC8867-A3F9-4EF0-B7EC-AFB069D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参照：Google／scikit-learn</a:t>
            </a:r>
          </a:p>
        </p:txBody>
      </p:sp>
      <p:sp>
        <p:nvSpPr>
          <p:cNvPr id="4" name="第10回　15">
            <a:extLst xmlns:a="http://schemas.openxmlformats.org/drawingml/2006/main">
              <a:ext uri="{FF2B5EF4-FFF2-40B4-BE49-F238E27FC236}">
                <a16:creationId xmlns:a16="http://schemas.microsoft.com/office/drawing/2014/main" id="{BEB45B05-1168-41E1-9494-A5CB6592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15</a:t>
            </a:r>
          </a:p>
        </p:txBody>
      </p:sp>
    </p:spTree>
    <p:extLst>
      <p:ext uri="{BB962C8B-B14F-4D97-AF65-F5344CB8AC3E}">
        <p14:creationId xmlns:p14="http://schemas.microsoft.com/office/powerpoint/2010/main" val="20846834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評価には複数の観点がある">
            <a:extLst xmlns:a="http://schemas.openxmlformats.org/drawingml/2006/main">
              <a:ext uri="{FF2B5EF4-FFF2-40B4-BE49-F238E27FC236}">
                <a16:creationId xmlns:a16="http://schemas.microsoft.com/office/drawing/2014/main" id="{C8E873F3-33D7-4642-A972-45DD52C5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評価には複数の観点がある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52374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83380"/>
                <a:gridCol w="418338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観点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指標・確認の例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モデルの予測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誤差，適合率，再現率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業務の結果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廃棄量，作業時間，満足度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運用の条件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応答時間，費用，障害時の対応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395AF3FC-5AE2-4D3A-B595-5B44CE0D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16">
            <a:extLst xmlns:a="http://schemas.openxmlformats.org/drawingml/2006/main">
              <a:ext uri="{FF2B5EF4-FFF2-40B4-BE49-F238E27FC236}">
                <a16:creationId xmlns:a16="http://schemas.microsoft.com/office/drawing/2014/main" id="{55BBAA97-4B55-481D-B18B-D5611B87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16</a:t>
            </a:r>
          </a:p>
        </p:txBody>
      </p:sp>
    </p:spTree>
    <p:extLst>
      <p:ext uri="{BB962C8B-B14F-4D97-AF65-F5344CB8AC3E}">
        <p14:creationId xmlns:p14="http://schemas.microsoft.com/office/powerpoint/2010/main" val="5169234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演習1：確認できる件数の制約">
            <a:extLst xmlns:a="http://schemas.openxmlformats.org/drawingml/2006/main">
              <a:ext uri="{FF2B5EF4-FFF2-40B4-BE49-F238E27FC236}">
                <a16:creationId xmlns:a16="http://schemas.microsoft.com/office/drawing/2014/main" id="{CE620293-94CE-427B-B6B9-A627AA2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演習1：確認できる件数の制約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2AF07-4FE6-4DFC-BCB1-895E1928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一日に異常候補を40件出し，本当に異常だったのは10件．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実際の異常は一日に20件あったとする．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適合率・再現率と，調べる件数を求める．</a:t>
            </a:r>
          </a:p>
        </p:txBody>
      </p:sp>
      <p:sp>
        <p:nvSpPr>
          <p:cNvPr id="3" name="精度と，確認作業の負担を一緒に見る．">
            <a:extLst xmlns:a="http://schemas.openxmlformats.org/drawingml/2006/main">
              <a:ext uri="{FF2B5EF4-FFF2-40B4-BE49-F238E27FC236}">
                <a16:creationId xmlns:a16="http://schemas.microsoft.com/office/drawing/2014/main" id="{7D155ADA-C0BA-40B0-831E-C76DC202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精度と，確認作業の負担を一緒に見る．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7D0498FD-C260-441F-86AF-4A70A3AE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0回　17">
            <a:extLst xmlns:a="http://schemas.openxmlformats.org/drawingml/2006/main">
              <a:ext uri="{FF2B5EF4-FFF2-40B4-BE49-F238E27FC236}">
                <a16:creationId xmlns:a16="http://schemas.microsoft.com/office/drawing/2014/main" id="{1B0A01EE-2F5D-43E3-96CE-21267538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17</a:t>
            </a:r>
          </a:p>
        </p:txBody>
      </p:sp>
    </p:spTree>
    <p:extLst>
      <p:ext uri="{BB962C8B-B14F-4D97-AF65-F5344CB8AC3E}">
        <p14:creationId xmlns:p14="http://schemas.microsoft.com/office/powerpoint/2010/main" val="14216368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演習1：解答">
            <a:extLst xmlns:a="http://schemas.openxmlformats.org/drawingml/2006/main">
              <a:ext uri="{FF2B5EF4-FFF2-40B4-BE49-F238E27FC236}">
                <a16:creationId xmlns:a16="http://schemas.microsoft.com/office/drawing/2014/main" id="{E0D804DE-4886-446F-98B7-3E8B5DA3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演習1：解答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C8C01-6F79-46F6-B88F-B319791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適合率＝10÷40＝25％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再現率＝10÷20＝50％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40件の確認が必要で，異常10件を見逃している．</a:t>
            </a:r>
          </a:p>
        </p:txBody>
      </p:sp>
      <p:sp>
        <p:nvSpPr>
          <p:cNvPr id="3" name="参照：scikit-learn">
            <a:extLst xmlns:a="http://schemas.openxmlformats.org/drawingml/2006/main">
              <a:ext uri="{FF2B5EF4-FFF2-40B4-BE49-F238E27FC236}">
                <a16:creationId xmlns:a16="http://schemas.microsoft.com/office/drawing/2014/main" id="{62D583C4-C0F1-4BC0-95B5-242E7527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参照：scikit-learn</a:t>
            </a:r>
          </a:p>
        </p:txBody>
      </p:sp>
      <p:sp>
        <p:nvSpPr>
          <p:cNvPr id="4" name="第10回　18">
            <a:extLst xmlns:a="http://schemas.openxmlformats.org/drawingml/2006/main">
              <a:ext uri="{FF2B5EF4-FFF2-40B4-BE49-F238E27FC236}">
                <a16:creationId xmlns:a16="http://schemas.microsoft.com/office/drawing/2014/main" id="{3B718B42-D2E0-477D-BDBA-11CC063E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18</a:t>
            </a:r>
          </a:p>
        </p:txBody>
      </p:sp>
    </p:spTree>
    <p:extLst>
      <p:ext uri="{BB962C8B-B14F-4D97-AF65-F5344CB8AC3E}">
        <p14:creationId xmlns:p14="http://schemas.microsoft.com/office/powerpoint/2010/main" val="11343756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説明可能性と限界">
            <a:extLst xmlns:a="http://schemas.openxmlformats.org/drawingml/2006/main">
              <a:ext uri="{FF2B5EF4-FFF2-40B4-BE49-F238E27FC236}">
                <a16:creationId xmlns:a16="http://schemas.microsoft.com/office/drawing/2014/main" id="{2421FA54-2440-4FAB-BBA2-8515D161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説明可能性と限界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45165-302B-45BF-97E5-E4B19B10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どの特徴を使ったかを，分析する方法がある．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特徴量の重要度は，そのモデルとデータで変わる．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予測に使う関係と，現実の因果関係は区別する．</a:t>
            </a:r>
          </a:p>
        </p:txBody>
      </p:sp>
      <p:sp>
        <p:nvSpPr>
          <p:cNvPr id="3" name="参照：scikit-learn">
            <a:extLst xmlns:a="http://schemas.openxmlformats.org/drawingml/2006/main">
              <a:ext uri="{FF2B5EF4-FFF2-40B4-BE49-F238E27FC236}">
                <a16:creationId xmlns:a16="http://schemas.microsoft.com/office/drawing/2014/main" id="{C6638780-09C0-4B25-9E32-930AAF9B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参照：scikit-learn</a:t>
            </a:r>
          </a:p>
        </p:txBody>
      </p:sp>
      <p:sp>
        <p:nvSpPr>
          <p:cNvPr id="4" name="第10回　19">
            <a:extLst xmlns:a="http://schemas.openxmlformats.org/drawingml/2006/main">
              <a:ext uri="{FF2B5EF4-FFF2-40B4-BE49-F238E27FC236}">
                <a16:creationId xmlns:a16="http://schemas.microsoft.com/office/drawing/2014/main" id="{A8784266-6D25-4E57-8D7A-19F5D772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19</a:t>
            </a:r>
          </a:p>
        </p:txBody>
      </p:sp>
    </p:spTree>
    <p:extLst>
      <p:ext uri="{BB962C8B-B14F-4D97-AF65-F5344CB8AC3E}">
        <p14:creationId xmlns:p14="http://schemas.microsoft.com/office/powerpoint/2010/main" val="8301438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導入後も結果を監視する">
            <a:extLst xmlns:a="http://schemas.openxmlformats.org/drawingml/2006/main">
              <a:ext uri="{FF2B5EF4-FFF2-40B4-BE49-F238E27FC236}">
                <a16:creationId xmlns:a16="http://schemas.microsoft.com/office/drawing/2014/main" id="{F009B6F3-661F-4507-BCB2-B151230B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導入後も結果を監視する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3F84A-76BB-4E9F-BE07-F1E2E49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入力の分布，欠損，応答時間などを確認する．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正解が後で分かるなら，予測の誤りを継続して測る．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データの変化に応じて，再評価や停止を判断する．</a:t>
            </a:r>
          </a:p>
        </p:txBody>
      </p:sp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FEE80339-0835-4E02-BA50-E33C881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20">
            <a:extLst xmlns:a="http://schemas.openxmlformats.org/drawingml/2006/main">
              <a:ext uri="{FF2B5EF4-FFF2-40B4-BE49-F238E27FC236}">
                <a16:creationId xmlns:a16="http://schemas.microsoft.com/office/drawing/2014/main" id="{15AE9E0F-82CA-4186-A241-73F42E90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20</a:t>
            </a:r>
          </a:p>
        </p:txBody>
      </p:sp>
    </p:spTree>
    <p:extLst>
      <p:ext uri="{BB962C8B-B14F-4D97-AF65-F5344CB8AC3E}">
        <p14:creationId xmlns:p14="http://schemas.microsoft.com/office/powerpoint/2010/main" val="1455403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人による確認を設計する">
            <a:extLst xmlns:a="http://schemas.openxmlformats.org/drawingml/2006/main">
              <a:ext uri="{FF2B5EF4-FFF2-40B4-BE49-F238E27FC236}">
                <a16:creationId xmlns:a16="http://schemas.microsoft.com/office/drawing/2014/main" id="{B7558714-1822-49A1-97B6-9C2CDC09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人による確認を設計する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95351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83380"/>
                <a:gridCol w="4183380"/>
              </a:tblGrid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項目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決めること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対象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どの結果を，人が確認するか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情報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判断に必要な根拠と不確実性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権限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訂正・停止・差し戻しを誰が行うか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記録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誤りと対応を，次の改善へ残す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3AB30B78-A941-4E45-882A-4A7BAF49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0回　21">
            <a:extLst xmlns:a="http://schemas.openxmlformats.org/drawingml/2006/main">
              <a:ext uri="{FF2B5EF4-FFF2-40B4-BE49-F238E27FC236}">
                <a16:creationId xmlns:a16="http://schemas.microsoft.com/office/drawing/2014/main" id="{D26A2646-73F1-457C-9F08-0FB47C8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21</a:t>
            </a:r>
          </a:p>
        </p:txBody>
      </p:sp>
    </p:spTree>
    <p:extLst>
      <p:ext uri="{BB962C8B-B14F-4D97-AF65-F5344CB8AC3E}">
        <p14:creationId xmlns:p14="http://schemas.microsoft.com/office/powerpoint/2010/main" val="667575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演習2：小さなAI利用案">
            <a:extLst xmlns:a="http://schemas.openxmlformats.org/drawingml/2006/main">
              <a:ext uri="{FF2B5EF4-FFF2-40B4-BE49-F238E27FC236}">
                <a16:creationId xmlns:a16="http://schemas.microsoft.com/office/drawing/2014/main" id="{397A0C55-CF05-44FD-84F1-F53C72B9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演習2：小さなAI利用案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773D5-D5F4-48F7-9C7E-D7BAE12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学食・図書館・設備点検から，一つの課題を選ぶ．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入力，出力，比較の基準，評価指標を決める．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誤った場合の影響と，確認する人を決める．</a:t>
            </a:r>
          </a:p>
        </p:txBody>
      </p:sp>
      <p:sp>
        <p:nvSpPr>
          <p:cNvPr id="3" name="モデルの前後も含めて，利用案を説明する．">
            <a:extLst xmlns:a="http://schemas.openxmlformats.org/drawingml/2006/main">
              <a:ext uri="{FF2B5EF4-FFF2-40B4-BE49-F238E27FC236}">
                <a16:creationId xmlns:a16="http://schemas.microsoft.com/office/drawing/2014/main" id="{28BA9E75-80DB-40CE-94E0-ECC50D0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モデルの前後も含めて，利用案を説明する．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369B4A97-2E9D-4AFE-AAC7-C0CDF2A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0回　22">
            <a:extLst xmlns:a="http://schemas.openxmlformats.org/drawingml/2006/main">
              <a:ext uri="{FF2B5EF4-FFF2-40B4-BE49-F238E27FC236}">
                <a16:creationId xmlns:a16="http://schemas.microsoft.com/office/drawing/2014/main" id="{5E14DEA8-0C7D-4971-8A54-166F122F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22</a:t>
            </a:r>
          </a:p>
        </p:txBody>
      </p:sp>
    </p:spTree>
    <p:extLst>
      <p:ext uri="{BB962C8B-B14F-4D97-AF65-F5344CB8AC3E}">
        <p14:creationId xmlns:p14="http://schemas.microsoft.com/office/powerpoint/2010/main" val="764304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まとめ・振り返り">
            <a:extLst xmlns:a="http://schemas.openxmlformats.org/drawingml/2006/main">
              <a:ext uri="{FF2B5EF4-FFF2-40B4-BE49-F238E27FC236}">
                <a16:creationId xmlns:a16="http://schemas.microsoft.com/office/drawing/2014/main" id="{9918691A-E222-4CBE-8C17-3661EE6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まとめ・振り返り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63E75-5D8E-437E-BE35-2C51FC17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AIの出力を，誰のどの行動へ使うかを決める．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現状の方法と，利用場面に合う条件で比較する．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導入後の変化と，人による対応を設計する．</a:t>
            </a:r>
          </a:p>
        </p:txBody>
      </p:sp>
      <p:sp>
        <p:nvSpPr>
          <p:cNvPr id="3" name="次回：実習1・データから学習して評価する">
            <a:extLst xmlns:a="http://schemas.openxmlformats.org/drawingml/2006/main">
              <a:ext uri="{FF2B5EF4-FFF2-40B4-BE49-F238E27FC236}">
                <a16:creationId xmlns:a16="http://schemas.microsoft.com/office/drawing/2014/main" id="{C10F0A84-04E0-43DB-9727-1669B3CE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次回：実習1・データから学習して評価する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F3FBBE23-C214-4364-B456-39A62543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0回　23">
            <a:extLst xmlns:a="http://schemas.openxmlformats.org/drawingml/2006/main">
              <a:ext uri="{FF2B5EF4-FFF2-40B4-BE49-F238E27FC236}">
                <a16:creationId xmlns:a16="http://schemas.microsoft.com/office/drawing/2014/main" id="{CE6DBEC4-62AD-434D-93A0-3CFAB45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23</a:t>
            </a:r>
          </a:p>
        </p:txBody>
      </p:sp>
    </p:spTree>
    <p:extLst>
      <p:ext uri="{BB962C8B-B14F-4D97-AF65-F5344CB8AC3E}">
        <p14:creationId xmlns:p14="http://schemas.microsoft.com/office/powerpoint/2010/main" val="17561661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参考資料1">
            <a:extLst xmlns:a="http://schemas.openxmlformats.org/drawingml/2006/main">
              <a:ext uri="{FF2B5EF4-FFF2-40B4-BE49-F238E27FC236}">
                <a16:creationId xmlns:a16="http://schemas.microsoft.com/office/drawing/2014/main" id="{A64F85C8-6787-4E55-BC7B-6E150C7D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参考資料1</a:t>
            </a:r>
          </a:p>
        </p:txBody>
      </p:sp>
      <p:sp>
        <p:nvSpPr>
          <p:cNvPr id="2" name="1. Google：Production ML systems">
            <a:extLst xmlns:a="http://schemas.openxmlformats.org/drawingml/2006/main">
              <a:ext uri="{FF2B5EF4-FFF2-40B4-BE49-F238E27FC236}">
                <a16:creationId xmlns:a16="http://schemas.microsoft.com/office/drawing/2014/main" id="{DB729107-8631-40EF-A8E0-4ECDF0E7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07592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dae8bbe30d3245de"/>
              </a:rPr>
              <a:t>1. Google：Production ML systems</a:t>
            </a:r>
          </a:p>
        </p:txBody>
      </p:sp>
      <p:sp>
        <p:nvSpPr>
          <p:cNvPr id="3" name="2. Google：Rules of Machine Learning">
            <a:extLst xmlns:a="http://schemas.openxmlformats.org/drawingml/2006/main">
              <a:ext uri="{FF2B5EF4-FFF2-40B4-BE49-F238E27FC236}">
                <a16:creationId xmlns:a16="http://schemas.microsoft.com/office/drawing/2014/main" id="{7786CB39-1CC4-4EAD-9C5C-60F52718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0824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1cc3fac2840d4cb3"/>
              </a:rPr>
              <a:t>2. Google：Rules of Machine Learning</a:t>
            </a:r>
          </a:p>
        </p:txBody>
      </p:sp>
      <p:sp>
        <p:nvSpPr>
          <p:cNvPr id="4" name="3. Google：Recommendation systems">
            <a:extLst xmlns:a="http://schemas.openxmlformats.org/drawingml/2006/main">
              <a:ext uri="{FF2B5EF4-FFF2-40B4-BE49-F238E27FC236}">
                <a16:creationId xmlns:a16="http://schemas.microsoft.com/office/drawing/2014/main" id="{C88391FD-7463-4327-9D1D-CF9D2F7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34056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724265e8e8644787"/>
              </a:rPr>
              <a:t>3. Google：Recommendation systems</a:t>
            </a:r>
          </a:p>
        </p:txBody>
      </p:sp>
      <p:sp>
        <p:nvSpPr>
          <p:cNvPr id="5" name="各項目をクリックすると，参考資料を開く．">
            <a:extLst xmlns:a="http://schemas.openxmlformats.org/drawingml/2006/main">
              <a:ext uri="{FF2B5EF4-FFF2-40B4-BE49-F238E27FC236}">
                <a16:creationId xmlns:a16="http://schemas.microsoft.com/office/drawing/2014/main" id="{1A7951A2-0298-48AF-B171-4FC11D07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各項目をクリックすると，参考資料を開く．</a:t>
            </a:r>
          </a:p>
        </p:txBody>
      </p:sp>
      <p:sp>
        <p:nvSpPr>
          <p:cNvPr id="6" name="参考資料のリンクは各項目・講師用ノートに記載">
            <a:extLst xmlns:a="http://schemas.openxmlformats.org/drawingml/2006/main">
              <a:ext uri="{FF2B5EF4-FFF2-40B4-BE49-F238E27FC236}">
                <a16:creationId xmlns:a16="http://schemas.microsoft.com/office/drawing/2014/main" id="{E4EC4015-4184-43C0-B9E4-A1917D47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参考資料のリンクは各項目・講師用ノートに記載</a:t>
            </a:r>
          </a:p>
        </p:txBody>
      </p:sp>
      <p:sp>
        <p:nvSpPr>
          <p:cNvPr id="7" name="第10回　24">
            <a:extLst xmlns:a="http://schemas.openxmlformats.org/drawingml/2006/main">
              <a:ext uri="{FF2B5EF4-FFF2-40B4-BE49-F238E27FC236}">
                <a16:creationId xmlns:a16="http://schemas.microsoft.com/office/drawing/2014/main" id="{9F678E4E-27AE-4CC2-9770-35EE2481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24</a:t>
            </a:r>
          </a:p>
        </p:txBody>
      </p:sp>
    </p:spTree>
    <p:extLst>
      <p:ext uri="{BB962C8B-B14F-4D97-AF65-F5344CB8AC3E}">
        <p14:creationId xmlns:p14="http://schemas.microsoft.com/office/powerpoint/2010/main" val="511805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参考資料2">
            <a:extLst xmlns:a="http://schemas.openxmlformats.org/drawingml/2006/main">
              <a:ext uri="{FF2B5EF4-FFF2-40B4-BE49-F238E27FC236}">
                <a16:creationId xmlns:a16="http://schemas.microsoft.com/office/drawing/2014/main" id="{B05D0A0E-8C31-4F37-A56E-722931B9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参考資料2</a:t>
            </a:r>
          </a:p>
        </p:txBody>
      </p:sp>
      <p:sp>
        <p:nvSpPr>
          <p:cNvPr id="2" name="1. scikit-learn：Novelty and outlier dete">
            <a:extLst xmlns:a="http://schemas.openxmlformats.org/drawingml/2006/main">
              <a:ext uri="{FF2B5EF4-FFF2-40B4-BE49-F238E27FC236}">
                <a16:creationId xmlns:a16="http://schemas.microsoft.com/office/drawing/2014/main" id="{C69BDADD-54E0-49B1-84E3-0FE0695C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07592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915e311d9b2b41a4"/>
              </a:rPr>
              <a:t>1. scikit-learn：Novelty and outlier detection</a:t>
            </a:r>
          </a:p>
        </p:txBody>
      </p:sp>
      <p:sp>
        <p:nvSpPr>
          <p:cNvPr id="3" name="2. Sutton &amp; Barto：Reinforcement Learning">
            <a:extLst xmlns:a="http://schemas.openxmlformats.org/drawingml/2006/main">
              <a:ext uri="{FF2B5EF4-FFF2-40B4-BE49-F238E27FC236}">
                <a16:creationId xmlns:a16="http://schemas.microsoft.com/office/drawing/2014/main" id="{505377B2-34E8-4FB5-932F-E49B569C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0824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426735dfecc146dd"/>
              </a:rPr>
              <a:t>2. Sutton &amp; Barto：Reinforcement Learning</a:t>
            </a:r>
          </a:p>
        </p:txBody>
      </p:sp>
      <p:sp>
        <p:nvSpPr>
          <p:cNvPr id="4" name="3. scikit-learn：Permutation feature impo">
            <a:extLst xmlns:a="http://schemas.openxmlformats.org/drawingml/2006/main">
              <a:ext uri="{FF2B5EF4-FFF2-40B4-BE49-F238E27FC236}">
                <a16:creationId xmlns:a16="http://schemas.microsoft.com/office/drawing/2014/main" id="{BDA1307C-6627-4EB1-B7A2-EAC4A2DE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34056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21380e307c9c44bc"/>
              </a:rPr>
              <a:t>3. scikit-learn：Permutation feature importance</a:t>
            </a:r>
          </a:p>
        </p:txBody>
      </p:sp>
      <p:sp>
        <p:nvSpPr>
          <p:cNvPr id="5" name="各項目をクリックすると，参考資料を開く．">
            <a:extLst xmlns:a="http://schemas.openxmlformats.org/drawingml/2006/main">
              <a:ext uri="{FF2B5EF4-FFF2-40B4-BE49-F238E27FC236}">
                <a16:creationId xmlns:a16="http://schemas.microsoft.com/office/drawing/2014/main" id="{AC1C3C2F-22C7-46EE-9F6B-4EB116A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各項目をクリックすると，参考資料を開く．</a:t>
            </a:r>
          </a:p>
        </p:txBody>
      </p:sp>
      <p:sp>
        <p:nvSpPr>
          <p:cNvPr id="6" name="参考資料のリンクは各項目・講師用ノートに記載">
            <a:extLst xmlns:a="http://schemas.openxmlformats.org/drawingml/2006/main">
              <a:ext uri="{FF2B5EF4-FFF2-40B4-BE49-F238E27FC236}">
                <a16:creationId xmlns:a16="http://schemas.microsoft.com/office/drawing/2014/main" id="{858B93D3-B272-4786-81D1-E55398CD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参考資料のリンクは各項目・講師用ノートに記載</a:t>
            </a:r>
          </a:p>
        </p:txBody>
      </p:sp>
      <p:sp>
        <p:nvSpPr>
          <p:cNvPr id="7" name="第10回　25">
            <a:extLst xmlns:a="http://schemas.openxmlformats.org/drawingml/2006/main">
              <a:ext uri="{FF2B5EF4-FFF2-40B4-BE49-F238E27FC236}">
                <a16:creationId xmlns:a16="http://schemas.microsoft.com/office/drawing/2014/main" id="{0C0A6F49-827B-4F52-ABBF-363EA786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第10回　25</a:t>
            </a:r>
          </a:p>
        </p:txBody>
      </p:sp>
    </p:spTree>
    <p:extLst>
      <p:ext uri="{BB962C8B-B14F-4D97-AF65-F5344CB8AC3E}">
        <p14:creationId xmlns:p14="http://schemas.microsoft.com/office/powerpoint/2010/main" val="126146924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2026-10-08T06:00:08.6690000Z</dcterms:created>
  <dcterms:modified xsi:type="dcterms:W3CDTF">2026-10-08T06:00:08.6690000Z</dcterms:modified>
</coreProperties>
</file>