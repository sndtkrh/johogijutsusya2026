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情報技術者（民間資格）4</a:t>
            </a:r>
          </a:p>
          <a:p>
            <a:r>
              <a:t>目安：1分／授業開始から 0〜1分</a:t>
            </a:r>
          </a:p>
          <a:p/>
          <a:p>
            <a:r>
              <a:t>全15回の計画に沿った第4回．全25枚で，うち最後の2枚は参考資料．第3回の学習の種類・汎化・データ分割を土台に，代表的なモデルと評価方法を扱う．</a:t>
            </a:r>
          </a:p>
          <a:p>
            <a:r>
              <a:t>90分配分：導入9分，教師ありモデルと演習19分，アンサンブル・教師なし・モデル選択16分，評価データと回帰指標9分，分類指標と演習28分，閾値とまとめ9分．図・データ・演習は講義用の作例で，公式試験問題ではない．</a:t>
            </a:r>
          </a:p>
          <a:p/>
          <a:p>
            <a:r>
              <a:t>参照資料（2026年10月7日確認）</a:t>
            </a:r>
          </a:p>
          <a:p>
            <a:r>
              <a:t>第1回資料と本教材のために作成した例・設問．</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今日の到達目標</a:t>
            </a:r>
          </a:p>
          <a:p>
            <a:r>
              <a:t>目安：2分／授業開始から 1〜3分</a:t>
            </a:r>
          </a:p>
          <a:p/>
          <a:p>
            <a:r>
              <a:t>細かな手法名の網羅より，問題の出力に合うモデルを考え，指標を使って比べることを重視する．評価の例では製品検査を使い，不良を陽性と定義してから数える．分母の違いを言葉で説明できることが，適合率・再現率の理解の目安．</a:t>
            </a:r>
          </a:p>
          <a:p/>
          <a:p>
            <a:r>
              <a:t>参照資料（2026年10月7日確認）</a:t>
            </a:r>
          </a:p>
          <a:p>
            <a:r>
              <a:t>第1回資料と本教材のために作成した例・設問．</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第3回の復習：学習方法・モデル・評価は別の観点</a:t>
            </a:r>
          </a:p>
          <a:p>
            <a:r>
              <a:t>目安：3分／授業開始から 3〜6分</a:t>
            </a:r>
          </a:p>
          <a:p/>
          <a:p>
            <a:r>
              <a:t>教師あり・教師なし・強化学習は学習時の手がかりの整理．線形回帰や決定木などはモデルの種類．正解率や誤差などは結果の評価方法．これらを同じ分類として混同しない．</a:t>
            </a:r>
          </a:p>
          <a:p>
            <a:r>
              <a:t>1分の口頭確認：パンの販売数の予測は教師ありの回帰で，入力は予測時に得られる情報，正解は過去の実績．そのモデルが未知のデータにも役立つかは別のデータで確かめる．</a:t>
            </a:r>
          </a:p>
          <a:p/>
          <a:p>
            <a:r>
              <a:t>参照資料（2026年10月7日確認）</a:t>
            </a:r>
          </a:p>
          <a:p>
            <a:r>
              <a:t>第1回資料と本教材のために作成した例・設問．</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今日扱う手法の見取り図</a:t>
            </a:r>
          </a:p>
          <a:p>
            <a:r>
              <a:t>目安：3分／授業開始から 6〜9分</a:t>
            </a:r>
          </a:p>
          <a:p/>
          <a:p>
            <a:r>
              <a:t>教師あり学習の回帰・分類，教師なし学習のグループ分け・次元削減を大きく配置する．決定木とその組合せは分類にも回帰にも使える．強化学習の応用は第10回，ニューラルネットワークは第5回以降に扱う．表を全て暗記するより，求める出力から対応を考える．</a:t>
            </a:r>
          </a:p>
          <a:p/>
          <a:p>
            <a:r>
              <a:t>参照資料（2026年10月7日確認）</a:t>
            </a:r>
          </a:p>
          <a:p>
            <a:r>
              <a:t>第1回資料と本教材のために作成した例・設問．</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線形回帰：数量を予測する関係を学ぶ</a:t>
            </a:r>
          </a:p>
          <a:p>
            <a:r>
              <a:t>目安：4分／授業開始から 9〜13分</a:t>
            </a:r>
          </a:p>
          <a:p/>
          <a:p>
            <a:r>
              <a:t>一つの特徴量の例で予測値=wx+bを説明する．wは傾き，bは切片．学習ではデータに合う値を探す．複数の特徴量にも拡張できるが，導出は扱わない．図は第3回の架空データとモデル例10x+20で，最適値を計算した結果という意味ではない．</a:t>
            </a:r>
          </a:p>
          <a:p>
            <a:r>
              <a:t>活動：x=4なら予測60になることを確かめる．直線が点を全て通る必要はない．学習用データへの適合だけでなく，未知のデータでも誤差を測る．</a:t>
            </a:r>
          </a:p>
          <a:p/>
          <a:p>
            <a:r>
              <a:t>参照資料（2026年10月7日確認）</a:t>
            </a:r>
          </a:p>
          <a:p>
            <a:r>
              <a:t>Google：Linear regression</a:t>
            </a:r>
          </a:p>
          <a:p>
            <a:r>
              <a:t>https://developers.google.com/machine-learning/crash-course/linear-regression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ロジスティック回帰：分類に使う</a:t>
            </a:r>
          </a:p>
          <a:p>
            <a:r>
              <a:t>目安：4分／授業開始から 13〜17分</a:t>
            </a:r>
          </a:p>
          <a:p/>
          <a:p>
            <a:r>
              <a:t>二値分類の例．入力の重み付き和などのスコアをS字の関数で0〜1に変換し，陽性クラスの確率として扱う．閾値を使ってカテゴリを決める．図はシグモイドp=1/(1+exp(-z))で，z=0ならp=0.5．ここでは関数の導出や最適化は扱わない．</a:t>
            </a:r>
          </a:p>
          <a:p>
            <a:r>
              <a:t>回帰という名前でも，分類で用いることを確認する．0.5は閾値の例で固定の義務ではない．確率としての校正の良さは別途評価が必要．後半で閾値の選択に戻る．</a:t>
            </a:r>
          </a:p>
          <a:p/>
          <a:p>
            <a:r>
              <a:t>参照資料（2026年10月7日確認）</a:t>
            </a:r>
          </a:p>
          <a:p>
            <a:r>
              <a:t>Google：Logistic Regression</a:t>
            </a:r>
          </a:p>
          <a:p>
            <a:r>
              <a:t>https://developers.google.com/machine-learning/crash-course/logistic-regression</a:t>
            </a:r>
          </a:p>
          <a:p>
            <a:r>
              <a:t>scikit-learn：Tuning the decision threshold</a:t>
            </a:r>
          </a:p>
          <a:p>
            <a:r>
              <a:t>https://scikit-learn.org/stable/modules/classification_threshold.html</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決定木：条件をたどって予測する</a:t>
            </a:r>
          </a:p>
          <a:p>
            <a:r>
              <a:t>目安：5分／授業開始から 17〜22分</a:t>
            </a:r>
          </a:p>
          <a:p/>
          <a:p>
            <a:r>
              <a:t>パンの売れ行きを多い・少ないに分ける教材用の木．休日なら多い，平日なら気温予報25度以上かを調べ，以上なら多い，未満なら少ない．分岐条件は本教材で設定した作例．実際の決定木では，分岐の特徴量や条件をデータから学ぶ．</a:t>
            </a:r>
          </a:p>
          <a:p>
            <a:r>
              <a:t>木の葉がカテゴリなら分類，数量なら回帰に利用できる．複雑に枝を増やすと訓練データに合わせすぎることがあるため，木の深さなどを制限する考え方を口頭で補足する．</a:t>
            </a:r>
          </a:p>
          <a:p/>
          <a:p>
            <a:r>
              <a:t>参照資料（2026年10月7日確認）</a:t>
            </a:r>
          </a:p>
          <a:p>
            <a:r>
              <a:t>scikit-learn：Decision Trees</a:t>
            </a:r>
          </a:p>
          <a:p>
            <a:r>
              <a:t>https://scikit-learn.org/stable/modules/tree.html</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演習1：前ページの決定木をたどる</a:t>
            </a:r>
          </a:p>
          <a:p>
            <a:r>
              <a:t>目安：4分／授業開始から 22〜26分</a:t>
            </a:r>
          </a:p>
          <a:p/>
          <a:p>
            <a:r>
              <a:t>個人で1分，ペアで2分，答え合わせの準備1分．前ページの木を使ってA・B・Cの予測と分岐の経路を答える．正答：Aは休日でない→20&lt;25→少ない．Bは休日でない→27≥25→多い．Cは休日なので気温を調べる前に多い．</a:t>
            </a:r>
          </a:p>
          <a:p>
            <a:r>
              <a:t>この教材の木での結果であり，実店舗での販売法則や実測値ではない．</a:t>
            </a:r>
          </a:p>
          <a:p/>
          <a:p>
            <a:r>
              <a:t>参照資料（2026年10月7日確認）</a:t>
            </a:r>
          </a:p>
          <a:p>
            <a:r>
              <a:t>第1回資料と本教材のために作成した例・設問．</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演習1：解答</a:t>
            </a:r>
          </a:p>
          <a:p>
            <a:r>
              <a:t>目安：2分／授業開始から 26〜28分</a:t>
            </a:r>
          </a:p>
          <a:p/>
          <a:p>
            <a:r>
              <a:t>AとBは休日かどうかの後に気温を判定する．Cは休日の枝で予測が決まり，この木では気温の分岐を通らない．入力に値があるから，全ての特徴量を毎回使うとは限らない．</a:t>
            </a:r>
          </a:p>
          <a:p>
            <a:r>
              <a:t>図の予測の追いやすさは決定木の特徴の一つだが，木が大きくなると全体の理解は難しくなる．</a:t>
            </a:r>
          </a:p>
          <a:p/>
          <a:p>
            <a:r>
              <a:t>参照資料（2026年10月7日確認）</a:t>
            </a:r>
          </a:p>
          <a:p>
            <a:r>
              <a:t>第1回資料と本教材のために作成した例・設問．</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アンサンブル：複数のモデルを組み合わせる</a:t>
            </a:r>
          </a:p>
          <a:p>
            <a:r>
              <a:t>目安：4分／授業開始から 28〜32分</a:t>
            </a:r>
          </a:p>
          <a:p/>
          <a:p>
            <a:r>
              <a:t>アンサンブルは複数モデルの予測を組み合わせる考え方．上の図は一般的な分類の多数決の模式例で，ランダムフォレストの特定実装そのものを表す図ではない．回帰では平均などで出力をまとめられる．</a:t>
            </a:r>
          </a:p>
          <a:p>
            <a:r>
              <a:t>ランダムフォレストはデータや特徴量に変化をつけた多様な木を組み合わせる．ブースティングは前のモデルで捉えきれない点を補うようにモデルを順に加える．具体的な補い方は手法によって異なる．組み合わせれば必ず良くなるわけではなく，検証が必要．</a:t>
            </a:r>
          </a:p>
          <a:p/>
          <a:p>
            <a:r>
              <a:t>参照資料（2026年10月7日確認）</a:t>
            </a:r>
          </a:p>
          <a:p>
            <a:r>
              <a:t>scikit-learn：Ensembles</a:t>
            </a:r>
          </a:p>
          <a:p>
            <a:r>
              <a:t>https://scikit-learn.org/stable/modules/ensemble.html</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クラスタリング：似た例をまとめる</a:t>
            </a:r>
          </a:p>
          <a:p>
            <a:r>
              <a:t>目安：4分／授業開始から 32〜36分</a:t>
            </a:r>
          </a:p>
          <a:p/>
          <a:p>
            <a:r>
              <a:t>教師なし学習の代表例．図は2群に分けた架空の二次元データで，×は各群の中心．k-meansは群の数kを決め，近い中心への割当てと中心の更新を繰り返すという考え方で説明する．初期値や特徴量，尺度によって結果は変わり得る．</a:t>
            </a:r>
          </a:p>
          <a:p>
            <a:r>
              <a:t>正解カテゴリを与えて学ぶ分類と，正解グループを与えず構造を見つけるクラスタリングを区別する．群の意味や役立ち方は利用目的に合わせて確認する．</a:t>
            </a:r>
          </a:p>
          <a:p/>
          <a:p>
            <a:r>
              <a:t>参照資料（2026年10月7日確認）</a:t>
            </a:r>
          </a:p>
          <a:p>
            <a:r>
              <a:t>scikit-learn：Clustering</a:t>
            </a:r>
          </a:p>
          <a:p>
            <a:r>
              <a:t>https://scikit-learn.org/stable/modules/clustering.html</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次元削減：特徴量を少ない成分で表す</a:t>
            </a:r>
          </a:p>
          <a:p>
            <a:r>
              <a:t>目安：4分／授業開始から 36〜40分</a:t>
            </a:r>
          </a:p>
          <a:p/>
          <a:p>
            <a:r>
              <a:t>主成分分析PCAを代表例にする．図は架空の二次元データの第一主成分で，分散の大きい方向を赤い軸として描き，点をその軸へ射影している．軸上の位置一つで表すと，二次元から一次元へ減らせる．行列計算や固有値の導出は扱わない．</a:t>
            </a:r>
          </a:p>
          <a:p>
            <a:r>
              <a:t>特徴量の単位や尺度は結果に影響する．PCAは中心化するが，必ず自動で尺度を揃えるわけではない．情報の一部は失われ，予測に重要な情報を全て保持する保証もない．変換の学習は訓練データで行う．</a:t>
            </a:r>
          </a:p>
          <a:p/>
          <a:p>
            <a:r>
              <a:t>参照資料（2026年10月7日確認）</a:t>
            </a:r>
          </a:p>
          <a:p>
            <a:r>
              <a:t>scikit-learn：Principal component analysis</a:t>
            </a:r>
          </a:p>
          <a:p>
            <a:r>
              <a:t>https://scikit-learn.org/stable/modules/decomposition.html#pca</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モデル選択：出力とデータに合う候補を比べる</a:t>
            </a:r>
          </a:p>
          <a:p>
            <a:r>
              <a:t>目安：4分／授業開始から 40〜44分</a:t>
            </a:r>
          </a:p>
          <a:p/>
          <a:p>
            <a:r>
              <a:t>全ての問題で一番よいモデルをあらかじめ決めることはできない．まず求める出力を明確にし，複数の候補を同じ条件で比較する．回帰・分類のモデルと，教師なしの構造発見の手法は目的が異なる．</a:t>
            </a:r>
          </a:p>
          <a:p>
            <a:r>
              <a:t>モデルの複雑さ，データ量，解釈のしやすさ，処理時間も目的によって選択の条件になる．第5回のニューラルネットワークも候補の一つとして加わる．</a:t>
            </a:r>
          </a:p>
          <a:p/>
          <a:p>
            <a:r>
              <a:t>参照資料（2026年10月7日確認）</a:t>
            </a:r>
          </a:p>
          <a:p>
            <a:r>
              <a:t>第1回資料と本教材のために作成した例・設問．</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評価の準備：未知のデータで，同じ条件で比べる</a:t>
            </a:r>
          </a:p>
          <a:p>
            <a:r>
              <a:t>目安：3分／授業開始から 44〜47分</a:t>
            </a:r>
          </a:p>
          <a:p/>
          <a:p>
            <a:r>
              <a:t>第3回のデータ分割を復習する．訓練でモデルのパラメータを学び，検証でモデルや設定を選び，テストで最終的な性能を確認する．候補の比較には同じ分割と同じ指標を使う．</a:t>
            </a:r>
          </a:p>
          <a:p>
            <a:r>
              <a:t>交差検証は訓練・検証の担当を交代させて複数回評価する方法として口頭で補足する．時系列や同じ対象の記録を扱う場合には，未来の情報や同じ対象が評価側へ漏れない分割を考える．前処理やPCAも訓練データで学び，検証・テストにはその変換を適用する．テスト結果を見て何度も選び直すと，最終評価としての役割が損なわれる．</a:t>
            </a:r>
          </a:p>
          <a:p/>
          <a:p>
            <a:r>
              <a:t>参照資料（2026年10月7日確認）</a:t>
            </a:r>
          </a:p>
          <a:p>
            <a:r>
              <a:t>Google：Dividing the original dataset</a:t>
            </a:r>
          </a:p>
          <a:p>
            <a:r>
              <a:t>https://developers.google.com/machine-learning/crash-course/overfitting/dividing-datasets</a:t>
            </a:r>
          </a:p>
          <a:p>
            <a:r>
              <a:t>scikit-learn：Metrics and scoring</a:t>
            </a:r>
          </a:p>
          <a:p>
            <a:r>
              <a:t>https://scikit-learn.org/stable/modules/model_evaluation.html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回帰の評価：予測と実際の差を測る</a:t>
            </a:r>
          </a:p>
          <a:p>
            <a:r>
              <a:t>目安：6分／授業開始から 47〜53分</a:t>
            </a:r>
          </a:p>
          <a:p/>
          <a:p>
            <a:r>
              <a:t>架空の販売数を使う計算例．実際10,20,30に対して予測12,18,36なので，予測−実際は2,−2,6．負の誤差と正の誤差が打ち消し合わないように，絶対値や二乗を使う．</a:t>
            </a:r>
          </a:p>
          <a:p>
            <a:r>
              <a:t>2分説明，2分個人計算，2分解説．MAE=(2+2+6)/3=10/3≈3.33個．MSE=(4+4+36)/3=44/3≈14.67個²，RMSE=√(44/3)≈3.83個．RMSEは二乗してから平均するので，大きな誤差の影響を受けやすい．MAEとRMSEは目的変数と同じ単位になる．同じデータ・同じ指標でモデルを比較すれば，小さい方が誤差は小さい．別の指標の値同士を比べてモデルの優劣を判断しない．</a:t>
            </a:r>
          </a:p>
          <a:p/>
          <a:p>
            <a:r>
              <a:t>参照資料（2026年10月7日確認）</a:t>
            </a:r>
          </a:p>
          <a:p>
            <a:r>
              <a:t>scikit-learn：Metrics and scoring</a:t>
            </a:r>
          </a:p>
          <a:p>
            <a:r>
              <a:t>https://scikit-learn.org/stable/modules/model_evaluation.html</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分類の評価：混同行列で数える</a:t>
            </a:r>
          </a:p>
          <a:p>
            <a:r>
              <a:t>目安：5分／授業開始から 53〜58分</a:t>
            </a:r>
          </a:p>
          <a:p/>
          <a:p>
            <a:r>
              <a:t>架空の製品200個の二値分類．先に不良を陽性（＋），良品を陰性（−）と定義する．行が実際，列が予測で，教科書やツールによって配置が異なることもあるため，見出しを必ず確認する．</a:t>
            </a:r>
          </a:p>
          <a:p>
            <a:r>
              <a:t>TP30は不良を不良と判定，FN10は不良を良品と判定する見逃し，FP20は良品を不良と判定する誤検知，TN140は良品を良品と判定．T/Fは判定が正しいか，P/Nは陽性・陰性の予測を表す．実際の不良は40，良品160．不良と予測は50，良品と予測は150．次の指標計算で使うので，四つのセルと各合計を指差して確認する．</a:t>
            </a:r>
          </a:p>
          <a:p/>
          <a:p>
            <a:r>
              <a:t>参照資料（2026年10月7日確認）</a:t>
            </a:r>
          </a:p>
          <a:p>
            <a:r>
              <a:t>Google：Accuracy, recall, precision and F1</a:t>
            </a:r>
          </a:p>
          <a:p>
            <a:r>
              <a:t>https://developers.google.com/machine-learning/crash-course/classification/accuracy-precision-recall</a:t>
            </a:r>
          </a:p>
          <a:p>
            <a:r>
              <a:t>scikit-learn：Metrics and scoring</a:t>
            </a:r>
          </a:p>
          <a:p>
            <a:r>
              <a:t>https://scikit-learn.org/stable/modules/model_evaluation.html</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正解率：全体のうち，正しく判定した割合</a:t>
            </a:r>
          </a:p>
          <a:p>
            <a:r>
              <a:t>目安：4分／授業開始から 58〜62分</a:t>
            </a:r>
          </a:p>
          <a:p/>
          <a:p>
            <a:r>
              <a:t>前ページの混同行列を使う．正しい判定はTPとTNの対角二つなので30+140=170，全体200個で割る．正解率はAccuracy．正解率が高いほど全体の正解が多いが，重要なクラスを十分に見つけているとは限らない．</a:t>
            </a:r>
          </a:p>
          <a:p>
            <a:r>
              <a:t>口頭確認：いつも良品と答えるだけのモデルなら，この200個では正解率160/200=80%．85%を見て終わらず，単純な比較対象より改善したか，何を間違えたかも調べる．次のページでは不良の割合がさらに小さい場合を考える．</a:t>
            </a:r>
          </a:p>
          <a:p/>
          <a:p>
            <a:r>
              <a:t>参照資料（2026年10月7日確認）</a:t>
            </a:r>
          </a:p>
          <a:p>
            <a:r>
              <a:t>Google：Accuracy, recall, precision and F1</a:t>
            </a:r>
          </a:p>
          <a:p>
            <a:r>
              <a:t>https://developers.google.com/machine-learning/crash-course/classification/accuracy-precision-recall</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正解率だけで十分？ クラスの偏りに注意する</a:t>
            </a:r>
          </a:p>
          <a:p>
            <a:r>
              <a:t>目安：5分／授業開始から 62〜67分</a:t>
            </a:r>
          </a:p>
          <a:p/>
          <a:p>
            <a:r>
              <a:t>架空の1000個の製品で，良品990個，不良10個．全部を良品と予測するだけで990個正解し，正解率99%になるが，10個の不良は全て見逃す．この例ではTP=0,FN=10,FP=0,TN=990で，再現率は0/10=0%．</a:t>
            </a:r>
          </a:p>
          <a:p>
            <a:r>
              <a:t>ペアで1分：「このモデルを不良検出に採用したいか．正解率以外に何を数えたいか」を話し合う．不良を見つける目的に対して，何も見つけていないことを言葉にする．不良と予測した個体がないので，適合率の分母TP+FPは0であり数学的には未定義．実装で0などを返す設定と区別し，ここでは適合率の値を計算させない．</a:t>
            </a:r>
          </a:p>
          <a:p/>
          <a:p>
            <a:r>
              <a:t>参照資料（2026年10月7日確認）</a:t>
            </a:r>
          </a:p>
          <a:p>
            <a:r>
              <a:t>Google：Accuracy, recall, precision and F1</a:t>
            </a:r>
          </a:p>
          <a:p>
            <a:r>
              <a:t>https://developers.google.com/machine-learning/crash-course/classification/accuracy-precision-recall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適合率と再現率：分母の違いを押さえる</a:t>
            </a:r>
          </a:p>
          <a:p>
            <a:r>
              <a:t>目安：4分／授業開始から 67〜71分</a:t>
            </a:r>
          </a:p>
          <a:p/>
          <a:p>
            <a:r>
              <a:t>16ページのTP30,FN10,FP20,TN140の例へ戻る．適合率Precisionは不良と予測した50個のうち，本当に不良だった30個の割合60%．再現率Recallは実際に不良だった40個のうち，見つけた30個の割合75%．分子は同じTPでも，何を母集団として数えるかが違う．</a:t>
            </a:r>
          </a:p>
          <a:p>
            <a:r>
              <a:t>補足：F1スコアは適合率と再現率の調和平均2PR/(P+R)で，この例は2×0.60×0.75/(0.60+0.75)=2/3≈66.7%．算術平均ではない．F1だけではTNや誤りの費用を直接評価しないため，目的に応じて指標を使う．時間が足りない場合はF1の計算を講師の説明だけにする．</a:t>
            </a:r>
          </a:p>
          <a:p/>
          <a:p>
            <a:r>
              <a:t>参照資料（2026年10月7日確認）</a:t>
            </a:r>
          </a:p>
          <a:p>
            <a:r>
              <a:t>Google：Accuracy, recall, precision and F1</a:t>
            </a:r>
          </a:p>
          <a:p>
            <a:r>
              <a:t>https://developers.google.com/machine-learning/crash-course/classification/accuracy-precision-recall</a:t>
            </a:r>
          </a:p>
          <a:p>
            <a:r>
              <a:t>scikit-learn：Metrics and scoring</a:t>
            </a:r>
          </a:p>
          <a:p>
            <a:r>
              <a:t>https://scikit-learn.org/stable/modules/model_evaluation.html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演習2：正解率・適合率・再現率を計算する</a:t>
            </a:r>
          </a:p>
          <a:p>
            <a:r>
              <a:t>目安：6分／授業開始から 71〜77分</a:t>
            </a:r>
          </a:p>
          <a:p/>
          <a:p>
            <a:r>
              <a:t>架空の製品100個．不良を陽性とする．行が実際，列が予測．TP8,FN2,FP4,TN86．個人で3分，ペアで2分，解答の準備1分．各指標の分母が何を数えているかを説明させる．</a:t>
            </a:r>
          </a:p>
          <a:p>
            <a:r>
              <a:t>正解率=(8+86)/100=94%．適合率=8/(8+4)=8/12≈66.7%．再現率=8/(8+2)=8/10=80%．余裕のある学生はF1=2TP/(2TP+FP+FN)=16/22≈72.7%を補足で計算する．全員の必須課題は三つの指標と分母の意味で，F1の暗算は必須にしない．</a:t>
            </a:r>
          </a:p>
          <a:p/>
          <a:p>
            <a:r>
              <a:t>参照資料（2026年10月7日確認）</a:t>
            </a:r>
          </a:p>
          <a:p>
            <a:r>
              <a:t>第1回資料と本教材のために作成した例・設問．</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演習2：解答</a:t>
            </a:r>
          </a:p>
          <a:p>
            <a:r>
              <a:t>目安：4分／授業開始から 77〜81分</a:t>
            </a:r>
          </a:p>
          <a:p/>
          <a:p>
            <a:r>
              <a:t>割合を小数で求めてから百分率にする．適合率は不良と予測した12個が分母，再現率は実際に不良だった10個が分母．正解率の分母は全100個で，正しかった94個が分子．</a:t>
            </a:r>
          </a:p>
          <a:p>
            <a:r>
              <a:t>F1は補足．2TP/(2TP+FP+FN)=16/(16+4+2)=16/22≈72.7%．二つの指標の算術平均(66.7+80)/2にはしない．どれか一つが高ければ必ずよいということではなく，次の閾値や利用目的の話へつなぐ．</a:t>
            </a:r>
          </a:p>
          <a:p/>
          <a:p>
            <a:r>
              <a:t>参照資料（2026年10月7日確認）</a:t>
            </a:r>
          </a:p>
          <a:p>
            <a:r>
              <a:t>Google：Accuracy, recall, precision and F1</a:t>
            </a:r>
          </a:p>
          <a:p>
            <a:r>
              <a:t>https://developers.google.com/machine-learning/crash-course/classification/accuracy-precision-recall</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閾値と目的：どの誤りを減らしたいか</a:t>
            </a:r>
          </a:p>
          <a:p>
            <a:r>
              <a:t>目安：4分／授業開始から 81〜85分</a:t>
            </a:r>
          </a:p>
          <a:p/>
          <a:p>
            <a:r>
              <a:t>不良らしさのスコアが閾値以上なら不良とする二値分類を考える．同じデータ・同じモデルのスコアで閾値を下げると陽性判定が広がり，FNは増えず，FPは減らない．見逃しを減らせる一方，良品の追加検査が増える場合がある．閾値を上げれば陽性判定を絞る．</a:t>
            </a:r>
          </a:p>
          <a:p>
            <a:r>
              <a:t>適合率は閾値に対して必ず単調に変わるわけではないため，スライドでは適合率が必ず上がる・下がると断定しない．検証データで指標と費用を確かめて選び，最後にテストする．検査の目的，見逃しの損失，誤検知による手間などを考える．0.5に固定する必要はなく，F1最大が全ての目的に合うわけでもない．</a:t>
            </a:r>
          </a:p>
          <a:p/>
          <a:p>
            <a:r>
              <a:t>参照資料（2026年10月7日確認）</a:t>
            </a:r>
          </a:p>
          <a:p>
            <a:r>
              <a:t>scikit-learn：Tuning the decision threshold</a:t>
            </a:r>
          </a:p>
          <a:p>
            <a:r>
              <a:t>https://scikit-learn.org/stable/modules/classification_threshold.html</a:t>
            </a:r>
          </a:p>
          <a:p>
            <a:r>
              <a:t>Google：Accuracy, recall, precision and F1</a:t>
            </a:r>
          </a:p>
          <a:p>
            <a:r>
              <a:t>https://developers.google.com/machine-learning/crash-course/classification/accuracy-precision-recall</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まとめ・振り返り</a:t>
            </a:r>
          </a:p>
          <a:p>
            <a:r>
              <a:t>目安：5分／授業開始から 85〜90分</a:t>
            </a:r>
          </a:p>
          <a:p/>
          <a:p>
            <a:r>
              <a:t>2分で三つの要点を復習し，2分で出口課題，1分で次回を案内する．出口課題：「不良の見逃しを減らしたいとき，まずどの指標を確認するか．そのために増える可能性がある負担は何か」．答えの例は再現率と，誤検知・追加検査の負担．目的に応じて適合率も一緒に確認し，閾値を検証データで比較する．</a:t>
            </a:r>
          </a:p>
          <a:p>
            <a:r>
              <a:t>第5回はニューラルネットワークと深層学習．今日のモデル選択・評価の考え方は，ニューラルネットワークでも共通する．今日扱った以外の手法名を全て暗記することを課すのではなく，モデルの用途と指標の意味を振り返らせる．</a:t>
            </a:r>
          </a:p>
          <a:p/>
          <a:p>
            <a:r>
              <a:t>参照資料（2026年10月7日確認）</a:t>
            </a:r>
          </a:p>
          <a:p>
            <a:r>
              <a:t>第1回資料と本教材のために作成した例・設問．</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参考資料1：代表的なモデル</a:t>
            </a:r>
          </a:p>
          <a:p>
            <a:r>
              <a:t>付録：授業時間には含めない</a:t>
            </a:r>
          </a:p>
          <a:p/>
          <a:p>
            <a:r>
              <a:t>モデルの説明は公式教育資料とライブラリ公式文書を参照した．図，製品数，販売数，決定木，演習の設定は本講義のために作成した．リンクは2026年10月7日に確認した．</a:t>
            </a:r>
          </a:p>
          <a:p/>
          <a:p>
            <a:r>
              <a:t>参照資料（2026年10月7日確認）</a:t>
            </a:r>
          </a:p>
          <a:p>
            <a:r>
              <a:t>Google：Linear regression</a:t>
            </a:r>
          </a:p>
          <a:p>
            <a:r>
              <a:t>https://developers.google.com/machine-learning/crash-course/linear-regression</a:t>
            </a:r>
          </a:p>
          <a:p>
            <a:r>
              <a:t>Google：Logistic Regression</a:t>
            </a:r>
          </a:p>
          <a:p>
            <a:r>
              <a:t>https://developers.google.com/machine-learning/crash-course/logistic-regression</a:t>
            </a:r>
          </a:p>
          <a:p>
            <a:r>
              <a:t>scikit-learn：Decision Trees</a:t>
            </a:r>
          </a:p>
          <a:p>
            <a:r>
              <a:t>https://scikit-learn.org/stable/modules/tree.html</a:t>
            </a:r>
          </a:p>
          <a:p>
            <a:r>
              <a:t>scikit-learn：Ensembles</a:t>
            </a:r>
          </a:p>
          <a:p>
            <a:r>
              <a:t>https://scikit-learn.org/stable/modules/ensemble.html</a:t>
            </a:r>
          </a:p>
          <a:p>
            <a:r>
              <a:t>scikit-learn：Clustering</a:t>
            </a:r>
          </a:p>
          <a:p>
            <a:r>
              <a:t>https://scikit-learn.org/stable/modules/clustering.html</a:t>
            </a:r>
          </a:p>
          <a:p>
            <a:r>
              <a:t>scikit-learn：Principal component analysis</a:t>
            </a:r>
          </a:p>
          <a:p>
            <a:r>
              <a:t>https://scikit-learn.org/stable/modules/decomposition.html#pca</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参考資料2：評価方法</a:t>
            </a:r>
          </a:p>
          <a:p>
            <a:r>
              <a:t>付録：授業時間には含めない</a:t>
            </a:r>
          </a:p>
          <a:p/>
          <a:p>
            <a:r>
              <a:t>評価指標・データ分割・閾値の説明の参考資料．本文の製品検査のデータや計算問題はオリジナルの教材例で，JDLAの公式試験問題ではない．本講義は全15回計画の主要分野を扱い，シラバスの細かなキーワードの網羅は目標としない．</a:t>
            </a:r>
          </a:p>
          <a:p/>
          <a:p>
            <a:r>
              <a:t>参照資料（2026年10月7日確認）</a:t>
            </a:r>
          </a:p>
          <a:p>
            <a:r>
              <a:t>scikit-learn：Metrics and scoring</a:t>
            </a:r>
          </a:p>
          <a:p>
            <a:r>
              <a:t>https://scikit-learn.org/stable/modules/model_evaluation.html</a:t>
            </a:r>
          </a:p>
          <a:p>
            <a:r>
              <a:t>Google：Accuracy, recall, precision and F1</a:t>
            </a:r>
          </a:p>
          <a:p>
            <a:r>
              <a:t>https://developers.google.com/machine-learning/crash-course/classification/accuracy-precision-recall</a:t>
            </a:r>
          </a:p>
          <a:p>
            <a:r>
              <a:t>Google：Dividing the original dataset</a:t>
            </a:r>
          </a:p>
          <a:p>
            <a:r>
              <a:t>https://developers.google.com/machine-learning/crash-course/overfitting/dividing-datasets</a:t>
            </a:r>
          </a:p>
          <a:p>
            <a:r>
              <a:t>scikit-learn：Tuning the decision threshold</a:t>
            </a:r>
          </a:p>
          <a:p>
            <a:r>
              <a:t>https://scikit-learn.org/stable/modules/classification_threshold.html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hyperlink" Target="https://developers.google.com/machine-learning/crash-course/linear-regression" TargetMode="External"/><Relationship Id="rId4" Type="http://schemas.openxmlformats.org/officeDocument/2006/relationships/hyperlink" Target="https://developers.google.com/machine-learning/crash-course/logistic-regression" TargetMode="External"/><Relationship Id="rId5" Type="http://schemas.openxmlformats.org/officeDocument/2006/relationships/hyperlink" Target="https://scikit-learn.org/stable/modules/tree.html" TargetMode="External"/><Relationship Id="rId6" Type="http://schemas.openxmlformats.org/officeDocument/2006/relationships/hyperlink" Target="https://scikit-learn.org/stable/modules/ensemble.html" TargetMode="External"/><Relationship Id="rId7" Type="http://schemas.openxmlformats.org/officeDocument/2006/relationships/hyperlink" Target="https://scikit-learn.org/stable/modules/clustering.html" TargetMode="External"/><Relationship Id="rId8" Type="http://schemas.openxmlformats.org/officeDocument/2006/relationships/hyperlink" Target="https://scikit-learn.org/stable/modules/decomposition.html#pca"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hyperlink" Target="https://scikit-learn.org/stable/modules/model_evaluation.html" TargetMode="External"/><Relationship Id="rId4" Type="http://schemas.openxmlformats.org/officeDocument/2006/relationships/hyperlink" Target="https://developers.google.com/machine-learning/crash-course/classification/accuracy-precision-recall" TargetMode="External"/><Relationship Id="rId5" Type="http://schemas.openxmlformats.org/officeDocument/2006/relationships/hyperlink" Target="https://developers.google.com/machine-learning/crash-course/overfitting/dividing-datasets" TargetMode="External"/><Relationship Id="rId6" Type="http://schemas.openxmlformats.org/officeDocument/2006/relationships/hyperlink" Target="https://scikit-learn.org/stable/modules/classification_threshold.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導入　1</a:t>
            </a:r>
            <a:endParaRPr lang="ja-JP" sz="1050"/>
          </a:p>
        </p:txBody>
      </p:sp>
      <p:sp>
        <p:nvSpPr>
          <p:cNvPr id="5" name="TextBox 4"/>
          <p:cNvSpPr txBox="1"/>
          <p:nvPr/>
        </p:nvSpPr>
        <p:spPr>
          <a:xfrm>
            <a:off x="310896" y="740664"/>
            <a:ext cx="8522208" cy="2048256"/>
          </a:xfrm>
          <a:prstGeom prst="rect">
            <a:avLst/>
          </a:prstGeom>
          <a:noFill/>
        </p:spPr>
        <p:txBody>
          <a:bodyPr wrap="square" anchor="t" lIns="0" rIns="0" tIns="0" bIns="0">
            <a:noAutofit/>
          </a:bodyPr>
          <a:lstStyle/>
          <a:p>
            <a:pPr algn="ctr">
              <a:lnSpc>
                <a:spcPct val="113000"/>
              </a:lnSpc>
              <a:spcAft>
                <a:spcPts val="0"/>
              </a:spcAft>
            </a:pPr>
            <a:r>
              <a:rPr sz="4400" b="0" lang="ja-JP">
                <a:solidFill>
                  <a:srgbClr val="000000"/>
                </a:solidFill>
                <a:latin typeface="Arial"/>
                <a:ea typeface="ＭＳ Ｐゴシック"/>
                <a:cs typeface="ＭＳ Ｐゴシック"/>
              </a:rPr>
              <a:t>情報技術者（民間資格）4</a:t>
            </a:r>
            <a:endParaRPr lang="ja-JP" sz="4400"/>
          </a:p>
          <a:p>
            <a:pPr algn="ctr">
              <a:lnSpc>
                <a:spcPct val="113000"/>
              </a:lnSpc>
              <a:spcAft>
                <a:spcPts val="0"/>
              </a:spcAft>
            </a:pPr>
            <a:r>
              <a:rPr sz="4400" b="0" lang="ja-JP">
                <a:solidFill>
                  <a:srgbClr val="000000"/>
                </a:solidFill>
                <a:latin typeface="Arial"/>
                <a:ea typeface="ＭＳ Ｐゴシック"/>
                <a:cs typeface="ＭＳ Ｐゴシック"/>
              </a:rPr>
              <a:t>G検定</a:t>
            </a:r>
            <a:endParaRPr lang="ja-JP" sz="4400"/>
          </a:p>
        </p:txBody>
      </p:sp>
      <p:sp>
        <p:nvSpPr>
          <p:cNvPr id="6" name="TextBox 5"/>
          <p:cNvSpPr txBox="1"/>
          <p:nvPr/>
        </p:nvSpPr>
        <p:spPr>
          <a:xfrm>
            <a:off x="457200" y="2990088"/>
            <a:ext cx="8229600" cy="685800"/>
          </a:xfrm>
          <a:prstGeom prst="rect">
            <a:avLst/>
          </a:prstGeom>
          <a:noFill/>
        </p:spPr>
        <p:txBody>
          <a:bodyPr wrap="square" anchor="t" lIns="0" rIns="0" tIns="0" bIns="0">
            <a:noAutofit/>
          </a:bodyPr>
          <a:lstStyle/>
          <a:p>
            <a:pPr algn="ctr">
              <a:lnSpc>
                <a:spcPct val="113000"/>
              </a:lnSpc>
              <a:spcAft>
                <a:spcPts val="0"/>
              </a:spcAft>
            </a:pPr>
            <a:r>
              <a:rPr sz="2900" b="0" lang="ja-JP">
                <a:solidFill>
                  <a:srgbClr val="FF0000"/>
                </a:solidFill>
                <a:latin typeface="Arial"/>
                <a:ea typeface="ＭＳ Ｐゴシック"/>
                <a:cs typeface="ＭＳ Ｐゴシック"/>
              </a:rPr>
              <a:t>代表的な機械学習手法と評価</a:t>
            </a:r>
            <a:endParaRPr lang="ja-JP" sz="2900"/>
          </a:p>
        </p:txBody>
      </p:sp>
      <p:sp>
        <p:nvSpPr>
          <p:cNvPr id="7" name="TextBox 6"/>
          <p:cNvSpPr txBox="1"/>
          <p:nvPr/>
        </p:nvSpPr>
        <p:spPr>
          <a:xfrm>
            <a:off x="457200" y="4206240"/>
            <a:ext cx="8229600" cy="301752"/>
          </a:xfrm>
          <a:prstGeom prst="rect">
            <a:avLst/>
          </a:prstGeom>
          <a:noFill/>
        </p:spPr>
        <p:txBody>
          <a:bodyPr wrap="square" anchor="t" lIns="0" rIns="0" tIns="0" bIns="0">
            <a:noAutofit/>
          </a:bodyPr>
          <a:lstStyle/>
          <a:p>
            <a:pPr algn="ctr">
              <a:lnSpc>
                <a:spcPct val="113000"/>
              </a:lnSpc>
              <a:spcAft>
                <a:spcPts val="0"/>
              </a:spcAft>
            </a:pPr>
            <a:r>
              <a:rPr sz="1600" b="0" lang="ja-JP">
                <a:solidFill>
                  <a:srgbClr val="707070"/>
                </a:solidFill>
                <a:latin typeface="Arial"/>
                <a:ea typeface="ＭＳ Ｐゴシック"/>
                <a:cs typeface="ＭＳ Ｐゴシック"/>
              </a:rPr>
              <a:t>第4回 ／ 90分 ／ 全25枚</a:t>
            </a:r>
            <a:endParaRPr lang="ja-JP" sz="16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今日の到達目標</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導入　2</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代表的なモデルの特徴</a:t>
            </a:r>
            <a:r>
              <a:rPr sz="2000" b="0" lang="ja-JP">
                <a:solidFill>
                  <a:srgbClr val="404040"/>
                </a:solidFill>
                <a:latin typeface="Arial"/>
                <a:ea typeface="ＭＳ Ｐゴシック"/>
                <a:cs typeface="ＭＳ Ｐゴシック"/>
              </a:rPr>
              <a:t>を，入力・出力と結び付ける．</a:t>
            </a:r>
            <a:endParaRPr lang="ja-JP" sz="2000"/>
          </a:p>
        </p:txBody>
      </p:sp>
      <p:sp>
        <p:nvSpPr>
          <p:cNvPr id="7" name="TextBox 6"/>
          <p:cNvSpPr txBox="1"/>
          <p:nvPr/>
        </p:nvSpPr>
        <p:spPr>
          <a:xfrm>
            <a:off x="502920" y="193395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901952"/>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決定木</a:t>
            </a:r>
            <a:r>
              <a:rPr sz="2000" b="0" lang="ja-JP">
                <a:solidFill>
                  <a:srgbClr val="404040"/>
                </a:solidFill>
                <a:latin typeface="Arial"/>
                <a:ea typeface="ＭＳ Ｐゴシック"/>
                <a:cs typeface="ＭＳ Ｐゴシック"/>
              </a:rPr>
              <a:t>を，条件の分岐に沿ってたどる．</a:t>
            </a:r>
            <a:endParaRPr lang="ja-JP" sz="2000"/>
          </a:p>
        </p:txBody>
      </p:sp>
      <p:sp>
        <p:nvSpPr>
          <p:cNvPr id="9" name="TextBox 8"/>
          <p:cNvSpPr txBox="1"/>
          <p:nvPr/>
        </p:nvSpPr>
        <p:spPr>
          <a:xfrm>
            <a:off x="502920" y="264718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615184"/>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回帰の誤差と分類の評価指標</a:t>
            </a:r>
            <a:r>
              <a:rPr sz="2000" b="0" lang="ja-JP">
                <a:solidFill>
                  <a:srgbClr val="404040"/>
                </a:solidFill>
                <a:latin typeface="Arial"/>
                <a:ea typeface="ＭＳ Ｐゴシック"/>
                <a:cs typeface="ＭＳ Ｐゴシック"/>
              </a:rPr>
              <a:t>を，小さな例で計算する．</a:t>
            </a:r>
            <a:endParaRPr lang="ja-JP" sz="2000"/>
          </a:p>
        </p:txBody>
      </p:sp>
      <p:sp>
        <p:nvSpPr>
          <p:cNvPr id="11" name="TextBox 10"/>
          <p:cNvSpPr txBox="1"/>
          <p:nvPr/>
        </p:nvSpPr>
        <p:spPr>
          <a:xfrm>
            <a:off x="502920" y="336042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328415"/>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目的に合う指標</a:t>
            </a:r>
            <a:r>
              <a:rPr sz="2000" b="0" lang="ja-JP">
                <a:solidFill>
                  <a:srgbClr val="404040"/>
                </a:solidFill>
                <a:latin typeface="Arial"/>
                <a:ea typeface="ＭＳ Ｐゴシック"/>
                <a:cs typeface="ＭＳ Ｐゴシック"/>
              </a:rPr>
              <a:t>を選ぶ理由を説明する．</a:t>
            </a:r>
            <a:endParaRPr lang="ja-JP" sz="2000"/>
          </a:p>
        </p:txBody>
      </p:sp>
      <p:sp>
        <p:nvSpPr>
          <p:cNvPr id="13" name="TextBox 12"/>
          <p:cNvSpPr txBox="1"/>
          <p:nvPr/>
        </p:nvSpPr>
        <p:spPr>
          <a:xfrm>
            <a:off x="502920" y="4370832"/>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モデルの名前と，評価の目的を一緒に考える．</a:t>
            </a:r>
            <a:endParaRPr lang="ja-JP" sz="19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第3回の復習：学習方法・モデル・評価は別の観点</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導入　3</a:t>
            </a:r>
            <a:endParaRPr lang="ja-JP" sz="1050"/>
          </a:p>
        </p:txBody>
      </p:sp>
      <p:sp>
        <p:nvSpPr>
          <p:cNvPr id="5" name="Rectangle 4"/>
          <p:cNvSpPr/>
          <p:nvPr/>
        </p:nvSpPr>
        <p:spPr>
          <a:xfrm>
            <a:off x="365760" y="1188720"/>
            <a:ext cx="3090672" cy="59436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観点</a:t>
            </a:r>
          </a:p>
        </p:txBody>
      </p:sp>
      <p:sp>
        <p:nvSpPr>
          <p:cNvPr id="6" name="Rectangle 5"/>
          <p:cNvSpPr/>
          <p:nvPr/>
        </p:nvSpPr>
        <p:spPr>
          <a:xfrm>
            <a:off x="3456432" y="1188720"/>
            <a:ext cx="5276088" cy="59436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例</a:t>
            </a:r>
          </a:p>
        </p:txBody>
      </p:sp>
      <p:sp>
        <p:nvSpPr>
          <p:cNvPr id="7" name="Rectangle 6"/>
          <p:cNvSpPr/>
          <p:nvPr/>
        </p:nvSpPr>
        <p:spPr>
          <a:xfrm>
            <a:off x="365760" y="1783080"/>
            <a:ext cx="3090672"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学習で何を与えるか</a:t>
            </a:r>
          </a:p>
        </p:txBody>
      </p:sp>
      <p:sp>
        <p:nvSpPr>
          <p:cNvPr id="8" name="Rectangle 7"/>
          <p:cNvSpPr/>
          <p:nvPr/>
        </p:nvSpPr>
        <p:spPr>
          <a:xfrm>
            <a:off x="3456432" y="1783080"/>
            <a:ext cx="5276088"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正解付きの例 → 教師あり学習</a:t>
            </a:r>
          </a:p>
        </p:txBody>
      </p:sp>
      <p:sp>
        <p:nvSpPr>
          <p:cNvPr id="9" name="Rectangle 8"/>
          <p:cNvSpPr/>
          <p:nvPr/>
        </p:nvSpPr>
        <p:spPr>
          <a:xfrm>
            <a:off x="365760" y="2377440"/>
            <a:ext cx="3090672"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何を出力したいか</a:t>
            </a:r>
          </a:p>
        </p:txBody>
      </p:sp>
      <p:sp>
        <p:nvSpPr>
          <p:cNvPr id="10" name="Rectangle 9"/>
          <p:cNvSpPr/>
          <p:nvPr/>
        </p:nvSpPr>
        <p:spPr>
          <a:xfrm>
            <a:off x="3456432" y="2377440"/>
            <a:ext cx="5276088"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数量 → 回帰／カテゴリ → 分類</a:t>
            </a:r>
          </a:p>
        </p:txBody>
      </p:sp>
      <p:sp>
        <p:nvSpPr>
          <p:cNvPr id="11" name="Rectangle 10"/>
          <p:cNvSpPr/>
          <p:nvPr/>
        </p:nvSpPr>
        <p:spPr>
          <a:xfrm>
            <a:off x="365760" y="2971800"/>
            <a:ext cx="3090672"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どんなモデルを使うか</a:t>
            </a:r>
          </a:p>
        </p:txBody>
      </p:sp>
      <p:sp>
        <p:nvSpPr>
          <p:cNvPr id="12" name="Rectangle 11"/>
          <p:cNvSpPr/>
          <p:nvPr/>
        </p:nvSpPr>
        <p:spPr>
          <a:xfrm>
            <a:off x="3456432" y="2971800"/>
            <a:ext cx="5276088"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線形回帰・決定木など</a:t>
            </a:r>
          </a:p>
        </p:txBody>
      </p:sp>
      <p:sp>
        <p:nvSpPr>
          <p:cNvPr id="13" name="Rectangle 12"/>
          <p:cNvSpPr/>
          <p:nvPr/>
        </p:nvSpPr>
        <p:spPr>
          <a:xfrm>
            <a:off x="365760" y="3566160"/>
            <a:ext cx="3090672"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どのように確かめるか</a:t>
            </a:r>
          </a:p>
        </p:txBody>
      </p:sp>
      <p:sp>
        <p:nvSpPr>
          <p:cNvPr id="14" name="Rectangle 13"/>
          <p:cNvSpPr/>
          <p:nvPr/>
        </p:nvSpPr>
        <p:spPr>
          <a:xfrm>
            <a:off x="3456432" y="3566160"/>
            <a:ext cx="5276088"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未知のデータで誤差や正解率を測る</a:t>
            </a:r>
          </a:p>
        </p:txBody>
      </p:sp>
      <p:sp>
        <p:nvSpPr>
          <p:cNvPr id="15" name="TextBox 14"/>
          <p:cNvSpPr txBox="1"/>
          <p:nvPr/>
        </p:nvSpPr>
        <p:spPr>
          <a:xfrm>
            <a:off x="502920" y="4443984"/>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今日は「モデル」と「評価」を具体化する．</a:t>
            </a:r>
            <a:endParaRPr lang="ja-JP" sz="19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今日扱う手法の見取り図</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見取り図　4</a:t>
            </a:r>
            <a:endParaRPr lang="ja-JP" sz="1050"/>
          </a:p>
        </p:txBody>
      </p:sp>
      <p:sp>
        <p:nvSpPr>
          <p:cNvPr id="5" name="Rectangle 4"/>
          <p:cNvSpPr/>
          <p:nvPr/>
        </p:nvSpPr>
        <p:spPr>
          <a:xfrm>
            <a:off x="365760" y="1188720"/>
            <a:ext cx="2377440" cy="51206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やりたいこと</a:t>
            </a:r>
          </a:p>
        </p:txBody>
      </p:sp>
      <p:sp>
        <p:nvSpPr>
          <p:cNvPr id="6" name="Rectangle 5"/>
          <p:cNvSpPr/>
          <p:nvPr/>
        </p:nvSpPr>
        <p:spPr>
          <a:xfrm>
            <a:off x="2743200" y="1188720"/>
            <a:ext cx="3200400" cy="51206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代表例</a:t>
            </a:r>
          </a:p>
        </p:txBody>
      </p:sp>
      <p:sp>
        <p:nvSpPr>
          <p:cNvPr id="7" name="Rectangle 6"/>
          <p:cNvSpPr/>
          <p:nvPr/>
        </p:nvSpPr>
        <p:spPr>
          <a:xfrm>
            <a:off x="5943600" y="1188720"/>
            <a:ext cx="2788920" cy="51206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出力</a:t>
            </a:r>
          </a:p>
        </p:txBody>
      </p:sp>
      <p:sp>
        <p:nvSpPr>
          <p:cNvPr id="8" name="Rectangle 7"/>
          <p:cNvSpPr/>
          <p:nvPr/>
        </p:nvSpPr>
        <p:spPr>
          <a:xfrm>
            <a:off x="365760" y="1700784"/>
            <a:ext cx="237744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数量を予測</a:t>
            </a:r>
          </a:p>
        </p:txBody>
      </p:sp>
      <p:sp>
        <p:nvSpPr>
          <p:cNvPr id="9" name="Rectangle 8"/>
          <p:cNvSpPr/>
          <p:nvPr/>
        </p:nvSpPr>
        <p:spPr>
          <a:xfrm>
            <a:off x="2743200" y="1700784"/>
            <a:ext cx="320040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線形回帰</a:t>
            </a:r>
          </a:p>
        </p:txBody>
      </p:sp>
      <p:sp>
        <p:nvSpPr>
          <p:cNvPr id="10" name="Rectangle 9"/>
          <p:cNvSpPr/>
          <p:nvPr/>
        </p:nvSpPr>
        <p:spPr>
          <a:xfrm>
            <a:off x="5943600" y="1700784"/>
            <a:ext cx="278892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販売数・時間など</a:t>
            </a:r>
          </a:p>
        </p:txBody>
      </p:sp>
      <p:sp>
        <p:nvSpPr>
          <p:cNvPr id="11" name="Rectangle 10"/>
          <p:cNvSpPr/>
          <p:nvPr/>
        </p:nvSpPr>
        <p:spPr>
          <a:xfrm>
            <a:off x="365760" y="2212848"/>
            <a:ext cx="237744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カテゴリを判定</a:t>
            </a:r>
          </a:p>
        </p:txBody>
      </p:sp>
      <p:sp>
        <p:nvSpPr>
          <p:cNvPr id="12" name="Rectangle 11"/>
          <p:cNvSpPr/>
          <p:nvPr/>
        </p:nvSpPr>
        <p:spPr>
          <a:xfrm>
            <a:off x="2743200" y="2212848"/>
            <a:ext cx="320040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ロジスティック回帰</a:t>
            </a:r>
          </a:p>
        </p:txBody>
      </p:sp>
      <p:sp>
        <p:nvSpPr>
          <p:cNvPr id="13" name="Rectangle 12"/>
          <p:cNvSpPr/>
          <p:nvPr/>
        </p:nvSpPr>
        <p:spPr>
          <a:xfrm>
            <a:off x="5943600" y="2212848"/>
            <a:ext cx="278892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良品／不良品など</a:t>
            </a:r>
          </a:p>
        </p:txBody>
      </p:sp>
      <p:sp>
        <p:nvSpPr>
          <p:cNvPr id="14" name="Rectangle 13"/>
          <p:cNvSpPr/>
          <p:nvPr/>
        </p:nvSpPr>
        <p:spPr>
          <a:xfrm>
            <a:off x="365760" y="2724912"/>
            <a:ext cx="237744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条件で分けて予測</a:t>
            </a:r>
          </a:p>
        </p:txBody>
      </p:sp>
      <p:sp>
        <p:nvSpPr>
          <p:cNvPr id="15" name="Rectangle 14"/>
          <p:cNvSpPr/>
          <p:nvPr/>
        </p:nvSpPr>
        <p:spPr>
          <a:xfrm>
            <a:off x="2743200" y="2724912"/>
            <a:ext cx="320040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決定木・木の組合せ</a:t>
            </a:r>
          </a:p>
        </p:txBody>
      </p:sp>
      <p:sp>
        <p:nvSpPr>
          <p:cNvPr id="16" name="Rectangle 15"/>
          <p:cNvSpPr/>
          <p:nvPr/>
        </p:nvSpPr>
        <p:spPr>
          <a:xfrm>
            <a:off x="5943600" y="2724912"/>
            <a:ext cx="278892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カテゴリや数量</a:t>
            </a:r>
          </a:p>
        </p:txBody>
      </p:sp>
      <p:sp>
        <p:nvSpPr>
          <p:cNvPr id="17" name="Rectangle 16"/>
          <p:cNvSpPr/>
          <p:nvPr/>
        </p:nvSpPr>
        <p:spPr>
          <a:xfrm>
            <a:off x="365760" y="3236976"/>
            <a:ext cx="237744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似た例をまとめる</a:t>
            </a:r>
          </a:p>
        </p:txBody>
      </p:sp>
      <p:sp>
        <p:nvSpPr>
          <p:cNvPr id="18" name="Rectangle 17"/>
          <p:cNvSpPr/>
          <p:nvPr/>
        </p:nvSpPr>
        <p:spPr>
          <a:xfrm>
            <a:off x="2743200" y="3236976"/>
            <a:ext cx="320040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クラスタリング</a:t>
            </a:r>
          </a:p>
        </p:txBody>
      </p:sp>
      <p:sp>
        <p:nvSpPr>
          <p:cNvPr id="19" name="Rectangle 18"/>
          <p:cNvSpPr/>
          <p:nvPr/>
        </p:nvSpPr>
        <p:spPr>
          <a:xfrm>
            <a:off x="5943600" y="3236976"/>
            <a:ext cx="278892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グループ</a:t>
            </a:r>
          </a:p>
        </p:txBody>
      </p:sp>
      <p:sp>
        <p:nvSpPr>
          <p:cNvPr id="20" name="Rectangle 19"/>
          <p:cNvSpPr/>
          <p:nvPr/>
        </p:nvSpPr>
        <p:spPr>
          <a:xfrm>
            <a:off x="365760" y="3749040"/>
            <a:ext cx="237744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特徴量をまとめる</a:t>
            </a:r>
          </a:p>
        </p:txBody>
      </p:sp>
      <p:sp>
        <p:nvSpPr>
          <p:cNvPr id="21" name="Rectangle 20"/>
          <p:cNvSpPr/>
          <p:nvPr/>
        </p:nvSpPr>
        <p:spPr>
          <a:xfrm>
            <a:off x="2743200" y="3749040"/>
            <a:ext cx="320040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主成分分析（PCA）</a:t>
            </a:r>
          </a:p>
        </p:txBody>
      </p:sp>
      <p:sp>
        <p:nvSpPr>
          <p:cNvPr id="22" name="Rectangle 21"/>
          <p:cNvSpPr/>
          <p:nvPr/>
        </p:nvSpPr>
        <p:spPr>
          <a:xfrm>
            <a:off x="5943600" y="3749040"/>
            <a:ext cx="2788920"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少ない成分の表現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線形回帰：数量を予測する関係を学ぶ</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教師ありモデル　5</a:t>
            </a:r>
            <a:endParaRPr lang="ja-JP" sz="1050"/>
          </a:p>
        </p:txBody>
      </p:sp>
      <p:pic>
        <p:nvPicPr>
          <p:cNvPr id="5" name="Picture 4" descr="linear.png"/>
          <p:cNvPicPr>
            <a:picLocks noChangeAspect="1"/>
          </p:cNvPicPr>
          <p:nvPr/>
        </p:nvPicPr>
        <p:blipFill>
          <a:blip r:embed="rId3"/>
          <a:stretch>
            <a:fillRect/>
          </a:stretch>
        </p:blipFill>
        <p:spPr>
          <a:xfrm>
            <a:off x="475488" y="1280160"/>
            <a:ext cx="4937760" cy="2962656"/>
          </a:xfrm>
          <a:prstGeom prst="rect">
            <a:avLst/>
          </a:prstGeom>
        </p:spPr>
      </p:pic>
      <p:sp>
        <p:nvSpPr>
          <p:cNvPr id="6" name="TextBox 5"/>
          <p:cNvSpPr txBox="1"/>
          <p:nvPr/>
        </p:nvSpPr>
        <p:spPr>
          <a:xfrm>
            <a:off x="5724144" y="1417320"/>
            <a:ext cx="2834640" cy="2651760"/>
          </a:xfrm>
          <a:prstGeom prst="rect">
            <a:avLst/>
          </a:prstGeom>
          <a:noFill/>
        </p:spPr>
        <p:txBody>
          <a:bodyPr wrap="square" anchor="t" lIns="0" rIns="0" tIns="0" bIns="0">
            <a:noAutofit/>
          </a:bodyPr>
          <a:lstStyle/>
          <a:p>
            <a:pPr algn="l">
              <a:lnSpc>
                <a:spcPct val="113000"/>
              </a:lnSpc>
              <a:spcAft>
                <a:spcPts val="0"/>
              </a:spcAft>
            </a:pPr>
            <a:r>
              <a:rPr sz="2200" b="0" lang="ja-JP">
                <a:solidFill>
                  <a:srgbClr val="404040"/>
                </a:solidFill>
                <a:latin typeface="Arial"/>
                <a:ea typeface="ＭＳ Ｐゴシック"/>
                <a:cs typeface="ＭＳ Ｐゴシック"/>
              </a:rPr>
              <a:t>予測値＝wx＋b</a:t>
            </a:r>
            <a:endParaRPr lang="ja-JP" sz="2200"/>
          </a:p>
          <a:p>
            <a:pPr algn="l">
              <a:lnSpc>
                <a:spcPct val="113000"/>
              </a:lnSpc>
              <a:spcAft>
                <a:spcPts val="0"/>
              </a:spcAft>
            </a:pPr>
            <a:r>
              <a:rPr sz="2200" b="0" lang="ja-JP">
                <a:solidFill>
                  <a:srgbClr val="404040"/>
                </a:solidFill>
                <a:latin typeface="Arial"/>
                <a:ea typeface="ＭＳ Ｐゴシック"/>
                <a:cs typeface="ＭＳ Ｐゴシック"/>
              </a:rPr>
              <a:t/>
            </a:r>
            <a:endParaRPr lang="ja-JP" sz="2200"/>
          </a:p>
          <a:p>
            <a:pPr algn="l">
              <a:lnSpc>
                <a:spcPct val="113000"/>
              </a:lnSpc>
              <a:spcAft>
                <a:spcPts val="0"/>
              </a:spcAft>
            </a:pPr>
            <a:r>
              <a:rPr sz="2200" b="0" lang="ja-JP">
                <a:solidFill>
                  <a:srgbClr val="404040"/>
                </a:solidFill>
                <a:latin typeface="Arial"/>
                <a:ea typeface="ＭＳ Ｐゴシック"/>
                <a:cs typeface="ＭＳ Ｐゴシック"/>
              </a:rPr>
              <a:t>w：傾き</a:t>
            </a:r>
            <a:endParaRPr lang="ja-JP" sz="2200"/>
          </a:p>
          <a:p>
            <a:pPr algn="l">
              <a:lnSpc>
                <a:spcPct val="113000"/>
              </a:lnSpc>
              <a:spcAft>
                <a:spcPts val="0"/>
              </a:spcAft>
            </a:pPr>
            <a:r>
              <a:rPr sz="2200" b="0" lang="ja-JP">
                <a:solidFill>
                  <a:srgbClr val="404040"/>
                </a:solidFill>
                <a:latin typeface="Arial"/>
                <a:ea typeface="ＭＳ Ｐゴシック"/>
                <a:cs typeface="ＭＳ Ｐゴシック"/>
              </a:rPr>
              <a:t>b：切片</a:t>
            </a:r>
            <a:endParaRPr lang="ja-JP" sz="2200"/>
          </a:p>
          <a:p>
            <a:pPr algn="l">
              <a:lnSpc>
                <a:spcPct val="113000"/>
              </a:lnSpc>
              <a:spcAft>
                <a:spcPts val="0"/>
              </a:spcAft>
            </a:pPr>
            <a:r>
              <a:rPr sz="2200" b="0" lang="ja-JP">
                <a:solidFill>
                  <a:srgbClr val="404040"/>
                </a:solidFill>
                <a:latin typeface="Arial"/>
                <a:ea typeface="ＭＳ Ｐゴシック"/>
                <a:cs typeface="ＭＳ Ｐゴシック"/>
              </a:rPr>
              <a:t/>
            </a:r>
            <a:endParaRPr lang="ja-JP" sz="2200"/>
          </a:p>
          <a:p>
            <a:pPr algn="l">
              <a:lnSpc>
                <a:spcPct val="113000"/>
              </a:lnSpc>
              <a:spcAft>
                <a:spcPts val="0"/>
              </a:spcAft>
            </a:pPr>
            <a:r>
              <a:rPr sz="2200" b="0" lang="ja-JP">
                <a:solidFill>
                  <a:srgbClr val="404040"/>
                </a:solidFill>
                <a:latin typeface="Arial"/>
                <a:ea typeface="ＭＳ Ｐゴシック"/>
                <a:cs typeface="ＭＳ Ｐゴシック"/>
              </a:rPr>
              <a:t>この例：10x＋20</a:t>
            </a:r>
            <a:endParaRPr lang="ja-JP" sz="2200"/>
          </a:p>
        </p:txBody>
      </p:sp>
      <p:sp>
        <p:nvSpPr>
          <p:cNvPr id="7" name="TextBox 6"/>
          <p:cNvSpPr txBox="1"/>
          <p:nvPr/>
        </p:nvSpPr>
        <p:spPr>
          <a:xfrm>
            <a:off x="502920" y="4416552"/>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傾きと切片を，データから学習する．</a:t>
            </a:r>
            <a:endParaRPr lang="ja-JP" sz="19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ロジスティック回帰：分類に使う</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教師ありモデル　6</a:t>
            </a:r>
            <a:endParaRPr lang="ja-JP" sz="1050"/>
          </a:p>
        </p:txBody>
      </p:sp>
      <p:pic>
        <p:nvPicPr>
          <p:cNvPr id="5" name="Picture 4" descr="logistic.png"/>
          <p:cNvPicPr>
            <a:picLocks noChangeAspect="1"/>
          </p:cNvPicPr>
          <p:nvPr/>
        </p:nvPicPr>
        <p:blipFill>
          <a:blip r:embed="rId3"/>
          <a:stretch>
            <a:fillRect/>
          </a:stretch>
        </p:blipFill>
        <p:spPr>
          <a:xfrm>
            <a:off x="475488" y="1280160"/>
            <a:ext cx="4937760" cy="2962656"/>
          </a:xfrm>
          <a:prstGeom prst="rect">
            <a:avLst/>
          </a:prstGeom>
        </p:spPr>
      </p:pic>
      <p:sp>
        <p:nvSpPr>
          <p:cNvPr id="6" name="TextBox 5"/>
          <p:cNvSpPr txBox="1"/>
          <p:nvPr/>
        </p:nvSpPr>
        <p:spPr>
          <a:xfrm>
            <a:off x="5724144" y="1380744"/>
            <a:ext cx="2834640" cy="2779776"/>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0〜1の値を出す．</a:t>
            </a:r>
            <a:endParaRPr lang="ja-JP" sz="2100"/>
          </a:p>
          <a:p>
            <a:pPr algn="l">
              <a:lnSpc>
                <a:spcPct val="113000"/>
              </a:lnSpc>
              <a:spcAft>
                <a:spcPts val="0"/>
              </a:spcAft>
            </a:pPr>
            <a:r>
              <a:rPr sz="2100" b="0" lang="ja-JP">
                <a:solidFill>
                  <a:srgbClr val="404040"/>
                </a:solidFill>
                <a:latin typeface="Arial"/>
                <a:ea typeface="ＭＳ Ｐゴシック"/>
                <a:cs typeface="ＭＳ Ｐゴシック"/>
              </a:rPr>
              <a:t/>
            </a:r>
            <a:endParaRPr lang="ja-JP" sz="2100"/>
          </a:p>
          <a:p>
            <a:pPr algn="l">
              <a:lnSpc>
                <a:spcPct val="113000"/>
              </a:lnSpc>
              <a:spcAft>
                <a:spcPts val="0"/>
              </a:spcAft>
            </a:pPr>
            <a:r>
              <a:rPr sz="2100" b="0" lang="ja-JP">
                <a:solidFill>
                  <a:srgbClr val="404040"/>
                </a:solidFill>
                <a:latin typeface="Arial"/>
                <a:ea typeface="ＭＳ Ｐゴシック"/>
                <a:cs typeface="ＭＳ Ｐゴシック"/>
              </a:rPr>
              <a:t>閾値でカテゴリを</a:t>
            </a:r>
            <a:endParaRPr lang="ja-JP" sz="2100"/>
          </a:p>
          <a:p>
            <a:pPr algn="l">
              <a:lnSpc>
                <a:spcPct val="113000"/>
              </a:lnSpc>
              <a:spcAft>
                <a:spcPts val="0"/>
              </a:spcAft>
            </a:pPr>
            <a:r>
              <a:rPr sz="2100" b="0" lang="ja-JP">
                <a:solidFill>
                  <a:srgbClr val="404040"/>
                </a:solidFill>
                <a:latin typeface="Arial"/>
                <a:ea typeface="ＭＳ Ｐゴシック"/>
                <a:cs typeface="ＭＳ Ｐゴシック"/>
              </a:rPr>
              <a:t>決める．</a:t>
            </a:r>
            <a:endParaRPr lang="ja-JP" sz="2100"/>
          </a:p>
          <a:p>
            <a:pPr algn="l">
              <a:lnSpc>
                <a:spcPct val="113000"/>
              </a:lnSpc>
              <a:spcAft>
                <a:spcPts val="0"/>
              </a:spcAft>
            </a:pPr>
            <a:r>
              <a:rPr sz="2100" b="0" lang="ja-JP">
                <a:solidFill>
                  <a:srgbClr val="404040"/>
                </a:solidFill>
                <a:latin typeface="Arial"/>
                <a:ea typeface="ＭＳ Ｐゴシック"/>
                <a:cs typeface="ＭＳ Ｐゴシック"/>
              </a:rPr>
              <a:t/>
            </a:r>
            <a:endParaRPr lang="ja-JP" sz="2100"/>
          </a:p>
          <a:p>
            <a:pPr algn="l">
              <a:lnSpc>
                <a:spcPct val="113000"/>
              </a:lnSpc>
              <a:spcAft>
                <a:spcPts val="0"/>
              </a:spcAft>
            </a:pPr>
            <a:r>
              <a:rPr sz="2100" b="0" lang="ja-JP">
                <a:solidFill>
                  <a:srgbClr val="404040"/>
                </a:solidFill>
                <a:latin typeface="Arial"/>
                <a:ea typeface="ＭＳ Ｐゴシック"/>
                <a:cs typeface="ＭＳ Ｐゴシック"/>
              </a:rPr>
              <a:t>例：0.5以上なら</a:t>
            </a:r>
            <a:endParaRPr lang="ja-JP" sz="2100"/>
          </a:p>
          <a:p>
            <a:pPr algn="l">
              <a:lnSpc>
                <a:spcPct val="113000"/>
              </a:lnSpc>
              <a:spcAft>
                <a:spcPts val="0"/>
              </a:spcAft>
            </a:pPr>
            <a:r>
              <a:rPr sz="2100" b="0" lang="ja-JP">
                <a:solidFill>
                  <a:srgbClr val="404040"/>
                </a:solidFill>
                <a:latin typeface="Arial"/>
                <a:ea typeface="ＭＳ Ｐゴシック"/>
                <a:cs typeface="ＭＳ Ｐゴシック"/>
              </a:rPr>
              <a:t>「不良」と判定．</a:t>
            </a:r>
            <a:endParaRPr lang="ja-JP" sz="2100"/>
          </a:p>
        </p:txBody>
      </p:sp>
      <p:sp>
        <p:nvSpPr>
          <p:cNvPr id="7" name="TextBox 6"/>
          <p:cNvSpPr txBox="1"/>
          <p:nvPr/>
        </p:nvSpPr>
        <p:spPr>
          <a:xfrm>
            <a:off x="502920" y="4416552"/>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「回帰」という名前でも，分類に使うモデル．</a:t>
            </a:r>
            <a:endParaRPr lang="ja-JP" sz="19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決定木：条件をたどって予測する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教師ありモデル　7</a:t>
            </a:r>
            <a:endParaRPr lang="ja-JP" sz="1050"/>
          </a:p>
        </p:txBody>
      </p:sp>
      <p:sp>
        <p:nvSpPr>
          <p:cNvPr id="5" name="Rectangle 4"/>
          <p:cNvSpPr/>
          <p:nvPr/>
        </p:nvSpPr>
        <p:spPr>
          <a:xfrm>
            <a:off x="3108960" y="1307592"/>
            <a:ext cx="2926080" cy="62179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休日か？</a:t>
            </a:r>
          </a:p>
        </p:txBody>
      </p:sp>
      <p:sp>
        <p:nvSpPr>
          <p:cNvPr id="6" name="Rectangle 5"/>
          <p:cNvSpPr/>
          <p:nvPr/>
        </p:nvSpPr>
        <p:spPr>
          <a:xfrm>
            <a:off x="914400" y="2889504"/>
            <a:ext cx="1920240" cy="62179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FF0000"/>
                </a:solidFill>
                <a:latin typeface="Arial"/>
                <a:ea typeface="ＭＳ Ｐゴシック"/>
                <a:cs typeface="ＭＳ Ｐゴシック"/>
              </a:rPr>
              <a:t>多い</a:t>
            </a:r>
          </a:p>
        </p:txBody>
      </p:sp>
      <p:sp>
        <p:nvSpPr>
          <p:cNvPr id="7" name="Rectangle 6"/>
          <p:cNvSpPr/>
          <p:nvPr/>
        </p:nvSpPr>
        <p:spPr>
          <a:xfrm>
            <a:off x="5148072" y="2441448"/>
            <a:ext cx="3054096" cy="62179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気温予報 ≥ 25℃？</a:t>
            </a:r>
          </a:p>
        </p:txBody>
      </p:sp>
      <p:sp>
        <p:nvSpPr>
          <p:cNvPr id="8" name="Rectangle 7"/>
          <p:cNvSpPr/>
          <p:nvPr/>
        </p:nvSpPr>
        <p:spPr>
          <a:xfrm>
            <a:off x="4709160" y="3721608"/>
            <a:ext cx="1481328" cy="557784"/>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FF0000"/>
                </a:solidFill>
                <a:latin typeface="Arial"/>
                <a:ea typeface="ＭＳ Ｐゴシック"/>
                <a:cs typeface="ＭＳ Ｐゴシック"/>
              </a:rPr>
              <a:t>多い</a:t>
            </a:r>
          </a:p>
        </p:txBody>
      </p:sp>
      <p:sp>
        <p:nvSpPr>
          <p:cNvPr id="9" name="Rectangle 8"/>
          <p:cNvSpPr/>
          <p:nvPr/>
        </p:nvSpPr>
        <p:spPr>
          <a:xfrm>
            <a:off x="6967728" y="3721608"/>
            <a:ext cx="1481328" cy="55778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少ない</a:t>
            </a:r>
          </a:p>
        </p:txBody>
      </p:sp>
      <p:cxnSp>
        <p:nvCxnSpPr>
          <p:cNvPr id="10" name="Connector 9"/>
          <p:cNvCxnSpPr/>
          <p:nvPr/>
        </p:nvCxnSpPr>
        <p:spPr>
          <a:xfrm flipH="1">
            <a:off x="1874519" y="1965960"/>
            <a:ext cx="2176272" cy="859536"/>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57216" y="1965960"/>
            <a:ext cx="1499616" cy="420624"/>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449824" y="3090672"/>
            <a:ext cx="813816" cy="566928"/>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104888" y="3090672"/>
            <a:ext cx="594360" cy="566928"/>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267712" y="2221992"/>
            <a:ext cx="685800" cy="31089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rPr>
              <a:t>はい</a:t>
            </a:r>
            <a:endParaRPr lang="ja-JP" sz="1800"/>
          </a:p>
        </p:txBody>
      </p:sp>
      <p:sp>
        <p:nvSpPr>
          <p:cNvPr id="15" name="TextBox 14"/>
          <p:cNvSpPr txBox="1"/>
          <p:nvPr/>
        </p:nvSpPr>
        <p:spPr>
          <a:xfrm>
            <a:off x="6035040" y="1993392"/>
            <a:ext cx="1143000" cy="31089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rPr>
              <a:t>いいえ</a:t>
            </a:r>
            <a:endParaRPr lang="ja-JP" sz="1800"/>
          </a:p>
        </p:txBody>
      </p:sp>
      <p:sp>
        <p:nvSpPr>
          <p:cNvPr id="16" name="TextBox 15"/>
          <p:cNvSpPr txBox="1"/>
          <p:nvPr/>
        </p:nvSpPr>
        <p:spPr>
          <a:xfrm>
            <a:off x="4956048" y="3236976"/>
            <a:ext cx="685800" cy="31089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rPr>
              <a:t>はい</a:t>
            </a:r>
            <a:endParaRPr lang="ja-JP" sz="1800"/>
          </a:p>
        </p:txBody>
      </p:sp>
      <p:sp>
        <p:nvSpPr>
          <p:cNvPr id="17" name="TextBox 16"/>
          <p:cNvSpPr txBox="1"/>
          <p:nvPr/>
        </p:nvSpPr>
        <p:spPr>
          <a:xfrm>
            <a:off x="7772400" y="3236976"/>
            <a:ext cx="1097280" cy="31089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rPr>
              <a:t>いいえ</a:t>
            </a:r>
            <a:endParaRPr lang="ja-JP" sz="1800"/>
          </a:p>
        </p:txBody>
      </p:sp>
      <p:sp>
        <p:nvSpPr>
          <p:cNvPr id="18" name="TextBox 17"/>
          <p:cNvSpPr txBox="1"/>
          <p:nvPr/>
        </p:nvSpPr>
        <p:spPr>
          <a:xfrm>
            <a:off x="548640" y="4517136"/>
            <a:ext cx="8046720" cy="22860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教材用の分類木．実際には分岐をデータから学ぶ．回帰にも使える．</a:t>
            </a:r>
            <a:endParaRPr lang="ja-JP" sz="14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演習1：前ページの決定木をたどる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演習　8</a:t>
            </a:r>
            <a:endParaRPr lang="ja-JP" sz="1050"/>
          </a:p>
        </p:txBody>
      </p:sp>
      <p:sp>
        <p:nvSpPr>
          <p:cNvPr id="5" name="TextBox 4"/>
          <p:cNvSpPr txBox="1"/>
          <p:nvPr/>
        </p:nvSpPr>
        <p:spPr>
          <a:xfrm>
            <a:off x="566928" y="1216152"/>
            <a:ext cx="8046720" cy="438912"/>
          </a:xfrm>
          <a:prstGeom prst="rect">
            <a:avLst/>
          </a:prstGeom>
          <a:noFill/>
        </p:spPr>
        <p:txBody>
          <a:bodyPr wrap="square" anchor="t" lIns="0" rIns="0" tIns="0" bIns="0">
            <a:noAutofit/>
          </a:bodyPr>
          <a:lstStyle/>
          <a:p>
            <a:pPr algn="l">
              <a:lnSpc>
                <a:spcPct val="113000"/>
              </a:lnSpc>
              <a:spcAft>
                <a:spcPts val="0"/>
              </a:spcAft>
            </a:pPr>
            <a:r>
              <a:rPr sz="2200" b="0" lang="ja-JP">
                <a:solidFill>
                  <a:srgbClr val="404040"/>
                </a:solidFill>
                <a:latin typeface="Arial"/>
                <a:ea typeface="ＭＳ Ｐゴシック"/>
                <a:cs typeface="ＭＳ Ｐゴシック"/>
              </a:rPr>
              <a:t>休日か？ → 平日なら，気温予報が25℃以上か？</a:t>
            </a:r>
            <a:endParaRPr lang="ja-JP" sz="2200"/>
          </a:p>
        </p:txBody>
      </p:sp>
      <p:sp>
        <p:nvSpPr>
          <p:cNvPr id="6" name="Rectangle 5"/>
          <p:cNvSpPr/>
          <p:nvPr/>
        </p:nvSpPr>
        <p:spPr>
          <a:xfrm>
            <a:off x="365760" y="1938528"/>
            <a:ext cx="1554480" cy="59436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ケース</a:t>
            </a:r>
          </a:p>
        </p:txBody>
      </p:sp>
      <p:sp>
        <p:nvSpPr>
          <p:cNvPr id="7" name="Rectangle 6"/>
          <p:cNvSpPr/>
          <p:nvPr/>
        </p:nvSpPr>
        <p:spPr>
          <a:xfrm>
            <a:off x="1920240" y="1938528"/>
            <a:ext cx="2240280" cy="59436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休日か</a:t>
            </a:r>
          </a:p>
        </p:txBody>
      </p:sp>
      <p:sp>
        <p:nvSpPr>
          <p:cNvPr id="8" name="Rectangle 7"/>
          <p:cNvSpPr/>
          <p:nvPr/>
        </p:nvSpPr>
        <p:spPr>
          <a:xfrm>
            <a:off x="4160520" y="1938528"/>
            <a:ext cx="2286000" cy="59436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気温予報</a:t>
            </a:r>
          </a:p>
        </p:txBody>
      </p:sp>
      <p:sp>
        <p:nvSpPr>
          <p:cNvPr id="9" name="Rectangle 8"/>
          <p:cNvSpPr/>
          <p:nvPr/>
        </p:nvSpPr>
        <p:spPr>
          <a:xfrm>
            <a:off x="6446520" y="1938528"/>
            <a:ext cx="2286000" cy="59436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予測は？</a:t>
            </a:r>
          </a:p>
        </p:txBody>
      </p:sp>
      <p:sp>
        <p:nvSpPr>
          <p:cNvPr id="10" name="Rectangle 9"/>
          <p:cNvSpPr/>
          <p:nvPr/>
        </p:nvSpPr>
        <p:spPr>
          <a:xfrm>
            <a:off x="365760" y="2532888"/>
            <a:ext cx="155448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A</a:t>
            </a:r>
          </a:p>
        </p:txBody>
      </p:sp>
      <p:sp>
        <p:nvSpPr>
          <p:cNvPr id="11" name="Rectangle 10"/>
          <p:cNvSpPr/>
          <p:nvPr/>
        </p:nvSpPr>
        <p:spPr>
          <a:xfrm>
            <a:off x="1920240" y="2532888"/>
            <a:ext cx="224028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平日</a:t>
            </a:r>
          </a:p>
        </p:txBody>
      </p:sp>
      <p:sp>
        <p:nvSpPr>
          <p:cNvPr id="12" name="Rectangle 11"/>
          <p:cNvSpPr/>
          <p:nvPr/>
        </p:nvSpPr>
        <p:spPr>
          <a:xfrm>
            <a:off x="4160520" y="2532888"/>
            <a:ext cx="228600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20℃</a:t>
            </a:r>
          </a:p>
        </p:txBody>
      </p:sp>
      <p:sp>
        <p:nvSpPr>
          <p:cNvPr id="13" name="Rectangle 12"/>
          <p:cNvSpPr/>
          <p:nvPr/>
        </p:nvSpPr>
        <p:spPr>
          <a:xfrm>
            <a:off x="6446520" y="2532888"/>
            <a:ext cx="228600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a:t>
            </a:r>
          </a:p>
        </p:txBody>
      </p:sp>
      <p:sp>
        <p:nvSpPr>
          <p:cNvPr id="14" name="Rectangle 13"/>
          <p:cNvSpPr/>
          <p:nvPr/>
        </p:nvSpPr>
        <p:spPr>
          <a:xfrm>
            <a:off x="365760" y="3127248"/>
            <a:ext cx="155448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B</a:t>
            </a:r>
          </a:p>
        </p:txBody>
      </p:sp>
      <p:sp>
        <p:nvSpPr>
          <p:cNvPr id="15" name="Rectangle 14"/>
          <p:cNvSpPr/>
          <p:nvPr/>
        </p:nvSpPr>
        <p:spPr>
          <a:xfrm>
            <a:off x="1920240" y="3127248"/>
            <a:ext cx="224028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平日</a:t>
            </a:r>
          </a:p>
        </p:txBody>
      </p:sp>
      <p:sp>
        <p:nvSpPr>
          <p:cNvPr id="16" name="Rectangle 15"/>
          <p:cNvSpPr/>
          <p:nvPr/>
        </p:nvSpPr>
        <p:spPr>
          <a:xfrm>
            <a:off x="4160520" y="3127248"/>
            <a:ext cx="228600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27℃</a:t>
            </a:r>
          </a:p>
        </p:txBody>
      </p:sp>
      <p:sp>
        <p:nvSpPr>
          <p:cNvPr id="17" name="Rectangle 16"/>
          <p:cNvSpPr/>
          <p:nvPr/>
        </p:nvSpPr>
        <p:spPr>
          <a:xfrm>
            <a:off x="6446520" y="3127248"/>
            <a:ext cx="228600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a:t>
            </a:r>
          </a:p>
        </p:txBody>
      </p:sp>
      <p:sp>
        <p:nvSpPr>
          <p:cNvPr id="18" name="Rectangle 17"/>
          <p:cNvSpPr/>
          <p:nvPr/>
        </p:nvSpPr>
        <p:spPr>
          <a:xfrm>
            <a:off x="365760" y="3721608"/>
            <a:ext cx="155448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C</a:t>
            </a:r>
          </a:p>
        </p:txBody>
      </p:sp>
      <p:sp>
        <p:nvSpPr>
          <p:cNvPr id="19" name="Rectangle 18"/>
          <p:cNvSpPr/>
          <p:nvPr/>
        </p:nvSpPr>
        <p:spPr>
          <a:xfrm>
            <a:off x="1920240" y="3721608"/>
            <a:ext cx="224028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休日</a:t>
            </a:r>
          </a:p>
        </p:txBody>
      </p:sp>
      <p:sp>
        <p:nvSpPr>
          <p:cNvPr id="20" name="Rectangle 19"/>
          <p:cNvSpPr/>
          <p:nvPr/>
        </p:nvSpPr>
        <p:spPr>
          <a:xfrm>
            <a:off x="4160520" y="3721608"/>
            <a:ext cx="228600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18℃</a:t>
            </a:r>
          </a:p>
        </p:txBody>
      </p:sp>
      <p:sp>
        <p:nvSpPr>
          <p:cNvPr id="21" name="Rectangle 20"/>
          <p:cNvSpPr/>
          <p:nvPr/>
        </p:nvSpPr>
        <p:spPr>
          <a:xfrm>
            <a:off x="6446520" y="3721608"/>
            <a:ext cx="2286000" cy="59436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a:t>
            </a:r>
          </a:p>
        </p:txBody>
      </p:sp>
      <p:sp>
        <p:nvSpPr>
          <p:cNvPr id="22" name="TextBox 21"/>
          <p:cNvSpPr txBox="1"/>
          <p:nvPr/>
        </p:nvSpPr>
        <p:spPr>
          <a:xfrm>
            <a:off x="502920" y="4517136"/>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答えに加えて，通った分岐を説明する．</a:t>
            </a:r>
            <a:endParaRPr lang="ja-JP" sz="18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演習1：解答</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演習　9</a:t>
            </a:r>
            <a:endParaRPr lang="ja-JP" sz="1050"/>
          </a:p>
        </p:txBody>
      </p:sp>
      <p:sp>
        <p:nvSpPr>
          <p:cNvPr id="5" name="Rectangle 4"/>
          <p:cNvSpPr/>
          <p:nvPr/>
        </p:nvSpPr>
        <p:spPr>
          <a:xfrm>
            <a:off x="365760" y="1188720"/>
            <a:ext cx="1371600" cy="758952"/>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ケース</a:t>
            </a:r>
          </a:p>
        </p:txBody>
      </p:sp>
      <p:sp>
        <p:nvSpPr>
          <p:cNvPr id="6" name="Rectangle 5"/>
          <p:cNvSpPr/>
          <p:nvPr/>
        </p:nvSpPr>
        <p:spPr>
          <a:xfrm>
            <a:off x="1737360" y="1188720"/>
            <a:ext cx="4572000" cy="758952"/>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分岐の経路</a:t>
            </a:r>
          </a:p>
        </p:txBody>
      </p:sp>
      <p:sp>
        <p:nvSpPr>
          <p:cNvPr id="7" name="Rectangle 6"/>
          <p:cNvSpPr/>
          <p:nvPr/>
        </p:nvSpPr>
        <p:spPr>
          <a:xfrm>
            <a:off x="6309360" y="1188720"/>
            <a:ext cx="2423160" cy="758952"/>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予測</a:t>
            </a:r>
          </a:p>
        </p:txBody>
      </p:sp>
      <p:sp>
        <p:nvSpPr>
          <p:cNvPr id="8" name="Rectangle 7"/>
          <p:cNvSpPr/>
          <p:nvPr/>
        </p:nvSpPr>
        <p:spPr>
          <a:xfrm>
            <a:off x="365760" y="1947672"/>
            <a:ext cx="137160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A</a:t>
            </a:r>
          </a:p>
        </p:txBody>
      </p:sp>
      <p:sp>
        <p:nvSpPr>
          <p:cNvPr id="9" name="Rectangle 8"/>
          <p:cNvSpPr/>
          <p:nvPr/>
        </p:nvSpPr>
        <p:spPr>
          <a:xfrm>
            <a:off x="1737360" y="1947672"/>
            <a:ext cx="457200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平日 → 気温25℃未満</a:t>
            </a:r>
          </a:p>
        </p:txBody>
      </p:sp>
      <p:sp>
        <p:nvSpPr>
          <p:cNvPr id="10" name="Rectangle 9"/>
          <p:cNvSpPr/>
          <p:nvPr/>
        </p:nvSpPr>
        <p:spPr>
          <a:xfrm>
            <a:off x="6309360" y="1947672"/>
            <a:ext cx="242316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少ない</a:t>
            </a:r>
          </a:p>
        </p:txBody>
      </p:sp>
      <p:sp>
        <p:nvSpPr>
          <p:cNvPr id="11" name="Rectangle 10"/>
          <p:cNvSpPr/>
          <p:nvPr/>
        </p:nvSpPr>
        <p:spPr>
          <a:xfrm>
            <a:off x="365760" y="2706624"/>
            <a:ext cx="137160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B</a:t>
            </a:r>
          </a:p>
        </p:txBody>
      </p:sp>
      <p:sp>
        <p:nvSpPr>
          <p:cNvPr id="12" name="Rectangle 11"/>
          <p:cNvSpPr/>
          <p:nvPr/>
        </p:nvSpPr>
        <p:spPr>
          <a:xfrm>
            <a:off x="1737360" y="2706624"/>
            <a:ext cx="457200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平日 → 気温25℃以上</a:t>
            </a:r>
          </a:p>
        </p:txBody>
      </p:sp>
      <p:sp>
        <p:nvSpPr>
          <p:cNvPr id="13" name="Rectangle 12"/>
          <p:cNvSpPr/>
          <p:nvPr/>
        </p:nvSpPr>
        <p:spPr>
          <a:xfrm>
            <a:off x="6309360" y="2706624"/>
            <a:ext cx="242316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多い</a:t>
            </a:r>
          </a:p>
        </p:txBody>
      </p:sp>
      <p:sp>
        <p:nvSpPr>
          <p:cNvPr id="14" name="Rectangle 13"/>
          <p:cNvSpPr/>
          <p:nvPr/>
        </p:nvSpPr>
        <p:spPr>
          <a:xfrm>
            <a:off x="365760" y="3465576"/>
            <a:ext cx="137160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C</a:t>
            </a:r>
          </a:p>
        </p:txBody>
      </p:sp>
      <p:sp>
        <p:nvSpPr>
          <p:cNvPr id="15" name="Rectangle 14"/>
          <p:cNvSpPr/>
          <p:nvPr/>
        </p:nvSpPr>
        <p:spPr>
          <a:xfrm>
            <a:off x="1737360" y="3465576"/>
            <a:ext cx="457200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休日 → そのまま葉へ</a:t>
            </a:r>
          </a:p>
        </p:txBody>
      </p:sp>
      <p:sp>
        <p:nvSpPr>
          <p:cNvPr id="16" name="Rectangle 15"/>
          <p:cNvSpPr/>
          <p:nvPr/>
        </p:nvSpPr>
        <p:spPr>
          <a:xfrm>
            <a:off x="6309360" y="3465576"/>
            <a:ext cx="242316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多い</a:t>
            </a:r>
          </a:p>
        </p:txBody>
      </p:sp>
      <p:sp>
        <p:nvSpPr>
          <p:cNvPr id="17" name="TextBox 16"/>
          <p:cNvSpPr txBox="1"/>
          <p:nvPr/>
        </p:nvSpPr>
        <p:spPr>
          <a:xfrm>
            <a:off x="502920" y="4416552"/>
            <a:ext cx="8229600" cy="384048"/>
          </a:xfrm>
          <a:prstGeom prst="rect">
            <a:avLst/>
          </a:prstGeom>
          <a:noFill/>
        </p:spPr>
        <p:txBody>
          <a:bodyPr wrap="square" anchor="t" lIns="0" rIns="0" tIns="0" bIns="0">
            <a:noAutofit/>
          </a:bodyPr>
          <a:lstStyle/>
          <a:p>
            <a:pPr algn="l">
              <a:lnSpc>
                <a:spcPct val="113000"/>
              </a:lnSpc>
              <a:spcAft>
                <a:spcPts val="0"/>
              </a:spcAft>
            </a:pPr>
            <a:r>
              <a:rPr sz="2000" b="0" lang="ja-JP">
                <a:solidFill>
                  <a:srgbClr val="FF0000"/>
                </a:solidFill>
                <a:latin typeface="Arial"/>
                <a:ea typeface="ＭＳ Ｐゴシック"/>
                <a:cs typeface="ＭＳ Ｐゴシック"/>
              </a:rPr>
              <a:t>Cは，この木では気温の分岐を通らない．</a:t>
            </a:r>
            <a:endParaRPr lang="ja-JP"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アンサンブル：複数のモデルを組み合わせる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モデルの組合せ　10</a:t>
            </a:r>
            <a:endParaRPr lang="ja-JP" sz="1050"/>
          </a:p>
        </p:txBody>
      </p:sp>
      <p:sp>
        <p:nvSpPr>
          <p:cNvPr id="5" name="Rectangle 4"/>
          <p:cNvSpPr/>
          <p:nvPr/>
        </p:nvSpPr>
        <p:spPr>
          <a:xfrm>
            <a:off x="640080" y="1335024"/>
            <a:ext cx="2304288" cy="54864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木1：多い</a:t>
            </a:r>
          </a:p>
        </p:txBody>
      </p:sp>
      <p:sp>
        <p:nvSpPr>
          <p:cNvPr id="6" name="Rectangle 5"/>
          <p:cNvSpPr/>
          <p:nvPr/>
        </p:nvSpPr>
        <p:spPr>
          <a:xfrm>
            <a:off x="3429000" y="1335024"/>
            <a:ext cx="2304288" cy="54864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木2：少ない</a:t>
            </a:r>
          </a:p>
        </p:txBody>
      </p:sp>
      <p:sp>
        <p:nvSpPr>
          <p:cNvPr id="7" name="Rectangle 6"/>
          <p:cNvSpPr/>
          <p:nvPr/>
        </p:nvSpPr>
        <p:spPr>
          <a:xfrm>
            <a:off x="6217920" y="1335024"/>
            <a:ext cx="2304288" cy="54864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木3：少ない</a:t>
            </a:r>
          </a:p>
        </p:txBody>
      </p:sp>
      <p:sp>
        <p:nvSpPr>
          <p:cNvPr id="8" name="TextBox 7"/>
          <p:cNvSpPr txBox="1"/>
          <p:nvPr/>
        </p:nvSpPr>
        <p:spPr>
          <a:xfrm>
            <a:off x="548640" y="2075688"/>
            <a:ext cx="8046720" cy="393192"/>
          </a:xfrm>
          <a:prstGeom prst="rect">
            <a:avLst/>
          </a:prstGeom>
          <a:noFill/>
        </p:spPr>
        <p:txBody>
          <a:bodyPr wrap="square" anchor="t" lIns="0" rIns="0" tIns="0" bIns="0">
            <a:noAutofit/>
          </a:bodyPr>
          <a:lstStyle/>
          <a:p>
            <a:pPr algn="ctr">
              <a:lnSpc>
                <a:spcPct val="113000"/>
              </a:lnSpc>
              <a:spcAft>
                <a:spcPts val="0"/>
              </a:spcAft>
            </a:pPr>
            <a:r>
              <a:rPr sz="2300" b="0" lang="ja-JP">
                <a:solidFill>
                  <a:srgbClr val="FF0000"/>
                </a:solidFill>
                <a:latin typeface="Arial"/>
                <a:ea typeface="ＭＳ Ｐゴシック"/>
                <a:cs typeface="ＭＳ Ｐゴシック"/>
              </a:rPr>
              <a:t>多数決の模式例 → 少ない</a:t>
            </a:r>
            <a:endParaRPr lang="ja-JP" sz="2300"/>
          </a:p>
        </p:txBody>
      </p:sp>
      <p:sp>
        <p:nvSpPr>
          <p:cNvPr id="9" name="Rectangle 8"/>
          <p:cNvSpPr/>
          <p:nvPr/>
        </p:nvSpPr>
        <p:spPr>
          <a:xfrm>
            <a:off x="365760" y="2734056"/>
            <a:ext cx="3090672" cy="51206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代表例</a:t>
            </a:r>
          </a:p>
        </p:txBody>
      </p:sp>
      <p:sp>
        <p:nvSpPr>
          <p:cNvPr id="10" name="Rectangle 9"/>
          <p:cNvSpPr/>
          <p:nvPr/>
        </p:nvSpPr>
        <p:spPr>
          <a:xfrm>
            <a:off x="3456432" y="2734056"/>
            <a:ext cx="5276088" cy="51206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大まかな考え方</a:t>
            </a:r>
          </a:p>
        </p:txBody>
      </p:sp>
      <p:sp>
        <p:nvSpPr>
          <p:cNvPr id="11" name="Rectangle 10"/>
          <p:cNvSpPr/>
          <p:nvPr/>
        </p:nvSpPr>
        <p:spPr>
          <a:xfrm>
            <a:off x="365760" y="3246120"/>
            <a:ext cx="3090672"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ランダムフォレスト</a:t>
            </a:r>
          </a:p>
        </p:txBody>
      </p:sp>
      <p:sp>
        <p:nvSpPr>
          <p:cNvPr id="12" name="Rectangle 11"/>
          <p:cNvSpPr/>
          <p:nvPr/>
        </p:nvSpPr>
        <p:spPr>
          <a:xfrm>
            <a:off x="3456432" y="3246120"/>
            <a:ext cx="5276088"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多様な決定木を組み合わせる</a:t>
            </a:r>
          </a:p>
        </p:txBody>
      </p:sp>
      <p:sp>
        <p:nvSpPr>
          <p:cNvPr id="13" name="Rectangle 12"/>
          <p:cNvSpPr/>
          <p:nvPr/>
        </p:nvSpPr>
        <p:spPr>
          <a:xfrm>
            <a:off x="365760" y="3758184"/>
            <a:ext cx="3090672"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ブースティング</a:t>
            </a:r>
          </a:p>
        </p:txBody>
      </p:sp>
      <p:sp>
        <p:nvSpPr>
          <p:cNvPr id="14" name="Rectangle 13"/>
          <p:cNvSpPr/>
          <p:nvPr/>
        </p:nvSpPr>
        <p:spPr>
          <a:xfrm>
            <a:off x="3456432" y="3758184"/>
            <a:ext cx="5276088"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前の誤りを補うよう，モデルを順に加える</a:t>
            </a:r>
          </a:p>
        </p:txBody>
      </p:sp>
      <p:sp>
        <p:nvSpPr>
          <p:cNvPr id="15" name="TextBox 14"/>
          <p:cNvSpPr txBox="1"/>
          <p:nvPr/>
        </p:nvSpPr>
        <p:spPr>
          <a:xfrm>
            <a:off x="548640" y="4526280"/>
            <a:ext cx="8046720" cy="219456"/>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分類では多数決・確率の平均など，回帰では平均などでまとめる．</a:t>
            </a:r>
            <a:endParaRPr lang="ja-JP" sz="14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クラスタリング：似た例をまとめる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教師なしモデル　11</a:t>
            </a:r>
            <a:endParaRPr lang="ja-JP" sz="1050"/>
          </a:p>
        </p:txBody>
      </p:sp>
      <p:pic>
        <p:nvPicPr>
          <p:cNvPr id="5" name="Picture 4" descr="clusters.png"/>
          <p:cNvPicPr>
            <a:picLocks noChangeAspect="1"/>
          </p:cNvPicPr>
          <p:nvPr/>
        </p:nvPicPr>
        <p:blipFill>
          <a:blip r:embed="rId3"/>
          <a:stretch>
            <a:fillRect/>
          </a:stretch>
        </p:blipFill>
        <p:spPr>
          <a:xfrm>
            <a:off x="475488" y="1280160"/>
            <a:ext cx="4937760" cy="2962656"/>
          </a:xfrm>
          <a:prstGeom prst="rect">
            <a:avLst/>
          </a:prstGeom>
        </p:spPr>
      </p:pic>
      <p:sp>
        <p:nvSpPr>
          <p:cNvPr id="6" name="TextBox 5"/>
          <p:cNvSpPr txBox="1"/>
          <p:nvPr/>
        </p:nvSpPr>
        <p:spPr>
          <a:xfrm>
            <a:off x="5687568" y="1435608"/>
            <a:ext cx="2898648" cy="274320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例：k-means</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群の数kを決める．</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近い中心への割当てと</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中心の更新を繰り返す．</a:t>
            </a:r>
            <a:endParaRPr lang="ja-JP" sz="2000"/>
          </a:p>
        </p:txBody>
      </p:sp>
      <p:sp>
        <p:nvSpPr>
          <p:cNvPr id="7" name="TextBox 6"/>
          <p:cNvSpPr txBox="1"/>
          <p:nvPr/>
        </p:nvSpPr>
        <p:spPr>
          <a:xfrm>
            <a:off x="502920" y="4416552"/>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正解のグループを与えず，データの構造を探す．</a:t>
            </a:r>
            <a:endParaRPr lang="ja-JP" sz="18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次元削減：特徴量を少ない成分で表す</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教師なしモデル　12</a:t>
            </a:r>
            <a:endParaRPr lang="ja-JP" sz="1050"/>
          </a:p>
        </p:txBody>
      </p:sp>
      <p:pic>
        <p:nvPicPr>
          <p:cNvPr id="5" name="Picture 4" descr="pca.png"/>
          <p:cNvPicPr>
            <a:picLocks noChangeAspect="1"/>
          </p:cNvPicPr>
          <p:nvPr/>
        </p:nvPicPr>
        <p:blipFill>
          <a:blip r:embed="rId3"/>
          <a:stretch>
            <a:fillRect/>
          </a:stretch>
        </p:blipFill>
        <p:spPr>
          <a:xfrm>
            <a:off x="475488" y="1280160"/>
            <a:ext cx="4937760" cy="2962656"/>
          </a:xfrm>
          <a:prstGeom prst="rect">
            <a:avLst/>
          </a:prstGeom>
        </p:spPr>
      </p:pic>
      <p:sp>
        <p:nvSpPr>
          <p:cNvPr id="6" name="TextBox 5"/>
          <p:cNvSpPr txBox="1"/>
          <p:nvPr/>
        </p:nvSpPr>
        <p:spPr>
          <a:xfrm>
            <a:off x="5687568" y="1444752"/>
            <a:ext cx="2907792" cy="274320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主成分分析（PCA）</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分散が大きい方向を</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新しい軸にする．</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この例：2次元 → 1次元</a:t>
            </a:r>
            <a:endParaRPr lang="ja-JP" sz="2000"/>
          </a:p>
        </p:txBody>
      </p:sp>
      <p:sp>
        <p:nvSpPr>
          <p:cNvPr id="7" name="TextBox 6"/>
          <p:cNvSpPr txBox="1"/>
          <p:nvPr/>
        </p:nvSpPr>
        <p:spPr>
          <a:xfrm>
            <a:off x="502920" y="4425696"/>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情報の一部は失われる．特徴量の尺度にも注意する．</a:t>
            </a:r>
            <a:endParaRPr lang="ja-JP" sz="18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モデル選択：出力とデータに合う候補を比べる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モデル選択　13</a:t>
            </a:r>
            <a:endParaRPr lang="ja-JP" sz="1050"/>
          </a:p>
        </p:txBody>
      </p:sp>
      <p:sp>
        <p:nvSpPr>
          <p:cNvPr id="5" name="Rectangle 4"/>
          <p:cNvSpPr/>
          <p:nvPr/>
        </p:nvSpPr>
        <p:spPr>
          <a:xfrm>
            <a:off x="365760" y="1188720"/>
            <a:ext cx="2514600" cy="42062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候補</a:t>
            </a:r>
          </a:p>
        </p:txBody>
      </p:sp>
      <p:sp>
        <p:nvSpPr>
          <p:cNvPr id="6" name="Rectangle 5"/>
          <p:cNvSpPr/>
          <p:nvPr/>
        </p:nvSpPr>
        <p:spPr>
          <a:xfrm>
            <a:off x="2880360" y="1188720"/>
            <a:ext cx="2377440" cy="42062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主な用途</a:t>
            </a:r>
          </a:p>
        </p:txBody>
      </p:sp>
      <p:sp>
        <p:nvSpPr>
          <p:cNvPr id="7" name="Rectangle 6"/>
          <p:cNvSpPr/>
          <p:nvPr/>
        </p:nvSpPr>
        <p:spPr>
          <a:xfrm>
            <a:off x="5257800" y="1188720"/>
            <a:ext cx="3474720" cy="42062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比べる観点の例</a:t>
            </a:r>
          </a:p>
        </p:txBody>
      </p:sp>
      <p:sp>
        <p:nvSpPr>
          <p:cNvPr id="8" name="Rectangle 7"/>
          <p:cNvSpPr/>
          <p:nvPr/>
        </p:nvSpPr>
        <p:spPr>
          <a:xfrm>
            <a:off x="365760" y="1609344"/>
            <a:ext cx="251460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線形回帰</a:t>
            </a:r>
          </a:p>
        </p:txBody>
      </p:sp>
      <p:sp>
        <p:nvSpPr>
          <p:cNvPr id="9" name="Rectangle 8"/>
          <p:cNvSpPr/>
          <p:nvPr/>
        </p:nvSpPr>
        <p:spPr>
          <a:xfrm>
            <a:off x="2880360" y="1609344"/>
            <a:ext cx="237744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数量の予測</a:t>
            </a:r>
          </a:p>
        </p:txBody>
      </p:sp>
      <p:sp>
        <p:nvSpPr>
          <p:cNvPr id="10" name="Rectangle 9"/>
          <p:cNvSpPr/>
          <p:nvPr/>
        </p:nvSpPr>
        <p:spPr>
          <a:xfrm>
            <a:off x="5257800" y="1609344"/>
            <a:ext cx="347472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誤差・関係の読み取り</a:t>
            </a:r>
          </a:p>
        </p:txBody>
      </p:sp>
      <p:sp>
        <p:nvSpPr>
          <p:cNvPr id="11" name="Rectangle 10"/>
          <p:cNvSpPr/>
          <p:nvPr/>
        </p:nvSpPr>
        <p:spPr>
          <a:xfrm>
            <a:off x="365760" y="2029968"/>
            <a:ext cx="251460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ロジスティック回帰</a:t>
            </a:r>
          </a:p>
        </p:txBody>
      </p:sp>
      <p:sp>
        <p:nvSpPr>
          <p:cNvPr id="12" name="Rectangle 11"/>
          <p:cNvSpPr/>
          <p:nvPr/>
        </p:nvSpPr>
        <p:spPr>
          <a:xfrm>
            <a:off x="2880360" y="2029968"/>
            <a:ext cx="237744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分類</a:t>
            </a:r>
          </a:p>
        </p:txBody>
      </p:sp>
      <p:sp>
        <p:nvSpPr>
          <p:cNvPr id="13" name="Rectangle 12"/>
          <p:cNvSpPr/>
          <p:nvPr/>
        </p:nvSpPr>
        <p:spPr>
          <a:xfrm>
            <a:off x="5257800" y="2029968"/>
            <a:ext cx="347472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分類指標・閾値</a:t>
            </a:r>
          </a:p>
        </p:txBody>
      </p:sp>
      <p:sp>
        <p:nvSpPr>
          <p:cNvPr id="14" name="Rectangle 13"/>
          <p:cNvSpPr/>
          <p:nvPr/>
        </p:nvSpPr>
        <p:spPr>
          <a:xfrm>
            <a:off x="365760" y="2450592"/>
            <a:ext cx="251460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決定木</a:t>
            </a:r>
          </a:p>
        </p:txBody>
      </p:sp>
      <p:sp>
        <p:nvSpPr>
          <p:cNvPr id="15" name="Rectangle 14"/>
          <p:cNvSpPr/>
          <p:nvPr/>
        </p:nvSpPr>
        <p:spPr>
          <a:xfrm>
            <a:off x="2880360" y="2450592"/>
            <a:ext cx="237744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分類・回帰</a:t>
            </a:r>
          </a:p>
        </p:txBody>
      </p:sp>
      <p:sp>
        <p:nvSpPr>
          <p:cNvPr id="16" name="Rectangle 15"/>
          <p:cNvSpPr/>
          <p:nvPr/>
        </p:nvSpPr>
        <p:spPr>
          <a:xfrm>
            <a:off x="5257800" y="2450592"/>
            <a:ext cx="347472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誤差・深さ・解釈</a:t>
            </a:r>
          </a:p>
        </p:txBody>
      </p:sp>
      <p:sp>
        <p:nvSpPr>
          <p:cNvPr id="17" name="Rectangle 16"/>
          <p:cNvSpPr/>
          <p:nvPr/>
        </p:nvSpPr>
        <p:spPr>
          <a:xfrm>
            <a:off x="365760" y="2871216"/>
            <a:ext cx="251460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木のアンサンブル</a:t>
            </a:r>
          </a:p>
        </p:txBody>
      </p:sp>
      <p:sp>
        <p:nvSpPr>
          <p:cNvPr id="18" name="Rectangle 17"/>
          <p:cNvSpPr/>
          <p:nvPr/>
        </p:nvSpPr>
        <p:spPr>
          <a:xfrm>
            <a:off x="2880360" y="2871216"/>
            <a:ext cx="237744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分類・回帰</a:t>
            </a:r>
          </a:p>
        </p:txBody>
      </p:sp>
      <p:sp>
        <p:nvSpPr>
          <p:cNvPr id="19" name="Rectangle 18"/>
          <p:cNvSpPr/>
          <p:nvPr/>
        </p:nvSpPr>
        <p:spPr>
          <a:xfrm>
            <a:off x="5257800" y="2871216"/>
            <a:ext cx="347472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精度・処理量</a:t>
            </a:r>
          </a:p>
        </p:txBody>
      </p:sp>
      <p:sp>
        <p:nvSpPr>
          <p:cNvPr id="20" name="Rectangle 19"/>
          <p:cNvSpPr/>
          <p:nvPr/>
        </p:nvSpPr>
        <p:spPr>
          <a:xfrm>
            <a:off x="365760" y="3291840"/>
            <a:ext cx="251460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クラスタリング</a:t>
            </a:r>
          </a:p>
        </p:txBody>
      </p:sp>
      <p:sp>
        <p:nvSpPr>
          <p:cNvPr id="21" name="Rectangle 20"/>
          <p:cNvSpPr/>
          <p:nvPr/>
        </p:nvSpPr>
        <p:spPr>
          <a:xfrm>
            <a:off x="2880360" y="3291840"/>
            <a:ext cx="237744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グループの発見</a:t>
            </a:r>
          </a:p>
        </p:txBody>
      </p:sp>
      <p:sp>
        <p:nvSpPr>
          <p:cNvPr id="22" name="Rectangle 21"/>
          <p:cNvSpPr/>
          <p:nvPr/>
        </p:nvSpPr>
        <p:spPr>
          <a:xfrm>
            <a:off x="5257800" y="3291840"/>
            <a:ext cx="347472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群のまとまり・利用目的</a:t>
            </a:r>
          </a:p>
        </p:txBody>
      </p:sp>
      <p:sp>
        <p:nvSpPr>
          <p:cNvPr id="23" name="Rectangle 22"/>
          <p:cNvSpPr/>
          <p:nvPr/>
        </p:nvSpPr>
        <p:spPr>
          <a:xfrm>
            <a:off x="365760" y="3712464"/>
            <a:ext cx="251460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PCA</a:t>
            </a:r>
          </a:p>
        </p:txBody>
      </p:sp>
      <p:sp>
        <p:nvSpPr>
          <p:cNvPr id="24" name="Rectangle 23"/>
          <p:cNvSpPr/>
          <p:nvPr/>
        </p:nvSpPr>
        <p:spPr>
          <a:xfrm>
            <a:off x="2880360" y="3712464"/>
            <a:ext cx="237744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少ない成分の表現</a:t>
            </a:r>
          </a:p>
        </p:txBody>
      </p:sp>
      <p:sp>
        <p:nvSpPr>
          <p:cNvPr id="25" name="Rectangle 24"/>
          <p:cNvSpPr/>
          <p:nvPr/>
        </p:nvSpPr>
        <p:spPr>
          <a:xfrm>
            <a:off x="5257800" y="3712464"/>
            <a:ext cx="3474720" cy="4206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残る情報・利用目的</a:t>
            </a:r>
          </a:p>
        </p:txBody>
      </p:sp>
      <p:sp>
        <p:nvSpPr>
          <p:cNvPr id="26" name="TextBox 25"/>
          <p:cNvSpPr txBox="1"/>
          <p:nvPr/>
        </p:nvSpPr>
        <p:spPr>
          <a:xfrm>
            <a:off x="502920" y="4489704"/>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名前だけで選ばず，同じ条件で候補を比較する．</a:t>
            </a:r>
            <a:endParaRPr lang="ja-JP" sz="18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評価の準備：未知のデータで，同じ条件で比べる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評価の準備　14</a:t>
            </a:r>
            <a:endParaRPr lang="ja-JP" sz="1050"/>
          </a:p>
        </p:txBody>
      </p:sp>
      <p:sp>
        <p:nvSpPr>
          <p:cNvPr id="5" name="Rectangle 4"/>
          <p:cNvSpPr/>
          <p:nvPr/>
        </p:nvSpPr>
        <p:spPr>
          <a:xfrm>
            <a:off x="548640" y="1417320"/>
            <a:ext cx="2468880" cy="93268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訓練データ</a:t>
            </a:r>
          </a:p>
          <a:p>
            <a:pPr algn="ctr">
              <a:lnSpc>
                <a:spcPct val="108000"/>
              </a:lnSpc>
              <a:spcAft>
                <a:spcPts val="0"/>
              </a:spcAft>
            </a:pPr>
            <a:r>
              <a:rPr sz="2100" b="0" lang="ja-JP">
                <a:solidFill>
                  <a:srgbClr val="404040"/>
                </a:solidFill>
                <a:latin typeface="Arial"/>
                <a:ea typeface="ＭＳ Ｐゴシック"/>
                <a:cs typeface="ＭＳ Ｐゴシック"/>
              </a:rPr>
              <a:t>モデルを学ぶ</a:t>
            </a:r>
          </a:p>
        </p:txBody>
      </p:sp>
      <p:sp>
        <p:nvSpPr>
          <p:cNvPr id="6" name="Rectangle 5"/>
          <p:cNvSpPr/>
          <p:nvPr/>
        </p:nvSpPr>
        <p:spPr>
          <a:xfrm>
            <a:off x="3337560" y="1417320"/>
            <a:ext cx="2468880" cy="93268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検証データ</a:t>
            </a:r>
          </a:p>
          <a:p>
            <a:pPr algn="ctr">
              <a:lnSpc>
                <a:spcPct val="108000"/>
              </a:lnSpc>
              <a:spcAft>
                <a:spcPts val="0"/>
              </a:spcAft>
            </a:pPr>
            <a:r>
              <a:rPr sz="2100" b="0" lang="ja-JP">
                <a:solidFill>
                  <a:srgbClr val="404040"/>
                </a:solidFill>
                <a:latin typeface="Arial"/>
                <a:ea typeface="ＭＳ Ｐゴシック"/>
                <a:cs typeface="ＭＳ Ｐゴシック"/>
              </a:rPr>
              <a:t>候補・設定を選ぶ</a:t>
            </a:r>
          </a:p>
        </p:txBody>
      </p:sp>
      <p:sp>
        <p:nvSpPr>
          <p:cNvPr id="7" name="Rectangle 6"/>
          <p:cNvSpPr/>
          <p:nvPr/>
        </p:nvSpPr>
        <p:spPr>
          <a:xfrm>
            <a:off x="6126480" y="1417320"/>
            <a:ext cx="2468880" cy="93268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テストデータ</a:t>
            </a:r>
          </a:p>
          <a:p>
            <a:pPr algn="ctr">
              <a:lnSpc>
                <a:spcPct val="108000"/>
              </a:lnSpc>
              <a:spcAft>
                <a:spcPts val="0"/>
              </a:spcAft>
            </a:pPr>
            <a:r>
              <a:rPr sz="2100" b="0" lang="ja-JP">
                <a:solidFill>
                  <a:srgbClr val="404040"/>
                </a:solidFill>
                <a:latin typeface="Arial"/>
                <a:ea typeface="ＭＳ Ｐゴシック"/>
                <a:cs typeface="ＭＳ Ｐゴシック"/>
              </a:rPr>
              <a:t>最後に確かめる</a:t>
            </a:r>
          </a:p>
        </p:txBody>
      </p:sp>
      <p:sp>
        <p:nvSpPr>
          <p:cNvPr id="8" name="TextBox 7"/>
          <p:cNvSpPr txBox="1"/>
          <p:nvPr/>
        </p:nvSpPr>
        <p:spPr>
          <a:xfrm>
            <a:off x="502920" y="283006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9" name="TextBox 8"/>
          <p:cNvSpPr txBox="1"/>
          <p:nvPr/>
        </p:nvSpPr>
        <p:spPr>
          <a:xfrm>
            <a:off x="850392" y="2798064"/>
            <a:ext cx="7882127" cy="594359"/>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候補の比較</a:t>
            </a:r>
            <a:r>
              <a:rPr sz="2000" b="0" lang="ja-JP">
                <a:solidFill>
                  <a:srgbClr val="404040"/>
                </a:solidFill>
                <a:latin typeface="Arial"/>
                <a:ea typeface="ＭＳ Ｐゴシック"/>
                <a:cs typeface="ＭＳ Ｐゴシック"/>
              </a:rPr>
              <a:t>には，同じ分割・同じ指標を使う．</a:t>
            </a:r>
            <a:endParaRPr lang="ja-JP" sz="2000"/>
          </a:p>
        </p:txBody>
      </p:sp>
      <p:sp>
        <p:nvSpPr>
          <p:cNvPr id="10" name="TextBox 9"/>
          <p:cNvSpPr txBox="1"/>
          <p:nvPr/>
        </p:nvSpPr>
        <p:spPr>
          <a:xfrm>
            <a:off x="502920" y="348843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1" name="TextBox 10"/>
          <p:cNvSpPr txBox="1"/>
          <p:nvPr/>
        </p:nvSpPr>
        <p:spPr>
          <a:xfrm>
            <a:off x="850392" y="3456432"/>
            <a:ext cx="7882127" cy="594359"/>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テスト結果</a:t>
            </a:r>
            <a:r>
              <a:rPr sz="2000" b="0" lang="ja-JP">
                <a:solidFill>
                  <a:srgbClr val="404040"/>
                </a:solidFill>
                <a:latin typeface="Arial"/>
                <a:ea typeface="ＭＳ Ｐゴシック"/>
                <a:cs typeface="ＭＳ Ｐゴシック"/>
              </a:rPr>
              <a:t>を見て，何度も設定を選び直さない．</a:t>
            </a:r>
            <a:endParaRPr lang="ja-JP" sz="2000"/>
          </a:p>
        </p:txBody>
      </p:sp>
      <p:sp>
        <p:nvSpPr>
          <p:cNvPr id="12" name="TextBox 11"/>
          <p:cNvSpPr txBox="1"/>
          <p:nvPr/>
        </p:nvSpPr>
        <p:spPr>
          <a:xfrm>
            <a:off x="548640" y="4434840"/>
            <a:ext cx="8046720" cy="265176"/>
          </a:xfrm>
          <a:prstGeom prst="rect">
            <a:avLst/>
          </a:prstGeom>
          <a:noFill/>
        </p:spPr>
        <p:txBody>
          <a:bodyPr wrap="square" anchor="t" lIns="0" rIns="0" tIns="0" bIns="0">
            <a:noAutofit/>
          </a:bodyPr>
          <a:lstStyle/>
          <a:p>
            <a:pPr algn="l">
              <a:lnSpc>
                <a:spcPct val="113000"/>
              </a:lnSpc>
              <a:spcAft>
                <a:spcPts val="0"/>
              </a:spcAft>
            </a:pPr>
            <a:r>
              <a:rPr sz="1600" b="0" lang="ja-JP">
                <a:solidFill>
                  <a:srgbClr val="707070"/>
                </a:solidFill>
                <a:latin typeface="Arial"/>
                <a:ea typeface="ＭＳ Ｐゴシック"/>
                <a:cs typeface="ＭＳ Ｐゴシック"/>
              </a:rPr>
              <a:t>交差検証：訓練・検証の担当を交代させ，複数回評価する方法．</a:t>
            </a:r>
            <a:endParaRPr lang="ja-JP" sz="16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回帰の評価：予測と実際の差を測る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回帰の評価　15</a:t>
            </a:r>
            <a:endParaRPr lang="ja-JP" sz="1050"/>
          </a:p>
        </p:txBody>
      </p:sp>
      <p:sp>
        <p:nvSpPr>
          <p:cNvPr id="5" name="Rectangle 4"/>
          <p:cNvSpPr/>
          <p:nvPr/>
        </p:nvSpPr>
        <p:spPr>
          <a:xfrm>
            <a:off x="365760" y="1252728"/>
            <a:ext cx="1965960" cy="46634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実際の販売数</a:t>
            </a:r>
          </a:p>
        </p:txBody>
      </p:sp>
      <p:sp>
        <p:nvSpPr>
          <p:cNvPr id="6" name="Rectangle 5"/>
          <p:cNvSpPr/>
          <p:nvPr/>
        </p:nvSpPr>
        <p:spPr>
          <a:xfrm>
            <a:off x="2331720" y="1252728"/>
            <a:ext cx="1965960" cy="46634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予測の販売数</a:t>
            </a:r>
          </a:p>
        </p:txBody>
      </p:sp>
      <p:sp>
        <p:nvSpPr>
          <p:cNvPr id="7" name="Rectangle 6"/>
          <p:cNvSpPr/>
          <p:nvPr/>
        </p:nvSpPr>
        <p:spPr>
          <a:xfrm>
            <a:off x="4297679" y="1252728"/>
            <a:ext cx="2194560" cy="46634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差（予測−実際）</a:t>
            </a:r>
          </a:p>
        </p:txBody>
      </p:sp>
      <p:sp>
        <p:nvSpPr>
          <p:cNvPr id="8" name="Rectangle 7"/>
          <p:cNvSpPr/>
          <p:nvPr/>
        </p:nvSpPr>
        <p:spPr>
          <a:xfrm>
            <a:off x="6492240" y="1252728"/>
            <a:ext cx="2240280" cy="46634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差の二乗</a:t>
            </a:r>
          </a:p>
        </p:txBody>
      </p:sp>
      <p:sp>
        <p:nvSpPr>
          <p:cNvPr id="9" name="Rectangle 8"/>
          <p:cNvSpPr/>
          <p:nvPr/>
        </p:nvSpPr>
        <p:spPr>
          <a:xfrm>
            <a:off x="365760" y="1719072"/>
            <a:ext cx="196596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10</a:t>
            </a:r>
          </a:p>
        </p:txBody>
      </p:sp>
      <p:sp>
        <p:nvSpPr>
          <p:cNvPr id="10" name="Rectangle 9"/>
          <p:cNvSpPr/>
          <p:nvPr/>
        </p:nvSpPr>
        <p:spPr>
          <a:xfrm>
            <a:off x="2331720" y="1719072"/>
            <a:ext cx="196596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12</a:t>
            </a:r>
          </a:p>
        </p:txBody>
      </p:sp>
      <p:sp>
        <p:nvSpPr>
          <p:cNvPr id="11" name="Rectangle 10"/>
          <p:cNvSpPr/>
          <p:nvPr/>
        </p:nvSpPr>
        <p:spPr>
          <a:xfrm>
            <a:off x="4297679" y="1719072"/>
            <a:ext cx="219456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2</a:t>
            </a:r>
          </a:p>
        </p:txBody>
      </p:sp>
      <p:sp>
        <p:nvSpPr>
          <p:cNvPr id="12" name="Rectangle 11"/>
          <p:cNvSpPr/>
          <p:nvPr/>
        </p:nvSpPr>
        <p:spPr>
          <a:xfrm>
            <a:off x="6492240" y="1719072"/>
            <a:ext cx="224028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4</a:t>
            </a:r>
          </a:p>
        </p:txBody>
      </p:sp>
      <p:sp>
        <p:nvSpPr>
          <p:cNvPr id="13" name="Rectangle 12"/>
          <p:cNvSpPr/>
          <p:nvPr/>
        </p:nvSpPr>
        <p:spPr>
          <a:xfrm>
            <a:off x="365760" y="2185416"/>
            <a:ext cx="196596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20</a:t>
            </a:r>
          </a:p>
        </p:txBody>
      </p:sp>
      <p:sp>
        <p:nvSpPr>
          <p:cNvPr id="14" name="Rectangle 13"/>
          <p:cNvSpPr/>
          <p:nvPr/>
        </p:nvSpPr>
        <p:spPr>
          <a:xfrm>
            <a:off x="2331720" y="2185416"/>
            <a:ext cx="196596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18</a:t>
            </a:r>
          </a:p>
        </p:txBody>
      </p:sp>
      <p:sp>
        <p:nvSpPr>
          <p:cNvPr id="15" name="Rectangle 14"/>
          <p:cNvSpPr/>
          <p:nvPr/>
        </p:nvSpPr>
        <p:spPr>
          <a:xfrm>
            <a:off x="4297679" y="2185416"/>
            <a:ext cx="219456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−2</a:t>
            </a:r>
          </a:p>
        </p:txBody>
      </p:sp>
      <p:sp>
        <p:nvSpPr>
          <p:cNvPr id="16" name="Rectangle 15"/>
          <p:cNvSpPr/>
          <p:nvPr/>
        </p:nvSpPr>
        <p:spPr>
          <a:xfrm>
            <a:off x="6492240" y="2185416"/>
            <a:ext cx="224028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4</a:t>
            </a:r>
          </a:p>
        </p:txBody>
      </p:sp>
      <p:sp>
        <p:nvSpPr>
          <p:cNvPr id="17" name="Rectangle 16"/>
          <p:cNvSpPr/>
          <p:nvPr/>
        </p:nvSpPr>
        <p:spPr>
          <a:xfrm>
            <a:off x="365760" y="2651760"/>
            <a:ext cx="196596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30</a:t>
            </a:r>
          </a:p>
        </p:txBody>
      </p:sp>
      <p:sp>
        <p:nvSpPr>
          <p:cNvPr id="18" name="Rectangle 17"/>
          <p:cNvSpPr/>
          <p:nvPr/>
        </p:nvSpPr>
        <p:spPr>
          <a:xfrm>
            <a:off x="2331720" y="2651760"/>
            <a:ext cx="196596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36</a:t>
            </a:r>
          </a:p>
        </p:txBody>
      </p:sp>
      <p:sp>
        <p:nvSpPr>
          <p:cNvPr id="19" name="Rectangle 18"/>
          <p:cNvSpPr/>
          <p:nvPr/>
        </p:nvSpPr>
        <p:spPr>
          <a:xfrm>
            <a:off x="4297679" y="2651760"/>
            <a:ext cx="219456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6</a:t>
            </a:r>
          </a:p>
        </p:txBody>
      </p:sp>
      <p:sp>
        <p:nvSpPr>
          <p:cNvPr id="20" name="Rectangle 19"/>
          <p:cNvSpPr/>
          <p:nvPr/>
        </p:nvSpPr>
        <p:spPr>
          <a:xfrm>
            <a:off x="6492240" y="2651760"/>
            <a:ext cx="2240280"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36</a:t>
            </a:r>
          </a:p>
        </p:txBody>
      </p:sp>
      <p:sp>
        <p:nvSpPr>
          <p:cNvPr id="21" name="TextBox 20"/>
          <p:cNvSpPr txBox="1"/>
          <p:nvPr/>
        </p:nvSpPr>
        <p:spPr>
          <a:xfrm>
            <a:off x="548640" y="3328416"/>
            <a:ext cx="8046720" cy="393192"/>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MAE（平均絶対誤差）＝（2＋2＋6）÷3 ≈ 3.33個</a:t>
            </a:r>
            <a:endParaRPr lang="ja-JP" sz="2100"/>
          </a:p>
        </p:txBody>
      </p:sp>
      <p:sp>
        <p:nvSpPr>
          <p:cNvPr id="22" name="TextBox 21"/>
          <p:cNvSpPr txBox="1"/>
          <p:nvPr/>
        </p:nvSpPr>
        <p:spPr>
          <a:xfrm>
            <a:off x="548640" y="3840480"/>
            <a:ext cx="8046720" cy="393192"/>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RMSE（二乗平均平方根誤差）＝√（44÷3）≈ 3.83個</a:t>
            </a:r>
            <a:endParaRPr lang="ja-JP" sz="2100"/>
          </a:p>
        </p:txBody>
      </p:sp>
      <p:sp>
        <p:nvSpPr>
          <p:cNvPr id="23" name="TextBox 22"/>
          <p:cNvSpPr txBox="1"/>
          <p:nvPr/>
        </p:nvSpPr>
        <p:spPr>
          <a:xfrm>
            <a:off x="502920" y="4480560"/>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RMSEは，大きな誤差の影響を受けやすい．</a:t>
            </a:r>
            <a:endParaRPr lang="ja-JP" sz="18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分類の評価：混同行列で数える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分類の評価　16</a:t>
            </a:r>
            <a:endParaRPr lang="ja-JP" sz="1050"/>
          </a:p>
        </p:txBody>
      </p:sp>
      <p:sp>
        <p:nvSpPr>
          <p:cNvPr id="5" name="TextBox 4"/>
          <p:cNvSpPr txBox="1"/>
          <p:nvPr/>
        </p:nvSpPr>
        <p:spPr>
          <a:xfrm>
            <a:off x="548640" y="1243584"/>
            <a:ext cx="8046720" cy="402336"/>
          </a:xfrm>
          <a:prstGeom prst="rect">
            <a:avLst/>
          </a:prstGeom>
          <a:noFill/>
        </p:spPr>
        <p:txBody>
          <a:bodyPr wrap="square" anchor="t" lIns="0" rIns="0" tIns="0" bIns="0">
            <a:noAutofit/>
          </a:bodyPr>
          <a:lstStyle/>
          <a:p>
            <a:pPr algn="l">
              <a:lnSpc>
                <a:spcPct val="113000"/>
              </a:lnSpc>
              <a:spcAft>
                <a:spcPts val="0"/>
              </a:spcAft>
            </a:pPr>
            <a:r>
              <a:rPr sz="2200" b="0" lang="ja-JP">
                <a:solidFill>
                  <a:srgbClr val="404040"/>
                </a:solidFill>
                <a:latin typeface="Arial"/>
                <a:ea typeface="ＭＳ Ｐゴシック"/>
                <a:cs typeface="ＭＳ Ｐゴシック"/>
              </a:rPr>
              <a:t>200個の製品を検査．「不良」を陽性（＋）とする．</a:t>
            </a:r>
            <a:endParaRPr lang="ja-JP" sz="2200"/>
          </a:p>
        </p:txBody>
      </p:sp>
      <p:sp>
        <p:nvSpPr>
          <p:cNvPr id="6" name="Rectangle 5"/>
          <p:cNvSpPr/>
          <p:nvPr/>
        </p:nvSpPr>
        <p:spPr>
          <a:xfrm>
            <a:off x="365760" y="1828800"/>
            <a:ext cx="2560320" cy="68580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1" lang="ja-JP">
                <a:solidFill>
                  <a:srgbClr val="000000"/>
                </a:solidFill>
                <a:latin typeface="Arial"/>
                <a:ea typeface="ＭＳ Ｐゴシック"/>
                <a:cs typeface="ＭＳ Ｐゴシック"/>
              </a:rPr>
              <a:t>実際 ＼ 予測</a:t>
            </a:r>
          </a:p>
        </p:txBody>
      </p:sp>
      <p:sp>
        <p:nvSpPr>
          <p:cNvPr id="7" name="Rectangle 6"/>
          <p:cNvSpPr/>
          <p:nvPr/>
        </p:nvSpPr>
        <p:spPr>
          <a:xfrm>
            <a:off x="2926079" y="1828800"/>
            <a:ext cx="2903220" cy="68580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1" lang="ja-JP">
                <a:solidFill>
                  <a:srgbClr val="000000"/>
                </a:solidFill>
                <a:latin typeface="Arial"/>
                <a:ea typeface="ＭＳ Ｐゴシック"/>
                <a:cs typeface="ＭＳ Ｐゴシック"/>
              </a:rPr>
              <a:t>不良と予測（＋）</a:t>
            </a:r>
          </a:p>
        </p:txBody>
      </p:sp>
      <p:sp>
        <p:nvSpPr>
          <p:cNvPr id="8" name="Rectangle 7"/>
          <p:cNvSpPr/>
          <p:nvPr/>
        </p:nvSpPr>
        <p:spPr>
          <a:xfrm>
            <a:off x="5829300" y="1828800"/>
            <a:ext cx="2903220" cy="68580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1" lang="ja-JP">
                <a:solidFill>
                  <a:srgbClr val="000000"/>
                </a:solidFill>
                <a:latin typeface="Arial"/>
                <a:ea typeface="ＭＳ Ｐゴシック"/>
                <a:cs typeface="ＭＳ Ｐゴシック"/>
              </a:rPr>
              <a:t>良品と予測（−）</a:t>
            </a:r>
          </a:p>
        </p:txBody>
      </p:sp>
      <p:sp>
        <p:nvSpPr>
          <p:cNvPr id="9" name="Rectangle 8"/>
          <p:cNvSpPr/>
          <p:nvPr/>
        </p:nvSpPr>
        <p:spPr>
          <a:xfrm>
            <a:off x="365760" y="2514600"/>
            <a:ext cx="25603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000000"/>
                </a:solidFill>
                <a:latin typeface="Arial"/>
                <a:ea typeface="ＭＳ Ｐゴシック"/>
                <a:cs typeface="ＭＳ Ｐゴシック"/>
              </a:rPr>
              <a:t>実際：不良（＋）</a:t>
            </a:r>
          </a:p>
        </p:txBody>
      </p:sp>
      <p:sp>
        <p:nvSpPr>
          <p:cNvPr id="10" name="Rectangle 9"/>
          <p:cNvSpPr/>
          <p:nvPr/>
        </p:nvSpPr>
        <p:spPr>
          <a:xfrm>
            <a:off x="2926079" y="2514600"/>
            <a:ext cx="29032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30（TP）</a:t>
            </a:r>
          </a:p>
        </p:txBody>
      </p:sp>
      <p:sp>
        <p:nvSpPr>
          <p:cNvPr id="11" name="Rectangle 10"/>
          <p:cNvSpPr/>
          <p:nvPr/>
        </p:nvSpPr>
        <p:spPr>
          <a:xfrm>
            <a:off x="5829300" y="2514600"/>
            <a:ext cx="29032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10（FN）</a:t>
            </a:r>
          </a:p>
        </p:txBody>
      </p:sp>
      <p:sp>
        <p:nvSpPr>
          <p:cNvPr id="12" name="Rectangle 11"/>
          <p:cNvSpPr/>
          <p:nvPr/>
        </p:nvSpPr>
        <p:spPr>
          <a:xfrm>
            <a:off x="365760" y="3200400"/>
            <a:ext cx="25603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000000"/>
                </a:solidFill>
                <a:latin typeface="Arial"/>
                <a:ea typeface="ＭＳ Ｐゴシック"/>
                <a:cs typeface="ＭＳ Ｐゴシック"/>
              </a:rPr>
              <a:t>実際：良品（−）</a:t>
            </a:r>
          </a:p>
        </p:txBody>
      </p:sp>
      <p:sp>
        <p:nvSpPr>
          <p:cNvPr id="13" name="Rectangle 12"/>
          <p:cNvSpPr/>
          <p:nvPr/>
        </p:nvSpPr>
        <p:spPr>
          <a:xfrm>
            <a:off x="2926079" y="3200400"/>
            <a:ext cx="29032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20（FP）</a:t>
            </a:r>
          </a:p>
        </p:txBody>
      </p:sp>
      <p:sp>
        <p:nvSpPr>
          <p:cNvPr id="14" name="Rectangle 13"/>
          <p:cNvSpPr/>
          <p:nvPr/>
        </p:nvSpPr>
        <p:spPr>
          <a:xfrm>
            <a:off x="5829300" y="3200400"/>
            <a:ext cx="29032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140（TN）</a:t>
            </a:r>
          </a:p>
        </p:txBody>
      </p:sp>
      <p:sp>
        <p:nvSpPr>
          <p:cNvPr id="15" name="TextBox 14"/>
          <p:cNvSpPr txBox="1"/>
          <p:nvPr/>
        </p:nvSpPr>
        <p:spPr>
          <a:xfrm>
            <a:off x="502920" y="4379976"/>
            <a:ext cx="8229600" cy="384048"/>
          </a:xfrm>
          <a:prstGeom prst="rect">
            <a:avLst/>
          </a:prstGeom>
          <a:noFill/>
        </p:spPr>
        <p:txBody>
          <a:bodyPr wrap="square" anchor="t" lIns="0" rIns="0" tIns="0" bIns="0">
            <a:noAutofit/>
          </a:bodyPr>
          <a:lstStyle/>
          <a:p>
            <a:pPr algn="l">
              <a:lnSpc>
                <a:spcPct val="113000"/>
              </a:lnSpc>
              <a:spcAft>
                <a:spcPts val="0"/>
              </a:spcAft>
            </a:pPr>
            <a:r>
              <a:rPr sz="2000" b="0" lang="ja-JP">
                <a:solidFill>
                  <a:srgbClr val="FF0000"/>
                </a:solidFill>
                <a:latin typeface="Arial"/>
                <a:ea typeface="ＭＳ Ｐゴシック"/>
                <a:cs typeface="ＭＳ Ｐゴシック"/>
              </a:rPr>
              <a:t>FN：不良の見逃し ／ FP：良品を不良とする誤検知</a:t>
            </a:r>
            <a:endParaRPr lang="ja-JP" sz="20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正解率：全体のうち，正しく判定した割合</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分類の評価　17</a:t>
            </a:r>
            <a:endParaRPr lang="ja-JP" sz="1050"/>
          </a:p>
        </p:txBody>
      </p:sp>
      <p:sp>
        <p:nvSpPr>
          <p:cNvPr id="5" name="TextBox 4"/>
          <p:cNvSpPr txBox="1"/>
          <p:nvPr/>
        </p:nvSpPr>
        <p:spPr>
          <a:xfrm>
            <a:off x="548640" y="1453896"/>
            <a:ext cx="8046720" cy="557784"/>
          </a:xfrm>
          <a:prstGeom prst="rect">
            <a:avLst/>
          </a:prstGeom>
          <a:noFill/>
        </p:spPr>
        <p:txBody>
          <a:bodyPr wrap="square" anchor="t" lIns="0" rIns="0" tIns="0" bIns="0">
            <a:noAutofit/>
          </a:bodyPr>
          <a:lstStyle/>
          <a:p>
            <a:pPr algn="ctr">
              <a:lnSpc>
                <a:spcPct val="113000"/>
              </a:lnSpc>
              <a:spcAft>
                <a:spcPts val="0"/>
              </a:spcAft>
            </a:pPr>
            <a:r>
              <a:rPr sz="2900" b="0" lang="ja-JP">
                <a:solidFill>
                  <a:srgbClr val="404040"/>
                </a:solidFill>
                <a:latin typeface="Arial"/>
                <a:ea typeface="ＭＳ Ｐゴシック"/>
                <a:cs typeface="ＭＳ Ｐゴシック"/>
              </a:rPr>
              <a:t>正解率 ＝ 正しい判定の数 ÷ 全体の数</a:t>
            </a:r>
            <a:endParaRPr lang="ja-JP" sz="2900"/>
          </a:p>
        </p:txBody>
      </p:sp>
      <p:sp>
        <p:nvSpPr>
          <p:cNvPr id="6" name="TextBox 5"/>
          <p:cNvSpPr txBox="1"/>
          <p:nvPr/>
        </p:nvSpPr>
        <p:spPr>
          <a:xfrm>
            <a:off x="548640" y="2286000"/>
            <a:ext cx="8046720" cy="594360"/>
          </a:xfrm>
          <a:prstGeom prst="rect">
            <a:avLst/>
          </a:prstGeom>
          <a:noFill/>
        </p:spPr>
        <p:txBody>
          <a:bodyPr wrap="square" anchor="t" lIns="0" rIns="0" tIns="0" bIns="0">
            <a:noAutofit/>
          </a:bodyPr>
          <a:lstStyle/>
          <a:p>
            <a:pPr algn="ctr">
              <a:lnSpc>
                <a:spcPct val="113000"/>
              </a:lnSpc>
              <a:spcAft>
                <a:spcPts val="0"/>
              </a:spcAft>
            </a:pPr>
            <a:r>
              <a:rPr sz="2700" b="0" lang="ja-JP">
                <a:solidFill>
                  <a:srgbClr val="FF0000"/>
                </a:solidFill>
                <a:latin typeface="Arial"/>
                <a:ea typeface="ＭＳ Ｐゴシック"/>
                <a:cs typeface="ＭＳ Ｐゴシック"/>
              </a:rPr>
              <a:t>（TP＋TN）÷200 ＝（30＋140）÷200 ＝ 85%</a:t>
            </a:r>
            <a:endParaRPr lang="ja-JP" sz="2700"/>
          </a:p>
        </p:txBody>
      </p:sp>
      <p:sp>
        <p:nvSpPr>
          <p:cNvPr id="7" name="TextBox 6"/>
          <p:cNvSpPr txBox="1"/>
          <p:nvPr/>
        </p:nvSpPr>
        <p:spPr>
          <a:xfrm>
            <a:off x="502920" y="333298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3300984"/>
            <a:ext cx="7882127" cy="54864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全体の正解の多さを，一つの数で表す．</a:t>
            </a:r>
            <a:endParaRPr lang="ja-JP" sz="2000"/>
          </a:p>
        </p:txBody>
      </p:sp>
      <p:sp>
        <p:nvSpPr>
          <p:cNvPr id="9" name="TextBox 8"/>
          <p:cNvSpPr txBox="1"/>
          <p:nvPr/>
        </p:nvSpPr>
        <p:spPr>
          <a:xfrm>
            <a:off x="502920" y="394563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3913632"/>
            <a:ext cx="7882127" cy="54864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どの種類の誤りが多いかは，この数だけでは分からない．</a:t>
            </a:r>
            <a:endParaRPr lang="ja-JP" sz="20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正解率だけで十分？ クラスの偏りに注意する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分類の評価　18</a:t>
            </a:r>
            <a:endParaRPr lang="ja-JP" sz="1050"/>
          </a:p>
        </p:txBody>
      </p:sp>
      <p:sp>
        <p:nvSpPr>
          <p:cNvPr id="5" name="Rectangle 4"/>
          <p:cNvSpPr/>
          <p:nvPr/>
        </p:nvSpPr>
        <p:spPr>
          <a:xfrm>
            <a:off x="594360" y="1362456"/>
            <a:ext cx="384048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400" b="0" lang="ja-JP">
                <a:solidFill>
                  <a:srgbClr val="404040"/>
                </a:solidFill>
                <a:latin typeface="Arial"/>
                <a:ea typeface="ＭＳ Ｐゴシック"/>
                <a:cs typeface="ＭＳ Ｐゴシック"/>
              </a:rPr>
              <a:t>実際：良品 990個</a:t>
            </a:r>
          </a:p>
        </p:txBody>
      </p:sp>
      <p:sp>
        <p:nvSpPr>
          <p:cNvPr id="6" name="Rectangle 5"/>
          <p:cNvSpPr/>
          <p:nvPr/>
        </p:nvSpPr>
        <p:spPr>
          <a:xfrm>
            <a:off x="4709160" y="1362456"/>
            <a:ext cx="3840480" cy="685800"/>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400" b="0" lang="ja-JP">
                <a:solidFill>
                  <a:srgbClr val="FF0000"/>
                </a:solidFill>
                <a:latin typeface="Arial"/>
                <a:ea typeface="ＭＳ Ｐゴシック"/>
                <a:cs typeface="ＭＳ Ｐゴシック"/>
              </a:rPr>
              <a:t>実際：不良 10個</a:t>
            </a:r>
          </a:p>
        </p:txBody>
      </p:sp>
      <p:sp>
        <p:nvSpPr>
          <p:cNvPr id="7" name="TextBox 6"/>
          <p:cNvSpPr txBox="1"/>
          <p:nvPr/>
        </p:nvSpPr>
        <p:spPr>
          <a:xfrm>
            <a:off x="548640" y="2514600"/>
            <a:ext cx="8046720" cy="484632"/>
          </a:xfrm>
          <a:prstGeom prst="rect">
            <a:avLst/>
          </a:prstGeom>
          <a:noFill/>
        </p:spPr>
        <p:txBody>
          <a:bodyPr wrap="square" anchor="t" lIns="0" rIns="0" tIns="0" bIns="0">
            <a:noAutofit/>
          </a:bodyPr>
          <a:lstStyle/>
          <a:p>
            <a:pPr algn="ctr">
              <a:lnSpc>
                <a:spcPct val="113000"/>
              </a:lnSpc>
              <a:spcAft>
                <a:spcPts val="0"/>
              </a:spcAft>
            </a:pPr>
            <a:r>
              <a:rPr sz="2600" b="0" lang="ja-JP">
                <a:solidFill>
                  <a:srgbClr val="404040"/>
                </a:solidFill>
                <a:latin typeface="Arial"/>
                <a:ea typeface="ＭＳ Ｐゴシック"/>
                <a:cs typeface="ＭＳ Ｐゴシック"/>
              </a:rPr>
              <a:t>全て「良品」と予測すると……</a:t>
            </a:r>
            <a:endParaRPr lang="ja-JP" sz="2600"/>
          </a:p>
        </p:txBody>
      </p:sp>
      <p:sp>
        <p:nvSpPr>
          <p:cNvPr id="8" name="TextBox 7"/>
          <p:cNvSpPr txBox="1"/>
          <p:nvPr/>
        </p:nvSpPr>
        <p:spPr>
          <a:xfrm>
            <a:off x="548640" y="3182112"/>
            <a:ext cx="8046720" cy="640080"/>
          </a:xfrm>
          <a:prstGeom prst="rect">
            <a:avLst/>
          </a:prstGeom>
          <a:noFill/>
        </p:spPr>
        <p:txBody>
          <a:bodyPr wrap="square" anchor="t" lIns="0" rIns="0" tIns="0" bIns="0">
            <a:noAutofit/>
          </a:bodyPr>
          <a:lstStyle/>
          <a:p>
            <a:pPr algn="ctr">
              <a:lnSpc>
                <a:spcPct val="113000"/>
              </a:lnSpc>
              <a:spcAft>
                <a:spcPts val="0"/>
              </a:spcAft>
            </a:pPr>
            <a:r>
              <a:rPr sz="3700" b="0" lang="ja-JP">
                <a:solidFill>
                  <a:srgbClr val="FF0000"/>
                </a:solidFill>
                <a:latin typeface="Arial"/>
                <a:ea typeface="ＭＳ Ｐゴシック"/>
                <a:cs typeface="ＭＳ Ｐゴシック"/>
              </a:rPr>
              <a:t>正解率 99%</a:t>
            </a:r>
            <a:endParaRPr lang="ja-JP" sz="3700"/>
          </a:p>
        </p:txBody>
      </p:sp>
      <p:sp>
        <p:nvSpPr>
          <p:cNvPr id="9" name="TextBox 8"/>
          <p:cNvSpPr txBox="1"/>
          <p:nvPr/>
        </p:nvSpPr>
        <p:spPr>
          <a:xfrm>
            <a:off x="502920" y="4251960"/>
            <a:ext cx="8229600" cy="384048"/>
          </a:xfrm>
          <a:prstGeom prst="rect">
            <a:avLst/>
          </a:prstGeom>
          <a:noFill/>
        </p:spPr>
        <p:txBody>
          <a:bodyPr wrap="square" anchor="t" lIns="0" rIns="0" tIns="0" bIns="0">
            <a:noAutofit/>
          </a:bodyPr>
          <a:lstStyle/>
          <a:p>
            <a:pPr algn="l">
              <a:lnSpc>
                <a:spcPct val="113000"/>
              </a:lnSpc>
              <a:spcAft>
                <a:spcPts val="0"/>
              </a:spcAft>
            </a:pPr>
            <a:r>
              <a:rPr sz="2300" b="0" lang="ja-JP">
                <a:solidFill>
                  <a:srgbClr val="FF0000"/>
                </a:solidFill>
                <a:latin typeface="Arial"/>
                <a:ea typeface="ＭＳ Ｐゴシック"/>
                <a:cs typeface="ＭＳ Ｐゴシック"/>
              </a:rPr>
              <a:t>不良品10個を，全て見逃している．</a:t>
            </a:r>
            <a:endParaRPr lang="ja-JP" sz="23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適合率と再現率：分母の違いを押さえる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分類の評価　19</a:t>
            </a:r>
            <a:endParaRPr lang="ja-JP" sz="1050"/>
          </a:p>
        </p:txBody>
      </p:sp>
      <p:sp>
        <p:nvSpPr>
          <p:cNvPr id="5" name="TextBox 4"/>
          <p:cNvSpPr txBox="1"/>
          <p:nvPr/>
        </p:nvSpPr>
        <p:spPr>
          <a:xfrm>
            <a:off x="548640" y="1280160"/>
            <a:ext cx="8046720" cy="475488"/>
          </a:xfrm>
          <a:prstGeom prst="rect">
            <a:avLst/>
          </a:prstGeom>
          <a:noFill/>
        </p:spPr>
        <p:txBody>
          <a:bodyPr wrap="square" anchor="t" lIns="0" rIns="0" tIns="0" bIns="0">
            <a:noAutofit/>
          </a:bodyPr>
          <a:lstStyle/>
          <a:p>
            <a:pPr algn="l">
              <a:lnSpc>
                <a:spcPct val="113000"/>
              </a:lnSpc>
              <a:spcAft>
                <a:spcPts val="0"/>
              </a:spcAft>
            </a:pPr>
            <a:r>
              <a:rPr sz="2200" b="0" lang="ja-JP">
                <a:solidFill>
                  <a:srgbClr val="404040"/>
                </a:solidFill>
                <a:latin typeface="Arial"/>
                <a:ea typeface="ＭＳ Ｐゴシック"/>
                <a:cs typeface="ＭＳ Ｐゴシック"/>
              </a:rPr>
              <a:t/>
            </a:r>
            <a:r>
              <a:rPr sz="2200" b="0" lang="ja-JP">
                <a:solidFill>
                  <a:srgbClr val="FF0000"/>
                </a:solidFill>
                <a:latin typeface="Arial"/>
                <a:ea typeface="ＭＳ Ｐゴシック"/>
                <a:cs typeface="ＭＳ Ｐゴシック"/>
              </a:rPr>
              <a:t>適合率</a:t>
            </a:r>
            <a:r>
              <a:rPr sz="2200" b="0" lang="ja-JP">
                <a:solidFill>
                  <a:srgbClr val="404040"/>
                </a:solidFill>
                <a:latin typeface="Arial"/>
                <a:ea typeface="ＭＳ Ｐゴシック"/>
                <a:cs typeface="ＭＳ Ｐゴシック"/>
              </a:rPr>
              <a:t>：不良と予測した中で，実際に不良だった割合</a:t>
            </a:r>
            <a:endParaRPr lang="ja-JP" sz="2200"/>
          </a:p>
        </p:txBody>
      </p:sp>
      <p:sp>
        <p:nvSpPr>
          <p:cNvPr id="6" name="TextBox 5"/>
          <p:cNvSpPr txBox="1"/>
          <p:nvPr/>
        </p:nvSpPr>
        <p:spPr>
          <a:xfrm>
            <a:off x="777240" y="1920240"/>
            <a:ext cx="7680960" cy="448056"/>
          </a:xfrm>
          <a:prstGeom prst="rect">
            <a:avLst/>
          </a:prstGeom>
          <a:noFill/>
        </p:spPr>
        <p:txBody>
          <a:bodyPr wrap="square" anchor="t" lIns="0" rIns="0" tIns="0" bIns="0">
            <a:noAutofit/>
          </a:bodyPr>
          <a:lstStyle/>
          <a:p>
            <a:pPr algn="l">
              <a:lnSpc>
                <a:spcPct val="113000"/>
              </a:lnSpc>
              <a:spcAft>
                <a:spcPts val="0"/>
              </a:spcAft>
            </a:pPr>
            <a:r>
              <a:rPr sz="2500" b="0" lang="ja-JP">
                <a:solidFill>
                  <a:srgbClr val="404040"/>
                </a:solidFill>
                <a:latin typeface="Arial"/>
                <a:ea typeface="ＭＳ Ｐゴシック"/>
                <a:cs typeface="ＭＳ Ｐゴシック"/>
              </a:rPr>
              <a:t>TP÷（TP＋FP）＝30÷50＝60%</a:t>
            </a:r>
            <a:endParaRPr lang="ja-JP" sz="2500"/>
          </a:p>
        </p:txBody>
      </p:sp>
      <p:sp>
        <p:nvSpPr>
          <p:cNvPr id="7" name="TextBox 6"/>
          <p:cNvSpPr txBox="1"/>
          <p:nvPr/>
        </p:nvSpPr>
        <p:spPr>
          <a:xfrm>
            <a:off x="548640" y="2688336"/>
            <a:ext cx="8046720" cy="475488"/>
          </a:xfrm>
          <a:prstGeom prst="rect">
            <a:avLst/>
          </a:prstGeom>
          <a:noFill/>
        </p:spPr>
        <p:txBody>
          <a:bodyPr wrap="square" anchor="t" lIns="0" rIns="0" tIns="0" bIns="0">
            <a:noAutofit/>
          </a:bodyPr>
          <a:lstStyle/>
          <a:p>
            <a:pPr algn="l">
              <a:lnSpc>
                <a:spcPct val="113000"/>
              </a:lnSpc>
              <a:spcAft>
                <a:spcPts val="0"/>
              </a:spcAft>
            </a:pPr>
            <a:r>
              <a:rPr sz="2200" b="0" lang="ja-JP">
                <a:solidFill>
                  <a:srgbClr val="404040"/>
                </a:solidFill>
                <a:latin typeface="Arial"/>
                <a:ea typeface="ＭＳ Ｐゴシック"/>
                <a:cs typeface="ＭＳ Ｐゴシック"/>
              </a:rPr>
              <a:t/>
            </a:r>
            <a:r>
              <a:rPr sz="2200" b="0" lang="ja-JP">
                <a:solidFill>
                  <a:srgbClr val="FF0000"/>
                </a:solidFill>
                <a:latin typeface="Arial"/>
                <a:ea typeface="ＭＳ Ｐゴシック"/>
                <a:cs typeface="ＭＳ Ｐゴシック"/>
              </a:rPr>
              <a:t>再現率</a:t>
            </a:r>
            <a:r>
              <a:rPr sz="2200" b="0" lang="ja-JP">
                <a:solidFill>
                  <a:srgbClr val="404040"/>
                </a:solidFill>
                <a:latin typeface="Arial"/>
                <a:ea typeface="ＭＳ Ｐゴシック"/>
                <a:cs typeface="ＭＳ Ｐゴシック"/>
              </a:rPr>
              <a:t>：実際の不良のうち，見つけた割合</a:t>
            </a:r>
            <a:endParaRPr lang="ja-JP" sz="2200"/>
          </a:p>
        </p:txBody>
      </p:sp>
      <p:sp>
        <p:nvSpPr>
          <p:cNvPr id="8" name="TextBox 7"/>
          <p:cNvSpPr txBox="1"/>
          <p:nvPr/>
        </p:nvSpPr>
        <p:spPr>
          <a:xfrm>
            <a:off x="777240" y="3328416"/>
            <a:ext cx="7680960" cy="448056"/>
          </a:xfrm>
          <a:prstGeom prst="rect">
            <a:avLst/>
          </a:prstGeom>
          <a:noFill/>
        </p:spPr>
        <p:txBody>
          <a:bodyPr wrap="square" anchor="t" lIns="0" rIns="0" tIns="0" bIns="0">
            <a:noAutofit/>
          </a:bodyPr>
          <a:lstStyle/>
          <a:p>
            <a:pPr algn="l">
              <a:lnSpc>
                <a:spcPct val="113000"/>
              </a:lnSpc>
              <a:spcAft>
                <a:spcPts val="0"/>
              </a:spcAft>
            </a:pPr>
            <a:r>
              <a:rPr sz="2500" b="0" lang="ja-JP">
                <a:solidFill>
                  <a:srgbClr val="404040"/>
                </a:solidFill>
                <a:latin typeface="Arial"/>
                <a:ea typeface="ＭＳ Ｐゴシック"/>
                <a:cs typeface="ＭＳ Ｐゴシック"/>
              </a:rPr>
              <a:t>TP÷（TP＋FN）＝30÷40＝75%</a:t>
            </a:r>
            <a:endParaRPr lang="ja-JP" sz="2500"/>
          </a:p>
        </p:txBody>
      </p:sp>
      <p:sp>
        <p:nvSpPr>
          <p:cNvPr id="9" name="TextBox 8"/>
          <p:cNvSpPr txBox="1"/>
          <p:nvPr/>
        </p:nvSpPr>
        <p:spPr>
          <a:xfrm>
            <a:off x="548640" y="4297680"/>
            <a:ext cx="8046720" cy="356616"/>
          </a:xfrm>
          <a:prstGeom prst="rect">
            <a:avLst/>
          </a:prstGeom>
          <a:noFill/>
        </p:spPr>
        <p:txBody>
          <a:bodyPr wrap="square" anchor="t" lIns="0" rIns="0" tIns="0" bIns="0">
            <a:noAutofit/>
          </a:bodyPr>
          <a:lstStyle/>
          <a:p>
            <a:pPr algn="l">
              <a:lnSpc>
                <a:spcPct val="113000"/>
              </a:lnSpc>
              <a:spcAft>
                <a:spcPts val="0"/>
              </a:spcAft>
            </a:pPr>
            <a:r>
              <a:rPr sz="1800" b="0" lang="ja-JP">
                <a:solidFill>
                  <a:srgbClr val="707070"/>
                </a:solidFill>
                <a:latin typeface="Arial"/>
                <a:ea typeface="ＭＳ Ｐゴシック"/>
                <a:cs typeface="ＭＳ Ｐゴシック"/>
              </a:rPr>
              <a:t>補足：F1＝2×適合率×再現率÷（適合率＋再現率）≈66.7%</a:t>
            </a:r>
            <a:endParaRPr lang="ja-JP" sz="18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演習2：正解率・適合率・再現率を計算する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演習　20</a:t>
            </a:r>
            <a:endParaRPr lang="ja-JP" sz="1050"/>
          </a:p>
        </p:txBody>
      </p:sp>
      <p:sp>
        <p:nvSpPr>
          <p:cNvPr id="5" name="TextBox 4"/>
          <p:cNvSpPr txBox="1"/>
          <p:nvPr/>
        </p:nvSpPr>
        <p:spPr>
          <a:xfrm>
            <a:off x="548640" y="1243584"/>
            <a:ext cx="8046720" cy="402336"/>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製品100個．不良を陽性（＋）として，三つの指標を求める．</a:t>
            </a:r>
            <a:endParaRPr lang="ja-JP" sz="2100"/>
          </a:p>
        </p:txBody>
      </p:sp>
      <p:sp>
        <p:nvSpPr>
          <p:cNvPr id="6" name="Rectangle 5"/>
          <p:cNvSpPr/>
          <p:nvPr/>
        </p:nvSpPr>
        <p:spPr>
          <a:xfrm>
            <a:off x="365760" y="1828800"/>
            <a:ext cx="2560320" cy="68580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1" lang="ja-JP">
                <a:solidFill>
                  <a:srgbClr val="000000"/>
                </a:solidFill>
                <a:latin typeface="Arial"/>
                <a:ea typeface="ＭＳ Ｐゴシック"/>
                <a:cs typeface="ＭＳ Ｐゴシック"/>
              </a:rPr>
              <a:t>実際 ＼ 予測</a:t>
            </a:r>
          </a:p>
        </p:txBody>
      </p:sp>
      <p:sp>
        <p:nvSpPr>
          <p:cNvPr id="7" name="Rectangle 6"/>
          <p:cNvSpPr/>
          <p:nvPr/>
        </p:nvSpPr>
        <p:spPr>
          <a:xfrm>
            <a:off x="2926079" y="1828800"/>
            <a:ext cx="2903220" cy="68580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1" lang="ja-JP">
                <a:solidFill>
                  <a:srgbClr val="000000"/>
                </a:solidFill>
                <a:latin typeface="Arial"/>
                <a:ea typeface="ＭＳ Ｐゴシック"/>
                <a:cs typeface="ＭＳ Ｐゴシック"/>
              </a:rPr>
              <a:t>不良と予測（＋）</a:t>
            </a:r>
          </a:p>
        </p:txBody>
      </p:sp>
      <p:sp>
        <p:nvSpPr>
          <p:cNvPr id="8" name="Rectangle 7"/>
          <p:cNvSpPr/>
          <p:nvPr/>
        </p:nvSpPr>
        <p:spPr>
          <a:xfrm>
            <a:off x="5829300" y="1828800"/>
            <a:ext cx="2903220" cy="68580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1" lang="ja-JP">
                <a:solidFill>
                  <a:srgbClr val="000000"/>
                </a:solidFill>
                <a:latin typeface="Arial"/>
                <a:ea typeface="ＭＳ Ｐゴシック"/>
                <a:cs typeface="ＭＳ Ｐゴシック"/>
              </a:rPr>
              <a:t>良品と予測（−）</a:t>
            </a:r>
          </a:p>
        </p:txBody>
      </p:sp>
      <p:sp>
        <p:nvSpPr>
          <p:cNvPr id="9" name="Rectangle 8"/>
          <p:cNvSpPr/>
          <p:nvPr/>
        </p:nvSpPr>
        <p:spPr>
          <a:xfrm>
            <a:off x="365760" y="2514600"/>
            <a:ext cx="25603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000000"/>
                </a:solidFill>
                <a:latin typeface="Arial"/>
                <a:ea typeface="ＭＳ Ｐゴシック"/>
                <a:cs typeface="ＭＳ Ｐゴシック"/>
              </a:rPr>
              <a:t>実際：不良（＋）</a:t>
            </a:r>
          </a:p>
        </p:txBody>
      </p:sp>
      <p:sp>
        <p:nvSpPr>
          <p:cNvPr id="10" name="Rectangle 9"/>
          <p:cNvSpPr/>
          <p:nvPr/>
        </p:nvSpPr>
        <p:spPr>
          <a:xfrm>
            <a:off x="2926079" y="2514600"/>
            <a:ext cx="29032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8（TP）</a:t>
            </a:r>
          </a:p>
        </p:txBody>
      </p:sp>
      <p:sp>
        <p:nvSpPr>
          <p:cNvPr id="11" name="Rectangle 10"/>
          <p:cNvSpPr/>
          <p:nvPr/>
        </p:nvSpPr>
        <p:spPr>
          <a:xfrm>
            <a:off x="5829300" y="2514600"/>
            <a:ext cx="29032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2（FN）</a:t>
            </a:r>
          </a:p>
        </p:txBody>
      </p:sp>
      <p:sp>
        <p:nvSpPr>
          <p:cNvPr id="12" name="Rectangle 11"/>
          <p:cNvSpPr/>
          <p:nvPr/>
        </p:nvSpPr>
        <p:spPr>
          <a:xfrm>
            <a:off x="365760" y="3200400"/>
            <a:ext cx="25603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000000"/>
                </a:solidFill>
                <a:latin typeface="Arial"/>
                <a:ea typeface="ＭＳ Ｐゴシック"/>
                <a:cs typeface="ＭＳ Ｐゴシック"/>
              </a:rPr>
              <a:t>実際：良品（−）</a:t>
            </a:r>
          </a:p>
        </p:txBody>
      </p:sp>
      <p:sp>
        <p:nvSpPr>
          <p:cNvPr id="13" name="Rectangle 12"/>
          <p:cNvSpPr/>
          <p:nvPr/>
        </p:nvSpPr>
        <p:spPr>
          <a:xfrm>
            <a:off x="2926079" y="3200400"/>
            <a:ext cx="29032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4（FP）</a:t>
            </a:r>
          </a:p>
        </p:txBody>
      </p:sp>
      <p:sp>
        <p:nvSpPr>
          <p:cNvPr id="14" name="Rectangle 13"/>
          <p:cNvSpPr/>
          <p:nvPr/>
        </p:nvSpPr>
        <p:spPr>
          <a:xfrm>
            <a:off x="5829300" y="3200400"/>
            <a:ext cx="29032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86（TN）</a:t>
            </a:r>
          </a:p>
        </p:txBody>
      </p:sp>
      <p:sp>
        <p:nvSpPr>
          <p:cNvPr id="15" name="TextBox 14"/>
          <p:cNvSpPr txBox="1"/>
          <p:nvPr/>
        </p:nvSpPr>
        <p:spPr>
          <a:xfrm>
            <a:off x="502920" y="4379976"/>
            <a:ext cx="8229600" cy="384048"/>
          </a:xfrm>
          <a:prstGeom prst="rect">
            <a:avLst/>
          </a:prstGeom>
          <a:noFill/>
        </p:spPr>
        <p:txBody>
          <a:bodyPr wrap="square" anchor="t" lIns="0" rIns="0" tIns="0" bIns="0">
            <a:noAutofit/>
          </a:bodyPr>
          <a:lstStyle/>
          <a:p>
            <a:pPr algn="l">
              <a:lnSpc>
                <a:spcPct val="113000"/>
              </a:lnSpc>
              <a:spcAft>
                <a:spcPts val="0"/>
              </a:spcAft>
            </a:pPr>
            <a:r>
              <a:rPr sz="2100" b="0" lang="ja-JP">
                <a:solidFill>
                  <a:srgbClr val="FF0000"/>
                </a:solidFill>
                <a:latin typeface="Arial"/>
                <a:ea typeface="ＭＳ Ｐゴシック"/>
                <a:cs typeface="ＭＳ Ｐゴシック"/>
              </a:rPr>
              <a:t>それぞれの「分母」は，何を数えているか？</a:t>
            </a:r>
            <a:endParaRPr lang="ja-JP" sz="21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演習2：解答</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演習　21</a:t>
            </a:r>
            <a:endParaRPr lang="ja-JP" sz="1050"/>
          </a:p>
        </p:txBody>
      </p:sp>
      <p:sp>
        <p:nvSpPr>
          <p:cNvPr id="5" name="Rectangle 4"/>
          <p:cNvSpPr/>
          <p:nvPr/>
        </p:nvSpPr>
        <p:spPr>
          <a:xfrm>
            <a:off x="365760" y="1252728"/>
            <a:ext cx="2423160" cy="58521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指標</a:t>
            </a:r>
          </a:p>
        </p:txBody>
      </p:sp>
      <p:sp>
        <p:nvSpPr>
          <p:cNvPr id="6" name="Rectangle 5"/>
          <p:cNvSpPr/>
          <p:nvPr/>
        </p:nvSpPr>
        <p:spPr>
          <a:xfrm>
            <a:off x="2788920" y="1252728"/>
            <a:ext cx="3657600" cy="58521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計算</a:t>
            </a:r>
          </a:p>
        </p:txBody>
      </p:sp>
      <p:sp>
        <p:nvSpPr>
          <p:cNvPr id="7" name="Rectangle 6"/>
          <p:cNvSpPr/>
          <p:nvPr/>
        </p:nvSpPr>
        <p:spPr>
          <a:xfrm>
            <a:off x="6446520" y="1252728"/>
            <a:ext cx="2286000" cy="58521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結果</a:t>
            </a:r>
          </a:p>
        </p:txBody>
      </p:sp>
      <p:sp>
        <p:nvSpPr>
          <p:cNvPr id="8" name="Rectangle 7"/>
          <p:cNvSpPr/>
          <p:nvPr/>
        </p:nvSpPr>
        <p:spPr>
          <a:xfrm>
            <a:off x="365760" y="1837944"/>
            <a:ext cx="242316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正解率</a:t>
            </a:r>
          </a:p>
        </p:txBody>
      </p:sp>
      <p:sp>
        <p:nvSpPr>
          <p:cNvPr id="9" name="Rectangle 8"/>
          <p:cNvSpPr/>
          <p:nvPr/>
        </p:nvSpPr>
        <p:spPr>
          <a:xfrm>
            <a:off x="2788920" y="1837944"/>
            <a:ext cx="365760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（8＋86）÷100</a:t>
            </a:r>
          </a:p>
        </p:txBody>
      </p:sp>
      <p:sp>
        <p:nvSpPr>
          <p:cNvPr id="10" name="Rectangle 9"/>
          <p:cNvSpPr/>
          <p:nvPr/>
        </p:nvSpPr>
        <p:spPr>
          <a:xfrm>
            <a:off x="6446520" y="1837944"/>
            <a:ext cx="228600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94%</a:t>
            </a:r>
          </a:p>
        </p:txBody>
      </p:sp>
      <p:sp>
        <p:nvSpPr>
          <p:cNvPr id="11" name="Rectangle 10"/>
          <p:cNvSpPr/>
          <p:nvPr/>
        </p:nvSpPr>
        <p:spPr>
          <a:xfrm>
            <a:off x="365760" y="2423160"/>
            <a:ext cx="242316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適合率</a:t>
            </a:r>
          </a:p>
        </p:txBody>
      </p:sp>
      <p:sp>
        <p:nvSpPr>
          <p:cNvPr id="12" name="Rectangle 11"/>
          <p:cNvSpPr/>
          <p:nvPr/>
        </p:nvSpPr>
        <p:spPr>
          <a:xfrm>
            <a:off x="2788920" y="2423160"/>
            <a:ext cx="365760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8÷（8＋4）</a:t>
            </a:r>
          </a:p>
        </p:txBody>
      </p:sp>
      <p:sp>
        <p:nvSpPr>
          <p:cNvPr id="13" name="Rectangle 12"/>
          <p:cNvSpPr/>
          <p:nvPr/>
        </p:nvSpPr>
        <p:spPr>
          <a:xfrm>
            <a:off x="6446520" y="2423160"/>
            <a:ext cx="228600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約66.7%</a:t>
            </a:r>
          </a:p>
        </p:txBody>
      </p:sp>
      <p:sp>
        <p:nvSpPr>
          <p:cNvPr id="14" name="Rectangle 13"/>
          <p:cNvSpPr/>
          <p:nvPr/>
        </p:nvSpPr>
        <p:spPr>
          <a:xfrm>
            <a:off x="365760" y="3008376"/>
            <a:ext cx="242316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再現率</a:t>
            </a:r>
          </a:p>
        </p:txBody>
      </p:sp>
      <p:sp>
        <p:nvSpPr>
          <p:cNvPr id="15" name="Rectangle 14"/>
          <p:cNvSpPr/>
          <p:nvPr/>
        </p:nvSpPr>
        <p:spPr>
          <a:xfrm>
            <a:off x="2788920" y="3008376"/>
            <a:ext cx="365760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8÷（8＋2）</a:t>
            </a:r>
          </a:p>
        </p:txBody>
      </p:sp>
      <p:sp>
        <p:nvSpPr>
          <p:cNvPr id="16" name="Rectangle 15"/>
          <p:cNvSpPr/>
          <p:nvPr/>
        </p:nvSpPr>
        <p:spPr>
          <a:xfrm>
            <a:off x="6446520" y="3008376"/>
            <a:ext cx="228600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80%</a:t>
            </a:r>
          </a:p>
        </p:txBody>
      </p:sp>
      <p:sp>
        <p:nvSpPr>
          <p:cNvPr id="17" name="Rectangle 16"/>
          <p:cNvSpPr/>
          <p:nvPr/>
        </p:nvSpPr>
        <p:spPr>
          <a:xfrm>
            <a:off x="365760" y="3593592"/>
            <a:ext cx="242316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F1（補足）</a:t>
            </a:r>
          </a:p>
        </p:txBody>
      </p:sp>
      <p:sp>
        <p:nvSpPr>
          <p:cNvPr id="18" name="Rectangle 17"/>
          <p:cNvSpPr/>
          <p:nvPr/>
        </p:nvSpPr>
        <p:spPr>
          <a:xfrm>
            <a:off x="2788920" y="3593592"/>
            <a:ext cx="365760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16÷22</a:t>
            </a:r>
          </a:p>
        </p:txBody>
      </p:sp>
      <p:sp>
        <p:nvSpPr>
          <p:cNvPr id="19" name="Rectangle 18"/>
          <p:cNvSpPr/>
          <p:nvPr/>
        </p:nvSpPr>
        <p:spPr>
          <a:xfrm>
            <a:off x="6446520" y="3593592"/>
            <a:ext cx="228600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約72.7%</a:t>
            </a:r>
          </a:p>
        </p:txBody>
      </p:sp>
      <p:sp>
        <p:nvSpPr>
          <p:cNvPr id="20" name="TextBox 19"/>
          <p:cNvSpPr txBox="1"/>
          <p:nvPr/>
        </p:nvSpPr>
        <p:spPr>
          <a:xfrm>
            <a:off x="502920" y="4434840"/>
            <a:ext cx="8229600" cy="384048"/>
          </a:xfrm>
          <a:prstGeom prst="rect">
            <a:avLst/>
          </a:prstGeom>
          <a:noFill/>
        </p:spPr>
        <p:txBody>
          <a:bodyPr wrap="square" anchor="t" lIns="0" rIns="0" tIns="0" bIns="0">
            <a:noAutofit/>
          </a:bodyPr>
          <a:lstStyle/>
          <a:p>
            <a:pPr algn="l">
              <a:lnSpc>
                <a:spcPct val="113000"/>
              </a:lnSpc>
              <a:spcAft>
                <a:spcPts val="0"/>
              </a:spcAft>
            </a:pPr>
            <a:r>
              <a:rPr sz="2000" b="0" lang="ja-JP">
                <a:solidFill>
                  <a:srgbClr val="FF0000"/>
                </a:solidFill>
                <a:latin typeface="Arial"/>
                <a:ea typeface="ＭＳ Ｐゴシック"/>
                <a:cs typeface="ＭＳ Ｐゴシック"/>
              </a:rPr>
              <a:t>「予測した不良」と「実際の不良」を区別する．</a:t>
            </a:r>
            <a:endParaRPr lang="ja-JP" sz="20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閾値と目的：どの誤りを減らしたいか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参照：scikit-learn／Google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評価と目的　22</a:t>
            </a:r>
            <a:endParaRPr lang="ja-JP" sz="1050"/>
          </a:p>
        </p:txBody>
      </p:sp>
      <p:sp>
        <p:nvSpPr>
          <p:cNvPr id="5" name="Rectangle 4"/>
          <p:cNvSpPr/>
          <p:nvPr/>
        </p:nvSpPr>
        <p:spPr>
          <a:xfrm>
            <a:off x="594360" y="1316736"/>
            <a:ext cx="3840480" cy="932688"/>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FF0000"/>
                </a:solidFill>
                <a:latin typeface="Arial"/>
                <a:ea typeface="ＭＳ Ｐゴシック"/>
                <a:cs typeface="ＭＳ Ｐゴシック"/>
              </a:rPr>
              <a:t>閾値を下げる</a:t>
            </a:r>
          </a:p>
          <a:p>
            <a:pPr algn="ctr">
              <a:lnSpc>
                <a:spcPct val="108000"/>
              </a:lnSpc>
              <a:spcAft>
                <a:spcPts val="0"/>
              </a:spcAft>
            </a:pPr>
            <a:r>
              <a:rPr sz="2300" b="0" lang="ja-JP">
                <a:solidFill>
                  <a:srgbClr val="FF0000"/>
                </a:solidFill>
                <a:latin typeface="Arial"/>
                <a:ea typeface="ＭＳ Ｐゴシック"/>
                <a:cs typeface="ＭＳ Ｐゴシック"/>
              </a:rPr>
              <a:t>不良の判定を広げる</a:t>
            </a:r>
          </a:p>
        </p:txBody>
      </p:sp>
      <p:sp>
        <p:nvSpPr>
          <p:cNvPr id="6" name="Rectangle 5"/>
          <p:cNvSpPr/>
          <p:nvPr/>
        </p:nvSpPr>
        <p:spPr>
          <a:xfrm>
            <a:off x="4709160" y="1316736"/>
            <a:ext cx="3840480" cy="93268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閾値を上げる</a:t>
            </a:r>
          </a:p>
          <a:p>
            <a:pPr algn="ctr">
              <a:lnSpc>
                <a:spcPct val="108000"/>
              </a:lnSpc>
              <a:spcAft>
                <a:spcPts val="0"/>
              </a:spcAft>
            </a:pPr>
            <a:r>
              <a:rPr sz="2300" b="0" lang="ja-JP">
                <a:solidFill>
                  <a:srgbClr val="404040"/>
                </a:solidFill>
                <a:latin typeface="Arial"/>
                <a:ea typeface="ＭＳ Ｐゴシック"/>
                <a:cs typeface="ＭＳ Ｐゴシック"/>
              </a:rPr>
              <a:t>不良の判定を絞る</a:t>
            </a:r>
          </a:p>
        </p:txBody>
      </p:sp>
      <p:sp>
        <p:nvSpPr>
          <p:cNvPr id="7" name="TextBox 6"/>
          <p:cNvSpPr txBox="1"/>
          <p:nvPr/>
        </p:nvSpPr>
        <p:spPr>
          <a:xfrm>
            <a:off x="502920" y="276606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2734056"/>
            <a:ext cx="7882127" cy="52120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見逃しを減らすと，良品の追加検査が増える場合がある．</a:t>
            </a:r>
            <a:endParaRPr lang="ja-JP" sz="2000"/>
          </a:p>
        </p:txBody>
      </p:sp>
      <p:sp>
        <p:nvSpPr>
          <p:cNvPr id="9" name="TextBox 8"/>
          <p:cNvSpPr txBox="1"/>
          <p:nvPr/>
        </p:nvSpPr>
        <p:spPr>
          <a:xfrm>
            <a:off x="502920" y="335127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3319272"/>
            <a:ext cx="7882127" cy="52120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見逃しの損失と誤検知の手間を，目的に合わせて考える．</a:t>
            </a:r>
            <a:endParaRPr lang="ja-JP" sz="2000"/>
          </a:p>
        </p:txBody>
      </p:sp>
      <p:sp>
        <p:nvSpPr>
          <p:cNvPr id="11" name="TextBox 10"/>
          <p:cNvSpPr txBox="1"/>
          <p:nvPr/>
        </p:nvSpPr>
        <p:spPr>
          <a:xfrm>
            <a:off x="502920" y="3936492"/>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904488"/>
            <a:ext cx="7882127" cy="52120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閾値は検証データで選び</a:t>
            </a:r>
            <a:r>
              <a:rPr sz="2000" b="0" lang="ja-JP">
                <a:solidFill>
                  <a:srgbClr val="404040"/>
                </a:solidFill>
                <a:latin typeface="Arial"/>
                <a:ea typeface="ＭＳ Ｐゴシック"/>
                <a:cs typeface="ＭＳ Ｐゴシック"/>
              </a:rPr>
              <a:t>，テストで最後に確かめる．</a:t>
            </a:r>
            <a:endParaRPr lang="ja-JP" sz="20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まとめ・振り返り</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まとめ　23</a:t>
            </a:r>
            <a:endParaRPr lang="ja-JP" sz="1050"/>
          </a:p>
        </p:txBody>
      </p:sp>
      <p:sp>
        <p:nvSpPr>
          <p:cNvPr id="5" name="Rectangle 4"/>
          <p:cNvSpPr/>
          <p:nvPr/>
        </p:nvSpPr>
        <p:spPr>
          <a:xfrm>
            <a:off x="365760" y="1225296"/>
            <a:ext cx="1965960" cy="63093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観点</a:t>
            </a:r>
          </a:p>
        </p:txBody>
      </p:sp>
      <p:sp>
        <p:nvSpPr>
          <p:cNvPr id="6" name="Rectangle 5"/>
          <p:cNvSpPr/>
          <p:nvPr/>
        </p:nvSpPr>
        <p:spPr>
          <a:xfrm>
            <a:off x="2331720" y="1225296"/>
            <a:ext cx="6400800" cy="63093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今日の要点</a:t>
            </a:r>
          </a:p>
        </p:txBody>
      </p:sp>
      <p:sp>
        <p:nvSpPr>
          <p:cNvPr id="7" name="Rectangle 6"/>
          <p:cNvSpPr/>
          <p:nvPr/>
        </p:nvSpPr>
        <p:spPr>
          <a:xfrm>
            <a:off x="365760" y="1856232"/>
            <a:ext cx="1965960" cy="63093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モデル</a:t>
            </a:r>
          </a:p>
        </p:txBody>
      </p:sp>
      <p:sp>
        <p:nvSpPr>
          <p:cNvPr id="8" name="Rectangle 7"/>
          <p:cNvSpPr/>
          <p:nvPr/>
        </p:nvSpPr>
        <p:spPr>
          <a:xfrm>
            <a:off x="2331720" y="1856232"/>
            <a:ext cx="6400800" cy="63093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求める出力と，データの性質に合う候補を考える</a:t>
            </a:r>
          </a:p>
        </p:txBody>
      </p:sp>
      <p:sp>
        <p:nvSpPr>
          <p:cNvPr id="9" name="Rectangle 8"/>
          <p:cNvSpPr/>
          <p:nvPr/>
        </p:nvSpPr>
        <p:spPr>
          <a:xfrm>
            <a:off x="365760" y="2487168"/>
            <a:ext cx="1965960" cy="63093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評価</a:t>
            </a:r>
          </a:p>
        </p:txBody>
      </p:sp>
      <p:sp>
        <p:nvSpPr>
          <p:cNvPr id="10" name="Rectangle 9"/>
          <p:cNvSpPr/>
          <p:nvPr/>
        </p:nvSpPr>
        <p:spPr>
          <a:xfrm>
            <a:off x="2331720" y="2487168"/>
            <a:ext cx="6400800" cy="63093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回帰は誤差，分類は目的に合う指標を使う</a:t>
            </a:r>
          </a:p>
        </p:txBody>
      </p:sp>
      <p:sp>
        <p:nvSpPr>
          <p:cNvPr id="11" name="Rectangle 10"/>
          <p:cNvSpPr/>
          <p:nvPr/>
        </p:nvSpPr>
        <p:spPr>
          <a:xfrm>
            <a:off x="365760" y="3118104"/>
            <a:ext cx="1965960" cy="63093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確認</a:t>
            </a:r>
          </a:p>
        </p:txBody>
      </p:sp>
      <p:sp>
        <p:nvSpPr>
          <p:cNvPr id="12" name="Rectangle 11"/>
          <p:cNvSpPr/>
          <p:nvPr/>
        </p:nvSpPr>
        <p:spPr>
          <a:xfrm>
            <a:off x="2331720" y="3118104"/>
            <a:ext cx="6400800" cy="63093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同じ条件で比べ，未知のデータで確かめる</a:t>
            </a:r>
          </a:p>
        </p:txBody>
      </p:sp>
      <p:sp>
        <p:nvSpPr>
          <p:cNvPr id="13" name="TextBox 12"/>
          <p:cNvSpPr txBox="1"/>
          <p:nvPr/>
        </p:nvSpPr>
        <p:spPr>
          <a:xfrm>
            <a:off x="502920" y="3977639"/>
            <a:ext cx="8229600" cy="384048"/>
          </a:xfrm>
          <a:prstGeom prst="rect">
            <a:avLst/>
          </a:prstGeom>
          <a:noFill/>
        </p:spPr>
        <p:txBody>
          <a:bodyPr wrap="square" anchor="t" lIns="0" rIns="0" tIns="0" bIns="0">
            <a:noAutofit/>
          </a:bodyPr>
          <a:lstStyle/>
          <a:p>
            <a:pPr algn="l">
              <a:lnSpc>
                <a:spcPct val="113000"/>
              </a:lnSpc>
              <a:spcAft>
                <a:spcPts val="0"/>
              </a:spcAft>
            </a:pPr>
            <a:r>
              <a:rPr sz="2100" b="0" lang="ja-JP">
                <a:solidFill>
                  <a:srgbClr val="FF0000"/>
                </a:solidFill>
                <a:latin typeface="Arial"/>
                <a:ea typeface="ＭＳ Ｐゴシック"/>
                <a:cs typeface="ＭＳ Ｐゴシック"/>
              </a:rPr>
              <a:t>不良の見逃しを減らしたいとき，何を確認する？</a:t>
            </a:r>
            <a:endParaRPr lang="ja-JP" sz="2100"/>
          </a:p>
        </p:txBody>
      </p:sp>
      <p:sp>
        <p:nvSpPr>
          <p:cNvPr id="14" name="TextBox 13"/>
          <p:cNvSpPr txBox="1"/>
          <p:nvPr/>
        </p:nvSpPr>
        <p:spPr>
          <a:xfrm>
            <a:off x="548640" y="4535424"/>
            <a:ext cx="8046720" cy="237744"/>
          </a:xfrm>
          <a:prstGeom prst="rect">
            <a:avLst/>
          </a:prstGeom>
          <a:noFill/>
        </p:spPr>
        <p:txBody>
          <a:bodyPr wrap="square" anchor="t" lIns="0" rIns="0" tIns="0" bIns="0">
            <a:noAutofit/>
          </a:bodyPr>
          <a:lstStyle/>
          <a:p>
            <a:pPr algn="l">
              <a:lnSpc>
                <a:spcPct val="113000"/>
              </a:lnSpc>
              <a:spcAft>
                <a:spcPts val="0"/>
              </a:spcAft>
            </a:pPr>
            <a:r>
              <a:rPr sz="1500" b="0" lang="ja-JP">
                <a:solidFill>
                  <a:srgbClr val="707070"/>
                </a:solidFill>
                <a:latin typeface="Arial"/>
                <a:ea typeface="ＭＳ Ｐゴシック"/>
                <a:cs typeface="ＭＳ Ｐゴシック"/>
              </a:rPr>
              <a:t>次回：ニューラルネットワークと深層学習</a:t>
            </a:r>
            <a:endParaRPr lang="ja-JP" sz="15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参考資料1：代表的なモデル</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出典リンク：各項目をクリック／講師用ノートにも記載</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参考資料　24</a:t>
            </a:r>
            <a:endParaRPr lang="ja-JP" sz="1050"/>
          </a:p>
        </p:txBody>
      </p:sp>
      <p:sp>
        <p:nvSpPr>
          <p:cNvPr id="5" name="TextBox 4"/>
          <p:cNvSpPr txBox="1"/>
          <p:nvPr/>
        </p:nvSpPr>
        <p:spPr>
          <a:xfrm>
            <a:off x="548640" y="1188720"/>
            <a:ext cx="8046720" cy="41148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hlinkClick r:id="rId3"/>
              </a:rPr>
              <a:t>1. Google：Linear regression</a:t>
            </a:r>
            <a:endParaRPr lang="ja-JP" sz="1900"/>
          </a:p>
        </p:txBody>
      </p:sp>
      <p:sp>
        <p:nvSpPr>
          <p:cNvPr id="6" name="TextBox 5"/>
          <p:cNvSpPr txBox="1"/>
          <p:nvPr/>
        </p:nvSpPr>
        <p:spPr>
          <a:xfrm>
            <a:off x="548640" y="1700784"/>
            <a:ext cx="8046720" cy="41148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hlinkClick r:id="rId4"/>
              </a:rPr>
              <a:t>2. Google：Logistic Regression</a:t>
            </a:r>
            <a:endParaRPr lang="ja-JP" sz="1900"/>
          </a:p>
        </p:txBody>
      </p:sp>
      <p:sp>
        <p:nvSpPr>
          <p:cNvPr id="7" name="TextBox 6"/>
          <p:cNvSpPr txBox="1"/>
          <p:nvPr/>
        </p:nvSpPr>
        <p:spPr>
          <a:xfrm>
            <a:off x="548640" y="2212848"/>
            <a:ext cx="8046720" cy="41148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hlinkClick r:id="rId5"/>
              </a:rPr>
              <a:t>3. scikit-learn：Decision Trees</a:t>
            </a:r>
            <a:endParaRPr lang="ja-JP" sz="1900"/>
          </a:p>
        </p:txBody>
      </p:sp>
      <p:sp>
        <p:nvSpPr>
          <p:cNvPr id="8" name="TextBox 7"/>
          <p:cNvSpPr txBox="1"/>
          <p:nvPr/>
        </p:nvSpPr>
        <p:spPr>
          <a:xfrm>
            <a:off x="548640" y="2724912"/>
            <a:ext cx="8046720" cy="41148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hlinkClick r:id="rId6"/>
              </a:rPr>
              <a:t>4. scikit-learn：Ensembles</a:t>
            </a:r>
            <a:endParaRPr lang="ja-JP" sz="1900"/>
          </a:p>
        </p:txBody>
      </p:sp>
      <p:sp>
        <p:nvSpPr>
          <p:cNvPr id="9" name="TextBox 8"/>
          <p:cNvSpPr txBox="1"/>
          <p:nvPr/>
        </p:nvSpPr>
        <p:spPr>
          <a:xfrm>
            <a:off x="548640" y="3236976"/>
            <a:ext cx="8046720" cy="41148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hlinkClick r:id="rId7"/>
              </a:rPr>
              <a:t>5. scikit-learn：Clustering</a:t>
            </a:r>
            <a:endParaRPr lang="ja-JP" sz="1900"/>
          </a:p>
        </p:txBody>
      </p:sp>
      <p:sp>
        <p:nvSpPr>
          <p:cNvPr id="10" name="TextBox 9"/>
          <p:cNvSpPr txBox="1"/>
          <p:nvPr/>
        </p:nvSpPr>
        <p:spPr>
          <a:xfrm>
            <a:off x="548640" y="3749040"/>
            <a:ext cx="8046720" cy="41148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hlinkClick r:id="rId8"/>
              </a:rPr>
              <a:t>6. scikit-learn：Principal component analysis</a:t>
            </a:r>
            <a:endParaRPr lang="ja-JP" sz="1900"/>
          </a:p>
        </p:txBody>
      </p:sp>
      <p:sp>
        <p:nvSpPr>
          <p:cNvPr id="11" name="TextBox 10"/>
          <p:cNvSpPr txBox="1"/>
          <p:nvPr/>
        </p:nvSpPr>
        <p:spPr>
          <a:xfrm>
            <a:off x="548640" y="4517136"/>
            <a:ext cx="8046720" cy="219456"/>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各項目をクリックすると，公式資料を開く．</a:t>
            </a:r>
            <a:endParaRPr lang="ja-JP" sz="14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参考資料2：評価方法</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出典リンク：各項目をクリック／講師用ノートにも記載</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第4回　参考資料　25</a:t>
            </a:r>
            <a:endParaRPr lang="ja-JP" sz="1050"/>
          </a:p>
        </p:txBody>
      </p:sp>
      <p:sp>
        <p:nvSpPr>
          <p:cNvPr id="5" name="TextBox 4"/>
          <p:cNvSpPr txBox="1"/>
          <p:nvPr/>
        </p:nvSpPr>
        <p:spPr>
          <a:xfrm>
            <a:off x="548640" y="1271016"/>
            <a:ext cx="8046720" cy="512064"/>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hlinkClick r:id="rId3"/>
              </a:rPr>
              <a:t>1. scikit-learn：Metrics and scoring</a:t>
            </a:r>
            <a:endParaRPr lang="ja-JP" sz="1900"/>
          </a:p>
        </p:txBody>
      </p:sp>
      <p:sp>
        <p:nvSpPr>
          <p:cNvPr id="6" name="TextBox 5"/>
          <p:cNvSpPr txBox="1"/>
          <p:nvPr/>
        </p:nvSpPr>
        <p:spPr>
          <a:xfrm>
            <a:off x="548640" y="1929384"/>
            <a:ext cx="8046720" cy="512064"/>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hlinkClick r:id="rId4"/>
              </a:rPr>
              <a:t>2. Google：Accuracy, recall, precision and F1</a:t>
            </a:r>
            <a:endParaRPr lang="ja-JP" sz="1900"/>
          </a:p>
        </p:txBody>
      </p:sp>
      <p:sp>
        <p:nvSpPr>
          <p:cNvPr id="7" name="TextBox 6"/>
          <p:cNvSpPr txBox="1"/>
          <p:nvPr/>
        </p:nvSpPr>
        <p:spPr>
          <a:xfrm>
            <a:off x="548640" y="2587752"/>
            <a:ext cx="8046720" cy="512064"/>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hlinkClick r:id="rId5"/>
              </a:rPr>
              <a:t>3. Google：Dividing the original dataset</a:t>
            </a:r>
            <a:endParaRPr lang="ja-JP" sz="1900"/>
          </a:p>
        </p:txBody>
      </p:sp>
      <p:sp>
        <p:nvSpPr>
          <p:cNvPr id="8" name="TextBox 7"/>
          <p:cNvSpPr txBox="1"/>
          <p:nvPr/>
        </p:nvSpPr>
        <p:spPr>
          <a:xfrm>
            <a:off x="548640" y="3246120"/>
            <a:ext cx="8046720" cy="512064"/>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hlinkClick r:id="rId6"/>
              </a:rPr>
              <a:t>4. scikit-learn：Tuning the decision threshold</a:t>
            </a:r>
            <a:endParaRPr lang="ja-JP" sz="1900"/>
          </a:p>
        </p:txBody>
      </p:sp>
      <p:sp>
        <p:nvSpPr>
          <p:cNvPr id="9" name="TextBox 8"/>
          <p:cNvSpPr txBox="1"/>
          <p:nvPr/>
        </p:nvSpPr>
        <p:spPr>
          <a:xfrm>
            <a:off x="548640" y="4370832"/>
            <a:ext cx="8046720" cy="320040"/>
          </a:xfrm>
          <a:prstGeom prst="rect">
            <a:avLst/>
          </a:prstGeom>
          <a:noFill/>
        </p:spPr>
        <p:txBody>
          <a:bodyPr wrap="square" anchor="t" lIns="0" rIns="0" tIns="0" bIns="0">
            <a:noAutofit/>
          </a:bodyPr>
          <a:lstStyle/>
          <a:p>
            <a:pPr algn="l">
              <a:lnSpc>
                <a:spcPct val="113000"/>
              </a:lnSpc>
              <a:spcAft>
                <a:spcPts val="0"/>
              </a:spcAft>
            </a:pPr>
            <a:r>
              <a:rPr sz="1700" b="0" lang="ja-JP">
                <a:solidFill>
                  <a:srgbClr val="707070"/>
                </a:solidFill>
                <a:latin typeface="Arial"/>
                <a:ea typeface="ＭＳ Ｐゴシック"/>
                <a:cs typeface="ＭＳ Ｐゴシック"/>
              </a:rPr>
              <a:t>図・数値・演習：本講義の作例 ／ 公式試験問題ではない．</a:t>
            </a:r>
            <a:endParaRPr lang="ja-JP" sz="1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情報技術者（民間資格）4：代表的な機械学習手法と評価</dc:title>
  <cp:lastModifiedBy>python-pptx</cp:lastModifiedBy>
  <cp:revision>1</cp:revision>
  <dcterms:modified xsi:type="dcterms:W3CDTF">2026-10-07T07:17:09Z</dcterms:modified>
  <dc:subject>G検定対策・90分授業／シラバス2024 第1.4版</dc:subject>
  <dc:creator>眞田嵩大</dc:creator>
  <cp:keywords>G検定, 機械学習, 回帰, 分類, 決定木, 適合率, 再現率, 評価</cp:keywords>
  <dc:description>第1回のPowerPointのテーマ・画面比率を引き継いだ第4回講義資料．図と確認問題は本教材のための作例．</dc:description>
</cp:coreProperties>
</file>