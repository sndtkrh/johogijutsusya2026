
<file path=[Content_Types].xml><?xml version="1.0" encoding="utf-8"?>
<Types xmlns="http://schemas.openxmlformats.org/package/2006/content-types">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情報技術者（民間資格）3</a:t>
            </a:r>
          </a:p>
          <a:p>
            <a:r>
              <a:t>目安：1分／授業開始から 0〜1分</a:t>
            </a:r>
          </a:p>
          <a:p/>
          <a:p>
            <a:r>
              <a:t>全15回の計画に沿った第3回．細かな手法名を網羅せず，データから学び，未知の入力で確かめる流れを理解する．</a:t>
            </a:r>
          </a:p>
          <a:p>
            <a:r>
              <a:t>90分配分：導入8分，データと学習14分，学習の種類14分，モデル・教師なし・強化学習21分，演習7分，汎化と評価17分，まとめ9分．最後の2枚は付録の参考資料．図・数値・問題は講義用の作例であり，公式試験問題ではない．</a:t>
            </a:r>
          </a:p>
          <a:p/>
          <a:p>
            <a:r>
              <a:t>参照資料（2026年10月7日確認）</a:t>
            </a:r>
          </a:p>
          <a:p>
            <a:r>
              <a:t>第1回資料と本教材のために作成した例・設問．</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今日の到達目標</a:t>
            </a:r>
          </a:p>
          <a:p>
            <a:r>
              <a:t>目安：2分／授業開始から 1〜3分</a:t>
            </a:r>
          </a:p>
          <a:p/>
          <a:p>
            <a:r>
              <a:t>第2回のルールベースとの比較を出発点にする．「何を入力し，何を出力するか」「学習時にどんな情報が与えられるか」「新しいデータでどう確かめるか」の三つの問いを繰り返す．モデルの詳しい種類と評価指標は第4回に回す．</a:t>
            </a:r>
          </a:p>
          <a:p/>
          <a:p>
            <a:r>
              <a:t>参照資料（2026年10月7日確認）</a:t>
            </a:r>
          </a:p>
          <a:p>
            <a:r>
              <a:t>第1回資料と本教材のために作成した例・設問．</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全15回の中での位置</a:t>
            </a:r>
          </a:p>
          <a:p>
            <a:r>
              <a:t>目安：2分／授業開始から 3〜5分</a:t>
            </a:r>
          </a:p>
          <a:p/>
          <a:p>
            <a:r>
              <a:t>授業計画lecture-plan.mdに対応する．第1・2回で人工知能の考え方と古典的な問題の解き方を学んだ．第3・4回は機械学習の土台を作り，第5回以降の深層学習へつなぐ．後半に実習と法律・倫理を扱うので，技術だけで授業が完結するわけではない．</a:t>
            </a:r>
          </a:p>
          <a:p/>
          <a:p>
            <a:r>
              <a:t>参照資料（2026年10月7日確認）</a:t>
            </a:r>
          </a:p>
          <a:p>
            <a:r>
              <a:t>第1回資料と本教材のために作成した例・設問．</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前回の復習：ルールを書く方法との違い</a:t>
            </a:r>
          </a:p>
          <a:p>
            <a:r>
              <a:t>目安：3分／授業開始から 5〜8分</a:t>
            </a:r>
          </a:p>
          <a:p/>
          <a:p>
            <a:r>
              <a:t>迷惑メール判定を例に，入力と出力を共通にして比較する．ルールベースなら条件を人が書く．機械学習なら，メールと正解の例を使ってモデルを学習させる．機械学習でも目的，データ，学習方法，評価は人が設計する．どちらが常に優れるという比較ではない．</a:t>
            </a:r>
          </a:p>
          <a:p>
            <a:r>
              <a:t>活動：人がルールを書こうとすると，どのような例外が増えるかを隣同士で1分話す．ルールとモデルを組み合わせる使い方もできる．</a:t>
            </a:r>
          </a:p>
          <a:p/>
          <a:p>
            <a:r>
              <a:t>参照資料（2026年10月7日確認）</a:t>
            </a:r>
          </a:p>
          <a:p>
            <a:r>
              <a:t>第1回資料と本教材のために作成した例・設問．</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機械学習：データからモデルを調整する</a:t>
            </a:r>
          </a:p>
          <a:p>
            <a:r>
              <a:t>目安：3分／授業開始から 8〜11分</a:t>
            </a:r>
          </a:p>
          <a:p/>
          <a:p>
            <a:r>
              <a:t>モデルは入力から出力を計算する仕組み．学習はデータを利用してその仕組みのパラメータなどを調整すること．本回の主な例は予測だが，機械学習は生成や意思決定にも利用される．ここでの三つの基本的な学習方法は，学習時に何が与えられるかという観点で整理する．</a:t>
            </a:r>
          </a:p>
          <a:p/>
          <a:p>
            <a:r>
              <a:t>参照資料（2026年10月7日確認）</a:t>
            </a:r>
          </a:p>
          <a:p>
            <a:r>
              <a:t>Google：What is Machine Learning?</a:t>
            </a:r>
          </a:p>
          <a:p>
            <a:r>
              <a:t>https://developers.google.com/machine-learning/intro-to-ml/what-is-ml</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特徴量と正解：翌日のパンの販売数を予測する</a:t>
            </a:r>
          </a:p>
          <a:p>
            <a:r>
              <a:t>目安：4分／授業開始から 11〜15分</a:t>
            </a:r>
          </a:p>
          <a:p/>
          <a:p>
            <a:r>
              <a:t>架空の販売予測データ．予測対象日の前日に予測するとする．曜日，その時点の気温予報，前日の販売数は予測時に得られる入力．対象日の販売数は後で確定し，過去の事例における正解になる．同じ列でも，予測する時点に得られるかを考える．</a:t>
            </a:r>
          </a:p>
          <a:p>
            <a:r>
              <a:t>特徴量はモデルに与える情報，正解・ラベルは教師あり学習で対応させる目標値．正解は人手で付ける場合も，売上記録のような実測から得る場合もある．各数値は教材用の架空値．</a:t>
            </a:r>
          </a:p>
          <a:p/>
          <a:p>
            <a:r>
              <a:t>参照資料（2026年10月7日確認）</a:t>
            </a:r>
          </a:p>
          <a:p>
            <a:r>
              <a:t>Google：Supervised Learning</a:t>
            </a:r>
          </a:p>
          <a:p>
            <a:r>
              <a:t>https://developers.google.com/machine-learning/intro-to-ml/supervised</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最初に決めること：入力・出力・使う時点</a:t>
            </a:r>
          </a:p>
          <a:p>
            <a:r>
              <a:t>目安：4分／授業開始から 15〜19分</a:t>
            </a:r>
          </a:p>
          <a:p/>
          <a:p>
            <a:r>
              <a:t>販売数予測の例を続ける．出力は翌日の販売数で，売り切れるかというカテゴリに変えれば別のタスクになる．予測は仕込み前に必要なので，閉店後にしか分からない情報は使えない．どれくらい誤ると問題か，過剰在庫と売り切れの影響も考える．</a:t>
            </a:r>
          </a:p>
          <a:p>
            <a:r>
              <a:t>活動：パン屋で予測に使えそうな情報を一つ挙げ，予測時に入手できるかを説明してもらう．祝日，曜日，予約などが候補．ここでは具体的なモデルの選択は行わない．</a:t>
            </a:r>
          </a:p>
          <a:p/>
          <a:p>
            <a:r>
              <a:t>参照資料（2026年10月7日確認）</a:t>
            </a:r>
          </a:p>
          <a:p>
            <a:r>
              <a:t>第1回資料と本教材のために作成した例・設問．</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学習と推論：モデルを作るときと使うとき</a:t>
            </a:r>
          </a:p>
          <a:p>
            <a:r>
              <a:t>目安：3分／授業開始から 19〜22分</a:t>
            </a:r>
          </a:p>
          <a:p/>
          <a:p>
            <a:r>
              <a:t>教師あり学習の模式図．学習では入力と正解を使ってモデルを調整する．推論では調整済みモデルに新しい入力を与えて予測を出す．通常の予測で，新しい正解がその場で必要なわけではない．学習した結果を固定して使う例として説明する．</a:t>
            </a:r>
          </a:p>
          <a:p>
            <a:r>
              <a:t>継続的な再学習があるシステムでも，予測を出す処理とデータを用いた更新は区別して考える．第2回の知識から結論を導く推論と，本回の学習済みモデルを使う推論は，文脈が異なることも口頭で確認する．</a:t>
            </a:r>
          </a:p>
          <a:p/>
          <a:p>
            <a:r>
              <a:t>参照資料（2026年10月7日確認）</a:t>
            </a:r>
          </a:p>
          <a:p>
            <a:r>
              <a:t>Google：Supervised Learning</a:t>
            </a:r>
          </a:p>
          <a:p>
            <a:r>
              <a:t>https://developers.google.com/machine-learning/intro-to-ml/supervised</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学習の種類：どんな情報が与えられるか</a:t>
            </a:r>
          </a:p>
          <a:p>
            <a:r>
              <a:t>目安：3分／授業開始から 22〜25分</a:t>
            </a:r>
          </a:p>
          <a:p/>
          <a:p>
            <a:r>
              <a:t>まず大きく三つの基本的な見方を示す．教師ありでは対応する正解を使い，教師なしでは正解のグループなどを与えず構造を探し，強化学習では行動の結果の報酬から方策を改善する．</a:t>
            </a:r>
          </a:p>
          <a:p>
            <a:r>
              <a:t>これは今回の基礎を整理するための表．実際には複数の方法の組合せもあり，自己教師あり学習や生成モデルは後の回で触れる．「教師」という言葉は，人間が常時横で教えているという意味ではない．</a:t>
            </a:r>
          </a:p>
          <a:p/>
          <a:p>
            <a:r>
              <a:t>参照資料（2026年10月7日確認）</a:t>
            </a:r>
          </a:p>
          <a:p>
            <a:r>
              <a:t>Google：What is Machine Learning?</a:t>
            </a:r>
          </a:p>
          <a:p>
            <a:r>
              <a:t>https://developers.google.com/machine-learning/intro-to-ml/what-is-ml</a:t>
            </a:r>
          </a:p>
          <a:p>
            <a:r>
              <a:t>Sutton &amp; Barto：Reinforcement Learning, 2nd ed.</a:t>
            </a:r>
          </a:p>
          <a:p>
            <a:r>
              <a:t>https://mitpress.mit.edu/9780262039246/reinforcement-learning/</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教師あり学習：分類はカテゴリを予測する</a:t>
            </a:r>
          </a:p>
          <a:p>
            <a:r>
              <a:t>目安：3分／授業開始から 25〜28分</a:t>
            </a:r>
          </a:p>
          <a:p/>
          <a:p>
            <a:r>
              <a:t>入力と対応する正解の例から学ぶ．分類の例はメールを「迷惑」「通常」に分ける課題．画像を犬・猫・鳥に分けるように，二種類より多いカテゴリも扱える．モデルによっては確率やスコアを出し，そこからカテゴリを決める．本回ではカテゴリを予測するという目的に絞る．</a:t>
            </a:r>
          </a:p>
          <a:p>
            <a:r>
              <a:t>正解ラベルが誤っていると，その誤りが学習に影響する．「正解」と呼ぶことが実世界での絶対的な正しさを保証するわけではない．</a:t>
            </a:r>
          </a:p>
          <a:p/>
          <a:p>
            <a:r>
              <a:t>参照資料（2026年10月7日確認）</a:t>
            </a:r>
          </a:p>
          <a:p>
            <a:r>
              <a:t>Google：Supervised Learning</a:t>
            </a:r>
          </a:p>
          <a:p>
            <a:r>
              <a:t>https://developers.google.com/machine-learning/intro-to-ml/supervised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教師あり学習：回帰は数値を予測する</a:t>
            </a:r>
          </a:p>
          <a:p>
            <a:r>
              <a:t>目安：3分／授業開始から 28〜31分</a:t>
            </a:r>
          </a:p>
          <a:p/>
          <a:p>
            <a:r>
              <a:t>回帰は数量を予測する課題．パンの販売数，配送時間，電力使用量などが例．個数のように整数の目標も，数量の予測として回帰で扱える．同じ題材でも，販売数なら回帰，売り切れる・売り切れないなら分類と設定できる．</a:t>
            </a:r>
          </a:p>
          <a:p>
            <a:r>
              <a:t>出力が画面上で数字になっているだけでは回帰かどうかを判断できない．次の演習の手書き数字を使ってこの違いを確認する．</a:t>
            </a:r>
          </a:p>
          <a:p/>
          <a:p>
            <a:r>
              <a:t>参照資料（2026年10月7日確認）</a:t>
            </a:r>
          </a:p>
          <a:p>
            <a:r>
              <a:t>Google：Supervised Learning</a:t>
            </a:r>
          </a:p>
          <a:p>
            <a:r>
              <a:t>https://developers.google.com/machine-learning/intro-to-ml/supervised</a:t>
            </a:r>
          </a:p>
          <a:p>
            <a:r>
              <a:t>Google：Linear regression</a:t>
            </a:r>
          </a:p>
          <a:p>
            <a:r>
              <a:t>https://developers.google.com/machine-learning/crash-course/linear-regression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演習1：分類か，回帰か</a:t>
            </a:r>
          </a:p>
          <a:p>
            <a:r>
              <a:t>目安：3分／授業開始から 31〜34分</a:t>
            </a:r>
          </a:p>
          <a:p/>
          <a:p>
            <a:r>
              <a:t>個人で1分，隣同士で理由を説明1分，答え合わせの準備1分．各問題の入力と出力を考える．</a:t>
            </a:r>
          </a:p>
          <a:p>
            <a:r>
              <a:t>正答：①回帰，②分類，③回帰，④分類．②の0〜9はカテゴリの名前で，画像がどの数字に属するかを判断するため分類．数字を出力するから全て回帰という誤解を解く．</a:t>
            </a:r>
          </a:p>
          <a:p/>
          <a:p>
            <a:r>
              <a:t>参照資料（2026年10月7日確認）</a:t>
            </a:r>
          </a:p>
          <a:p>
            <a:r>
              <a:t>第1回資料と本教材のために作成した例・設問．</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演習1：解答</a:t>
            </a:r>
          </a:p>
          <a:p>
            <a:r>
              <a:t>目安：2分／授業開始から 34〜36分</a:t>
            </a:r>
          </a:p>
          <a:p/>
          <a:p>
            <a:r>
              <a:t>分類と回帰は教師あり学習の代表的なタスク．②では数字がカテゴリ名として使われている．販売数を少・中・多の区分に分けるように問題を設定すれば，同じ題材でも分類に変わる．題材の名前ではなく，求める出力で判断する．</a:t>
            </a:r>
          </a:p>
          <a:p/>
          <a:p>
            <a:r>
              <a:t>参照資料（2026年10月7日確認）</a:t>
            </a:r>
          </a:p>
          <a:p>
            <a:r>
              <a:t>第1回資料と本教材のために作成した例・設問．</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モデルの例：点の傾向に合わせて線を引く</a:t>
            </a:r>
          </a:p>
          <a:p>
            <a:r>
              <a:t>目安：3分／授業開始から 36〜39分</a:t>
            </a:r>
          </a:p>
          <a:p/>
          <a:p>
            <a:r>
              <a:t>黒い点は教材用の架空の数値で，xとyの関係を示す．赤線は予測モデルの一例yの予測値=10x+20で，最適な直線を計算した結果という意味ではない．学習で傾きや切片をデータに合わせる考え方を説明する．</a:t>
            </a:r>
          </a:p>
          <a:p>
            <a:r>
              <a:t>数学用語の暗記や最小二乗法の導出は扱わない．点を全て通ることだけが良いモデルの条件ではなく，次のデータでも役立つかを後半で確かめる．</a:t>
            </a:r>
          </a:p>
          <a:p/>
          <a:p>
            <a:r>
              <a:t>参照資料（2026年10月7日確認）</a:t>
            </a:r>
          </a:p>
          <a:p>
            <a:r>
              <a:t>Google：Linear regression</a:t>
            </a:r>
          </a:p>
          <a:p>
            <a:r>
              <a:t>https://developers.google.com/machine-learning/crash-course/linear-regression</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演習：予測の外れ方を比べる</a:t>
            </a:r>
          </a:p>
          <a:p>
            <a:r>
              <a:t>目安：4分／授業開始から 39〜43分</a:t>
            </a:r>
          </a:p>
          <a:p/>
          <a:p>
            <a:r>
              <a:t>モデルAは10x+20，モデルBは20x+10．学生に予測値と正解の差の大きさを計算してもらう．x=1,2,3の正解は28,44,48．Aは30,40,50で差2,4,2，合計8．Bは30,50,70で差2,6,22，合計30．</a:t>
            </a:r>
          </a:p>
          <a:p>
            <a:r>
              <a:t>このデータ上ではAの誤差が小さい．これだけでは別のデータでも良いとは言えない．平均絶対誤差などの正式な指標は第4回に扱い，今日は「予測と正解を比較する」ことを体験する．</a:t>
            </a:r>
          </a:p>
          <a:p/>
          <a:p>
            <a:r>
              <a:t>参照資料（2026年10月7日確認）</a:t>
            </a:r>
          </a:p>
          <a:p>
            <a:r>
              <a:t>第1回資料と本教材のために作成した例・設問．</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教師なし学習：正解の区分を与えず構造を探す</a:t>
            </a:r>
          </a:p>
          <a:p>
            <a:r>
              <a:t>目安：3分／授業開始から 43〜46分</a:t>
            </a:r>
          </a:p>
          <a:p/>
          <a:p>
            <a:r>
              <a:t>教師なし学習では，入力に対応する正解を与えず，データにある構造を探す．クラスタリングは似た例をグループに分ける課題．次元削減は多くの特徴量を少ない表現にまとめる課題で，詳しい手法は第4回以降に回す．</a:t>
            </a:r>
          </a:p>
          <a:p>
            <a:r>
              <a:t>正解ラベルを与えないから，目的や評価が不要という意味ではない．どの特徴量や距離を使うか，結果が利用目的に合うかは人が考える．</a:t>
            </a:r>
          </a:p>
          <a:p/>
          <a:p>
            <a:r>
              <a:t>参照資料（2026年10月7日確認）</a:t>
            </a:r>
          </a:p>
          <a:p>
            <a:r>
              <a:t>scikit-learn：Clustering</a:t>
            </a:r>
          </a:p>
          <a:p>
            <a:r>
              <a:t>https://scikit-learn.org/stable/modules/clustering.html</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クラスタリングの例：顧客をグループに分ける</a:t>
            </a:r>
          </a:p>
          <a:p>
            <a:r>
              <a:t>目安：4分／授業開始から 46〜50分</a:t>
            </a:r>
          </a:p>
          <a:p/>
          <a:p>
            <a:r>
              <a:t>架空の顧客データで，購入頻度と1回の購入額を特徴量にする模式図．図では二つのグループに分けた例を示すが，唯一の正しい分け方という意味ではない．特徴量，尺度，グループ数などによって結果は変わる．</a:t>
            </a:r>
          </a:p>
          <a:p>
            <a:r>
              <a:t>活動：二つのグループにどのような名前を付けられそうかを考える．名前は結果を解釈する人が付けたもので，モデルが意味を理解して自動的に付けたわけではない．分類との違いは，学習時に正解のグループ名が与えられていない点．</a:t>
            </a:r>
          </a:p>
          <a:p/>
          <a:p>
            <a:r>
              <a:t>参照資料（2026年10月7日確認）</a:t>
            </a:r>
          </a:p>
          <a:p>
            <a:r>
              <a:t>scikit-learn：Clustering</a:t>
            </a:r>
          </a:p>
          <a:p>
            <a:r>
              <a:t>https://scikit-learn.org/stable/modules/clustering.html</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強化学習：行動の結果から選び方を改善する</a:t>
            </a:r>
          </a:p>
          <a:p>
            <a:r>
              <a:t>目安：4分／授業開始から 50〜54分</a:t>
            </a:r>
          </a:p>
          <a:p/>
          <a:p>
            <a:r>
              <a:t>エージェントが環境の状態を観測して行動し，次の状態と報酬を受け取る．将来分も含めた報酬を大きくする行動の選び方を学ぶ．各状態で「正解の行動」を直接示してもらう教師あり学習とは違う．</a:t>
            </a:r>
          </a:p>
          <a:p>
            <a:r>
              <a:t>迷路の作例ではゴールで+10，移動ごとに−1とすると，長い経路より短い経路が有利になる．試行錯誤はシミュレーションでも行える．報酬の設計次第で意図と違う行動を学ぶことがあり，目先の報酬だけを最大にする説明はしない．</a:t>
            </a:r>
          </a:p>
          <a:p/>
          <a:p>
            <a:r>
              <a:t>参照資料（2026年10月7日確認）</a:t>
            </a:r>
          </a:p>
          <a:p>
            <a:r>
              <a:t>Sutton &amp; Barto：Reinforcement Learning, 2nd ed.</a:t>
            </a:r>
          </a:p>
          <a:p>
            <a:r>
              <a:t>https://mitpress.mit.edu/9780262039246/reinforcement-learning/</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三つの学習方法を，同じ観点で比べる</a:t>
            </a:r>
          </a:p>
          <a:p>
            <a:r>
              <a:t>目安：3分／授業開始から 54〜57分</a:t>
            </a:r>
          </a:p>
          <a:p/>
          <a:p>
            <a:r>
              <a:t>学習方法の分類は，アプリケーションの名前ではなく，学習時の情報や目的で考える．顧客を対象にしても，正解の顧客区分を学ぶなら教師あり，正解区分を与えずグループを発見するなら教師なしとなる．</a:t>
            </a:r>
          </a:p>
          <a:p>
            <a:r>
              <a:t>強化学習に報酬があることを「正解データと同じ」と取り違えない．報酬は行動の良さの手がかりだが，正解の行動をそのまま示すものではない．</a:t>
            </a:r>
          </a:p>
          <a:p/>
          <a:p>
            <a:r>
              <a:t>参照資料（2026年10月7日確認）</a:t>
            </a:r>
          </a:p>
          <a:p>
            <a:r>
              <a:t>第1回資料と本教材のために作成した例・設問．</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演習2：どの学習方法を使うか</a:t>
            </a:r>
          </a:p>
          <a:p>
            <a:r>
              <a:t>目安：5分／授業開始から 57〜62分</a:t>
            </a:r>
          </a:p>
          <a:p/>
          <a:p>
            <a:r>
              <a:t>個人で2分，隣同士で理由の説明2分，全体確認1分．三つの方法から，この問題設定で自然なものを選ぶ．</a:t>
            </a:r>
          </a:p>
          <a:p>
            <a:r>
              <a:t>Aは教師あり，Bは教師なし，Cは強化学習．正解ラベル，正解の区分がないこと，報酬を手がかりにする．現実の業務では組合せもあるが，ここでは書かれた設定で判断する．</a:t>
            </a:r>
          </a:p>
          <a:p/>
          <a:p>
            <a:r>
              <a:t>参照資料（2026年10月7日確認）</a:t>
            </a:r>
          </a:p>
          <a:p>
            <a:r>
              <a:t>第1回資料と本教材のために作成した例・設問．</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演習2：解答</a:t>
            </a:r>
          </a:p>
          <a:p>
            <a:r>
              <a:t>目安：2分／授業開始から 62〜64分</a:t>
            </a:r>
          </a:p>
          <a:p/>
          <a:p>
            <a:r>
              <a:t>Aは画像という題材だから深層学習と答えるのではなく，正解付きの例を使うという学習の種類を問うている．Bはグループ分けでも，既知の正解区分への予測とは違う．Cは複数回の行動とその結果から方策を改善する．</a:t>
            </a:r>
          </a:p>
          <a:p>
            <a:r>
              <a:t>教師あり・教師なし・強化学習と，ニューラルネットワークなどのモデルの種類は別の観点．</a:t>
            </a:r>
          </a:p>
          <a:p/>
          <a:p>
            <a:r>
              <a:t>参照資料（2026年10月7日確認）</a:t>
            </a:r>
          </a:p>
          <a:p>
            <a:r>
              <a:t>第1回資料と本教材のために作成した例・設問．</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汎化：学習に使っていないデータでも役立つか</a:t>
            </a:r>
          </a:p>
          <a:p>
            <a:r>
              <a:t>目安：3分／授業開始から 64〜67分</a:t>
            </a:r>
          </a:p>
          <a:p/>
          <a:p>
            <a:r>
              <a:t>汎化は，学習に使っていない例にもモデルが役立つこと．既に見た問題を覚えるだけでは，初めての問題に答えられるとは限らないというたとえで説明する．</a:t>
            </a:r>
          </a:p>
          <a:p>
            <a:r>
              <a:t>評価用データは，実際の利用場面をある程度代表することが必要．夏のデータで高精度でも冬で同じ精度になる保証はない．単に未知であればどんな評価データでもよいという意味ではない．</a:t>
            </a:r>
          </a:p>
          <a:p/>
          <a:p>
            <a:r>
              <a:t>参照資料（2026年10月7日確認）</a:t>
            </a:r>
          </a:p>
          <a:p>
            <a:r>
              <a:t>Google：Generalization</a:t>
            </a:r>
          </a:p>
          <a:p>
            <a:r>
              <a:t>https://developers.google.com/machine-learning/crash-course/overfitting/generalization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データを分ける：訓練・検証・テスト</a:t>
            </a:r>
          </a:p>
          <a:p>
            <a:r>
              <a:t>目安：4分／授業開始から 67〜71分</a:t>
            </a:r>
          </a:p>
          <a:p/>
          <a:p>
            <a:r>
              <a:t>訓練データはパラメータの学習，検証データはモデルや設定の選択，テストデータは選択後の最終評価に使う．この三つは役割で区別する．図の6:2:2は説明用の例で必須の比率ではない．</a:t>
            </a:r>
          </a:p>
          <a:p>
            <a:r>
              <a:t>テスト結果を何度も見て設定を変えると，テストをモデル選択に使ったことになる．その場合，新しい評価データが必要になる．時系列の例では過去から未来への順で分け，同一の対象や重複した例が分割をまたがないようにするなど，データの性質に合わせる．</a:t>
            </a:r>
          </a:p>
          <a:p/>
          <a:p>
            <a:r>
              <a:t>参照資料（2026年10月7日確認）</a:t>
            </a:r>
          </a:p>
          <a:p>
            <a:r>
              <a:t>Google：Dividing the original dataset</a:t>
            </a:r>
          </a:p>
          <a:p>
            <a:r>
              <a:t>https://developers.google.com/machine-learning/crash-course/overfitting/dividing-datasets</a:t>
            </a:r>
          </a:p>
          <a:p>
            <a:r>
              <a:t>scikit-learn：Common pitfalls</a:t>
            </a:r>
          </a:p>
          <a:p>
            <a:r>
              <a:t>https://scikit-learn.org/stable/common_pitfalls.html</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過学習：訓練データに合わせすぎる</a:t>
            </a:r>
          </a:p>
          <a:p>
            <a:r>
              <a:t>目安：3分／授業開始から 71〜74分</a:t>
            </a:r>
          </a:p>
          <a:p/>
          <a:p>
            <a:r>
              <a:t>過学習は訓練データの細部や偶然の変動まで適合し，未知のデータで十分に役立たない状態．表は架空の分類モデルで，同様の条件から得た訓練・検証データを比較する模式例．Aは訓練99%に対して検証68%，Bは91%と88%．検証上ではBが良い．</a:t>
            </a:r>
          </a:p>
          <a:p>
            <a:r>
              <a:t>訓練と検証の差だけで全ての原因を確定するものではなく，偏りやデータ分割も点検する．本回は訓練結果だけで選ばないことを理解する．対策の詳しい話は第6回．</a:t>
            </a:r>
          </a:p>
          <a:p/>
          <a:p>
            <a:r>
              <a:t>参照資料（2026年10月7日確認）</a:t>
            </a:r>
          </a:p>
          <a:p>
            <a:r>
              <a:t>Google：Overfitting</a:t>
            </a:r>
          </a:p>
          <a:p>
            <a:r>
              <a:t>https://developers.google.com/machine-learning/crash-course/overfitting/overfitting</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単純すぎても，複雑すぎても難しい</a:t>
            </a:r>
          </a:p>
          <a:p>
            <a:r>
              <a:t>目安：3分／授業開始から 74〜77分</a:t>
            </a:r>
          </a:p>
          <a:p/>
          <a:p>
            <a:r>
              <a:t>単純すぎるモデルではデータの傾向を捉えられず，訓練と検証の両方で誤差が大きい場合がある．これを過少適合・アンダーフィッティングと呼ぶ．複雑なモデルには表現力があるが，過学習への注意が必要．</a:t>
            </a:r>
          </a:p>
          <a:p>
            <a:r>
              <a:t>この表は起こり得る典型的な状態を整理したもので，複雑なモデルが必ず過学習するという法則ではない．訓練と検証の結果を一緒に見て，データ量や設定を考える．</a:t>
            </a:r>
          </a:p>
          <a:p/>
          <a:p>
            <a:r>
              <a:t>参照資料（2026年10月7日確認）</a:t>
            </a:r>
          </a:p>
          <a:p>
            <a:r>
              <a:t>Google：Overfitting</a:t>
            </a:r>
          </a:p>
          <a:p>
            <a:r>
              <a:t>https://developers.google.com/machine-learning/crash-course/overfitting/overfitting</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データの品質と，予測時に使える情報</a:t>
            </a:r>
          </a:p>
          <a:p>
            <a:r>
              <a:t>目安：4分／授業開始から 77〜81分</a:t>
            </a:r>
          </a:p>
          <a:p/>
          <a:p>
            <a:r>
              <a:t>モデルの種類だけでなく，データの欠損，ラベルの誤り，偏り，利用条件の変化が結果に影響する．予測時には知り得ない情報を学習や評価に入れると，見かけの成績が良くなることがある．これをデータ漏洩・リークの一例として説明する．</a:t>
            </a:r>
          </a:p>
          <a:p>
            <a:r>
              <a:t>販売予測を前日に行う例で，対象日の閉店後の在庫を特徴量に使うと，実際の予測時には得られない．気温も，後から観測した実測値ではなく予測時点の予報で学習データを揃える必要がある．活動：表の特徴量がいつ入手できるかを再確認する．</a:t>
            </a:r>
          </a:p>
          <a:p/>
          <a:p>
            <a:r>
              <a:t>参照資料（2026年10月7日確認）</a:t>
            </a:r>
          </a:p>
          <a:p>
            <a:r>
              <a:t>scikit-learn：Common pitfalls</a:t>
            </a:r>
          </a:p>
          <a:p>
            <a:r>
              <a:t>https://scikit-learn.org/stable/common_pitfalls.html</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最終確認：学習方法と評価の理由を説明する</a:t>
            </a:r>
          </a:p>
          <a:p>
            <a:r>
              <a:t>目安：3分／授業開始から 81〜84分</a:t>
            </a:r>
          </a:p>
          <a:p/>
          <a:p>
            <a:r>
              <a:t>3問を個人で1分考え，1分で隣に説明し，最後の1分で確認する．名前だけでなく理由を言う．</a:t>
            </a:r>
          </a:p>
          <a:p>
            <a:r>
              <a:t>正答：①入力と実際の販売数の例から学ぶ教師ありの回帰．②正解の区分を与えない教師なしのクラスタリング．③学習に使っていない検証・テストの結果を確認し，過学習やデータの偏りを考える．</a:t>
            </a:r>
          </a:p>
          <a:p/>
          <a:p>
            <a:r>
              <a:t>参照資料（2026年10月7日確認）</a:t>
            </a:r>
          </a:p>
          <a:p>
            <a:r>
              <a:t>第1回資料と本教材のために作成した例・設問．</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最終確認：解答</a:t>
            </a:r>
          </a:p>
          <a:p>
            <a:r>
              <a:t>目安：1分／授業開始から 84〜85分</a:t>
            </a:r>
          </a:p>
          <a:p/>
          <a:p>
            <a:r>
              <a:t>①では数値を予測することが回帰の理由．②では正解のグループがないことが教師なしの理由．③では未知の例で確かめることが必要．検証とテストの役割も一言復習する．時間がなければスライドの三項目を読み，質問のある項目を次回の導入で拾う．</a:t>
            </a:r>
          </a:p>
          <a:p/>
          <a:p>
            <a:r>
              <a:t>参照資料（2026年10月7日確認）</a:t>
            </a:r>
          </a:p>
          <a:p>
            <a:r>
              <a:t>第1回資料と本教材のために作成した例・設問．</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今日のまとめ</a:t>
            </a:r>
          </a:p>
          <a:p>
            <a:r>
              <a:t>目安：2分／授業開始から 85〜87分</a:t>
            </a:r>
          </a:p>
          <a:p/>
          <a:p>
            <a:r>
              <a:t>機械学習の全体像を三つの問いで整理する．入力・出力を決める，学習時の情報で種類を考える，未知のデータで評価する．教師あり学習の話を中心にしたが，教師なしや強化学習でも目的に応じた評価が必要．</a:t>
            </a:r>
          </a:p>
          <a:p>
            <a:r>
              <a:t>この授業では細かなアルゴリズム名の網羅を目的にしない．次回の代表モデルと評価指標が，今日のどの部分に当たるかを考えてもらう．</a:t>
            </a:r>
          </a:p>
          <a:p/>
          <a:p>
            <a:r>
              <a:t>参照資料（2026年10月7日確認）</a:t>
            </a:r>
          </a:p>
          <a:p>
            <a:r>
              <a:t>第1回資料と本教材のために作成した例・設問．</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振り返りと次回</a:t>
            </a:r>
          </a:p>
          <a:p>
            <a:r>
              <a:t>目安：3分／授業開始から 87〜90分</a:t>
            </a:r>
          </a:p>
          <a:p/>
          <a:p>
            <a:r>
              <a:t>2分で短い振り返りを書き，残り1分で次回を予告する．身近な課題を一つ選んで，入力と出力，学習時の手がかり，新しいデータで確かめる方法を書く．正解の課題名は指定しない．</a:t>
            </a:r>
          </a:p>
          <a:p>
            <a:r>
              <a:t>次回は線形回帰，ロジスティック回帰，決定木などを代表例として扱い，評価指標を具体化する．詳細はlecture-plan.mdの第4回に対応する．今日はプログラミングの準備を必要としない．</a:t>
            </a:r>
          </a:p>
          <a:p/>
          <a:p>
            <a:r>
              <a:t>参照資料（2026年10月7日確認）</a:t>
            </a:r>
          </a:p>
          <a:p>
            <a:r>
              <a:t>第1回資料と本教材のために作成した例・設問．</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参考資料1：機械学習の基本</a:t>
            </a:r>
          </a:p>
          <a:p>
            <a:r>
              <a:t>付録：授業時間には含めない</a:t>
            </a:r>
          </a:p>
          <a:p/>
          <a:p>
            <a:r>
              <a:t>タイトルをクリックすると開発主体の公式教材・文書や著者の教科書の出版社ページを開く．本資料は各資料の基本概念を参照し，講義向けの作例で説明したもの．図・数値・演習は本教材用に作成し，原資料の図や練習問題の転載は行っていない．</a:t>
            </a:r>
          </a:p>
          <a:p/>
          <a:p>
            <a:r>
              <a:t>参照資料（2026年10月7日確認）</a:t>
            </a:r>
          </a:p>
          <a:p>
            <a:r>
              <a:t>Google：What is Machine Learning?</a:t>
            </a:r>
          </a:p>
          <a:p>
            <a:r>
              <a:t>https://developers.google.com/machine-learning/intro-to-ml/what-is-ml</a:t>
            </a:r>
          </a:p>
          <a:p>
            <a:r>
              <a:t>Google：Supervised Learning</a:t>
            </a:r>
          </a:p>
          <a:p>
            <a:r>
              <a:t>https://developers.google.com/machine-learning/intro-to-ml/supervised</a:t>
            </a:r>
          </a:p>
          <a:p>
            <a:r>
              <a:t>Google：Linear regression</a:t>
            </a:r>
          </a:p>
          <a:p>
            <a:r>
              <a:t>https://developers.google.com/machine-learning/crash-course/linear-regression</a:t>
            </a:r>
          </a:p>
          <a:p>
            <a:r>
              <a:t>scikit-learn：Clustering</a:t>
            </a:r>
          </a:p>
          <a:p>
            <a:r>
              <a:t>https://scikit-learn.org/stable/modules/clustering.html</a:t>
            </a:r>
          </a:p>
          <a:p>
            <a:r>
              <a:t>Sutton &amp; Barto：Reinforcement Learning, 2nd ed.</a:t>
            </a:r>
          </a:p>
          <a:p>
            <a:r>
              <a:t>https://mitpress.mit.edu/9780262039246/reinforcement-learning/</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参考資料2：汎化・データ分割・過学習</a:t>
            </a:r>
          </a:p>
          <a:p>
            <a:r>
              <a:t>付録：授業時間には含めない</a:t>
            </a:r>
          </a:p>
          <a:p/>
          <a:p>
            <a:r>
              <a:t>汎化，データ分割，過学習，リークを扱う公式資料．講義では学習の流れを中心にし，数学的な詳細や実装上の手続きは次回以降に回す．全15回の予定はリポジトリ直下のlecture-plan.md，詳細な試験範囲はg-kentei-syllabus.mdにある．</a:t>
            </a:r>
          </a:p>
          <a:p/>
          <a:p>
            <a:r>
              <a:t>参照資料（2026年10月7日確認）</a:t>
            </a:r>
          </a:p>
          <a:p>
            <a:r>
              <a:t>Google：Generalization</a:t>
            </a:r>
          </a:p>
          <a:p>
            <a:r>
              <a:t>https://developers.google.com/machine-learning/crash-course/overfitting/generalization</a:t>
            </a:r>
          </a:p>
          <a:p>
            <a:r>
              <a:t>Google：Dividing the original dataset</a:t>
            </a:r>
          </a:p>
          <a:p>
            <a:r>
              <a:t>https://developers.google.com/machine-learning/crash-course/overfitting/dividing-datasets</a:t>
            </a:r>
          </a:p>
          <a:p>
            <a:r>
              <a:t>Google：Overfitting</a:t>
            </a:r>
          </a:p>
          <a:p>
            <a:r>
              <a:t>https://developers.google.com/machine-learning/crash-course/overfitting/overfitting</a:t>
            </a:r>
          </a:p>
          <a:p>
            <a:r>
              <a:t>scikit-learn：Common pitfalls</a:t>
            </a:r>
          </a:p>
          <a:p>
            <a:r>
              <a:t>https://scikit-learn.org/stable/common_pitfalls.html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hyperlink" Target="https://developers.google.com/machine-learning/intro-to-ml/what-is-ml" TargetMode="External"/><Relationship Id="rId4" Type="http://schemas.openxmlformats.org/officeDocument/2006/relationships/hyperlink" Target="https://developers.google.com/machine-learning/intro-to-ml/supervised" TargetMode="External"/><Relationship Id="rId5" Type="http://schemas.openxmlformats.org/officeDocument/2006/relationships/hyperlink" Target="https://developers.google.com/machine-learning/crash-course/linear-regression" TargetMode="External"/><Relationship Id="rId6" Type="http://schemas.openxmlformats.org/officeDocument/2006/relationships/hyperlink" Target="https://scikit-learn.org/stable/modules/clustering.html" TargetMode="External"/><Relationship Id="rId7" Type="http://schemas.openxmlformats.org/officeDocument/2006/relationships/hyperlink" Target="https://mitpress.mit.edu/9780262039246/reinforcement-learning/"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hyperlink" Target="https://developers.google.com/machine-learning/crash-course/overfitting/generalization" TargetMode="External"/><Relationship Id="rId4" Type="http://schemas.openxmlformats.org/officeDocument/2006/relationships/hyperlink" Target="https://developers.google.com/machine-learning/crash-course/overfitting/dividing-datasets" TargetMode="External"/><Relationship Id="rId5" Type="http://schemas.openxmlformats.org/officeDocument/2006/relationships/hyperlink" Target="https://developers.google.com/machine-learning/crash-course/overfitting/overfitting" TargetMode="External"/><Relationship Id="rId6" Type="http://schemas.openxmlformats.org/officeDocument/2006/relationships/hyperlink" Target="https://scikit-learn.org/stable/common_pitfalls.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導入　1</a:t>
            </a:r>
            <a:endParaRPr lang="ja-JP" sz="1050"/>
          </a:p>
        </p:txBody>
      </p:sp>
      <p:sp>
        <p:nvSpPr>
          <p:cNvPr id="5" name="TextBox 4"/>
          <p:cNvSpPr txBox="1"/>
          <p:nvPr/>
        </p:nvSpPr>
        <p:spPr>
          <a:xfrm>
            <a:off x="310896" y="740664"/>
            <a:ext cx="8522208" cy="2048256"/>
          </a:xfrm>
          <a:prstGeom prst="rect">
            <a:avLst/>
          </a:prstGeom>
          <a:noFill/>
        </p:spPr>
        <p:txBody>
          <a:bodyPr wrap="square" anchor="t" lIns="0" rIns="0" tIns="0" bIns="0">
            <a:noAutofit/>
          </a:bodyPr>
          <a:lstStyle/>
          <a:p>
            <a:pPr algn="ctr">
              <a:lnSpc>
                <a:spcPct val="113000"/>
              </a:lnSpc>
              <a:spcAft>
                <a:spcPts val="0"/>
              </a:spcAft>
            </a:pPr>
            <a:r>
              <a:rPr sz="4400" b="0" lang="ja-JP">
                <a:solidFill>
                  <a:srgbClr val="000000"/>
                </a:solidFill>
                <a:latin typeface="Arial"/>
                <a:ea typeface="ＭＳ Ｐゴシック"/>
                <a:cs typeface="ＭＳ Ｐゴシック"/>
              </a:rPr>
              <a:t>情報技術者（民間資格）3</a:t>
            </a:r>
            <a:endParaRPr lang="ja-JP" sz="4400"/>
          </a:p>
          <a:p>
            <a:pPr algn="ctr">
              <a:lnSpc>
                <a:spcPct val="113000"/>
              </a:lnSpc>
              <a:spcAft>
                <a:spcPts val="0"/>
              </a:spcAft>
            </a:pPr>
            <a:r>
              <a:rPr sz="4400" b="0" lang="ja-JP">
                <a:solidFill>
                  <a:srgbClr val="000000"/>
                </a:solidFill>
                <a:latin typeface="Arial"/>
                <a:ea typeface="ＭＳ Ｐゴシック"/>
                <a:cs typeface="ＭＳ Ｐゴシック"/>
              </a:rPr>
              <a:t>G検定</a:t>
            </a:r>
            <a:endParaRPr lang="ja-JP" sz="4400"/>
          </a:p>
        </p:txBody>
      </p:sp>
      <p:sp>
        <p:nvSpPr>
          <p:cNvPr id="6" name="TextBox 5"/>
          <p:cNvSpPr txBox="1"/>
          <p:nvPr/>
        </p:nvSpPr>
        <p:spPr>
          <a:xfrm>
            <a:off x="457200" y="2990088"/>
            <a:ext cx="8229600" cy="685800"/>
          </a:xfrm>
          <a:prstGeom prst="rect">
            <a:avLst/>
          </a:prstGeom>
          <a:noFill/>
        </p:spPr>
        <p:txBody>
          <a:bodyPr wrap="square" anchor="t" lIns="0" rIns="0" tIns="0" bIns="0">
            <a:noAutofit/>
          </a:bodyPr>
          <a:lstStyle/>
          <a:p>
            <a:pPr algn="ctr">
              <a:lnSpc>
                <a:spcPct val="113000"/>
              </a:lnSpc>
              <a:spcAft>
                <a:spcPts val="0"/>
              </a:spcAft>
            </a:pPr>
            <a:r>
              <a:rPr sz="3000" b="0" lang="ja-JP">
                <a:solidFill>
                  <a:srgbClr val="FF0000"/>
                </a:solidFill>
                <a:latin typeface="Arial"/>
                <a:ea typeface="ＭＳ Ｐゴシック"/>
                <a:cs typeface="ＭＳ Ｐゴシック"/>
              </a:rPr>
              <a:t>機械学習の基礎</a:t>
            </a:r>
            <a:endParaRPr lang="ja-JP" sz="3000"/>
          </a:p>
        </p:txBody>
      </p:sp>
      <p:sp>
        <p:nvSpPr>
          <p:cNvPr id="7" name="TextBox 6"/>
          <p:cNvSpPr txBox="1"/>
          <p:nvPr/>
        </p:nvSpPr>
        <p:spPr>
          <a:xfrm>
            <a:off x="457200" y="4206240"/>
            <a:ext cx="8229600" cy="301752"/>
          </a:xfrm>
          <a:prstGeom prst="rect">
            <a:avLst/>
          </a:prstGeom>
          <a:noFill/>
        </p:spPr>
        <p:txBody>
          <a:bodyPr wrap="square" anchor="t" lIns="0" rIns="0" tIns="0" bIns="0">
            <a:noAutofit/>
          </a:bodyPr>
          <a:lstStyle/>
          <a:p>
            <a:pPr algn="ctr">
              <a:lnSpc>
                <a:spcPct val="113000"/>
              </a:lnSpc>
              <a:spcAft>
                <a:spcPts val="0"/>
              </a:spcAft>
            </a:pPr>
            <a:r>
              <a:rPr sz="1600" b="0" lang="ja-JP">
                <a:solidFill>
                  <a:srgbClr val="707070"/>
                </a:solidFill>
                <a:latin typeface="Arial"/>
                <a:ea typeface="ＭＳ Ｐゴシック"/>
                <a:cs typeface="ＭＳ Ｐゴシック"/>
              </a:rPr>
              <a:t>第3回 ／ 90分</a:t>
            </a:r>
            <a:endParaRPr lang="ja-JP" sz="16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今日の到達目標</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導入　2</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6492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特徴量と正解データ</a:t>
            </a:r>
            <a:r>
              <a:rPr sz="2000" b="0" lang="ja-JP">
                <a:solidFill>
                  <a:srgbClr val="404040"/>
                </a:solidFill>
                <a:latin typeface="Arial"/>
                <a:ea typeface="ＭＳ Ｐゴシック"/>
                <a:cs typeface="ＭＳ Ｐゴシック"/>
              </a:rPr>
              <a:t>を，具体例で説明する．</a:t>
            </a:r>
            <a:endParaRPr lang="ja-JP" sz="2000"/>
          </a:p>
        </p:txBody>
      </p:sp>
      <p:sp>
        <p:nvSpPr>
          <p:cNvPr id="7" name="TextBox 6"/>
          <p:cNvSpPr txBox="1"/>
          <p:nvPr/>
        </p:nvSpPr>
        <p:spPr>
          <a:xfrm>
            <a:off x="502920" y="193395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1901952"/>
            <a:ext cx="7882127" cy="6492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学習と推論</a:t>
            </a:r>
            <a:r>
              <a:rPr sz="2000" b="0" lang="ja-JP">
                <a:solidFill>
                  <a:srgbClr val="404040"/>
                </a:solidFill>
                <a:latin typeface="Arial"/>
                <a:ea typeface="ＭＳ Ｐゴシック"/>
                <a:cs typeface="ＭＳ Ｐゴシック"/>
              </a:rPr>
              <a:t>で，何をしているかを区別する．</a:t>
            </a:r>
            <a:endParaRPr lang="ja-JP" sz="2000"/>
          </a:p>
        </p:txBody>
      </p:sp>
      <p:sp>
        <p:nvSpPr>
          <p:cNvPr id="9" name="TextBox 8"/>
          <p:cNvSpPr txBox="1"/>
          <p:nvPr/>
        </p:nvSpPr>
        <p:spPr>
          <a:xfrm>
            <a:off x="502920" y="264718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2615184"/>
            <a:ext cx="7882127" cy="6492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教師あり・教師なし・強化学習</a:t>
            </a:r>
            <a:r>
              <a:rPr sz="2000" b="0" lang="ja-JP">
                <a:solidFill>
                  <a:srgbClr val="404040"/>
                </a:solidFill>
                <a:latin typeface="Arial"/>
                <a:ea typeface="ＭＳ Ｐゴシック"/>
                <a:cs typeface="ＭＳ Ｐゴシック"/>
              </a:rPr>
              <a:t>の違いを説明する．</a:t>
            </a:r>
            <a:endParaRPr lang="ja-JP" sz="2000"/>
          </a:p>
        </p:txBody>
      </p:sp>
      <p:sp>
        <p:nvSpPr>
          <p:cNvPr id="11" name="TextBox 10"/>
          <p:cNvSpPr txBox="1"/>
          <p:nvPr/>
        </p:nvSpPr>
        <p:spPr>
          <a:xfrm>
            <a:off x="502920" y="336042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2" name="TextBox 11"/>
          <p:cNvSpPr txBox="1"/>
          <p:nvPr/>
        </p:nvSpPr>
        <p:spPr>
          <a:xfrm>
            <a:off x="850392" y="3328415"/>
            <a:ext cx="7882127" cy="6492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未知のデータで評価する理由</a:t>
            </a:r>
            <a:r>
              <a:rPr sz="2000" b="0" lang="ja-JP">
                <a:solidFill>
                  <a:srgbClr val="404040"/>
                </a:solidFill>
                <a:latin typeface="Arial"/>
                <a:ea typeface="ＭＳ Ｐゴシック"/>
                <a:cs typeface="ＭＳ Ｐゴシック"/>
              </a:rPr>
              <a:t>と，過学習を説明する．</a:t>
            </a:r>
            <a:endParaRPr lang="ja-JP" sz="2000"/>
          </a:p>
        </p:txBody>
      </p:sp>
      <p:sp>
        <p:nvSpPr>
          <p:cNvPr id="13" name="TextBox 12"/>
          <p:cNvSpPr txBox="1"/>
          <p:nvPr/>
        </p:nvSpPr>
        <p:spPr>
          <a:xfrm>
            <a:off x="502920" y="4361688"/>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今日は，機械学習の全体の流れをつかむ．</a:t>
            </a:r>
            <a:endParaRPr lang="ja-JP" sz="19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全15回の中での位置</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導入　3</a:t>
            </a:r>
            <a:endParaRPr lang="ja-JP" sz="1050"/>
          </a:p>
        </p:txBody>
      </p:sp>
      <p:sp>
        <p:nvSpPr>
          <p:cNvPr id="5" name="Rectangle 4"/>
          <p:cNvSpPr/>
          <p:nvPr/>
        </p:nvSpPr>
        <p:spPr>
          <a:xfrm>
            <a:off x="365760" y="1188720"/>
            <a:ext cx="1463040" cy="521207"/>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回</a:t>
            </a:r>
          </a:p>
        </p:txBody>
      </p:sp>
      <p:sp>
        <p:nvSpPr>
          <p:cNvPr id="6" name="Rectangle 5"/>
          <p:cNvSpPr/>
          <p:nvPr/>
        </p:nvSpPr>
        <p:spPr>
          <a:xfrm>
            <a:off x="1828800" y="1188720"/>
            <a:ext cx="6903720" cy="521207"/>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主な内容</a:t>
            </a:r>
          </a:p>
        </p:txBody>
      </p:sp>
      <p:sp>
        <p:nvSpPr>
          <p:cNvPr id="7" name="Rectangle 6"/>
          <p:cNvSpPr/>
          <p:nvPr/>
        </p:nvSpPr>
        <p:spPr>
          <a:xfrm>
            <a:off x="365760" y="1709928"/>
            <a:ext cx="14630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1〜2</a:t>
            </a:r>
          </a:p>
        </p:txBody>
      </p:sp>
      <p:sp>
        <p:nvSpPr>
          <p:cNvPr id="8" name="Rectangle 7"/>
          <p:cNvSpPr/>
          <p:nvPr/>
        </p:nvSpPr>
        <p:spPr>
          <a:xfrm>
            <a:off x="1828800" y="1709928"/>
            <a:ext cx="690372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AIの概要・歴史／探索・知識を使う方法</a:t>
            </a:r>
          </a:p>
        </p:txBody>
      </p:sp>
      <p:sp>
        <p:nvSpPr>
          <p:cNvPr id="9" name="Rectangle 8"/>
          <p:cNvSpPr/>
          <p:nvPr/>
        </p:nvSpPr>
        <p:spPr>
          <a:xfrm>
            <a:off x="365760" y="2231136"/>
            <a:ext cx="14630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3〜4</a:t>
            </a:r>
          </a:p>
        </p:txBody>
      </p:sp>
      <p:sp>
        <p:nvSpPr>
          <p:cNvPr id="10" name="Rectangle 9"/>
          <p:cNvSpPr/>
          <p:nvPr/>
        </p:nvSpPr>
        <p:spPr>
          <a:xfrm>
            <a:off x="1828800" y="2231136"/>
            <a:ext cx="690372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機械学習の基礎／代表的な手法と評価</a:t>
            </a:r>
          </a:p>
        </p:txBody>
      </p:sp>
      <p:sp>
        <p:nvSpPr>
          <p:cNvPr id="11" name="Rectangle 10"/>
          <p:cNvSpPr/>
          <p:nvPr/>
        </p:nvSpPr>
        <p:spPr>
          <a:xfrm>
            <a:off x="365760" y="2752344"/>
            <a:ext cx="14630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5〜9</a:t>
            </a:r>
          </a:p>
        </p:txBody>
      </p:sp>
      <p:sp>
        <p:nvSpPr>
          <p:cNvPr id="12" name="Rectangle 11"/>
          <p:cNvSpPr/>
          <p:nvPr/>
        </p:nvSpPr>
        <p:spPr>
          <a:xfrm>
            <a:off x="1828800" y="2752344"/>
            <a:ext cx="690372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深層学習／画像・言葉／生成AI</a:t>
            </a:r>
          </a:p>
        </p:txBody>
      </p:sp>
      <p:sp>
        <p:nvSpPr>
          <p:cNvPr id="13" name="Rectangle 12"/>
          <p:cNvSpPr/>
          <p:nvPr/>
        </p:nvSpPr>
        <p:spPr>
          <a:xfrm>
            <a:off x="365760" y="3273552"/>
            <a:ext cx="14630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10〜12</a:t>
            </a:r>
          </a:p>
        </p:txBody>
      </p:sp>
      <p:sp>
        <p:nvSpPr>
          <p:cNvPr id="14" name="Rectangle 13"/>
          <p:cNvSpPr/>
          <p:nvPr/>
        </p:nvSpPr>
        <p:spPr>
          <a:xfrm>
            <a:off x="1828800" y="3273552"/>
            <a:ext cx="690372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AIの応用・開発／実習2回</a:t>
            </a:r>
          </a:p>
        </p:txBody>
      </p:sp>
      <p:sp>
        <p:nvSpPr>
          <p:cNvPr id="15" name="Rectangle 14"/>
          <p:cNvSpPr/>
          <p:nvPr/>
        </p:nvSpPr>
        <p:spPr>
          <a:xfrm>
            <a:off x="365760" y="3794759"/>
            <a:ext cx="14630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13〜15</a:t>
            </a:r>
          </a:p>
        </p:txBody>
      </p:sp>
      <p:sp>
        <p:nvSpPr>
          <p:cNvPr id="16" name="Rectangle 15"/>
          <p:cNvSpPr/>
          <p:nvPr/>
        </p:nvSpPr>
        <p:spPr>
          <a:xfrm>
            <a:off x="1828800" y="3794759"/>
            <a:ext cx="690372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法律・倫理／総復習</a:t>
            </a:r>
          </a:p>
        </p:txBody>
      </p:sp>
      <p:sp>
        <p:nvSpPr>
          <p:cNvPr id="17" name="TextBox 16"/>
          <p:cNvSpPr txBox="1"/>
          <p:nvPr/>
        </p:nvSpPr>
        <p:spPr>
          <a:xfrm>
            <a:off x="502920" y="4489704"/>
            <a:ext cx="8229600" cy="237744"/>
          </a:xfrm>
          <a:prstGeom prst="rect">
            <a:avLst/>
          </a:prstGeom>
          <a:noFill/>
        </p:spPr>
        <p:txBody>
          <a:bodyPr wrap="square" anchor="t" lIns="0" rIns="0" tIns="0" bIns="0">
            <a:noAutofit/>
          </a:bodyPr>
          <a:lstStyle/>
          <a:p>
            <a:pPr algn="l">
              <a:lnSpc>
                <a:spcPct val="113000"/>
              </a:lnSpc>
              <a:spcAft>
                <a:spcPts val="0"/>
              </a:spcAft>
            </a:pPr>
            <a:r>
              <a:rPr sz="1500" b="0" lang="ja-JP">
                <a:solidFill>
                  <a:srgbClr val="FF0000"/>
                </a:solidFill>
                <a:latin typeface="Arial"/>
                <a:ea typeface="ＭＳ Ｐゴシック"/>
                <a:cs typeface="ＭＳ Ｐゴシック"/>
              </a:rPr>
              <a:t>今日：データから学ぶ流れ → 次回：モデルと評価を具体的に見る</a:t>
            </a:r>
            <a:endParaRPr lang="ja-JP" sz="15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前回の復習：ルールを書く方法との違い</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導入　4</a:t>
            </a:r>
            <a:endParaRPr lang="ja-JP" sz="1050"/>
          </a:p>
        </p:txBody>
      </p:sp>
      <p:sp>
        <p:nvSpPr>
          <p:cNvPr id="5" name="Rectangle 4"/>
          <p:cNvSpPr/>
          <p:nvPr/>
        </p:nvSpPr>
        <p:spPr>
          <a:xfrm>
            <a:off x="365760" y="1188720"/>
            <a:ext cx="1874519" cy="758952"/>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比較点</a:t>
            </a:r>
          </a:p>
        </p:txBody>
      </p:sp>
      <p:sp>
        <p:nvSpPr>
          <p:cNvPr id="6" name="Rectangle 5"/>
          <p:cNvSpPr/>
          <p:nvPr/>
        </p:nvSpPr>
        <p:spPr>
          <a:xfrm>
            <a:off x="2240279" y="1188720"/>
            <a:ext cx="3246120" cy="758952"/>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ルールベース</a:t>
            </a:r>
          </a:p>
        </p:txBody>
      </p:sp>
      <p:sp>
        <p:nvSpPr>
          <p:cNvPr id="7" name="Rectangle 6"/>
          <p:cNvSpPr/>
          <p:nvPr/>
        </p:nvSpPr>
        <p:spPr>
          <a:xfrm>
            <a:off x="5486400" y="1188720"/>
            <a:ext cx="3246120" cy="758952"/>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機械学習</a:t>
            </a:r>
          </a:p>
        </p:txBody>
      </p:sp>
      <p:sp>
        <p:nvSpPr>
          <p:cNvPr id="8" name="Rectangle 7"/>
          <p:cNvSpPr/>
          <p:nvPr/>
        </p:nvSpPr>
        <p:spPr>
          <a:xfrm>
            <a:off x="365760" y="1947672"/>
            <a:ext cx="1874519"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例：迷惑メール判定</a:t>
            </a:r>
          </a:p>
        </p:txBody>
      </p:sp>
      <p:sp>
        <p:nvSpPr>
          <p:cNvPr id="9" name="Rectangle 8"/>
          <p:cNvSpPr/>
          <p:nvPr/>
        </p:nvSpPr>
        <p:spPr>
          <a:xfrm>
            <a:off x="2240279" y="1947672"/>
            <a:ext cx="3246120"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人が判定条件を書く</a:t>
            </a:r>
          </a:p>
        </p:txBody>
      </p:sp>
      <p:sp>
        <p:nvSpPr>
          <p:cNvPr id="10" name="Rectangle 9"/>
          <p:cNvSpPr/>
          <p:nvPr/>
        </p:nvSpPr>
        <p:spPr>
          <a:xfrm>
            <a:off x="5486400" y="1947672"/>
            <a:ext cx="3246120"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例から判定モデルを学ぶ</a:t>
            </a:r>
          </a:p>
        </p:txBody>
      </p:sp>
      <p:sp>
        <p:nvSpPr>
          <p:cNvPr id="11" name="Rectangle 10"/>
          <p:cNvSpPr/>
          <p:nvPr/>
        </p:nvSpPr>
        <p:spPr>
          <a:xfrm>
            <a:off x="365760" y="2706624"/>
            <a:ext cx="1874519"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判断の基準</a:t>
            </a:r>
          </a:p>
        </p:txBody>
      </p:sp>
      <p:sp>
        <p:nvSpPr>
          <p:cNvPr id="12" name="Rectangle 11"/>
          <p:cNvSpPr/>
          <p:nvPr/>
        </p:nvSpPr>
        <p:spPr>
          <a:xfrm>
            <a:off x="2240279" y="2706624"/>
            <a:ext cx="3246120"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明示した規則</a:t>
            </a:r>
          </a:p>
        </p:txBody>
      </p:sp>
      <p:sp>
        <p:nvSpPr>
          <p:cNvPr id="13" name="Rectangle 12"/>
          <p:cNvSpPr/>
          <p:nvPr/>
        </p:nvSpPr>
        <p:spPr>
          <a:xfrm>
            <a:off x="5486400" y="2706624"/>
            <a:ext cx="3246120"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学習で調整したモデル</a:t>
            </a:r>
          </a:p>
        </p:txBody>
      </p:sp>
      <p:sp>
        <p:nvSpPr>
          <p:cNvPr id="14" name="Rectangle 13"/>
          <p:cNvSpPr/>
          <p:nvPr/>
        </p:nvSpPr>
        <p:spPr>
          <a:xfrm>
            <a:off x="365760" y="3465576"/>
            <a:ext cx="1874519"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準備するもの</a:t>
            </a:r>
          </a:p>
        </p:txBody>
      </p:sp>
      <p:sp>
        <p:nvSpPr>
          <p:cNvPr id="15" name="Rectangle 14"/>
          <p:cNvSpPr/>
          <p:nvPr/>
        </p:nvSpPr>
        <p:spPr>
          <a:xfrm>
            <a:off x="2240279" y="3465576"/>
            <a:ext cx="3246120"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知識・事実・規則</a:t>
            </a:r>
          </a:p>
        </p:txBody>
      </p:sp>
      <p:sp>
        <p:nvSpPr>
          <p:cNvPr id="16" name="Rectangle 15"/>
          <p:cNvSpPr/>
          <p:nvPr/>
        </p:nvSpPr>
        <p:spPr>
          <a:xfrm>
            <a:off x="5486400" y="3465576"/>
            <a:ext cx="3246120" cy="7589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目的・データ・学習方法</a:t>
            </a:r>
          </a:p>
        </p:txBody>
      </p:sp>
      <p:sp>
        <p:nvSpPr>
          <p:cNvPr id="17" name="TextBox 16"/>
          <p:cNvSpPr txBox="1"/>
          <p:nvPr/>
        </p:nvSpPr>
        <p:spPr>
          <a:xfrm>
            <a:off x="502920" y="4352544"/>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機械学習でも，目的とデータの設計は必要．</a:t>
            </a:r>
            <a:endParaRPr lang="ja-JP" sz="19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機械学習：データからモデルを調整する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データと学習　5</a:t>
            </a:r>
            <a:endParaRPr lang="ja-JP" sz="1050"/>
          </a:p>
        </p:txBody>
      </p:sp>
      <p:sp>
        <p:nvSpPr>
          <p:cNvPr id="5" name="Rectangle 4"/>
          <p:cNvSpPr/>
          <p:nvPr/>
        </p:nvSpPr>
        <p:spPr>
          <a:xfrm>
            <a:off x="594360" y="1508760"/>
            <a:ext cx="2423160" cy="8046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過去の例</a:t>
            </a:r>
          </a:p>
          <a:p>
            <a:pPr algn="ctr">
              <a:lnSpc>
                <a:spcPct val="108000"/>
              </a:lnSpc>
              <a:spcAft>
                <a:spcPts val="0"/>
              </a:spcAft>
            </a:pPr>
            <a:r>
              <a:rPr sz="2100" b="0" lang="ja-JP">
                <a:solidFill>
                  <a:srgbClr val="404040"/>
                </a:solidFill>
                <a:latin typeface="Arial"/>
                <a:ea typeface="ＭＳ Ｐゴシック"/>
                <a:cs typeface="ＭＳ Ｐゴシック"/>
              </a:rPr>
              <a:t>データ</a:t>
            </a:r>
          </a:p>
        </p:txBody>
      </p:sp>
      <p:sp>
        <p:nvSpPr>
          <p:cNvPr id="6" name="Rectangle 5"/>
          <p:cNvSpPr/>
          <p:nvPr/>
        </p:nvSpPr>
        <p:spPr>
          <a:xfrm>
            <a:off x="3374136" y="1508760"/>
            <a:ext cx="2423160" cy="804672"/>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FF0000"/>
                </a:solidFill>
                <a:latin typeface="Arial"/>
                <a:ea typeface="ＭＳ Ｐゴシック"/>
                <a:cs typeface="ＭＳ Ｐゴシック"/>
              </a:rPr>
              <a:t>学習</a:t>
            </a:r>
          </a:p>
          <a:p>
            <a:pPr algn="ctr">
              <a:lnSpc>
                <a:spcPct val="108000"/>
              </a:lnSpc>
              <a:spcAft>
                <a:spcPts val="0"/>
              </a:spcAft>
            </a:pPr>
            <a:r>
              <a:rPr sz="2100" b="0" lang="ja-JP">
                <a:solidFill>
                  <a:srgbClr val="FF0000"/>
                </a:solidFill>
                <a:latin typeface="Arial"/>
                <a:ea typeface="ＭＳ Ｐゴシック"/>
                <a:cs typeface="ＭＳ Ｐゴシック"/>
              </a:rPr>
              <a:t>モデルを調整</a:t>
            </a:r>
          </a:p>
        </p:txBody>
      </p:sp>
      <p:sp>
        <p:nvSpPr>
          <p:cNvPr id="7" name="Rectangle 6"/>
          <p:cNvSpPr/>
          <p:nvPr/>
        </p:nvSpPr>
        <p:spPr>
          <a:xfrm>
            <a:off x="6153912" y="1508760"/>
            <a:ext cx="2423160" cy="8046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調整した</a:t>
            </a:r>
          </a:p>
          <a:p>
            <a:pPr algn="ctr">
              <a:lnSpc>
                <a:spcPct val="108000"/>
              </a:lnSpc>
              <a:spcAft>
                <a:spcPts val="0"/>
              </a:spcAft>
            </a:pPr>
            <a:r>
              <a:rPr sz="2100" b="0" lang="ja-JP">
                <a:solidFill>
                  <a:srgbClr val="404040"/>
                </a:solidFill>
                <a:latin typeface="Arial"/>
                <a:ea typeface="ＭＳ Ｐゴシック"/>
                <a:cs typeface="ＭＳ Ｐゴシック"/>
              </a:rPr>
              <a:t>モデル</a:t>
            </a:r>
          </a:p>
        </p:txBody>
      </p:sp>
      <p:cxnSp>
        <p:nvCxnSpPr>
          <p:cNvPr id="8" name="Connector 7"/>
          <p:cNvCxnSpPr/>
          <p:nvPr/>
        </p:nvCxnSpPr>
        <p:spPr>
          <a:xfrm>
            <a:off x="3063240" y="1911095"/>
            <a:ext cx="192024"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843016" y="1911095"/>
            <a:ext cx="192024"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280263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1" name="TextBox 10"/>
          <p:cNvSpPr txBox="1"/>
          <p:nvPr/>
        </p:nvSpPr>
        <p:spPr>
          <a:xfrm>
            <a:off x="850392" y="2770632"/>
            <a:ext cx="7882127" cy="4206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例から，入力と出力の関係やデータの構造を捉える．</a:t>
            </a:r>
            <a:endParaRPr lang="ja-JP" sz="2000"/>
          </a:p>
        </p:txBody>
      </p:sp>
      <p:sp>
        <p:nvSpPr>
          <p:cNvPr id="12" name="TextBox 11"/>
          <p:cNvSpPr txBox="1"/>
          <p:nvPr/>
        </p:nvSpPr>
        <p:spPr>
          <a:xfrm>
            <a:off x="502920" y="328726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3" name="TextBox 12"/>
          <p:cNvSpPr txBox="1"/>
          <p:nvPr/>
        </p:nvSpPr>
        <p:spPr>
          <a:xfrm>
            <a:off x="850392" y="3255263"/>
            <a:ext cx="7882127" cy="4206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学んだモデルを，新しい入力に使う．</a:t>
            </a:r>
            <a:endParaRPr lang="ja-JP" sz="2000"/>
          </a:p>
        </p:txBody>
      </p:sp>
      <p:sp>
        <p:nvSpPr>
          <p:cNvPr id="14" name="TextBox 13"/>
          <p:cNvSpPr txBox="1"/>
          <p:nvPr/>
        </p:nvSpPr>
        <p:spPr>
          <a:xfrm>
            <a:off x="502920" y="377190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5" name="TextBox 14"/>
          <p:cNvSpPr txBox="1"/>
          <p:nvPr/>
        </p:nvSpPr>
        <p:spPr>
          <a:xfrm>
            <a:off x="850392" y="3739896"/>
            <a:ext cx="7882127" cy="4206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目的に合うデータと，結果の確認が必要．</a:t>
            </a:r>
            <a:endParaRPr lang="ja-JP" sz="2000"/>
          </a:p>
        </p:txBody>
      </p:sp>
      <p:sp>
        <p:nvSpPr>
          <p:cNvPr id="16" name="TextBox 15"/>
          <p:cNvSpPr txBox="1"/>
          <p:nvPr/>
        </p:nvSpPr>
        <p:spPr>
          <a:xfrm>
            <a:off x="502920" y="4297680"/>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「データを保存する」だけで，学習したことにはならない．</a:t>
            </a:r>
            <a:endParaRPr lang="ja-JP" sz="19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特徴量と正解：翌日のパンの販売数を予測する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データと学習　6</a:t>
            </a:r>
            <a:endParaRPr lang="ja-JP" sz="1050"/>
          </a:p>
        </p:txBody>
      </p:sp>
      <p:sp>
        <p:nvSpPr>
          <p:cNvPr id="5" name="TextBox 4"/>
          <p:cNvSpPr txBox="1"/>
          <p:nvPr/>
        </p:nvSpPr>
        <p:spPr>
          <a:xfrm>
            <a:off x="521207" y="1280160"/>
            <a:ext cx="5760720" cy="384048"/>
          </a:xfrm>
          <a:prstGeom prst="rect">
            <a:avLst/>
          </a:prstGeom>
          <a:noFill/>
        </p:spPr>
        <p:txBody>
          <a:bodyPr wrap="square" anchor="t" lIns="0" rIns="0" tIns="0" bIns="0">
            <a:noAutofit/>
          </a:bodyPr>
          <a:lstStyle/>
          <a:p>
            <a:pPr algn="l">
              <a:lnSpc>
                <a:spcPct val="113000"/>
              </a:lnSpc>
              <a:spcAft>
                <a:spcPts val="0"/>
              </a:spcAft>
            </a:pPr>
            <a:r>
              <a:rPr sz="2000" b="0" lang="ja-JP">
                <a:solidFill>
                  <a:srgbClr val="000000"/>
                </a:solidFill>
                <a:latin typeface="Arial"/>
                <a:ea typeface="ＭＳ Ｐゴシック"/>
                <a:cs typeface="ＭＳ Ｐゴシック"/>
              </a:rPr>
              <a:t>特徴量：予測するときに分かる情報</a:t>
            </a:r>
            <a:endParaRPr lang="ja-JP" sz="2000"/>
          </a:p>
        </p:txBody>
      </p:sp>
      <p:sp>
        <p:nvSpPr>
          <p:cNvPr id="6" name="TextBox 5"/>
          <p:cNvSpPr txBox="1"/>
          <p:nvPr/>
        </p:nvSpPr>
        <p:spPr>
          <a:xfrm>
            <a:off x="6437376" y="1280160"/>
            <a:ext cx="2057400" cy="384048"/>
          </a:xfrm>
          <a:prstGeom prst="rect">
            <a:avLst/>
          </a:prstGeom>
          <a:noFill/>
        </p:spPr>
        <p:txBody>
          <a:bodyPr wrap="square" anchor="t" lIns="0" rIns="0" tIns="0" bIns="0">
            <a:noAutofit/>
          </a:bodyPr>
          <a:lstStyle/>
          <a:p>
            <a:pPr algn="l">
              <a:lnSpc>
                <a:spcPct val="113000"/>
              </a:lnSpc>
              <a:spcAft>
                <a:spcPts val="0"/>
              </a:spcAft>
            </a:pPr>
            <a:r>
              <a:rPr sz="2000" b="0" lang="ja-JP">
                <a:solidFill>
                  <a:srgbClr val="FF0000"/>
                </a:solidFill>
                <a:latin typeface="Arial"/>
                <a:ea typeface="ＭＳ Ｐゴシック"/>
                <a:cs typeface="ＭＳ Ｐゴシック"/>
              </a:rPr>
              <a:t>正解：後で確定</a:t>
            </a:r>
            <a:endParaRPr lang="ja-JP" sz="2000"/>
          </a:p>
        </p:txBody>
      </p:sp>
      <p:sp>
        <p:nvSpPr>
          <p:cNvPr id="7" name="Rectangle 6"/>
          <p:cNvSpPr/>
          <p:nvPr/>
        </p:nvSpPr>
        <p:spPr>
          <a:xfrm>
            <a:off x="365760" y="1911095"/>
            <a:ext cx="1234440" cy="521207"/>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1" lang="ja-JP">
                <a:solidFill>
                  <a:srgbClr val="000000"/>
                </a:solidFill>
                <a:latin typeface="Arial"/>
                <a:ea typeface="ＭＳ Ｐゴシック"/>
                <a:cs typeface="ＭＳ Ｐゴシック"/>
              </a:rPr>
              <a:t>曜日</a:t>
            </a:r>
          </a:p>
        </p:txBody>
      </p:sp>
      <p:sp>
        <p:nvSpPr>
          <p:cNvPr id="8" name="Rectangle 7"/>
          <p:cNvSpPr/>
          <p:nvPr/>
        </p:nvSpPr>
        <p:spPr>
          <a:xfrm>
            <a:off x="1600200" y="1911095"/>
            <a:ext cx="2148840" cy="521207"/>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1" lang="ja-JP">
                <a:solidFill>
                  <a:srgbClr val="000000"/>
                </a:solidFill>
                <a:latin typeface="Arial"/>
                <a:ea typeface="ＭＳ Ｐゴシック"/>
                <a:cs typeface="ＭＳ Ｐゴシック"/>
              </a:rPr>
              <a:t>気温予報（℃）</a:t>
            </a:r>
          </a:p>
        </p:txBody>
      </p:sp>
      <p:sp>
        <p:nvSpPr>
          <p:cNvPr id="9" name="Rectangle 8"/>
          <p:cNvSpPr/>
          <p:nvPr/>
        </p:nvSpPr>
        <p:spPr>
          <a:xfrm>
            <a:off x="3749039" y="1911095"/>
            <a:ext cx="2148840" cy="521207"/>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1" lang="ja-JP">
                <a:solidFill>
                  <a:srgbClr val="000000"/>
                </a:solidFill>
                <a:latin typeface="Arial"/>
                <a:ea typeface="ＭＳ Ｐゴシック"/>
                <a:cs typeface="ＭＳ Ｐゴシック"/>
              </a:rPr>
              <a:t>前日の販売数</a:t>
            </a:r>
          </a:p>
        </p:txBody>
      </p:sp>
      <p:sp>
        <p:nvSpPr>
          <p:cNvPr id="10" name="Rectangle 9"/>
          <p:cNvSpPr/>
          <p:nvPr/>
        </p:nvSpPr>
        <p:spPr>
          <a:xfrm>
            <a:off x="5897879" y="1911095"/>
            <a:ext cx="2834640" cy="521207"/>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1" lang="ja-JP">
                <a:solidFill>
                  <a:srgbClr val="000000"/>
                </a:solidFill>
                <a:latin typeface="Arial"/>
                <a:ea typeface="ＭＳ Ｐゴシック"/>
                <a:cs typeface="ＭＳ Ｐゴシック"/>
              </a:rPr>
              <a:t>対象日の販売数</a:t>
            </a:r>
          </a:p>
        </p:txBody>
      </p:sp>
      <p:sp>
        <p:nvSpPr>
          <p:cNvPr id="11" name="Rectangle 10"/>
          <p:cNvSpPr/>
          <p:nvPr/>
        </p:nvSpPr>
        <p:spPr>
          <a:xfrm>
            <a:off x="365760" y="2432303"/>
            <a:ext cx="12344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000000"/>
                </a:solidFill>
                <a:latin typeface="Arial"/>
                <a:ea typeface="ＭＳ Ｐゴシック"/>
                <a:cs typeface="ＭＳ Ｐゴシック"/>
              </a:rPr>
              <a:t>月</a:t>
            </a:r>
          </a:p>
        </p:txBody>
      </p:sp>
      <p:sp>
        <p:nvSpPr>
          <p:cNvPr id="12" name="Rectangle 11"/>
          <p:cNvSpPr/>
          <p:nvPr/>
        </p:nvSpPr>
        <p:spPr>
          <a:xfrm>
            <a:off x="1600200" y="2432303"/>
            <a:ext cx="21488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20</a:t>
            </a:r>
          </a:p>
        </p:txBody>
      </p:sp>
      <p:sp>
        <p:nvSpPr>
          <p:cNvPr id="13" name="Rectangle 12"/>
          <p:cNvSpPr/>
          <p:nvPr/>
        </p:nvSpPr>
        <p:spPr>
          <a:xfrm>
            <a:off x="3749039" y="2432303"/>
            <a:ext cx="21488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80</a:t>
            </a:r>
          </a:p>
        </p:txBody>
      </p:sp>
      <p:sp>
        <p:nvSpPr>
          <p:cNvPr id="14" name="Rectangle 13"/>
          <p:cNvSpPr/>
          <p:nvPr/>
        </p:nvSpPr>
        <p:spPr>
          <a:xfrm>
            <a:off x="5897879" y="2432303"/>
            <a:ext cx="28346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85</a:t>
            </a:r>
          </a:p>
        </p:txBody>
      </p:sp>
      <p:sp>
        <p:nvSpPr>
          <p:cNvPr id="15" name="Rectangle 14"/>
          <p:cNvSpPr/>
          <p:nvPr/>
        </p:nvSpPr>
        <p:spPr>
          <a:xfrm>
            <a:off x="365760" y="2953511"/>
            <a:ext cx="12344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000000"/>
                </a:solidFill>
                <a:latin typeface="Arial"/>
                <a:ea typeface="ＭＳ Ｐゴシック"/>
                <a:cs typeface="ＭＳ Ｐゴシック"/>
              </a:rPr>
              <a:t>火</a:t>
            </a:r>
          </a:p>
        </p:txBody>
      </p:sp>
      <p:sp>
        <p:nvSpPr>
          <p:cNvPr id="16" name="Rectangle 15"/>
          <p:cNvSpPr/>
          <p:nvPr/>
        </p:nvSpPr>
        <p:spPr>
          <a:xfrm>
            <a:off x="1600200" y="2953511"/>
            <a:ext cx="21488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22</a:t>
            </a:r>
          </a:p>
        </p:txBody>
      </p:sp>
      <p:sp>
        <p:nvSpPr>
          <p:cNvPr id="17" name="Rectangle 16"/>
          <p:cNvSpPr/>
          <p:nvPr/>
        </p:nvSpPr>
        <p:spPr>
          <a:xfrm>
            <a:off x="3749039" y="2953511"/>
            <a:ext cx="21488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85</a:t>
            </a:r>
          </a:p>
        </p:txBody>
      </p:sp>
      <p:sp>
        <p:nvSpPr>
          <p:cNvPr id="18" name="Rectangle 17"/>
          <p:cNvSpPr/>
          <p:nvPr/>
        </p:nvSpPr>
        <p:spPr>
          <a:xfrm>
            <a:off x="5897879" y="2953511"/>
            <a:ext cx="28346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90</a:t>
            </a:r>
          </a:p>
        </p:txBody>
      </p:sp>
      <p:sp>
        <p:nvSpPr>
          <p:cNvPr id="19" name="Rectangle 18"/>
          <p:cNvSpPr/>
          <p:nvPr/>
        </p:nvSpPr>
        <p:spPr>
          <a:xfrm>
            <a:off x="365760" y="3474720"/>
            <a:ext cx="12344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000000"/>
                </a:solidFill>
                <a:latin typeface="Arial"/>
                <a:ea typeface="ＭＳ Ｐゴシック"/>
                <a:cs typeface="ＭＳ Ｐゴシック"/>
              </a:rPr>
              <a:t>土</a:t>
            </a:r>
          </a:p>
        </p:txBody>
      </p:sp>
      <p:sp>
        <p:nvSpPr>
          <p:cNvPr id="20" name="Rectangle 19"/>
          <p:cNvSpPr/>
          <p:nvPr/>
        </p:nvSpPr>
        <p:spPr>
          <a:xfrm>
            <a:off x="1600200" y="3474720"/>
            <a:ext cx="21488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25</a:t>
            </a:r>
          </a:p>
        </p:txBody>
      </p:sp>
      <p:sp>
        <p:nvSpPr>
          <p:cNvPr id="21" name="Rectangle 20"/>
          <p:cNvSpPr/>
          <p:nvPr/>
        </p:nvSpPr>
        <p:spPr>
          <a:xfrm>
            <a:off x="3749039" y="3474720"/>
            <a:ext cx="21488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90</a:t>
            </a:r>
          </a:p>
        </p:txBody>
      </p:sp>
      <p:sp>
        <p:nvSpPr>
          <p:cNvPr id="22" name="Rectangle 21"/>
          <p:cNvSpPr/>
          <p:nvPr/>
        </p:nvSpPr>
        <p:spPr>
          <a:xfrm>
            <a:off x="5897879" y="3474720"/>
            <a:ext cx="283464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120</a:t>
            </a:r>
          </a:p>
        </p:txBody>
      </p:sp>
      <p:sp>
        <p:nvSpPr>
          <p:cNvPr id="23" name="TextBox 22"/>
          <p:cNvSpPr txBox="1"/>
          <p:nvPr/>
        </p:nvSpPr>
        <p:spPr>
          <a:xfrm>
            <a:off x="502920" y="4315968"/>
            <a:ext cx="8229600" cy="384048"/>
          </a:xfrm>
          <a:prstGeom prst="rect">
            <a:avLst/>
          </a:prstGeom>
          <a:noFill/>
        </p:spPr>
        <p:txBody>
          <a:bodyPr wrap="square" anchor="t" lIns="0" rIns="0" tIns="0" bIns="0">
            <a:noAutofit/>
          </a:bodyPr>
          <a:lstStyle/>
          <a:p>
            <a:pPr algn="l">
              <a:lnSpc>
                <a:spcPct val="113000"/>
              </a:lnSpc>
              <a:spcAft>
                <a:spcPts val="0"/>
              </a:spcAft>
            </a:pPr>
            <a:r>
              <a:rPr sz="2100" b="0" lang="ja-JP">
                <a:solidFill>
                  <a:srgbClr val="FF0000"/>
                </a:solidFill>
                <a:latin typeface="Arial"/>
                <a:ea typeface="ＭＳ Ｐゴシック"/>
                <a:cs typeface="ＭＳ Ｐゴシック"/>
              </a:rPr>
              <a:t>特徴量 → モデル → 予測した販売数</a:t>
            </a:r>
            <a:endParaRPr lang="ja-JP" sz="21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最初に決めること：入力・出力・使う時点</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データと学習　7</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658368"/>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何を予測したいか：翌日の販売数？　売り切れるか？</a:t>
            </a:r>
            <a:endParaRPr lang="ja-JP" sz="2000"/>
          </a:p>
        </p:txBody>
      </p:sp>
      <p:sp>
        <p:nvSpPr>
          <p:cNvPr id="7" name="TextBox 6"/>
          <p:cNvSpPr txBox="1"/>
          <p:nvPr/>
        </p:nvSpPr>
        <p:spPr>
          <a:xfrm>
            <a:off x="502920" y="194310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1911095"/>
            <a:ext cx="7882127" cy="658368"/>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いつ予測を使うか：仕込みを始める前？</a:t>
            </a:r>
            <a:endParaRPr lang="ja-JP" sz="2000"/>
          </a:p>
        </p:txBody>
      </p:sp>
      <p:sp>
        <p:nvSpPr>
          <p:cNvPr id="9" name="TextBox 8"/>
          <p:cNvSpPr txBox="1"/>
          <p:nvPr/>
        </p:nvSpPr>
        <p:spPr>
          <a:xfrm>
            <a:off x="502920" y="266547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2633472"/>
            <a:ext cx="7882127" cy="658368"/>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その時点で何が分かるか：曜日・予報・過去の実績？</a:t>
            </a:r>
            <a:endParaRPr lang="ja-JP" sz="2000"/>
          </a:p>
        </p:txBody>
      </p:sp>
      <p:sp>
        <p:nvSpPr>
          <p:cNvPr id="11" name="TextBox 10"/>
          <p:cNvSpPr txBox="1"/>
          <p:nvPr/>
        </p:nvSpPr>
        <p:spPr>
          <a:xfrm>
            <a:off x="502920" y="3387852"/>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2" name="TextBox 11"/>
          <p:cNvSpPr txBox="1"/>
          <p:nvPr/>
        </p:nvSpPr>
        <p:spPr>
          <a:xfrm>
            <a:off x="850392" y="3355848"/>
            <a:ext cx="7882127" cy="658368"/>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どう確かめるか：どれくらい予測が外れるか？</a:t>
            </a:r>
            <a:endParaRPr lang="ja-JP" sz="2000"/>
          </a:p>
        </p:txBody>
      </p:sp>
      <p:sp>
        <p:nvSpPr>
          <p:cNvPr id="13" name="TextBox 12"/>
          <p:cNvSpPr txBox="1"/>
          <p:nvPr/>
        </p:nvSpPr>
        <p:spPr>
          <a:xfrm>
            <a:off x="502920" y="4370832"/>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手法を選ぶ前に，解きたい問題を具体化する．</a:t>
            </a:r>
            <a:endParaRPr lang="ja-JP" sz="19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学習と推論：モデルを作るときと使うとき</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データと学習　8</a:t>
            </a:r>
            <a:endParaRPr lang="ja-JP" sz="1050"/>
          </a:p>
        </p:txBody>
      </p:sp>
      <p:sp>
        <p:nvSpPr>
          <p:cNvPr id="5" name="TextBox 4"/>
          <p:cNvSpPr txBox="1"/>
          <p:nvPr/>
        </p:nvSpPr>
        <p:spPr>
          <a:xfrm>
            <a:off x="548640" y="1170432"/>
            <a:ext cx="8046720" cy="384048"/>
          </a:xfrm>
          <a:prstGeom prst="rect">
            <a:avLst/>
          </a:prstGeom>
          <a:noFill/>
        </p:spPr>
        <p:txBody>
          <a:bodyPr wrap="square" anchor="t" lIns="0" rIns="0" tIns="0" bIns="0">
            <a:noAutofit/>
          </a:bodyPr>
          <a:lstStyle/>
          <a:p>
            <a:pPr algn="l">
              <a:lnSpc>
                <a:spcPct val="113000"/>
              </a:lnSpc>
              <a:spcAft>
                <a:spcPts val="0"/>
              </a:spcAft>
            </a:pPr>
            <a:r>
              <a:rPr sz="2100" b="0" lang="ja-JP">
                <a:solidFill>
                  <a:srgbClr val="FF0000"/>
                </a:solidFill>
                <a:latin typeface="Arial"/>
                <a:ea typeface="ＭＳ Ｐゴシック"/>
                <a:cs typeface="ＭＳ Ｐゴシック"/>
              </a:rPr>
              <a:t>学習：入力と正解を使って，モデルを調整する</a:t>
            </a:r>
            <a:endParaRPr lang="ja-JP" sz="2100"/>
          </a:p>
        </p:txBody>
      </p:sp>
      <p:sp>
        <p:nvSpPr>
          <p:cNvPr id="6" name="Rectangle 5"/>
          <p:cNvSpPr/>
          <p:nvPr/>
        </p:nvSpPr>
        <p:spPr>
          <a:xfrm>
            <a:off x="594360" y="1801368"/>
            <a:ext cx="2423160" cy="8046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入力＋正解</a:t>
            </a:r>
          </a:p>
        </p:txBody>
      </p:sp>
      <p:sp>
        <p:nvSpPr>
          <p:cNvPr id="7" name="Rectangle 6"/>
          <p:cNvSpPr/>
          <p:nvPr/>
        </p:nvSpPr>
        <p:spPr>
          <a:xfrm>
            <a:off x="3374136" y="1801368"/>
            <a:ext cx="2423160" cy="804672"/>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FF0000"/>
                </a:solidFill>
                <a:latin typeface="Arial"/>
                <a:ea typeface="ＭＳ Ｐゴシック"/>
                <a:cs typeface="ＭＳ Ｐゴシック"/>
              </a:rPr>
              <a:t>学習</a:t>
            </a:r>
          </a:p>
        </p:txBody>
      </p:sp>
      <p:sp>
        <p:nvSpPr>
          <p:cNvPr id="8" name="Rectangle 7"/>
          <p:cNvSpPr/>
          <p:nvPr/>
        </p:nvSpPr>
        <p:spPr>
          <a:xfrm>
            <a:off x="6153912" y="1801368"/>
            <a:ext cx="2423160" cy="8046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調整したモデル</a:t>
            </a:r>
          </a:p>
        </p:txBody>
      </p:sp>
      <p:cxnSp>
        <p:nvCxnSpPr>
          <p:cNvPr id="9" name="Connector 8"/>
          <p:cNvCxnSpPr/>
          <p:nvPr/>
        </p:nvCxnSpPr>
        <p:spPr>
          <a:xfrm>
            <a:off x="3063240" y="2203704"/>
            <a:ext cx="192024"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843016" y="2203704"/>
            <a:ext cx="192024"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2962656"/>
            <a:ext cx="8046720" cy="384048"/>
          </a:xfrm>
          <a:prstGeom prst="rect">
            <a:avLst/>
          </a:prstGeom>
          <a:noFill/>
        </p:spPr>
        <p:txBody>
          <a:bodyPr wrap="square" anchor="t" lIns="0" rIns="0" tIns="0" bIns="0">
            <a:noAutofit/>
          </a:bodyPr>
          <a:lstStyle/>
          <a:p>
            <a:pPr algn="l">
              <a:lnSpc>
                <a:spcPct val="113000"/>
              </a:lnSpc>
              <a:spcAft>
                <a:spcPts val="0"/>
              </a:spcAft>
            </a:pPr>
            <a:r>
              <a:rPr sz="2100" b="0" lang="ja-JP">
                <a:solidFill>
                  <a:srgbClr val="FF0000"/>
                </a:solidFill>
                <a:latin typeface="Arial"/>
                <a:ea typeface="ＭＳ Ｐゴシック"/>
                <a:cs typeface="ＭＳ Ｐゴシック"/>
              </a:rPr>
              <a:t>推論：調整したモデルに，新しい入力を与える</a:t>
            </a:r>
            <a:endParaRPr lang="ja-JP" sz="2100"/>
          </a:p>
        </p:txBody>
      </p:sp>
      <p:sp>
        <p:nvSpPr>
          <p:cNvPr id="12" name="Rectangle 11"/>
          <p:cNvSpPr/>
          <p:nvPr/>
        </p:nvSpPr>
        <p:spPr>
          <a:xfrm>
            <a:off x="594360" y="3639312"/>
            <a:ext cx="2423160" cy="8046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新しい入力</a:t>
            </a:r>
          </a:p>
        </p:txBody>
      </p:sp>
      <p:sp>
        <p:nvSpPr>
          <p:cNvPr id="13" name="Rectangle 12"/>
          <p:cNvSpPr/>
          <p:nvPr/>
        </p:nvSpPr>
        <p:spPr>
          <a:xfrm>
            <a:off x="3374136" y="3639312"/>
            <a:ext cx="2423160" cy="804672"/>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FF0000"/>
                </a:solidFill>
                <a:latin typeface="Arial"/>
                <a:ea typeface="ＭＳ Ｐゴシック"/>
                <a:cs typeface="ＭＳ Ｐゴシック"/>
              </a:rPr>
              <a:t>調整したモデル</a:t>
            </a:r>
          </a:p>
        </p:txBody>
      </p:sp>
      <p:sp>
        <p:nvSpPr>
          <p:cNvPr id="14" name="Rectangle 13"/>
          <p:cNvSpPr/>
          <p:nvPr/>
        </p:nvSpPr>
        <p:spPr>
          <a:xfrm>
            <a:off x="6153912" y="3639312"/>
            <a:ext cx="2423160" cy="8046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予測</a:t>
            </a:r>
          </a:p>
        </p:txBody>
      </p:sp>
      <p:cxnSp>
        <p:nvCxnSpPr>
          <p:cNvPr id="15" name="Connector 14"/>
          <p:cNvCxnSpPr/>
          <p:nvPr/>
        </p:nvCxnSpPr>
        <p:spPr>
          <a:xfrm>
            <a:off x="3063240" y="4041648"/>
            <a:ext cx="192024"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843016" y="4041648"/>
            <a:ext cx="192024"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学習の種類：どんな情報が与えられるか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参照：Google／Sutton &amp; Barto</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学習の種類　9</a:t>
            </a:r>
            <a:endParaRPr lang="ja-JP" sz="1050"/>
          </a:p>
        </p:txBody>
      </p:sp>
      <p:sp>
        <p:nvSpPr>
          <p:cNvPr id="5" name="Rectangle 4"/>
          <p:cNvSpPr/>
          <p:nvPr/>
        </p:nvSpPr>
        <p:spPr>
          <a:xfrm>
            <a:off x="365760" y="1188720"/>
            <a:ext cx="1965960" cy="74066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種類</a:t>
            </a:r>
          </a:p>
        </p:txBody>
      </p:sp>
      <p:sp>
        <p:nvSpPr>
          <p:cNvPr id="6" name="Rectangle 5"/>
          <p:cNvSpPr/>
          <p:nvPr/>
        </p:nvSpPr>
        <p:spPr>
          <a:xfrm>
            <a:off x="2331720" y="1188720"/>
            <a:ext cx="3154680" cy="74066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学習時の手がかり</a:t>
            </a:r>
          </a:p>
        </p:txBody>
      </p:sp>
      <p:sp>
        <p:nvSpPr>
          <p:cNvPr id="7" name="Rectangle 6"/>
          <p:cNvSpPr/>
          <p:nvPr/>
        </p:nvSpPr>
        <p:spPr>
          <a:xfrm>
            <a:off x="5486400" y="1188720"/>
            <a:ext cx="3246120" cy="74066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代表的な目的</a:t>
            </a:r>
          </a:p>
        </p:txBody>
      </p:sp>
      <p:sp>
        <p:nvSpPr>
          <p:cNvPr id="8" name="Rectangle 7"/>
          <p:cNvSpPr/>
          <p:nvPr/>
        </p:nvSpPr>
        <p:spPr>
          <a:xfrm>
            <a:off x="365760" y="1929384"/>
            <a:ext cx="1965960" cy="7406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教師あり学習</a:t>
            </a:r>
          </a:p>
        </p:txBody>
      </p:sp>
      <p:sp>
        <p:nvSpPr>
          <p:cNvPr id="9" name="Rectangle 8"/>
          <p:cNvSpPr/>
          <p:nvPr/>
        </p:nvSpPr>
        <p:spPr>
          <a:xfrm>
            <a:off x="2331720" y="1929384"/>
            <a:ext cx="3154680" cy="7406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入力に対応する正解</a:t>
            </a:r>
          </a:p>
        </p:txBody>
      </p:sp>
      <p:sp>
        <p:nvSpPr>
          <p:cNvPr id="10" name="Rectangle 9"/>
          <p:cNvSpPr/>
          <p:nvPr/>
        </p:nvSpPr>
        <p:spPr>
          <a:xfrm>
            <a:off x="5486400" y="1929384"/>
            <a:ext cx="3246120" cy="7406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分類・数値の予測</a:t>
            </a:r>
          </a:p>
        </p:txBody>
      </p:sp>
      <p:sp>
        <p:nvSpPr>
          <p:cNvPr id="11" name="Rectangle 10"/>
          <p:cNvSpPr/>
          <p:nvPr/>
        </p:nvSpPr>
        <p:spPr>
          <a:xfrm>
            <a:off x="365760" y="2670048"/>
            <a:ext cx="1965960" cy="7406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教師なし学習</a:t>
            </a:r>
          </a:p>
        </p:txBody>
      </p:sp>
      <p:sp>
        <p:nvSpPr>
          <p:cNvPr id="12" name="Rectangle 11"/>
          <p:cNvSpPr/>
          <p:nvPr/>
        </p:nvSpPr>
        <p:spPr>
          <a:xfrm>
            <a:off x="2331720" y="2670048"/>
            <a:ext cx="3154680" cy="7406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正解なしのデータの構造</a:t>
            </a:r>
          </a:p>
        </p:txBody>
      </p:sp>
      <p:sp>
        <p:nvSpPr>
          <p:cNvPr id="13" name="Rectangle 12"/>
          <p:cNvSpPr/>
          <p:nvPr/>
        </p:nvSpPr>
        <p:spPr>
          <a:xfrm>
            <a:off x="5486400" y="2670048"/>
            <a:ext cx="3246120" cy="7406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グループ分け・構造の発見</a:t>
            </a:r>
          </a:p>
        </p:txBody>
      </p:sp>
      <p:sp>
        <p:nvSpPr>
          <p:cNvPr id="14" name="Rectangle 13"/>
          <p:cNvSpPr/>
          <p:nvPr/>
        </p:nvSpPr>
        <p:spPr>
          <a:xfrm>
            <a:off x="365760" y="3410712"/>
            <a:ext cx="1965960" cy="7406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強化学習</a:t>
            </a:r>
          </a:p>
        </p:txBody>
      </p:sp>
      <p:sp>
        <p:nvSpPr>
          <p:cNvPr id="15" name="Rectangle 14"/>
          <p:cNvSpPr/>
          <p:nvPr/>
        </p:nvSpPr>
        <p:spPr>
          <a:xfrm>
            <a:off x="2331720" y="3410712"/>
            <a:ext cx="3154680" cy="7406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行動の結果としての報酬</a:t>
            </a:r>
          </a:p>
        </p:txBody>
      </p:sp>
      <p:sp>
        <p:nvSpPr>
          <p:cNvPr id="16" name="Rectangle 15"/>
          <p:cNvSpPr/>
          <p:nvPr/>
        </p:nvSpPr>
        <p:spPr>
          <a:xfrm>
            <a:off x="5486400" y="3410712"/>
            <a:ext cx="3246120" cy="7406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行動の選び方を改善</a:t>
            </a:r>
          </a:p>
        </p:txBody>
      </p:sp>
      <p:sp>
        <p:nvSpPr>
          <p:cNvPr id="17" name="TextBox 16"/>
          <p:cNvSpPr txBox="1"/>
          <p:nvPr/>
        </p:nvSpPr>
        <p:spPr>
          <a:xfrm>
            <a:off x="502920" y="4379976"/>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「どの情報から学ぶか」に注目する．</a:t>
            </a:r>
            <a:endParaRPr lang="ja-JP" sz="19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教師あり学習：分類はカテゴリを予測する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教師あり　10</a:t>
            </a:r>
            <a:endParaRPr lang="ja-JP" sz="1050"/>
          </a:p>
        </p:txBody>
      </p:sp>
      <p:sp>
        <p:nvSpPr>
          <p:cNvPr id="5" name="Rectangle 4"/>
          <p:cNvSpPr/>
          <p:nvPr/>
        </p:nvSpPr>
        <p:spPr>
          <a:xfrm>
            <a:off x="594360" y="1527048"/>
            <a:ext cx="2423160" cy="8046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入力</a:t>
            </a:r>
          </a:p>
          <a:p>
            <a:pPr algn="ctr">
              <a:lnSpc>
                <a:spcPct val="108000"/>
              </a:lnSpc>
              <a:spcAft>
                <a:spcPts val="0"/>
              </a:spcAft>
            </a:pPr>
            <a:r>
              <a:rPr sz="2100" b="0" lang="ja-JP">
                <a:solidFill>
                  <a:srgbClr val="404040"/>
                </a:solidFill>
                <a:latin typeface="Arial"/>
                <a:ea typeface="ＭＳ Ｐゴシック"/>
                <a:cs typeface="ＭＳ Ｐゴシック"/>
              </a:rPr>
              <a:t>メールの情報</a:t>
            </a:r>
          </a:p>
        </p:txBody>
      </p:sp>
      <p:sp>
        <p:nvSpPr>
          <p:cNvPr id="6" name="Rectangle 5"/>
          <p:cNvSpPr/>
          <p:nvPr/>
        </p:nvSpPr>
        <p:spPr>
          <a:xfrm>
            <a:off x="3374136" y="1527048"/>
            <a:ext cx="2423160" cy="804672"/>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FF0000"/>
                </a:solidFill>
                <a:latin typeface="Arial"/>
                <a:ea typeface="ＭＳ Ｐゴシック"/>
                <a:cs typeface="ＭＳ Ｐゴシック"/>
              </a:rPr>
              <a:t>分類モデル</a:t>
            </a:r>
          </a:p>
        </p:txBody>
      </p:sp>
      <p:sp>
        <p:nvSpPr>
          <p:cNvPr id="7" name="Rectangle 6"/>
          <p:cNvSpPr/>
          <p:nvPr/>
        </p:nvSpPr>
        <p:spPr>
          <a:xfrm>
            <a:off x="6153912" y="1527048"/>
            <a:ext cx="2423160" cy="8046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出力</a:t>
            </a:r>
          </a:p>
          <a:p>
            <a:pPr algn="ctr">
              <a:lnSpc>
                <a:spcPct val="108000"/>
              </a:lnSpc>
              <a:spcAft>
                <a:spcPts val="0"/>
              </a:spcAft>
            </a:pPr>
            <a:r>
              <a:rPr sz="2100" b="0" lang="ja-JP">
                <a:solidFill>
                  <a:srgbClr val="404040"/>
                </a:solidFill>
                <a:latin typeface="Arial"/>
                <a:ea typeface="ＭＳ Ｐゴシック"/>
                <a:cs typeface="ＭＳ Ｐゴシック"/>
              </a:rPr>
              <a:t>迷惑／通常</a:t>
            </a:r>
          </a:p>
        </p:txBody>
      </p:sp>
      <p:cxnSp>
        <p:nvCxnSpPr>
          <p:cNvPr id="8" name="Connector 7"/>
          <p:cNvCxnSpPr/>
          <p:nvPr/>
        </p:nvCxnSpPr>
        <p:spPr>
          <a:xfrm>
            <a:off x="3063240" y="1929384"/>
            <a:ext cx="192024"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843016" y="1929384"/>
            <a:ext cx="192024"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284835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1" name="TextBox 10"/>
          <p:cNvSpPr txBox="1"/>
          <p:nvPr/>
        </p:nvSpPr>
        <p:spPr>
          <a:xfrm>
            <a:off x="850392" y="2816352"/>
            <a:ext cx="7882127" cy="4206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学習時には，メールと正解カテゴリの組を用意する．</a:t>
            </a:r>
            <a:endParaRPr lang="ja-JP" sz="2000"/>
          </a:p>
        </p:txBody>
      </p:sp>
      <p:sp>
        <p:nvSpPr>
          <p:cNvPr id="12" name="TextBox 11"/>
          <p:cNvSpPr txBox="1"/>
          <p:nvPr/>
        </p:nvSpPr>
        <p:spPr>
          <a:xfrm>
            <a:off x="502920" y="333298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3" name="TextBox 12"/>
          <p:cNvSpPr txBox="1"/>
          <p:nvPr/>
        </p:nvSpPr>
        <p:spPr>
          <a:xfrm>
            <a:off x="850392" y="3300984"/>
            <a:ext cx="7882127" cy="4206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出力は，あらかじめ決めたカテゴリ．</a:t>
            </a:r>
            <a:endParaRPr lang="ja-JP" sz="2000"/>
          </a:p>
        </p:txBody>
      </p:sp>
      <p:sp>
        <p:nvSpPr>
          <p:cNvPr id="14" name="TextBox 13"/>
          <p:cNvSpPr txBox="1"/>
          <p:nvPr/>
        </p:nvSpPr>
        <p:spPr>
          <a:xfrm>
            <a:off x="502920" y="381762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5" name="TextBox 14"/>
          <p:cNvSpPr txBox="1"/>
          <p:nvPr/>
        </p:nvSpPr>
        <p:spPr>
          <a:xfrm>
            <a:off x="850392" y="3785616"/>
            <a:ext cx="7882127" cy="4206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例：画像の種類，不良品か良品か，問い合わせの種別．</a:t>
            </a:r>
            <a:endParaRPr lang="ja-JP" sz="2000"/>
          </a:p>
        </p:txBody>
      </p:sp>
      <p:sp>
        <p:nvSpPr>
          <p:cNvPr id="16" name="TextBox 15"/>
          <p:cNvSpPr txBox="1"/>
          <p:nvPr/>
        </p:nvSpPr>
        <p:spPr>
          <a:xfrm>
            <a:off x="502920" y="4352544"/>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分類の問い：「どのカテゴリに属するか？」</a:t>
            </a:r>
            <a:endParaRPr lang="ja-JP" sz="19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教師あり学習：回帰は数値を予測する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教師あり　11</a:t>
            </a:r>
            <a:endParaRPr lang="ja-JP" sz="1050"/>
          </a:p>
        </p:txBody>
      </p:sp>
      <p:sp>
        <p:nvSpPr>
          <p:cNvPr id="5" name="Rectangle 4"/>
          <p:cNvSpPr/>
          <p:nvPr/>
        </p:nvSpPr>
        <p:spPr>
          <a:xfrm>
            <a:off x="594360" y="1527048"/>
            <a:ext cx="2423160" cy="8046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入力</a:t>
            </a:r>
          </a:p>
          <a:p>
            <a:pPr algn="ctr">
              <a:lnSpc>
                <a:spcPct val="108000"/>
              </a:lnSpc>
              <a:spcAft>
                <a:spcPts val="0"/>
              </a:spcAft>
            </a:pPr>
            <a:r>
              <a:rPr sz="2100" b="0" lang="ja-JP">
                <a:solidFill>
                  <a:srgbClr val="404040"/>
                </a:solidFill>
                <a:latin typeface="Arial"/>
                <a:ea typeface="ＭＳ Ｐゴシック"/>
                <a:cs typeface="ＭＳ Ｐゴシック"/>
              </a:rPr>
              <a:t>曜日・予報・実績</a:t>
            </a:r>
          </a:p>
        </p:txBody>
      </p:sp>
      <p:sp>
        <p:nvSpPr>
          <p:cNvPr id="6" name="Rectangle 5"/>
          <p:cNvSpPr/>
          <p:nvPr/>
        </p:nvSpPr>
        <p:spPr>
          <a:xfrm>
            <a:off x="3374136" y="1527048"/>
            <a:ext cx="2423160" cy="804672"/>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FF0000"/>
                </a:solidFill>
                <a:latin typeface="Arial"/>
                <a:ea typeface="ＭＳ Ｐゴシック"/>
                <a:cs typeface="ＭＳ Ｐゴシック"/>
              </a:rPr>
              <a:t>回帰モデル</a:t>
            </a:r>
          </a:p>
        </p:txBody>
      </p:sp>
      <p:sp>
        <p:nvSpPr>
          <p:cNvPr id="7" name="Rectangle 6"/>
          <p:cNvSpPr/>
          <p:nvPr/>
        </p:nvSpPr>
        <p:spPr>
          <a:xfrm>
            <a:off x="6153912" y="1527048"/>
            <a:ext cx="2423160" cy="8046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出力</a:t>
            </a:r>
          </a:p>
          <a:p>
            <a:pPr algn="ctr">
              <a:lnSpc>
                <a:spcPct val="108000"/>
              </a:lnSpc>
              <a:spcAft>
                <a:spcPts val="0"/>
              </a:spcAft>
            </a:pPr>
            <a:r>
              <a:rPr sz="2100" b="0" lang="ja-JP">
                <a:solidFill>
                  <a:srgbClr val="404040"/>
                </a:solidFill>
                <a:latin typeface="Arial"/>
                <a:ea typeface="ＭＳ Ｐゴシック"/>
                <a:cs typeface="ＭＳ Ｐゴシック"/>
              </a:rPr>
              <a:t>販売数の予測</a:t>
            </a:r>
          </a:p>
        </p:txBody>
      </p:sp>
      <p:cxnSp>
        <p:nvCxnSpPr>
          <p:cNvPr id="8" name="Connector 7"/>
          <p:cNvCxnSpPr/>
          <p:nvPr/>
        </p:nvCxnSpPr>
        <p:spPr>
          <a:xfrm>
            <a:off x="3063240" y="1929384"/>
            <a:ext cx="192024"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843016" y="1929384"/>
            <a:ext cx="192024"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284835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1" name="TextBox 10"/>
          <p:cNvSpPr txBox="1"/>
          <p:nvPr/>
        </p:nvSpPr>
        <p:spPr>
          <a:xfrm>
            <a:off x="850392" y="2816352"/>
            <a:ext cx="7882127" cy="4206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学習時には，入力と実際の数値の組を用意する．</a:t>
            </a:r>
            <a:endParaRPr lang="ja-JP" sz="2000"/>
          </a:p>
        </p:txBody>
      </p:sp>
      <p:sp>
        <p:nvSpPr>
          <p:cNvPr id="12" name="TextBox 11"/>
          <p:cNvSpPr txBox="1"/>
          <p:nvPr/>
        </p:nvSpPr>
        <p:spPr>
          <a:xfrm>
            <a:off x="502920" y="333298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3" name="TextBox 12"/>
          <p:cNvSpPr txBox="1"/>
          <p:nvPr/>
        </p:nvSpPr>
        <p:spPr>
          <a:xfrm>
            <a:off x="850392" y="3300984"/>
            <a:ext cx="7882127" cy="4206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出力は，販売数・時間・金額などの数量．</a:t>
            </a:r>
            <a:endParaRPr lang="ja-JP" sz="2000"/>
          </a:p>
        </p:txBody>
      </p:sp>
      <p:sp>
        <p:nvSpPr>
          <p:cNvPr id="14" name="TextBox 13"/>
          <p:cNvSpPr txBox="1"/>
          <p:nvPr/>
        </p:nvSpPr>
        <p:spPr>
          <a:xfrm>
            <a:off x="502920" y="381762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5" name="TextBox 14"/>
          <p:cNvSpPr txBox="1"/>
          <p:nvPr/>
        </p:nvSpPr>
        <p:spPr>
          <a:xfrm>
            <a:off x="850392" y="3785616"/>
            <a:ext cx="7882127" cy="4206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予測値と実際の値との差で，外れ方を確かめる．</a:t>
            </a:r>
            <a:endParaRPr lang="ja-JP" sz="2000"/>
          </a:p>
        </p:txBody>
      </p:sp>
      <p:sp>
        <p:nvSpPr>
          <p:cNvPr id="16" name="TextBox 15"/>
          <p:cNvSpPr txBox="1"/>
          <p:nvPr/>
        </p:nvSpPr>
        <p:spPr>
          <a:xfrm>
            <a:off x="502920" y="4352544"/>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回帰の問い：「どれくらいの数量か？」</a:t>
            </a:r>
            <a:endParaRPr lang="ja-JP" sz="19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演習1：分類か，回帰か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演習　12</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649224"/>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① 配送に何分かかるかを予測する．</a:t>
            </a:r>
            <a:endParaRPr lang="ja-JP" sz="2100"/>
          </a:p>
        </p:txBody>
      </p:sp>
      <p:sp>
        <p:nvSpPr>
          <p:cNvPr id="7" name="TextBox 6"/>
          <p:cNvSpPr txBox="1"/>
          <p:nvPr/>
        </p:nvSpPr>
        <p:spPr>
          <a:xfrm>
            <a:off x="502920" y="193395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1901952"/>
            <a:ext cx="7882127" cy="649224"/>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② 手書き画像が，0〜9のどの数字かを判定する．</a:t>
            </a:r>
            <a:endParaRPr lang="ja-JP" sz="2100"/>
          </a:p>
        </p:txBody>
      </p:sp>
      <p:sp>
        <p:nvSpPr>
          <p:cNvPr id="9" name="TextBox 8"/>
          <p:cNvSpPr txBox="1"/>
          <p:nvPr/>
        </p:nvSpPr>
        <p:spPr>
          <a:xfrm>
            <a:off x="502920" y="264718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2615184"/>
            <a:ext cx="7882127" cy="649224"/>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③ 明日，パンが何個売れるかを予測する．</a:t>
            </a:r>
            <a:endParaRPr lang="ja-JP" sz="2100"/>
          </a:p>
        </p:txBody>
      </p:sp>
      <p:sp>
        <p:nvSpPr>
          <p:cNvPr id="11" name="TextBox 10"/>
          <p:cNvSpPr txBox="1"/>
          <p:nvPr/>
        </p:nvSpPr>
        <p:spPr>
          <a:xfrm>
            <a:off x="502920" y="336042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2" name="TextBox 11"/>
          <p:cNvSpPr txBox="1"/>
          <p:nvPr/>
        </p:nvSpPr>
        <p:spPr>
          <a:xfrm>
            <a:off x="850392" y="3328415"/>
            <a:ext cx="7882127" cy="649224"/>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④ メールが迷惑メールか通常メールかを判定する．</a:t>
            </a:r>
            <a:endParaRPr lang="ja-JP" sz="2100"/>
          </a:p>
        </p:txBody>
      </p:sp>
      <p:sp>
        <p:nvSpPr>
          <p:cNvPr id="13" name="TextBox 12"/>
          <p:cNvSpPr txBox="1"/>
          <p:nvPr/>
        </p:nvSpPr>
        <p:spPr>
          <a:xfrm>
            <a:off x="502920" y="4352544"/>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判断の理由を，「何を出力するか」で説明する．</a:t>
            </a:r>
            <a:endParaRPr lang="ja-JP" sz="19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演習1：解答</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演習　13</a:t>
            </a:r>
            <a:endParaRPr lang="ja-JP" sz="1050"/>
          </a:p>
        </p:txBody>
      </p:sp>
      <p:sp>
        <p:nvSpPr>
          <p:cNvPr id="5" name="Rectangle 4"/>
          <p:cNvSpPr/>
          <p:nvPr/>
        </p:nvSpPr>
        <p:spPr>
          <a:xfrm>
            <a:off x="365760" y="1188720"/>
            <a:ext cx="2743200" cy="566928"/>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問題</a:t>
            </a:r>
          </a:p>
        </p:txBody>
      </p:sp>
      <p:sp>
        <p:nvSpPr>
          <p:cNvPr id="6" name="Rectangle 5"/>
          <p:cNvSpPr/>
          <p:nvPr/>
        </p:nvSpPr>
        <p:spPr>
          <a:xfrm>
            <a:off x="3108960" y="1188720"/>
            <a:ext cx="1417320" cy="566928"/>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答え</a:t>
            </a:r>
          </a:p>
        </p:txBody>
      </p:sp>
      <p:sp>
        <p:nvSpPr>
          <p:cNvPr id="7" name="Rectangle 6"/>
          <p:cNvSpPr/>
          <p:nvPr/>
        </p:nvSpPr>
        <p:spPr>
          <a:xfrm>
            <a:off x="4526280" y="1188720"/>
            <a:ext cx="4206240" cy="566928"/>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出力</a:t>
            </a:r>
          </a:p>
        </p:txBody>
      </p:sp>
      <p:sp>
        <p:nvSpPr>
          <p:cNvPr id="8" name="Rectangle 7"/>
          <p:cNvSpPr/>
          <p:nvPr/>
        </p:nvSpPr>
        <p:spPr>
          <a:xfrm>
            <a:off x="365760" y="1755648"/>
            <a:ext cx="2743200" cy="56692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① 配送時間</a:t>
            </a:r>
          </a:p>
        </p:txBody>
      </p:sp>
      <p:sp>
        <p:nvSpPr>
          <p:cNvPr id="9" name="Rectangle 8"/>
          <p:cNvSpPr/>
          <p:nvPr/>
        </p:nvSpPr>
        <p:spPr>
          <a:xfrm>
            <a:off x="3108960" y="1755648"/>
            <a:ext cx="1417320" cy="56692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回帰</a:t>
            </a:r>
          </a:p>
        </p:txBody>
      </p:sp>
      <p:sp>
        <p:nvSpPr>
          <p:cNvPr id="10" name="Rectangle 9"/>
          <p:cNvSpPr/>
          <p:nvPr/>
        </p:nvSpPr>
        <p:spPr>
          <a:xfrm>
            <a:off x="4526280" y="1755648"/>
            <a:ext cx="4206240" cy="56692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何分という数量</a:t>
            </a:r>
          </a:p>
        </p:txBody>
      </p:sp>
      <p:sp>
        <p:nvSpPr>
          <p:cNvPr id="11" name="Rectangle 10"/>
          <p:cNvSpPr/>
          <p:nvPr/>
        </p:nvSpPr>
        <p:spPr>
          <a:xfrm>
            <a:off x="365760" y="2322576"/>
            <a:ext cx="2743200" cy="56692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② 手書き数字</a:t>
            </a:r>
          </a:p>
        </p:txBody>
      </p:sp>
      <p:sp>
        <p:nvSpPr>
          <p:cNvPr id="12" name="Rectangle 11"/>
          <p:cNvSpPr/>
          <p:nvPr/>
        </p:nvSpPr>
        <p:spPr>
          <a:xfrm>
            <a:off x="3108960" y="2322576"/>
            <a:ext cx="1417320" cy="56692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分類</a:t>
            </a:r>
          </a:p>
        </p:txBody>
      </p:sp>
      <p:sp>
        <p:nvSpPr>
          <p:cNvPr id="13" name="Rectangle 12"/>
          <p:cNvSpPr/>
          <p:nvPr/>
        </p:nvSpPr>
        <p:spPr>
          <a:xfrm>
            <a:off x="4526280" y="2322576"/>
            <a:ext cx="4206240" cy="56692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0〜9というカテゴリ</a:t>
            </a:r>
          </a:p>
        </p:txBody>
      </p:sp>
      <p:sp>
        <p:nvSpPr>
          <p:cNvPr id="14" name="Rectangle 13"/>
          <p:cNvSpPr/>
          <p:nvPr/>
        </p:nvSpPr>
        <p:spPr>
          <a:xfrm>
            <a:off x="365760" y="2889504"/>
            <a:ext cx="2743200" cy="56692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③ パンの販売数</a:t>
            </a:r>
          </a:p>
        </p:txBody>
      </p:sp>
      <p:sp>
        <p:nvSpPr>
          <p:cNvPr id="15" name="Rectangle 14"/>
          <p:cNvSpPr/>
          <p:nvPr/>
        </p:nvSpPr>
        <p:spPr>
          <a:xfrm>
            <a:off x="3108960" y="2889504"/>
            <a:ext cx="1417320" cy="56692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回帰</a:t>
            </a:r>
          </a:p>
        </p:txBody>
      </p:sp>
      <p:sp>
        <p:nvSpPr>
          <p:cNvPr id="16" name="Rectangle 15"/>
          <p:cNvSpPr/>
          <p:nvPr/>
        </p:nvSpPr>
        <p:spPr>
          <a:xfrm>
            <a:off x="4526280" y="2889504"/>
            <a:ext cx="4206240" cy="56692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何個という数量</a:t>
            </a:r>
          </a:p>
        </p:txBody>
      </p:sp>
      <p:sp>
        <p:nvSpPr>
          <p:cNvPr id="17" name="Rectangle 16"/>
          <p:cNvSpPr/>
          <p:nvPr/>
        </p:nvSpPr>
        <p:spPr>
          <a:xfrm>
            <a:off x="365760" y="3456432"/>
            <a:ext cx="2743200" cy="56692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④ メールの判定</a:t>
            </a:r>
          </a:p>
        </p:txBody>
      </p:sp>
      <p:sp>
        <p:nvSpPr>
          <p:cNvPr id="18" name="Rectangle 17"/>
          <p:cNvSpPr/>
          <p:nvPr/>
        </p:nvSpPr>
        <p:spPr>
          <a:xfrm>
            <a:off x="3108960" y="3456432"/>
            <a:ext cx="1417320" cy="56692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分類</a:t>
            </a:r>
          </a:p>
        </p:txBody>
      </p:sp>
      <p:sp>
        <p:nvSpPr>
          <p:cNvPr id="19" name="Rectangle 18"/>
          <p:cNvSpPr/>
          <p:nvPr/>
        </p:nvSpPr>
        <p:spPr>
          <a:xfrm>
            <a:off x="4526280" y="3456432"/>
            <a:ext cx="4206240" cy="56692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迷惑／通常というカテゴリ</a:t>
            </a:r>
          </a:p>
        </p:txBody>
      </p:sp>
      <p:sp>
        <p:nvSpPr>
          <p:cNvPr id="20" name="TextBox 19"/>
          <p:cNvSpPr txBox="1"/>
          <p:nvPr/>
        </p:nvSpPr>
        <p:spPr>
          <a:xfrm>
            <a:off x="502920" y="4370832"/>
            <a:ext cx="8229600" cy="384048"/>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数字で表すカテゴリもある．数量を求めるかどうかで考える．</a:t>
            </a:r>
            <a:endParaRPr lang="ja-JP" sz="18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モデルの例：点の傾向に合わせて線を引く</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モデルと学習　14</a:t>
            </a:r>
            <a:endParaRPr lang="ja-JP" sz="1050"/>
          </a:p>
        </p:txBody>
      </p:sp>
      <p:cxnSp>
        <p:nvCxnSpPr>
          <p:cNvPr id="5" name="Connector 4"/>
          <p:cNvCxnSpPr/>
          <p:nvPr/>
        </p:nvCxnSpPr>
        <p:spPr>
          <a:xfrm>
            <a:off x="850392" y="3886200"/>
            <a:ext cx="4617720" cy="0"/>
          </a:xfrm>
          <a:prstGeom prst="line">
            <a:avLst/>
          </a:prstGeom>
          <a:ln w="1778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850392" y="1591056"/>
            <a:ext cx="0" cy="2295144"/>
          </a:xfrm>
          <a:prstGeom prst="line">
            <a:avLst/>
          </a:prstGeom>
          <a:ln w="1778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4712" y="4041648"/>
            <a:ext cx="4526280" cy="301752"/>
          </a:xfrm>
          <a:prstGeom prst="rect">
            <a:avLst/>
          </a:prstGeom>
          <a:noFill/>
        </p:spPr>
        <p:txBody>
          <a:bodyPr wrap="square" anchor="t" lIns="0" rIns="0" tIns="0" bIns="0">
            <a:noAutofit/>
          </a:bodyPr>
          <a:lstStyle/>
          <a:p>
            <a:pPr algn="ctr">
              <a:lnSpc>
                <a:spcPct val="113000"/>
              </a:lnSpc>
              <a:spcAft>
                <a:spcPts val="0"/>
              </a:spcAft>
            </a:pPr>
            <a:r>
              <a:rPr sz="1600" b="0" lang="ja-JP">
                <a:solidFill>
                  <a:srgbClr val="404040"/>
                </a:solidFill>
                <a:latin typeface="Arial"/>
                <a:ea typeface="ＭＳ Ｐゴシック"/>
                <a:cs typeface="ＭＳ Ｐゴシック"/>
              </a:rPr>
              <a:t>入力 x</a:t>
            </a:r>
            <a:endParaRPr lang="ja-JP" sz="1600"/>
          </a:p>
        </p:txBody>
      </p:sp>
      <p:sp>
        <p:nvSpPr>
          <p:cNvPr id="8" name="TextBox 7"/>
          <p:cNvSpPr txBox="1"/>
          <p:nvPr/>
        </p:nvSpPr>
        <p:spPr>
          <a:xfrm>
            <a:off x="713232" y="1179576"/>
            <a:ext cx="4800600" cy="301752"/>
          </a:xfrm>
          <a:prstGeom prst="rect">
            <a:avLst/>
          </a:prstGeom>
          <a:noFill/>
        </p:spPr>
        <p:txBody>
          <a:bodyPr wrap="square" anchor="t" lIns="0" rIns="0" tIns="0" bIns="0">
            <a:noAutofit/>
          </a:bodyPr>
          <a:lstStyle/>
          <a:p>
            <a:pPr algn="l">
              <a:lnSpc>
                <a:spcPct val="113000"/>
              </a:lnSpc>
              <a:spcAft>
                <a:spcPts val="0"/>
              </a:spcAft>
            </a:pPr>
            <a:r>
              <a:rPr sz="1600" b="0" lang="ja-JP">
                <a:solidFill>
                  <a:srgbClr val="404040"/>
                </a:solidFill>
                <a:latin typeface="Arial"/>
                <a:ea typeface="ＭＳ Ｐゴシック"/>
                <a:cs typeface="ＭＳ Ｐゴシック"/>
              </a:rPr>
              <a:t>出力 y</a:t>
            </a:r>
            <a:endParaRPr lang="ja-JP" sz="1600"/>
          </a:p>
        </p:txBody>
      </p:sp>
      <p:sp>
        <p:nvSpPr>
          <p:cNvPr id="9" name="Oval 8"/>
          <p:cNvSpPr/>
          <p:nvPr/>
        </p:nvSpPr>
        <p:spPr>
          <a:xfrm>
            <a:off x="1549146" y="3390137"/>
            <a:ext cx="96012" cy="96012"/>
          </a:xfrm>
          <a:prstGeom prst="ellipse">
            <a:avLst/>
          </a:prstGeom>
          <a:solidFill>
            <a:srgbClr val="404040"/>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0" name="Oval 9"/>
          <p:cNvSpPr/>
          <p:nvPr/>
        </p:nvSpPr>
        <p:spPr>
          <a:xfrm>
            <a:off x="2295906" y="2838684"/>
            <a:ext cx="96012" cy="96012"/>
          </a:xfrm>
          <a:prstGeom prst="ellipse">
            <a:avLst/>
          </a:prstGeom>
          <a:solidFill>
            <a:srgbClr val="404040"/>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1" name="Oval 10"/>
          <p:cNvSpPr/>
          <p:nvPr/>
        </p:nvSpPr>
        <p:spPr>
          <a:xfrm>
            <a:off x="3042666" y="2700821"/>
            <a:ext cx="96012" cy="96012"/>
          </a:xfrm>
          <a:prstGeom prst="ellipse">
            <a:avLst/>
          </a:prstGeom>
          <a:solidFill>
            <a:srgbClr val="404040"/>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2" name="Oval 11"/>
          <p:cNvSpPr/>
          <p:nvPr/>
        </p:nvSpPr>
        <p:spPr>
          <a:xfrm>
            <a:off x="3789425" y="2149367"/>
            <a:ext cx="96012" cy="96012"/>
          </a:xfrm>
          <a:prstGeom prst="ellipse">
            <a:avLst/>
          </a:prstGeom>
          <a:solidFill>
            <a:srgbClr val="404040"/>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3" name="Oval 12"/>
          <p:cNvSpPr/>
          <p:nvPr/>
        </p:nvSpPr>
        <p:spPr>
          <a:xfrm>
            <a:off x="4536186" y="2011504"/>
            <a:ext cx="96012" cy="96012"/>
          </a:xfrm>
          <a:prstGeom prst="ellipse">
            <a:avLst/>
          </a:prstGeom>
          <a:solidFill>
            <a:srgbClr val="404040"/>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cxnSp>
        <p:nvCxnSpPr>
          <p:cNvPr id="14" name="Connector 13"/>
          <p:cNvCxnSpPr/>
          <p:nvPr/>
        </p:nvCxnSpPr>
        <p:spPr>
          <a:xfrm flipV="1">
            <a:off x="941832" y="1687279"/>
            <a:ext cx="4389120" cy="2026591"/>
          </a:xfrm>
          <a:prstGeom prst="line">
            <a:avLst/>
          </a:prstGeom>
          <a:ln w="22860">
            <a:solidFill>
              <a:srgbClr val="FF000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897880" y="1764792"/>
            <a:ext cx="2688336" cy="2139696"/>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rPr>
              <a:t>黒い点：過去の例</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赤い線：予測モデル</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予測値＝10x＋20</a:t>
            </a:r>
            <a:endParaRPr lang="ja-JP" sz="1900"/>
          </a:p>
        </p:txBody>
      </p:sp>
      <p:sp>
        <p:nvSpPr>
          <p:cNvPr id="16" name="TextBox 15"/>
          <p:cNvSpPr txBox="1"/>
          <p:nvPr/>
        </p:nvSpPr>
        <p:spPr>
          <a:xfrm>
            <a:off x="594360" y="4480560"/>
            <a:ext cx="8046720" cy="237744"/>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※架空の数値による模式図．赤線はモデルの例．</a:t>
            </a:r>
            <a:endParaRPr lang="ja-JP" sz="14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演習：予測の外れ方を比べる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モデルと学習　15</a:t>
            </a:r>
            <a:endParaRPr lang="ja-JP" sz="1050"/>
          </a:p>
        </p:txBody>
      </p:sp>
      <p:sp>
        <p:nvSpPr>
          <p:cNvPr id="5" name="TextBox 4"/>
          <p:cNvSpPr txBox="1"/>
          <p:nvPr/>
        </p:nvSpPr>
        <p:spPr>
          <a:xfrm>
            <a:off x="530352" y="1207008"/>
            <a:ext cx="8046720" cy="484632"/>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モデルA：予測値＝10x＋20　／　モデルB：予測値＝20x＋10</a:t>
            </a:r>
            <a:endParaRPr lang="ja-JP" sz="2000"/>
          </a:p>
        </p:txBody>
      </p:sp>
      <p:sp>
        <p:nvSpPr>
          <p:cNvPr id="6" name="Rectangle 5"/>
          <p:cNvSpPr/>
          <p:nvPr/>
        </p:nvSpPr>
        <p:spPr>
          <a:xfrm>
            <a:off x="365760" y="1837943"/>
            <a:ext cx="941832" cy="44805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入力 x</a:t>
            </a:r>
          </a:p>
        </p:txBody>
      </p:sp>
      <p:sp>
        <p:nvSpPr>
          <p:cNvPr id="7" name="Rectangle 6"/>
          <p:cNvSpPr/>
          <p:nvPr/>
        </p:nvSpPr>
        <p:spPr>
          <a:xfrm>
            <a:off x="1307592" y="1837943"/>
            <a:ext cx="1344168" cy="44805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正解 y</a:t>
            </a:r>
          </a:p>
        </p:txBody>
      </p:sp>
      <p:sp>
        <p:nvSpPr>
          <p:cNvPr id="8" name="Rectangle 7"/>
          <p:cNvSpPr/>
          <p:nvPr/>
        </p:nvSpPr>
        <p:spPr>
          <a:xfrm>
            <a:off x="2651760" y="1837943"/>
            <a:ext cx="3040380" cy="44805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予測A（差の大きさ）</a:t>
            </a:r>
          </a:p>
        </p:txBody>
      </p:sp>
      <p:sp>
        <p:nvSpPr>
          <p:cNvPr id="9" name="Rectangle 8"/>
          <p:cNvSpPr/>
          <p:nvPr/>
        </p:nvSpPr>
        <p:spPr>
          <a:xfrm>
            <a:off x="5692140" y="1837943"/>
            <a:ext cx="3040380" cy="44805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予測B（差の大きさ）</a:t>
            </a:r>
          </a:p>
        </p:txBody>
      </p:sp>
      <p:sp>
        <p:nvSpPr>
          <p:cNvPr id="10" name="Rectangle 9"/>
          <p:cNvSpPr/>
          <p:nvPr/>
        </p:nvSpPr>
        <p:spPr>
          <a:xfrm>
            <a:off x="365760" y="2286000"/>
            <a:ext cx="941832"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1</a:t>
            </a:r>
          </a:p>
        </p:txBody>
      </p:sp>
      <p:sp>
        <p:nvSpPr>
          <p:cNvPr id="11" name="Rectangle 10"/>
          <p:cNvSpPr/>
          <p:nvPr/>
        </p:nvSpPr>
        <p:spPr>
          <a:xfrm>
            <a:off x="1307592" y="2286000"/>
            <a:ext cx="1344168"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28</a:t>
            </a:r>
          </a:p>
        </p:txBody>
      </p:sp>
      <p:sp>
        <p:nvSpPr>
          <p:cNvPr id="12" name="Rectangle 11"/>
          <p:cNvSpPr/>
          <p:nvPr/>
        </p:nvSpPr>
        <p:spPr>
          <a:xfrm>
            <a:off x="2651760" y="2286000"/>
            <a:ext cx="304038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30（2）</a:t>
            </a:r>
          </a:p>
        </p:txBody>
      </p:sp>
      <p:sp>
        <p:nvSpPr>
          <p:cNvPr id="13" name="Rectangle 12"/>
          <p:cNvSpPr/>
          <p:nvPr/>
        </p:nvSpPr>
        <p:spPr>
          <a:xfrm>
            <a:off x="5692140" y="2286000"/>
            <a:ext cx="304038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30（2）</a:t>
            </a:r>
          </a:p>
        </p:txBody>
      </p:sp>
      <p:sp>
        <p:nvSpPr>
          <p:cNvPr id="14" name="Rectangle 13"/>
          <p:cNvSpPr/>
          <p:nvPr/>
        </p:nvSpPr>
        <p:spPr>
          <a:xfrm>
            <a:off x="365760" y="2734056"/>
            <a:ext cx="941832"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2</a:t>
            </a:r>
          </a:p>
        </p:txBody>
      </p:sp>
      <p:sp>
        <p:nvSpPr>
          <p:cNvPr id="15" name="Rectangle 14"/>
          <p:cNvSpPr/>
          <p:nvPr/>
        </p:nvSpPr>
        <p:spPr>
          <a:xfrm>
            <a:off x="1307592" y="2734056"/>
            <a:ext cx="1344168"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44</a:t>
            </a:r>
          </a:p>
        </p:txBody>
      </p:sp>
      <p:sp>
        <p:nvSpPr>
          <p:cNvPr id="16" name="Rectangle 15"/>
          <p:cNvSpPr/>
          <p:nvPr/>
        </p:nvSpPr>
        <p:spPr>
          <a:xfrm>
            <a:off x="2651760" y="2734056"/>
            <a:ext cx="304038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40（4）</a:t>
            </a:r>
          </a:p>
        </p:txBody>
      </p:sp>
      <p:sp>
        <p:nvSpPr>
          <p:cNvPr id="17" name="Rectangle 16"/>
          <p:cNvSpPr/>
          <p:nvPr/>
        </p:nvSpPr>
        <p:spPr>
          <a:xfrm>
            <a:off x="5692140" y="2734056"/>
            <a:ext cx="304038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50（6）</a:t>
            </a:r>
          </a:p>
        </p:txBody>
      </p:sp>
      <p:sp>
        <p:nvSpPr>
          <p:cNvPr id="18" name="Rectangle 17"/>
          <p:cNvSpPr/>
          <p:nvPr/>
        </p:nvSpPr>
        <p:spPr>
          <a:xfrm>
            <a:off x="365760" y="3182111"/>
            <a:ext cx="941832"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3</a:t>
            </a:r>
          </a:p>
        </p:txBody>
      </p:sp>
      <p:sp>
        <p:nvSpPr>
          <p:cNvPr id="19" name="Rectangle 18"/>
          <p:cNvSpPr/>
          <p:nvPr/>
        </p:nvSpPr>
        <p:spPr>
          <a:xfrm>
            <a:off x="1307592" y="3182111"/>
            <a:ext cx="1344168"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48</a:t>
            </a:r>
          </a:p>
        </p:txBody>
      </p:sp>
      <p:sp>
        <p:nvSpPr>
          <p:cNvPr id="20" name="Rectangle 19"/>
          <p:cNvSpPr/>
          <p:nvPr/>
        </p:nvSpPr>
        <p:spPr>
          <a:xfrm>
            <a:off x="2651760" y="3182111"/>
            <a:ext cx="304038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50（2）</a:t>
            </a:r>
          </a:p>
        </p:txBody>
      </p:sp>
      <p:sp>
        <p:nvSpPr>
          <p:cNvPr id="21" name="Rectangle 20"/>
          <p:cNvSpPr/>
          <p:nvPr/>
        </p:nvSpPr>
        <p:spPr>
          <a:xfrm>
            <a:off x="5692140" y="3182111"/>
            <a:ext cx="304038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70（22）</a:t>
            </a:r>
          </a:p>
        </p:txBody>
      </p:sp>
      <p:sp>
        <p:nvSpPr>
          <p:cNvPr id="22" name="Rectangle 21"/>
          <p:cNvSpPr/>
          <p:nvPr/>
        </p:nvSpPr>
        <p:spPr>
          <a:xfrm>
            <a:off x="365760" y="3630168"/>
            <a:ext cx="941832"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合計</a:t>
            </a:r>
          </a:p>
        </p:txBody>
      </p:sp>
      <p:sp>
        <p:nvSpPr>
          <p:cNvPr id="23" name="Rectangle 22"/>
          <p:cNvSpPr/>
          <p:nvPr/>
        </p:nvSpPr>
        <p:spPr>
          <a:xfrm>
            <a:off x="1307592" y="3630168"/>
            <a:ext cx="1344168"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a:t>
            </a:r>
          </a:p>
        </p:txBody>
      </p:sp>
      <p:sp>
        <p:nvSpPr>
          <p:cNvPr id="24" name="Rectangle 23"/>
          <p:cNvSpPr/>
          <p:nvPr/>
        </p:nvSpPr>
        <p:spPr>
          <a:xfrm>
            <a:off x="2651760" y="3630168"/>
            <a:ext cx="304038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差の合計：8</a:t>
            </a:r>
          </a:p>
        </p:txBody>
      </p:sp>
      <p:sp>
        <p:nvSpPr>
          <p:cNvPr id="25" name="Rectangle 24"/>
          <p:cNvSpPr/>
          <p:nvPr/>
        </p:nvSpPr>
        <p:spPr>
          <a:xfrm>
            <a:off x="5692140" y="3630168"/>
            <a:ext cx="304038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差の合計：30</a:t>
            </a:r>
          </a:p>
        </p:txBody>
      </p:sp>
      <p:sp>
        <p:nvSpPr>
          <p:cNvPr id="26" name="TextBox 25"/>
          <p:cNvSpPr txBox="1"/>
          <p:nvPr/>
        </p:nvSpPr>
        <p:spPr>
          <a:xfrm>
            <a:off x="502920" y="4361688"/>
            <a:ext cx="8229600" cy="384048"/>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このデータではAの誤差が小さい．別のデータではどうだろう？</a:t>
            </a:r>
            <a:endParaRPr lang="ja-JP" sz="18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教師なし学習：正解の区分を与えず構造を探す</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参照：scikit-learn</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教師なし　16</a:t>
            </a:r>
            <a:endParaRPr lang="ja-JP" sz="1050"/>
          </a:p>
        </p:txBody>
      </p:sp>
      <p:sp>
        <p:nvSpPr>
          <p:cNvPr id="5" name="Rectangle 4"/>
          <p:cNvSpPr/>
          <p:nvPr/>
        </p:nvSpPr>
        <p:spPr>
          <a:xfrm>
            <a:off x="594360" y="1508760"/>
            <a:ext cx="2423160" cy="8046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データ</a:t>
            </a:r>
          </a:p>
          <a:p>
            <a:pPr algn="ctr">
              <a:lnSpc>
                <a:spcPct val="108000"/>
              </a:lnSpc>
              <a:spcAft>
                <a:spcPts val="0"/>
              </a:spcAft>
            </a:pPr>
            <a:r>
              <a:rPr sz="2100" b="0" lang="ja-JP">
                <a:solidFill>
                  <a:srgbClr val="404040"/>
                </a:solidFill>
                <a:latin typeface="Arial"/>
                <a:ea typeface="ＭＳ Ｐゴシック"/>
                <a:cs typeface="ＭＳ Ｐゴシック"/>
              </a:rPr>
              <a:t>正解の区分なし</a:t>
            </a:r>
          </a:p>
        </p:txBody>
      </p:sp>
      <p:sp>
        <p:nvSpPr>
          <p:cNvPr id="6" name="Rectangle 5"/>
          <p:cNvSpPr/>
          <p:nvPr/>
        </p:nvSpPr>
        <p:spPr>
          <a:xfrm>
            <a:off x="3374136" y="1508760"/>
            <a:ext cx="2423160" cy="804672"/>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FF0000"/>
                </a:solidFill>
                <a:latin typeface="Arial"/>
                <a:ea typeface="ＭＳ Ｐゴシック"/>
                <a:cs typeface="ＭＳ Ｐゴシック"/>
              </a:rPr>
              <a:t>構造を見つける</a:t>
            </a:r>
          </a:p>
        </p:txBody>
      </p:sp>
      <p:sp>
        <p:nvSpPr>
          <p:cNvPr id="7" name="Rectangle 6"/>
          <p:cNvSpPr/>
          <p:nvPr/>
        </p:nvSpPr>
        <p:spPr>
          <a:xfrm>
            <a:off x="6153912" y="1508760"/>
            <a:ext cx="2423160" cy="8046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グループや</a:t>
            </a:r>
          </a:p>
          <a:p>
            <a:pPr algn="ctr">
              <a:lnSpc>
                <a:spcPct val="108000"/>
              </a:lnSpc>
              <a:spcAft>
                <a:spcPts val="0"/>
              </a:spcAft>
            </a:pPr>
            <a:r>
              <a:rPr sz="2100" b="0" lang="ja-JP">
                <a:solidFill>
                  <a:srgbClr val="404040"/>
                </a:solidFill>
                <a:latin typeface="Arial"/>
                <a:ea typeface="ＭＳ Ｐゴシック"/>
                <a:cs typeface="ＭＳ Ｐゴシック"/>
              </a:rPr>
              <a:t>少ない表現</a:t>
            </a:r>
          </a:p>
        </p:txBody>
      </p:sp>
      <p:cxnSp>
        <p:nvCxnSpPr>
          <p:cNvPr id="8" name="Connector 7"/>
          <p:cNvCxnSpPr/>
          <p:nvPr/>
        </p:nvCxnSpPr>
        <p:spPr>
          <a:xfrm>
            <a:off x="3063240" y="1911095"/>
            <a:ext cx="192024"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843016" y="1911095"/>
            <a:ext cx="192024"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28209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1" name="TextBox 10"/>
          <p:cNvSpPr txBox="1"/>
          <p:nvPr/>
        </p:nvSpPr>
        <p:spPr>
          <a:xfrm>
            <a:off x="850392" y="2788920"/>
            <a:ext cx="7882127" cy="438912"/>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クラスタリング：似たデータをグループに分ける．</a:t>
            </a:r>
            <a:endParaRPr lang="ja-JP" sz="2000"/>
          </a:p>
        </p:txBody>
      </p:sp>
      <p:sp>
        <p:nvSpPr>
          <p:cNvPr id="12" name="TextBox 11"/>
          <p:cNvSpPr txBox="1"/>
          <p:nvPr/>
        </p:nvSpPr>
        <p:spPr>
          <a:xfrm>
            <a:off x="502920" y="332384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3" name="TextBox 12"/>
          <p:cNvSpPr txBox="1"/>
          <p:nvPr/>
        </p:nvSpPr>
        <p:spPr>
          <a:xfrm>
            <a:off x="850392" y="3291839"/>
            <a:ext cx="7882127" cy="438912"/>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次元削減：多くの特徴量を，少ない表現にまとめる．</a:t>
            </a:r>
            <a:endParaRPr lang="ja-JP" sz="2000"/>
          </a:p>
        </p:txBody>
      </p:sp>
      <p:sp>
        <p:nvSpPr>
          <p:cNvPr id="14" name="TextBox 13"/>
          <p:cNvSpPr txBox="1"/>
          <p:nvPr/>
        </p:nvSpPr>
        <p:spPr>
          <a:xfrm>
            <a:off x="502920" y="382676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5" name="TextBox 14"/>
          <p:cNvSpPr txBox="1"/>
          <p:nvPr/>
        </p:nvSpPr>
        <p:spPr>
          <a:xfrm>
            <a:off x="850392" y="3794760"/>
            <a:ext cx="7882127" cy="438912"/>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見つけた構造が役立つかを，目的に照らして確認する．</a:t>
            </a:r>
            <a:endParaRPr lang="ja-JP" sz="2000"/>
          </a:p>
        </p:txBody>
      </p:sp>
      <p:sp>
        <p:nvSpPr>
          <p:cNvPr id="16" name="TextBox 15"/>
          <p:cNvSpPr txBox="1"/>
          <p:nvPr/>
        </p:nvSpPr>
        <p:spPr>
          <a:xfrm>
            <a:off x="502920" y="4389120"/>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「正解ラベルなし」と「何も設計しない」は別．</a:t>
            </a:r>
            <a:endParaRPr lang="ja-JP" sz="19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クラスタリングの例：顧客をグループに分ける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参照：scikit-learn</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教師なし　17</a:t>
            </a:r>
            <a:endParaRPr lang="ja-JP" sz="1050"/>
          </a:p>
        </p:txBody>
      </p:sp>
      <p:cxnSp>
        <p:nvCxnSpPr>
          <p:cNvPr id="5" name="Connector 4"/>
          <p:cNvCxnSpPr/>
          <p:nvPr/>
        </p:nvCxnSpPr>
        <p:spPr>
          <a:xfrm>
            <a:off x="877824" y="4050791"/>
            <a:ext cx="4736592" cy="0"/>
          </a:xfrm>
          <a:prstGeom prst="line">
            <a:avLst/>
          </a:prstGeom>
          <a:ln w="1778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877824" y="1627632"/>
            <a:ext cx="0" cy="2423159"/>
          </a:xfrm>
          <a:prstGeom prst="line">
            <a:avLst/>
          </a:prstGeom>
          <a:ln w="1778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52144" y="4206240"/>
            <a:ext cx="4645152" cy="301752"/>
          </a:xfrm>
          <a:prstGeom prst="rect">
            <a:avLst/>
          </a:prstGeom>
          <a:noFill/>
        </p:spPr>
        <p:txBody>
          <a:bodyPr wrap="square" anchor="t" lIns="0" rIns="0" tIns="0" bIns="0">
            <a:noAutofit/>
          </a:bodyPr>
          <a:lstStyle/>
          <a:p>
            <a:pPr algn="ctr">
              <a:lnSpc>
                <a:spcPct val="113000"/>
              </a:lnSpc>
              <a:spcAft>
                <a:spcPts val="0"/>
              </a:spcAft>
            </a:pPr>
            <a:r>
              <a:rPr sz="1600" b="0" lang="ja-JP">
                <a:solidFill>
                  <a:srgbClr val="404040"/>
                </a:solidFill>
                <a:latin typeface="Arial"/>
                <a:ea typeface="ＭＳ Ｐゴシック"/>
                <a:cs typeface="ＭＳ Ｐゴシック"/>
              </a:rPr>
              <a:t>購入頻度</a:t>
            </a:r>
            <a:endParaRPr lang="ja-JP" sz="1600"/>
          </a:p>
        </p:txBody>
      </p:sp>
      <p:sp>
        <p:nvSpPr>
          <p:cNvPr id="8" name="TextBox 7"/>
          <p:cNvSpPr txBox="1"/>
          <p:nvPr/>
        </p:nvSpPr>
        <p:spPr>
          <a:xfrm>
            <a:off x="740664" y="1216152"/>
            <a:ext cx="4919472" cy="301752"/>
          </a:xfrm>
          <a:prstGeom prst="rect">
            <a:avLst/>
          </a:prstGeom>
          <a:noFill/>
        </p:spPr>
        <p:txBody>
          <a:bodyPr wrap="square" anchor="t" lIns="0" rIns="0" tIns="0" bIns="0">
            <a:noAutofit/>
          </a:bodyPr>
          <a:lstStyle/>
          <a:p>
            <a:pPr algn="l">
              <a:lnSpc>
                <a:spcPct val="113000"/>
              </a:lnSpc>
              <a:spcAft>
                <a:spcPts val="0"/>
              </a:spcAft>
            </a:pPr>
            <a:r>
              <a:rPr sz="1600" b="0" lang="ja-JP">
                <a:solidFill>
                  <a:srgbClr val="404040"/>
                </a:solidFill>
                <a:latin typeface="Arial"/>
                <a:ea typeface="ＭＳ Ｐゴシック"/>
                <a:cs typeface="ＭＳ Ｐゴシック"/>
              </a:rPr>
              <a:t>1回の購入額</a:t>
            </a:r>
            <a:endParaRPr lang="ja-JP" sz="1600"/>
          </a:p>
        </p:txBody>
      </p:sp>
      <p:sp>
        <p:nvSpPr>
          <p:cNvPr id="9" name="Oval 8"/>
          <p:cNvSpPr/>
          <p:nvPr/>
        </p:nvSpPr>
        <p:spPr>
          <a:xfrm>
            <a:off x="1458468" y="3488436"/>
            <a:ext cx="118872" cy="118872"/>
          </a:xfrm>
          <a:prstGeom prst="ellipse">
            <a:avLst/>
          </a:prstGeom>
          <a:solidFill>
            <a:srgbClr val="404040"/>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0" name="Oval 9"/>
          <p:cNvSpPr/>
          <p:nvPr/>
        </p:nvSpPr>
        <p:spPr>
          <a:xfrm>
            <a:off x="1623060" y="3168396"/>
            <a:ext cx="118872" cy="118872"/>
          </a:xfrm>
          <a:prstGeom prst="ellipse">
            <a:avLst/>
          </a:prstGeom>
          <a:solidFill>
            <a:srgbClr val="404040"/>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1" name="Oval 10"/>
          <p:cNvSpPr/>
          <p:nvPr/>
        </p:nvSpPr>
        <p:spPr>
          <a:xfrm>
            <a:off x="1869948" y="3369563"/>
            <a:ext cx="118872" cy="118872"/>
          </a:xfrm>
          <a:prstGeom prst="ellipse">
            <a:avLst/>
          </a:prstGeom>
          <a:solidFill>
            <a:srgbClr val="404040"/>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2" name="Oval 11"/>
          <p:cNvSpPr/>
          <p:nvPr/>
        </p:nvSpPr>
        <p:spPr>
          <a:xfrm>
            <a:off x="2071116" y="3067812"/>
            <a:ext cx="118872" cy="118872"/>
          </a:xfrm>
          <a:prstGeom prst="ellipse">
            <a:avLst/>
          </a:prstGeom>
          <a:solidFill>
            <a:srgbClr val="404040"/>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3" name="Oval 12"/>
          <p:cNvSpPr/>
          <p:nvPr/>
        </p:nvSpPr>
        <p:spPr>
          <a:xfrm>
            <a:off x="2199132" y="3314699"/>
            <a:ext cx="118872" cy="118872"/>
          </a:xfrm>
          <a:prstGeom prst="ellipse">
            <a:avLst/>
          </a:prstGeom>
          <a:solidFill>
            <a:srgbClr val="404040"/>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4" name="Oval 13"/>
          <p:cNvSpPr/>
          <p:nvPr/>
        </p:nvSpPr>
        <p:spPr>
          <a:xfrm>
            <a:off x="1687068" y="2948940"/>
            <a:ext cx="118872" cy="118872"/>
          </a:xfrm>
          <a:prstGeom prst="ellipse">
            <a:avLst/>
          </a:prstGeom>
          <a:solidFill>
            <a:srgbClr val="404040"/>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5" name="Oval 14"/>
          <p:cNvSpPr/>
          <p:nvPr/>
        </p:nvSpPr>
        <p:spPr>
          <a:xfrm>
            <a:off x="3698747" y="2235708"/>
            <a:ext cx="118872" cy="118872"/>
          </a:xfrm>
          <a:prstGeom prst="ellipse">
            <a:avLst/>
          </a:prstGeom>
          <a:solidFill>
            <a:srgbClr val="FF0000"/>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6" name="Oval 15"/>
          <p:cNvSpPr/>
          <p:nvPr/>
        </p:nvSpPr>
        <p:spPr>
          <a:xfrm>
            <a:off x="4018787" y="2007107"/>
            <a:ext cx="118872" cy="118872"/>
          </a:xfrm>
          <a:prstGeom prst="ellipse">
            <a:avLst/>
          </a:prstGeom>
          <a:solidFill>
            <a:srgbClr val="FF0000"/>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7" name="Oval 16"/>
          <p:cNvSpPr/>
          <p:nvPr/>
        </p:nvSpPr>
        <p:spPr>
          <a:xfrm>
            <a:off x="4219955" y="2345436"/>
            <a:ext cx="118872" cy="118872"/>
          </a:xfrm>
          <a:prstGeom prst="ellipse">
            <a:avLst/>
          </a:prstGeom>
          <a:solidFill>
            <a:srgbClr val="FF0000"/>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8" name="Oval 17"/>
          <p:cNvSpPr/>
          <p:nvPr/>
        </p:nvSpPr>
        <p:spPr>
          <a:xfrm>
            <a:off x="4430268" y="1879091"/>
            <a:ext cx="118872" cy="118872"/>
          </a:xfrm>
          <a:prstGeom prst="ellipse">
            <a:avLst/>
          </a:prstGeom>
          <a:solidFill>
            <a:srgbClr val="FF0000"/>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9" name="Oval 18"/>
          <p:cNvSpPr/>
          <p:nvPr/>
        </p:nvSpPr>
        <p:spPr>
          <a:xfrm>
            <a:off x="4567427" y="2217420"/>
            <a:ext cx="118872" cy="118872"/>
          </a:xfrm>
          <a:prstGeom prst="ellipse">
            <a:avLst/>
          </a:prstGeom>
          <a:solidFill>
            <a:srgbClr val="FF0000"/>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20" name="Oval 19"/>
          <p:cNvSpPr/>
          <p:nvPr/>
        </p:nvSpPr>
        <p:spPr>
          <a:xfrm>
            <a:off x="4110228" y="1732787"/>
            <a:ext cx="118872" cy="118872"/>
          </a:xfrm>
          <a:prstGeom prst="ellipse">
            <a:avLst/>
          </a:prstGeom>
          <a:solidFill>
            <a:srgbClr val="FF0000"/>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21" name="TextBox 20"/>
          <p:cNvSpPr txBox="1"/>
          <p:nvPr/>
        </p:nvSpPr>
        <p:spPr>
          <a:xfrm>
            <a:off x="6062472" y="1773936"/>
            <a:ext cx="2514600" cy="2231136"/>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正解のグループ名を</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先に与えていない．</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特徴量をもとに</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似た例をまとめる．</a:t>
            </a:r>
            <a:endParaRPr lang="ja-JP" sz="2000"/>
          </a:p>
        </p:txBody>
      </p:sp>
      <p:sp>
        <p:nvSpPr>
          <p:cNvPr id="22" name="TextBox 21"/>
          <p:cNvSpPr txBox="1"/>
          <p:nvPr/>
        </p:nvSpPr>
        <p:spPr>
          <a:xfrm>
            <a:off x="548640" y="4489704"/>
            <a:ext cx="8046720" cy="237744"/>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※架空データを2群に分けた模式例．色は分けた結果を示す．</a:t>
            </a:r>
            <a:endParaRPr lang="ja-JP" sz="140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強化学習：行動の結果から選び方を改善する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参照：Sutton &amp; Barto</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強化学習　18</a:t>
            </a:r>
            <a:endParaRPr lang="ja-JP" sz="1050"/>
          </a:p>
        </p:txBody>
      </p:sp>
      <p:sp>
        <p:nvSpPr>
          <p:cNvPr id="5" name="Rectangle 4"/>
          <p:cNvSpPr/>
          <p:nvPr/>
        </p:nvSpPr>
        <p:spPr>
          <a:xfrm>
            <a:off x="795528" y="1965960"/>
            <a:ext cx="2788920" cy="987552"/>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FF0000"/>
                </a:solidFill>
                <a:latin typeface="Arial"/>
                <a:ea typeface="ＭＳ Ｐゴシック"/>
                <a:cs typeface="ＭＳ Ｐゴシック"/>
              </a:rPr>
              <a:t>エージェント</a:t>
            </a:r>
          </a:p>
          <a:p>
            <a:pPr algn="ctr">
              <a:lnSpc>
                <a:spcPct val="108000"/>
              </a:lnSpc>
              <a:spcAft>
                <a:spcPts val="0"/>
              </a:spcAft>
            </a:pPr>
            <a:r>
              <a:rPr sz="2300" b="0" lang="ja-JP">
                <a:solidFill>
                  <a:srgbClr val="FF0000"/>
                </a:solidFill>
                <a:latin typeface="Arial"/>
                <a:ea typeface="ＭＳ Ｐゴシック"/>
                <a:cs typeface="ＭＳ Ｐゴシック"/>
              </a:rPr>
              <a:t>行動を選ぶ</a:t>
            </a:r>
          </a:p>
        </p:txBody>
      </p:sp>
      <p:sp>
        <p:nvSpPr>
          <p:cNvPr id="6" name="Rectangle 5"/>
          <p:cNvSpPr/>
          <p:nvPr/>
        </p:nvSpPr>
        <p:spPr>
          <a:xfrm>
            <a:off x="5550408" y="1965960"/>
            <a:ext cx="2788920" cy="98755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404040"/>
                </a:solidFill>
                <a:latin typeface="Arial"/>
                <a:ea typeface="ＭＳ Ｐゴシック"/>
                <a:cs typeface="ＭＳ Ｐゴシック"/>
              </a:rPr>
              <a:t>環境</a:t>
            </a:r>
          </a:p>
          <a:p>
            <a:pPr algn="ctr">
              <a:lnSpc>
                <a:spcPct val="108000"/>
              </a:lnSpc>
              <a:spcAft>
                <a:spcPts val="0"/>
              </a:spcAft>
            </a:pPr>
            <a:r>
              <a:rPr sz="2300" b="0" lang="ja-JP">
                <a:solidFill>
                  <a:srgbClr val="404040"/>
                </a:solidFill>
                <a:latin typeface="Arial"/>
                <a:ea typeface="ＭＳ Ｐゴシック"/>
                <a:cs typeface="ＭＳ Ｐゴシック"/>
              </a:rPr>
              <a:t>行動の結果が生じる</a:t>
            </a:r>
          </a:p>
        </p:txBody>
      </p:sp>
      <p:cxnSp>
        <p:nvCxnSpPr>
          <p:cNvPr id="7" name="Connector 6"/>
          <p:cNvCxnSpPr/>
          <p:nvPr/>
        </p:nvCxnSpPr>
        <p:spPr>
          <a:xfrm>
            <a:off x="3730752" y="2203704"/>
            <a:ext cx="1655064" cy="0"/>
          </a:xfrm>
          <a:prstGeom prst="line">
            <a:avLst/>
          </a:prstGeom>
          <a:ln w="2286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794760" y="1728216"/>
            <a:ext cx="1554480" cy="356616"/>
          </a:xfrm>
          <a:prstGeom prst="rect">
            <a:avLst/>
          </a:prstGeom>
          <a:noFill/>
        </p:spPr>
        <p:txBody>
          <a:bodyPr wrap="square" anchor="t" lIns="0" rIns="0" tIns="0" bIns="0">
            <a:noAutofit/>
          </a:bodyPr>
          <a:lstStyle/>
          <a:p>
            <a:pPr algn="ctr">
              <a:lnSpc>
                <a:spcPct val="113000"/>
              </a:lnSpc>
              <a:spcAft>
                <a:spcPts val="0"/>
              </a:spcAft>
            </a:pPr>
            <a:r>
              <a:rPr sz="1900" b="0" lang="ja-JP">
                <a:solidFill>
                  <a:srgbClr val="404040"/>
                </a:solidFill>
                <a:latin typeface="Arial"/>
                <a:ea typeface="ＭＳ Ｐゴシック"/>
                <a:cs typeface="ＭＳ Ｐゴシック"/>
              </a:rPr>
              <a:t>行動</a:t>
            </a:r>
            <a:endParaRPr lang="ja-JP" sz="1900"/>
          </a:p>
        </p:txBody>
      </p:sp>
      <p:cxnSp>
        <p:nvCxnSpPr>
          <p:cNvPr id="9" name="Connector 8"/>
          <p:cNvCxnSpPr/>
          <p:nvPr/>
        </p:nvCxnSpPr>
        <p:spPr>
          <a:xfrm flipH="1">
            <a:off x="3730752" y="2779776"/>
            <a:ext cx="1673352" cy="0"/>
          </a:xfrm>
          <a:prstGeom prst="line">
            <a:avLst/>
          </a:prstGeom>
          <a:ln w="2286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694176" y="3035808"/>
            <a:ext cx="1728216" cy="347472"/>
          </a:xfrm>
          <a:prstGeom prst="rect">
            <a:avLst/>
          </a:prstGeom>
          <a:noFill/>
        </p:spPr>
        <p:txBody>
          <a:bodyPr wrap="square" anchor="t" lIns="0" rIns="0" tIns="0" bIns="0">
            <a:noAutofit/>
          </a:bodyPr>
          <a:lstStyle/>
          <a:p>
            <a:pPr algn="ctr">
              <a:lnSpc>
                <a:spcPct val="113000"/>
              </a:lnSpc>
              <a:spcAft>
                <a:spcPts val="0"/>
              </a:spcAft>
            </a:pPr>
            <a:r>
              <a:rPr sz="1900" b="0" lang="ja-JP">
                <a:solidFill>
                  <a:srgbClr val="404040"/>
                </a:solidFill>
                <a:latin typeface="Arial"/>
                <a:ea typeface="ＭＳ Ｐゴシック"/>
                <a:cs typeface="ＭＳ Ｐゴシック"/>
              </a:rPr>
              <a:t>状態・報酬</a:t>
            </a:r>
            <a:endParaRPr lang="ja-JP" sz="1900"/>
          </a:p>
        </p:txBody>
      </p:sp>
      <p:sp>
        <p:nvSpPr>
          <p:cNvPr id="11" name="TextBox 10"/>
          <p:cNvSpPr txBox="1"/>
          <p:nvPr/>
        </p:nvSpPr>
        <p:spPr>
          <a:xfrm>
            <a:off x="594360" y="3904487"/>
            <a:ext cx="8046720" cy="429768"/>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例：迷路のゴールで＋10，移動1回ごとに−1（教材用）</a:t>
            </a:r>
            <a:endParaRPr lang="ja-JP" sz="2100"/>
          </a:p>
        </p:txBody>
      </p:sp>
      <p:sp>
        <p:nvSpPr>
          <p:cNvPr id="12" name="TextBox 11"/>
          <p:cNvSpPr txBox="1"/>
          <p:nvPr/>
        </p:nvSpPr>
        <p:spPr>
          <a:xfrm>
            <a:off x="502920" y="4434840"/>
            <a:ext cx="8229600" cy="384048"/>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一回の行動だけでなく，その後の報酬も考える．</a:t>
            </a:r>
            <a:endParaRPr lang="ja-JP" sz="18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三つの学習方法を，同じ観点で比べる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比較　19</a:t>
            </a:r>
            <a:endParaRPr lang="ja-JP" sz="1050"/>
          </a:p>
        </p:txBody>
      </p:sp>
      <p:sp>
        <p:nvSpPr>
          <p:cNvPr id="5" name="Rectangle 4"/>
          <p:cNvSpPr/>
          <p:nvPr/>
        </p:nvSpPr>
        <p:spPr>
          <a:xfrm>
            <a:off x="365760" y="1188720"/>
            <a:ext cx="1645920" cy="76809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比較点</a:t>
            </a:r>
          </a:p>
        </p:txBody>
      </p:sp>
      <p:sp>
        <p:nvSpPr>
          <p:cNvPr id="6" name="Rectangle 5"/>
          <p:cNvSpPr/>
          <p:nvPr/>
        </p:nvSpPr>
        <p:spPr>
          <a:xfrm>
            <a:off x="2011680" y="1188720"/>
            <a:ext cx="2240280" cy="76809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教師あり</a:t>
            </a:r>
          </a:p>
        </p:txBody>
      </p:sp>
      <p:sp>
        <p:nvSpPr>
          <p:cNvPr id="7" name="Rectangle 6"/>
          <p:cNvSpPr/>
          <p:nvPr/>
        </p:nvSpPr>
        <p:spPr>
          <a:xfrm>
            <a:off x="4251960" y="1188720"/>
            <a:ext cx="2240280" cy="76809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教師なし</a:t>
            </a:r>
          </a:p>
        </p:txBody>
      </p:sp>
      <p:sp>
        <p:nvSpPr>
          <p:cNvPr id="8" name="Rectangle 7"/>
          <p:cNvSpPr/>
          <p:nvPr/>
        </p:nvSpPr>
        <p:spPr>
          <a:xfrm>
            <a:off x="6492240" y="1188720"/>
            <a:ext cx="2240280" cy="76809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強化学習</a:t>
            </a:r>
          </a:p>
        </p:txBody>
      </p:sp>
      <p:sp>
        <p:nvSpPr>
          <p:cNvPr id="9" name="Rectangle 8"/>
          <p:cNvSpPr/>
          <p:nvPr/>
        </p:nvSpPr>
        <p:spPr>
          <a:xfrm>
            <a:off x="365760" y="1956816"/>
            <a:ext cx="1645920"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主な手がかり</a:t>
            </a:r>
          </a:p>
        </p:txBody>
      </p:sp>
      <p:sp>
        <p:nvSpPr>
          <p:cNvPr id="10" name="Rectangle 9"/>
          <p:cNvSpPr/>
          <p:nvPr/>
        </p:nvSpPr>
        <p:spPr>
          <a:xfrm>
            <a:off x="2011680" y="1956816"/>
            <a:ext cx="2240280"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入力と正解の組</a:t>
            </a:r>
          </a:p>
        </p:txBody>
      </p:sp>
      <p:sp>
        <p:nvSpPr>
          <p:cNvPr id="11" name="Rectangle 10"/>
          <p:cNvSpPr/>
          <p:nvPr/>
        </p:nvSpPr>
        <p:spPr>
          <a:xfrm>
            <a:off x="4251960" y="1956816"/>
            <a:ext cx="2240280"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正解なしの構造</a:t>
            </a:r>
          </a:p>
        </p:txBody>
      </p:sp>
      <p:sp>
        <p:nvSpPr>
          <p:cNvPr id="12" name="Rectangle 11"/>
          <p:cNvSpPr/>
          <p:nvPr/>
        </p:nvSpPr>
        <p:spPr>
          <a:xfrm>
            <a:off x="6492240" y="1956816"/>
            <a:ext cx="2240280"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行動の結果の報酬</a:t>
            </a:r>
          </a:p>
        </p:txBody>
      </p:sp>
      <p:sp>
        <p:nvSpPr>
          <p:cNvPr id="13" name="Rectangle 12"/>
          <p:cNvSpPr/>
          <p:nvPr/>
        </p:nvSpPr>
        <p:spPr>
          <a:xfrm>
            <a:off x="365760" y="2724912"/>
            <a:ext cx="1645920"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目指すこと</a:t>
            </a:r>
          </a:p>
        </p:txBody>
      </p:sp>
      <p:sp>
        <p:nvSpPr>
          <p:cNvPr id="14" name="Rectangle 13"/>
          <p:cNvSpPr/>
          <p:nvPr/>
        </p:nvSpPr>
        <p:spPr>
          <a:xfrm>
            <a:off x="2011680" y="2724912"/>
            <a:ext cx="2240280"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出力を予測する</a:t>
            </a:r>
          </a:p>
        </p:txBody>
      </p:sp>
      <p:sp>
        <p:nvSpPr>
          <p:cNvPr id="15" name="Rectangle 14"/>
          <p:cNvSpPr/>
          <p:nvPr/>
        </p:nvSpPr>
        <p:spPr>
          <a:xfrm>
            <a:off x="4251960" y="2724912"/>
            <a:ext cx="2240280"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構造を見つける</a:t>
            </a:r>
          </a:p>
        </p:txBody>
      </p:sp>
      <p:sp>
        <p:nvSpPr>
          <p:cNvPr id="16" name="Rectangle 15"/>
          <p:cNvSpPr/>
          <p:nvPr/>
        </p:nvSpPr>
        <p:spPr>
          <a:xfrm>
            <a:off x="6492240" y="2724912"/>
            <a:ext cx="2240280"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行動の選択を改善</a:t>
            </a:r>
          </a:p>
        </p:txBody>
      </p:sp>
      <p:sp>
        <p:nvSpPr>
          <p:cNvPr id="17" name="Rectangle 16"/>
          <p:cNvSpPr/>
          <p:nvPr/>
        </p:nvSpPr>
        <p:spPr>
          <a:xfrm>
            <a:off x="365760" y="3493008"/>
            <a:ext cx="1645920"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例</a:t>
            </a:r>
          </a:p>
        </p:txBody>
      </p:sp>
      <p:sp>
        <p:nvSpPr>
          <p:cNvPr id="18" name="Rectangle 17"/>
          <p:cNvSpPr/>
          <p:nvPr/>
        </p:nvSpPr>
        <p:spPr>
          <a:xfrm>
            <a:off x="2011680" y="3493008"/>
            <a:ext cx="2240280"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販売数の予測</a:t>
            </a:r>
          </a:p>
        </p:txBody>
      </p:sp>
      <p:sp>
        <p:nvSpPr>
          <p:cNvPr id="19" name="Rectangle 18"/>
          <p:cNvSpPr/>
          <p:nvPr/>
        </p:nvSpPr>
        <p:spPr>
          <a:xfrm>
            <a:off x="4251960" y="3493008"/>
            <a:ext cx="2240280"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顧客のグループ分け</a:t>
            </a:r>
          </a:p>
        </p:txBody>
      </p:sp>
      <p:sp>
        <p:nvSpPr>
          <p:cNvPr id="20" name="Rectangle 19"/>
          <p:cNvSpPr/>
          <p:nvPr/>
        </p:nvSpPr>
        <p:spPr>
          <a:xfrm>
            <a:off x="6492240" y="3493008"/>
            <a:ext cx="2240280"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ゲームや制御</a:t>
            </a:r>
          </a:p>
        </p:txBody>
      </p:sp>
      <p:sp>
        <p:nvSpPr>
          <p:cNvPr id="21" name="TextBox 20"/>
          <p:cNvSpPr txBox="1"/>
          <p:nvPr/>
        </p:nvSpPr>
        <p:spPr>
          <a:xfrm>
            <a:off x="502920" y="4379976"/>
            <a:ext cx="8229600" cy="384048"/>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学習の種類は，「何を与えて，何を学ばせるか」で判断する．</a:t>
            </a:r>
            <a:endParaRPr lang="ja-JP" sz="18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演習2：どの学習方法を使うか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演習　20</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941832"/>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A　製品画像と「良品／不良品」の正解を集め，</a:t>
            </a:r>
            <a:endParaRPr lang="ja-JP" sz="2100"/>
          </a:p>
          <a:p>
            <a:pPr algn="l">
              <a:lnSpc>
                <a:spcPct val="113000"/>
              </a:lnSpc>
              <a:spcAft>
                <a:spcPts val="0"/>
              </a:spcAft>
            </a:pPr>
            <a:r>
              <a:rPr sz="2100" b="0" lang="ja-JP">
                <a:solidFill>
                  <a:srgbClr val="404040"/>
                </a:solidFill>
                <a:latin typeface="Arial"/>
                <a:ea typeface="ＭＳ Ｐゴシック"/>
                <a:cs typeface="ＭＳ Ｐゴシック"/>
              </a:rPr>
              <a:t>　　新しい製品画像の判定を学ぶ．</a:t>
            </a:r>
            <a:endParaRPr lang="ja-JP" sz="2100"/>
          </a:p>
        </p:txBody>
      </p:sp>
      <p:sp>
        <p:nvSpPr>
          <p:cNvPr id="7" name="TextBox 6"/>
          <p:cNvSpPr txBox="1"/>
          <p:nvPr/>
        </p:nvSpPr>
        <p:spPr>
          <a:xfrm>
            <a:off x="502920" y="222656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2194560"/>
            <a:ext cx="7882127" cy="941832"/>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B　顧客の購買履歴から，似た顧客をまとめる．</a:t>
            </a:r>
            <a:endParaRPr lang="ja-JP" sz="2100"/>
          </a:p>
          <a:p>
            <a:pPr algn="l">
              <a:lnSpc>
                <a:spcPct val="113000"/>
              </a:lnSpc>
              <a:spcAft>
                <a:spcPts val="0"/>
              </a:spcAft>
            </a:pPr>
            <a:r>
              <a:rPr sz="2100" b="0" lang="ja-JP">
                <a:solidFill>
                  <a:srgbClr val="404040"/>
                </a:solidFill>
                <a:latin typeface="Arial"/>
                <a:ea typeface="ＭＳ Ｐゴシック"/>
                <a:cs typeface="ＭＳ Ｐゴシック"/>
              </a:rPr>
              <a:t>　　正解のグループ名は与えない．</a:t>
            </a:r>
            <a:endParaRPr lang="ja-JP" sz="2100"/>
          </a:p>
        </p:txBody>
      </p:sp>
      <p:sp>
        <p:nvSpPr>
          <p:cNvPr id="9" name="TextBox 8"/>
          <p:cNvSpPr txBox="1"/>
          <p:nvPr/>
        </p:nvSpPr>
        <p:spPr>
          <a:xfrm>
            <a:off x="502920" y="323240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3200400"/>
            <a:ext cx="7882127" cy="941832"/>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C　仮想の倉庫で配送ロボットを動かし，</a:t>
            </a:r>
            <a:endParaRPr lang="ja-JP" sz="2100"/>
          </a:p>
          <a:p>
            <a:pPr algn="l">
              <a:lnSpc>
                <a:spcPct val="113000"/>
              </a:lnSpc>
              <a:spcAft>
                <a:spcPts val="0"/>
              </a:spcAft>
            </a:pPr>
            <a:r>
              <a:rPr sz="2100" b="0" lang="ja-JP">
                <a:solidFill>
                  <a:srgbClr val="404040"/>
                </a:solidFill>
                <a:latin typeface="Arial"/>
                <a:ea typeface="ＭＳ Ｐゴシック"/>
                <a:cs typeface="ＭＳ Ｐゴシック"/>
              </a:rPr>
              <a:t>　　移動の結果の報酬から行動の選び方を改善する．</a:t>
            </a:r>
            <a:endParaRPr lang="ja-JP" sz="2100"/>
          </a:p>
        </p:txBody>
      </p:sp>
      <p:sp>
        <p:nvSpPr>
          <p:cNvPr id="11" name="TextBox 10"/>
          <p:cNvSpPr txBox="1"/>
          <p:nvPr/>
        </p:nvSpPr>
        <p:spPr>
          <a:xfrm>
            <a:off x="502920" y="4416552"/>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答えに加えて，判断の手がかりを一つ挙げる．</a:t>
            </a:r>
            <a:endParaRPr lang="ja-JP" sz="19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演習2：解答</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演習　21</a:t>
            </a:r>
            <a:endParaRPr lang="ja-JP" sz="1050"/>
          </a:p>
        </p:txBody>
      </p:sp>
      <p:sp>
        <p:nvSpPr>
          <p:cNvPr id="5" name="Rectangle 4"/>
          <p:cNvSpPr/>
          <p:nvPr/>
        </p:nvSpPr>
        <p:spPr>
          <a:xfrm>
            <a:off x="365760" y="1188720"/>
            <a:ext cx="2276856" cy="73152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事例</a:t>
            </a:r>
          </a:p>
        </p:txBody>
      </p:sp>
      <p:sp>
        <p:nvSpPr>
          <p:cNvPr id="6" name="Rectangle 5"/>
          <p:cNvSpPr/>
          <p:nvPr/>
        </p:nvSpPr>
        <p:spPr>
          <a:xfrm>
            <a:off x="2642616" y="1188720"/>
            <a:ext cx="2331720" cy="73152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学習の種類</a:t>
            </a:r>
          </a:p>
        </p:txBody>
      </p:sp>
      <p:sp>
        <p:nvSpPr>
          <p:cNvPr id="7" name="Rectangle 6"/>
          <p:cNvSpPr/>
          <p:nvPr/>
        </p:nvSpPr>
        <p:spPr>
          <a:xfrm>
            <a:off x="4974336" y="1188720"/>
            <a:ext cx="3758184" cy="73152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判断の手がかり</a:t>
            </a:r>
          </a:p>
        </p:txBody>
      </p:sp>
      <p:sp>
        <p:nvSpPr>
          <p:cNvPr id="8" name="Rectangle 7"/>
          <p:cNvSpPr/>
          <p:nvPr/>
        </p:nvSpPr>
        <p:spPr>
          <a:xfrm>
            <a:off x="365760" y="1920240"/>
            <a:ext cx="2276856"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A 製品の判定</a:t>
            </a:r>
          </a:p>
        </p:txBody>
      </p:sp>
      <p:sp>
        <p:nvSpPr>
          <p:cNvPr id="9" name="Rectangle 8"/>
          <p:cNvSpPr/>
          <p:nvPr/>
        </p:nvSpPr>
        <p:spPr>
          <a:xfrm>
            <a:off x="2642616" y="1920240"/>
            <a:ext cx="2331720"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教師あり学習</a:t>
            </a:r>
          </a:p>
        </p:txBody>
      </p:sp>
      <p:sp>
        <p:nvSpPr>
          <p:cNvPr id="10" name="Rectangle 9"/>
          <p:cNvSpPr/>
          <p:nvPr/>
        </p:nvSpPr>
        <p:spPr>
          <a:xfrm>
            <a:off x="4974336" y="1920240"/>
            <a:ext cx="3758184"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入力と正解カテゴリの組</a:t>
            </a:r>
          </a:p>
        </p:txBody>
      </p:sp>
      <p:sp>
        <p:nvSpPr>
          <p:cNvPr id="11" name="Rectangle 10"/>
          <p:cNvSpPr/>
          <p:nvPr/>
        </p:nvSpPr>
        <p:spPr>
          <a:xfrm>
            <a:off x="365760" y="2651760"/>
            <a:ext cx="2276856"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B 顧客をまとめる</a:t>
            </a:r>
          </a:p>
        </p:txBody>
      </p:sp>
      <p:sp>
        <p:nvSpPr>
          <p:cNvPr id="12" name="Rectangle 11"/>
          <p:cNvSpPr/>
          <p:nvPr/>
        </p:nvSpPr>
        <p:spPr>
          <a:xfrm>
            <a:off x="2642616" y="2651760"/>
            <a:ext cx="2331720"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教師なし学習</a:t>
            </a:r>
          </a:p>
        </p:txBody>
      </p:sp>
      <p:sp>
        <p:nvSpPr>
          <p:cNvPr id="13" name="Rectangle 12"/>
          <p:cNvSpPr/>
          <p:nvPr/>
        </p:nvSpPr>
        <p:spPr>
          <a:xfrm>
            <a:off x="4974336" y="2651760"/>
            <a:ext cx="3758184"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正解のグループ名を与えない</a:t>
            </a:r>
          </a:p>
        </p:txBody>
      </p:sp>
      <p:sp>
        <p:nvSpPr>
          <p:cNvPr id="14" name="Rectangle 13"/>
          <p:cNvSpPr/>
          <p:nvPr/>
        </p:nvSpPr>
        <p:spPr>
          <a:xfrm>
            <a:off x="365760" y="3383280"/>
            <a:ext cx="2276856"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C ロボットの行動</a:t>
            </a:r>
          </a:p>
        </p:txBody>
      </p:sp>
      <p:sp>
        <p:nvSpPr>
          <p:cNvPr id="15" name="Rectangle 14"/>
          <p:cNvSpPr/>
          <p:nvPr/>
        </p:nvSpPr>
        <p:spPr>
          <a:xfrm>
            <a:off x="2642616" y="3383280"/>
            <a:ext cx="2331720"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強化学習</a:t>
            </a:r>
          </a:p>
        </p:txBody>
      </p:sp>
      <p:sp>
        <p:nvSpPr>
          <p:cNvPr id="16" name="Rectangle 15"/>
          <p:cNvSpPr/>
          <p:nvPr/>
        </p:nvSpPr>
        <p:spPr>
          <a:xfrm>
            <a:off x="4974336" y="3383280"/>
            <a:ext cx="3758184"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行動の結果としての報酬</a:t>
            </a:r>
          </a:p>
        </p:txBody>
      </p:sp>
      <p:sp>
        <p:nvSpPr>
          <p:cNvPr id="17" name="TextBox 16"/>
          <p:cNvSpPr txBox="1"/>
          <p:nvPr/>
        </p:nvSpPr>
        <p:spPr>
          <a:xfrm>
            <a:off x="502920" y="4370832"/>
            <a:ext cx="8229600" cy="384048"/>
          </a:xfrm>
          <a:prstGeom prst="rect">
            <a:avLst/>
          </a:prstGeom>
          <a:noFill/>
        </p:spPr>
        <p:txBody>
          <a:bodyPr wrap="square" anchor="t" lIns="0" rIns="0" tIns="0" bIns="0">
            <a:noAutofit/>
          </a:bodyPr>
          <a:lstStyle/>
          <a:p>
            <a:pPr algn="l">
              <a:lnSpc>
                <a:spcPct val="113000"/>
              </a:lnSpc>
              <a:spcAft>
                <a:spcPts val="0"/>
              </a:spcAft>
            </a:pPr>
            <a:r>
              <a:rPr sz="2000" b="0" lang="ja-JP">
                <a:solidFill>
                  <a:srgbClr val="FF0000"/>
                </a:solidFill>
                <a:latin typeface="Arial"/>
                <a:ea typeface="ＭＳ Ｐゴシック"/>
                <a:cs typeface="ＭＳ Ｐゴシック"/>
              </a:rPr>
              <a:t>学習方法と，モデルの種類は別の観点．</a:t>
            </a:r>
            <a:endParaRPr lang="ja-JP" sz="200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汎化：学習に使っていないデータでも役立つか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汎化と評価　22</a:t>
            </a:r>
            <a:endParaRPr lang="ja-JP" sz="1050"/>
          </a:p>
        </p:txBody>
      </p:sp>
      <p:sp>
        <p:nvSpPr>
          <p:cNvPr id="5" name="Rectangle 4"/>
          <p:cNvSpPr/>
          <p:nvPr/>
        </p:nvSpPr>
        <p:spPr>
          <a:xfrm>
            <a:off x="594360" y="1554480"/>
            <a:ext cx="2423160" cy="8046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学習に使った</a:t>
            </a:r>
          </a:p>
          <a:p>
            <a:pPr algn="ctr">
              <a:lnSpc>
                <a:spcPct val="108000"/>
              </a:lnSpc>
              <a:spcAft>
                <a:spcPts val="0"/>
              </a:spcAft>
            </a:pPr>
            <a:r>
              <a:rPr sz="2100" b="0" lang="ja-JP">
                <a:solidFill>
                  <a:srgbClr val="404040"/>
                </a:solidFill>
                <a:latin typeface="Arial"/>
                <a:ea typeface="ＭＳ Ｐゴシック"/>
                <a:cs typeface="ＭＳ Ｐゴシック"/>
              </a:rPr>
              <a:t>データ</a:t>
            </a:r>
          </a:p>
        </p:txBody>
      </p:sp>
      <p:sp>
        <p:nvSpPr>
          <p:cNvPr id="6" name="Rectangle 5"/>
          <p:cNvSpPr/>
          <p:nvPr/>
        </p:nvSpPr>
        <p:spPr>
          <a:xfrm>
            <a:off x="3374136" y="1554480"/>
            <a:ext cx="2423160" cy="804672"/>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FF0000"/>
                </a:solidFill>
                <a:latin typeface="Arial"/>
                <a:ea typeface="ＭＳ Ｐゴシック"/>
                <a:cs typeface="ＭＳ Ｐゴシック"/>
              </a:rPr>
              <a:t>調整したモデル</a:t>
            </a:r>
          </a:p>
        </p:txBody>
      </p:sp>
      <p:sp>
        <p:nvSpPr>
          <p:cNvPr id="7" name="Rectangle 6"/>
          <p:cNvSpPr/>
          <p:nvPr/>
        </p:nvSpPr>
        <p:spPr>
          <a:xfrm>
            <a:off x="6153912" y="1554480"/>
            <a:ext cx="2423160" cy="8046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まだ見ていない</a:t>
            </a:r>
          </a:p>
          <a:p>
            <a:pPr algn="ctr">
              <a:lnSpc>
                <a:spcPct val="108000"/>
              </a:lnSpc>
              <a:spcAft>
                <a:spcPts val="0"/>
              </a:spcAft>
            </a:pPr>
            <a:r>
              <a:rPr sz="2100" b="0" lang="ja-JP">
                <a:solidFill>
                  <a:srgbClr val="404040"/>
                </a:solidFill>
                <a:latin typeface="Arial"/>
                <a:ea typeface="ＭＳ Ｐゴシック"/>
                <a:cs typeface="ＭＳ Ｐゴシック"/>
              </a:rPr>
              <a:t>データで評価</a:t>
            </a:r>
          </a:p>
        </p:txBody>
      </p:sp>
      <p:cxnSp>
        <p:nvCxnSpPr>
          <p:cNvPr id="8" name="Connector 7"/>
          <p:cNvCxnSpPr/>
          <p:nvPr/>
        </p:nvCxnSpPr>
        <p:spPr>
          <a:xfrm>
            <a:off x="3063240" y="1956816"/>
            <a:ext cx="192024"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843016" y="1956816"/>
            <a:ext cx="192024"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285750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1" name="TextBox 10"/>
          <p:cNvSpPr txBox="1"/>
          <p:nvPr/>
        </p:nvSpPr>
        <p:spPr>
          <a:xfrm>
            <a:off x="850392" y="2825496"/>
            <a:ext cx="7882127" cy="429768"/>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学習に使った例で良い結果が出ても，それだけでは足りない．</a:t>
            </a:r>
            <a:endParaRPr lang="ja-JP" sz="2000"/>
          </a:p>
        </p:txBody>
      </p:sp>
      <p:sp>
        <p:nvSpPr>
          <p:cNvPr id="12" name="TextBox 11"/>
          <p:cNvSpPr txBox="1"/>
          <p:nvPr/>
        </p:nvSpPr>
        <p:spPr>
          <a:xfrm>
            <a:off x="502920" y="335127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3" name="TextBox 12"/>
          <p:cNvSpPr txBox="1"/>
          <p:nvPr/>
        </p:nvSpPr>
        <p:spPr>
          <a:xfrm>
            <a:off x="850392" y="3319272"/>
            <a:ext cx="7882127" cy="429768"/>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実際に使う場面に近い，別のデータで確かめる．</a:t>
            </a:r>
            <a:endParaRPr lang="ja-JP" sz="2000"/>
          </a:p>
        </p:txBody>
      </p:sp>
      <p:sp>
        <p:nvSpPr>
          <p:cNvPr id="14" name="TextBox 13"/>
          <p:cNvSpPr txBox="1"/>
          <p:nvPr/>
        </p:nvSpPr>
        <p:spPr>
          <a:xfrm>
            <a:off x="502920" y="3845052"/>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5" name="TextBox 14"/>
          <p:cNvSpPr txBox="1"/>
          <p:nvPr/>
        </p:nvSpPr>
        <p:spPr>
          <a:xfrm>
            <a:off x="850392" y="3813048"/>
            <a:ext cx="7882127" cy="429768"/>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データの季節・対象・条件が変わる影響も考える．</a:t>
            </a:r>
            <a:endParaRPr lang="ja-JP" sz="2000"/>
          </a:p>
        </p:txBody>
      </p:sp>
      <p:sp>
        <p:nvSpPr>
          <p:cNvPr id="16" name="TextBox 15"/>
          <p:cNvSpPr txBox="1"/>
          <p:nvPr/>
        </p:nvSpPr>
        <p:spPr>
          <a:xfrm>
            <a:off x="502920" y="4389120"/>
            <a:ext cx="8229600" cy="384048"/>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目的は，「見たことのある例を覚えること」だけではない．</a:t>
            </a:r>
            <a:endParaRPr lang="ja-JP" sz="180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データを分ける：訓練・検証・テスト</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参照：Google／scikit-learn</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汎化と評価　23</a:t>
            </a:r>
            <a:endParaRPr lang="ja-JP" sz="1050"/>
          </a:p>
        </p:txBody>
      </p:sp>
      <p:sp>
        <p:nvSpPr>
          <p:cNvPr id="5" name="Rectangle 4"/>
          <p:cNvSpPr/>
          <p:nvPr/>
        </p:nvSpPr>
        <p:spPr>
          <a:xfrm>
            <a:off x="539496" y="1536192"/>
            <a:ext cx="731520" cy="530352"/>
          </a:xfrm>
          <a:prstGeom prst="rect">
            <a:avLst/>
          </a:prstGeom>
          <a:solidFill>
            <a:srgbClr val="F3F3F3"/>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1</a:t>
            </a:r>
          </a:p>
        </p:txBody>
      </p:sp>
      <p:sp>
        <p:nvSpPr>
          <p:cNvPr id="6" name="Rectangle 5"/>
          <p:cNvSpPr/>
          <p:nvPr/>
        </p:nvSpPr>
        <p:spPr>
          <a:xfrm>
            <a:off x="1344168" y="1536192"/>
            <a:ext cx="731520" cy="530352"/>
          </a:xfrm>
          <a:prstGeom prst="rect">
            <a:avLst/>
          </a:prstGeom>
          <a:solidFill>
            <a:srgbClr val="F3F3F3"/>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2</a:t>
            </a:r>
          </a:p>
        </p:txBody>
      </p:sp>
      <p:sp>
        <p:nvSpPr>
          <p:cNvPr id="7" name="Rectangle 6"/>
          <p:cNvSpPr/>
          <p:nvPr/>
        </p:nvSpPr>
        <p:spPr>
          <a:xfrm>
            <a:off x="2148840" y="1536192"/>
            <a:ext cx="731520" cy="530352"/>
          </a:xfrm>
          <a:prstGeom prst="rect">
            <a:avLst/>
          </a:prstGeom>
          <a:solidFill>
            <a:srgbClr val="F3F3F3"/>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3</a:t>
            </a:r>
          </a:p>
        </p:txBody>
      </p:sp>
      <p:sp>
        <p:nvSpPr>
          <p:cNvPr id="8" name="Rectangle 7"/>
          <p:cNvSpPr/>
          <p:nvPr/>
        </p:nvSpPr>
        <p:spPr>
          <a:xfrm>
            <a:off x="2953512" y="1536192"/>
            <a:ext cx="731520" cy="530352"/>
          </a:xfrm>
          <a:prstGeom prst="rect">
            <a:avLst/>
          </a:prstGeom>
          <a:solidFill>
            <a:srgbClr val="F3F3F3"/>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4</a:t>
            </a:r>
          </a:p>
        </p:txBody>
      </p:sp>
      <p:sp>
        <p:nvSpPr>
          <p:cNvPr id="9" name="Rectangle 8"/>
          <p:cNvSpPr/>
          <p:nvPr/>
        </p:nvSpPr>
        <p:spPr>
          <a:xfrm>
            <a:off x="3758184" y="1536192"/>
            <a:ext cx="731520" cy="530352"/>
          </a:xfrm>
          <a:prstGeom prst="rect">
            <a:avLst/>
          </a:prstGeom>
          <a:solidFill>
            <a:srgbClr val="F3F3F3"/>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5</a:t>
            </a:r>
          </a:p>
        </p:txBody>
      </p:sp>
      <p:sp>
        <p:nvSpPr>
          <p:cNvPr id="10" name="Rectangle 9"/>
          <p:cNvSpPr/>
          <p:nvPr/>
        </p:nvSpPr>
        <p:spPr>
          <a:xfrm>
            <a:off x="4562856" y="1536192"/>
            <a:ext cx="731520" cy="530352"/>
          </a:xfrm>
          <a:prstGeom prst="rect">
            <a:avLst/>
          </a:prstGeom>
          <a:solidFill>
            <a:srgbClr val="F3F3F3"/>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6</a:t>
            </a:r>
          </a:p>
        </p:txBody>
      </p:sp>
      <p:sp>
        <p:nvSpPr>
          <p:cNvPr id="11" name="Rectangle 10"/>
          <p:cNvSpPr/>
          <p:nvPr/>
        </p:nvSpPr>
        <p:spPr>
          <a:xfrm>
            <a:off x="5367528" y="1536192"/>
            <a:ext cx="731520" cy="530352"/>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7</a:t>
            </a:r>
          </a:p>
        </p:txBody>
      </p:sp>
      <p:sp>
        <p:nvSpPr>
          <p:cNvPr id="12" name="Rectangle 11"/>
          <p:cNvSpPr/>
          <p:nvPr/>
        </p:nvSpPr>
        <p:spPr>
          <a:xfrm>
            <a:off x="6172200" y="1536192"/>
            <a:ext cx="731520" cy="530352"/>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8</a:t>
            </a:r>
          </a:p>
        </p:txBody>
      </p:sp>
      <p:sp>
        <p:nvSpPr>
          <p:cNvPr id="13" name="Rectangle 12"/>
          <p:cNvSpPr/>
          <p:nvPr/>
        </p:nvSpPr>
        <p:spPr>
          <a:xfrm>
            <a:off x="6976872" y="1536192"/>
            <a:ext cx="731520" cy="530352"/>
          </a:xfrm>
          <a:prstGeom prst="rect">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9</a:t>
            </a:r>
          </a:p>
        </p:txBody>
      </p:sp>
      <p:sp>
        <p:nvSpPr>
          <p:cNvPr id="14" name="Rectangle 13"/>
          <p:cNvSpPr/>
          <p:nvPr/>
        </p:nvSpPr>
        <p:spPr>
          <a:xfrm>
            <a:off x="7781544" y="1536192"/>
            <a:ext cx="731520" cy="530352"/>
          </a:xfrm>
          <a:prstGeom prst="rect">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10</a:t>
            </a:r>
          </a:p>
        </p:txBody>
      </p:sp>
      <p:sp>
        <p:nvSpPr>
          <p:cNvPr id="15" name="Rectangle 14"/>
          <p:cNvSpPr/>
          <p:nvPr/>
        </p:nvSpPr>
        <p:spPr>
          <a:xfrm>
            <a:off x="630936" y="2560320"/>
            <a:ext cx="2377440" cy="86868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訓練：1〜6</a:t>
            </a:r>
          </a:p>
          <a:p>
            <a:pPr algn="ctr">
              <a:lnSpc>
                <a:spcPct val="108000"/>
              </a:lnSpc>
              <a:spcAft>
                <a:spcPts val="0"/>
              </a:spcAft>
            </a:pPr>
            <a:r>
              <a:rPr sz="2200" b="0" lang="ja-JP">
                <a:solidFill>
                  <a:srgbClr val="404040"/>
                </a:solidFill>
                <a:latin typeface="Arial"/>
                <a:ea typeface="ＭＳ Ｐゴシック"/>
                <a:cs typeface="ＭＳ Ｐゴシック"/>
              </a:rPr>
              <a:t>モデルを学習</a:t>
            </a:r>
          </a:p>
        </p:txBody>
      </p:sp>
      <p:sp>
        <p:nvSpPr>
          <p:cNvPr id="16" name="Rectangle 15"/>
          <p:cNvSpPr/>
          <p:nvPr/>
        </p:nvSpPr>
        <p:spPr>
          <a:xfrm>
            <a:off x="3401568" y="2560320"/>
            <a:ext cx="2377440" cy="868680"/>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FF0000"/>
                </a:solidFill>
                <a:latin typeface="Arial"/>
                <a:ea typeface="ＭＳ Ｐゴシック"/>
                <a:cs typeface="ＭＳ Ｐゴシック"/>
              </a:rPr>
              <a:t>検証：7〜8</a:t>
            </a:r>
          </a:p>
          <a:p>
            <a:pPr algn="ctr">
              <a:lnSpc>
                <a:spcPct val="108000"/>
              </a:lnSpc>
              <a:spcAft>
                <a:spcPts val="0"/>
              </a:spcAft>
            </a:pPr>
            <a:r>
              <a:rPr sz="2100" b="0" lang="ja-JP">
                <a:solidFill>
                  <a:srgbClr val="FF0000"/>
                </a:solidFill>
                <a:latin typeface="Arial"/>
                <a:ea typeface="ＭＳ Ｐゴシック"/>
                <a:cs typeface="ＭＳ Ｐゴシック"/>
              </a:rPr>
              <a:t>モデル・設定を選ぶ</a:t>
            </a:r>
          </a:p>
        </p:txBody>
      </p:sp>
      <p:sp>
        <p:nvSpPr>
          <p:cNvPr id="17" name="Rectangle 16"/>
          <p:cNvSpPr/>
          <p:nvPr/>
        </p:nvSpPr>
        <p:spPr>
          <a:xfrm>
            <a:off x="6181344" y="2560320"/>
            <a:ext cx="2377440" cy="86868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テスト：9〜10</a:t>
            </a:r>
          </a:p>
          <a:p>
            <a:pPr algn="ctr">
              <a:lnSpc>
                <a:spcPct val="108000"/>
              </a:lnSpc>
              <a:spcAft>
                <a:spcPts val="0"/>
              </a:spcAft>
            </a:pPr>
            <a:r>
              <a:rPr sz="2200" b="0" lang="ja-JP">
                <a:solidFill>
                  <a:srgbClr val="404040"/>
                </a:solidFill>
                <a:latin typeface="Arial"/>
                <a:ea typeface="ＭＳ Ｐゴシック"/>
                <a:cs typeface="ＭＳ Ｐゴシック"/>
              </a:rPr>
              <a:t>最後に評価</a:t>
            </a:r>
          </a:p>
        </p:txBody>
      </p:sp>
      <p:sp>
        <p:nvSpPr>
          <p:cNvPr id="18" name="TextBox 17"/>
          <p:cNvSpPr txBox="1"/>
          <p:nvPr/>
        </p:nvSpPr>
        <p:spPr>
          <a:xfrm>
            <a:off x="566928" y="3840480"/>
            <a:ext cx="8046720" cy="539496"/>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比率は説明用の例．分け方はデータの性質と利用場面に合わせる．</a:t>
            </a:r>
            <a:endParaRPr lang="ja-JP" sz="2000"/>
          </a:p>
        </p:txBody>
      </p:sp>
      <p:sp>
        <p:nvSpPr>
          <p:cNvPr id="19" name="TextBox 18"/>
          <p:cNvSpPr txBox="1"/>
          <p:nvPr/>
        </p:nvSpPr>
        <p:spPr>
          <a:xfrm>
            <a:off x="566928" y="4489704"/>
            <a:ext cx="8046720" cy="228600"/>
          </a:xfrm>
          <a:prstGeom prst="rect">
            <a:avLst/>
          </a:prstGeom>
          <a:noFill/>
        </p:spPr>
        <p:txBody>
          <a:bodyPr wrap="square" anchor="t" lIns="0" rIns="0" tIns="0" bIns="0">
            <a:noAutofit/>
          </a:bodyPr>
          <a:lstStyle/>
          <a:p>
            <a:pPr algn="l">
              <a:lnSpc>
                <a:spcPct val="113000"/>
              </a:lnSpc>
              <a:spcAft>
                <a:spcPts val="0"/>
              </a:spcAft>
            </a:pPr>
            <a:r>
              <a:rPr sz="1500" b="0" lang="ja-JP">
                <a:solidFill>
                  <a:srgbClr val="FF0000"/>
                </a:solidFill>
                <a:latin typeface="Arial"/>
                <a:ea typeface="ＭＳ Ｐゴシック"/>
                <a:cs typeface="ＭＳ Ｐゴシック"/>
              </a:rPr>
              <a:t>テストデータを見ながら，モデルの設定を調整し続けない．</a:t>
            </a:r>
            <a:endParaRPr lang="ja-JP" sz="15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過学習：訓練データに合わせすぎる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汎化と評価　24</a:t>
            </a:r>
            <a:endParaRPr lang="ja-JP" sz="1050"/>
          </a:p>
        </p:txBody>
      </p:sp>
      <p:sp>
        <p:nvSpPr>
          <p:cNvPr id="5" name="Rectangle 4"/>
          <p:cNvSpPr/>
          <p:nvPr/>
        </p:nvSpPr>
        <p:spPr>
          <a:xfrm>
            <a:off x="365760" y="1188720"/>
            <a:ext cx="1572768" cy="72237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モデル</a:t>
            </a:r>
          </a:p>
        </p:txBody>
      </p:sp>
      <p:sp>
        <p:nvSpPr>
          <p:cNvPr id="6" name="Rectangle 5"/>
          <p:cNvSpPr/>
          <p:nvPr/>
        </p:nvSpPr>
        <p:spPr>
          <a:xfrm>
            <a:off x="1938528" y="1188720"/>
            <a:ext cx="3396996" cy="72237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訓練データの正解率</a:t>
            </a:r>
          </a:p>
        </p:txBody>
      </p:sp>
      <p:sp>
        <p:nvSpPr>
          <p:cNvPr id="7" name="Rectangle 6"/>
          <p:cNvSpPr/>
          <p:nvPr/>
        </p:nvSpPr>
        <p:spPr>
          <a:xfrm>
            <a:off x="5335524" y="1188720"/>
            <a:ext cx="3396996" cy="72237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検証データの正解率</a:t>
            </a:r>
          </a:p>
        </p:txBody>
      </p:sp>
      <p:sp>
        <p:nvSpPr>
          <p:cNvPr id="8" name="Rectangle 7"/>
          <p:cNvSpPr/>
          <p:nvPr/>
        </p:nvSpPr>
        <p:spPr>
          <a:xfrm>
            <a:off x="365760" y="1911095"/>
            <a:ext cx="1572768" cy="72237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000000"/>
                </a:solidFill>
                <a:latin typeface="Arial"/>
                <a:ea typeface="ＭＳ Ｐゴシック"/>
                <a:cs typeface="ＭＳ Ｐゴシック"/>
              </a:rPr>
              <a:t>A</a:t>
            </a:r>
          </a:p>
        </p:txBody>
      </p:sp>
      <p:sp>
        <p:nvSpPr>
          <p:cNvPr id="9" name="Rectangle 8"/>
          <p:cNvSpPr/>
          <p:nvPr/>
        </p:nvSpPr>
        <p:spPr>
          <a:xfrm>
            <a:off x="1938528" y="1911095"/>
            <a:ext cx="3396996" cy="72237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99％</a:t>
            </a:r>
          </a:p>
        </p:txBody>
      </p:sp>
      <p:sp>
        <p:nvSpPr>
          <p:cNvPr id="10" name="Rectangle 9"/>
          <p:cNvSpPr/>
          <p:nvPr/>
        </p:nvSpPr>
        <p:spPr>
          <a:xfrm>
            <a:off x="5335524" y="1911095"/>
            <a:ext cx="3396996" cy="72237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68％</a:t>
            </a:r>
          </a:p>
        </p:txBody>
      </p:sp>
      <p:sp>
        <p:nvSpPr>
          <p:cNvPr id="11" name="Rectangle 10"/>
          <p:cNvSpPr/>
          <p:nvPr/>
        </p:nvSpPr>
        <p:spPr>
          <a:xfrm>
            <a:off x="365760" y="2633472"/>
            <a:ext cx="1572768" cy="72237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000000"/>
                </a:solidFill>
                <a:latin typeface="Arial"/>
                <a:ea typeface="ＭＳ Ｐゴシック"/>
                <a:cs typeface="ＭＳ Ｐゴシック"/>
              </a:rPr>
              <a:t>B</a:t>
            </a:r>
          </a:p>
        </p:txBody>
      </p:sp>
      <p:sp>
        <p:nvSpPr>
          <p:cNvPr id="12" name="Rectangle 11"/>
          <p:cNvSpPr/>
          <p:nvPr/>
        </p:nvSpPr>
        <p:spPr>
          <a:xfrm>
            <a:off x="1938528" y="2633472"/>
            <a:ext cx="3396996" cy="72237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91％</a:t>
            </a:r>
          </a:p>
        </p:txBody>
      </p:sp>
      <p:sp>
        <p:nvSpPr>
          <p:cNvPr id="13" name="Rectangle 12"/>
          <p:cNvSpPr/>
          <p:nvPr/>
        </p:nvSpPr>
        <p:spPr>
          <a:xfrm>
            <a:off x="5335524" y="2633472"/>
            <a:ext cx="3396996" cy="72237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88％</a:t>
            </a:r>
          </a:p>
        </p:txBody>
      </p:sp>
      <p:sp>
        <p:nvSpPr>
          <p:cNvPr id="14" name="TextBox 13"/>
          <p:cNvSpPr txBox="1"/>
          <p:nvPr/>
        </p:nvSpPr>
        <p:spPr>
          <a:xfrm>
            <a:off x="502920" y="364388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5" name="TextBox 14"/>
          <p:cNvSpPr txBox="1"/>
          <p:nvPr/>
        </p:nvSpPr>
        <p:spPr>
          <a:xfrm>
            <a:off x="850392" y="3611880"/>
            <a:ext cx="7882127" cy="393192"/>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rPr>
              <a:t>Aは訓練データで高精度だが，検証データで大きく低下．</a:t>
            </a:r>
            <a:endParaRPr lang="ja-JP" sz="1900"/>
          </a:p>
        </p:txBody>
      </p:sp>
      <p:sp>
        <p:nvSpPr>
          <p:cNvPr id="16" name="TextBox 15"/>
          <p:cNvSpPr txBox="1"/>
          <p:nvPr/>
        </p:nvSpPr>
        <p:spPr>
          <a:xfrm>
            <a:off x="502920" y="410108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7" name="TextBox 16"/>
          <p:cNvSpPr txBox="1"/>
          <p:nvPr/>
        </p:nvSpPr>
        <p:spPr>
          <a:xfrm>
            <a:off x="850392" y="4069080"/>
            <a:ext cx="7882127" cy="393192"/>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rPr>
              <a:t>未知のデータに対する結果も見て，モデルを選ぶ．</a:t>
            </a:r>
            <a:endParaRPr lang="ja-JP" sz="1900"/>
          </a:p>
        </p:txBody>
      </p:sp>
      <p:sp>
        <p:nvSpPr>
          <p:cNvPr id="18" name="TextBox 17"/>
          <p:cNvSpPr txBox="1"/>
          <p:nvPr/>
        </p:nvSpPr>
        <p:spPr>
          <a:xfrm>
            <a:off x="566928" y="4553712"/>
            <a:ext cx="8046720" cy="210312"/>
          </a:xfrm>
          <a:prstGeom prst="rect">
            <a:avLst/>
          </a:prstGeom>
          <a:noFill/>
        </p:spPr>
        <p:txBody>
          <a:bodyPr wrap="square" anchor="t" lIns="0" rIns="0" tIns="0" bIns="0">
            <a:noAutofit/>
          </a:bodyPr>
          <a:lstStyle/>
          <a:p>
            <a:pPr algn="l">
              <a:lnSpc>
                <a:spcPct val="113000"/>
              </a:lnSpc>
              <a:spcAft>
                <a:spcPts val="0"/>
              </a:spcAft>
            </a:pPr>
            <a:r>
              <a:rPr sz="1300" b="0" lang="ja-JP">
                <a:solidFill>
                  <a:srgbClr val="707070"/>
                </a:solidFill>
                <a:latin typeface="Arial"/>
                <a:ea typeface="ＭＳ Ｐゴシック"/>
                <a:cs typeface="ＭＳ Ｐゴシック"/>
              </a:rPr>
              <a:t>※架空の数値による模式例．</a:t>
            </a:r>
            <a:endParaRPr lang="ja-JP" sz="130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単純すぎても，複雑すぎても難しい</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参照：Google</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汎化と評価　25</a:t>
            </a:r>
            <a:endParaRPr lang="ja-JP" sz="1050"/>
          </a:p>
        </p:txBody>
      </p:sp>
      <p:sp>
        <p:nvSpPr>
          <p:cNvPr id="5" name="Rectangle 4"/>
          <p:cNvSpPr/>
          <p:nvPr/>
        </p:nvSpPr>
        <p:spPr>
          <a:xfrm>
            <a:off x="365760" y="1188720"/>
            <a:ext cx="3886200" cy="78638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状態の例</a:t>
            </a:r>
          </a:p>
        </p:txBody>
      </p:sp>
      <p:sp>
        <p:nvSpPr>
          <p:cNvPr id="6" name="Rectangle 5"/>
          <p:cNvSpPr/>
          <p:nvPr/>
        </p:nvSpPr>
        <p:spPr>
          <a:xfrm>
            <a:off x="4251960" y="1188720"/>
            <a:ext cx="2240280" cy="78638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訓練での誤差</a:t>
            </a:r>
          </a:p>
        </p:txBody>
      </p:sp>
      <p:sp>
        <p:nvSpPr>
          <p:cNvPr id="7" name="Rectangle 6"/>
          <p:cNvSpPr/>
          <p:nvPr/>
        </p:nvSpPr>
        <p:spPr>
          <a:xfrm>
            <a:off x="6492240" y="1188720"/>
            <a:ext cx="2240280" cy="78638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検証での誤差</a:t>
            </a:r>
          </a:p>
        </p:txBody>
      </p:sp>
      <p:sp>
        <p:nvSpPr>
          <p:cNvPr id="8" name="Rectangle 7"/>
          <p:cNvSpPr/>
          <p:nvPr/>
        </p:nvSpPr>
        <p:spPr>
          <a:xfrm>
            <a:off x="365760" y="1975104"/>
            <a:ext cx="3886200" cy="78638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単純すぎて傾向を捉えない</a:t>
            </a:r>
          </a:p>
        </p:txBody>
      </p:sp>
      <p:sp>
        <p:nvSpPr>
          <p:cNvPr id="9" name="Rectangle 8"/>
          <p:cNvSpPr/>
          <p:nvPr/>
        </p:nvSpPr>
        <p:spPr>
          <a:xfrm>
            <a:off x="4251960" y="1975104"/>
            <a:ext cx="2240280" cy="78638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大きい</a:t>
            </a:r>
          </a:p>
        </p:txBody>
      </p:sp>
      <p:sp>
        <p:nvSpPr>
          <p:cNvPr id="10" name="Rectangle 9"/>
          <p:cNvSpPr/>
          <p:nvPr/>
        </p:nvSpPr>
        <p:spPr>
          <a:xfrm>
            <a:off x="6492240" y="1975104"/>
            <a:ext cx="2240280" cy="78638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大きい</a:t>
            </a:r>
          </a:p>
        </p:txBody>
      </p:sp>
      <p:sp>
        <p:nvSpPr>
          <p:cNvPr id="11" name="Rectangle 10"/>
          <p:cNvSpPr/>
          <p:nvPr/>
        </p:nvSpPr>
        <p:spPr>
          <a:xfrm>
            <a:off x="365760" y="2761488"/>
            <a:ext cx="3886200" cy="78638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データの傾向をうまく捉える</a:t>
            </a:r>
          </a:p>
        </p:txBody>
      </p:sp>
      <p:sp>
        <p:nvSpPr>
          <p:cNvPr id="12" name="Rectangle 11"/>
          <p:cNvSpPr/>
          <p:nvPr/>
        </p:nvSpPr>
        <p:spPr>
          <a:xfrm>
            <a:off x="4251960" y="2761488"/>
            <a:ext cx="2240280" cy="78638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小さい</a:t>
            </a:r>
          </a:p>
        </p:txBody>
      </p:sp>
      <p:sp>
        <p:nvSpPr>
          <p:cNvPr id="13" name="Rectangle 12"/>
          <p:cNvSpPr/>
          <p:nvPr/>
        </p:nvSpPr>
        <p:spPr>
          <a:xfrm>
            <a:off x="6492240" y="2761488"/>
            <a:ext cx="2240280" cy="78638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小さい</a:t>
            </a:r>
          </a:p>
        </p:txBody>
      </p:sp>
      <p:sp>
        <p:nvSpPr>
          <p:cNvPr id="14" name="Rectangle 13"/>
          <p:cNvSpPr/>
          <p:nvPr/>
        </p:nvSpPr>
        <p:spPr>
          <a:xfrm>
            <a:off x="365760" y="3547872"/>
            <a:ext cx="3886200" cy="78638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訓練の細部に合わせすぎる</a:t>
            </a:r>
          </a:p>
        </p:txBody>
      </p:sp>
      <p:sp>
        <p:nvSpPr>
          <p:cNvPr id="15" name="Rectangle 14"/>
          <p:cNvSpPr/>
          <p:nvPr/>
        </p:nvSpPr>
        <p:spPr>
          <a:xfrm>
            <a:off x="4251960" y="3547872"/>
            <a:ext cx="2240280" cy="78638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非常に小さい</a:t>
            </a:r>
          </a:p>
        </p:txBody>
      </p:sp>
      <p:sp>
        <p:nvSpPr>
          <p:cNvPr id="16" name="Rectangle 15"/>
          <p:cNvSpPr/>
          <p:nvPr/>
        </p:nvSpPr>
        <p:spPr>
          <a:xfrm>
            <a:off x="6492240" y="3547872"/>
            <a:ext cx="2240280" cy="78638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大きい</a:t>
            </a:r>
          </a:p>
        </p:txBody>
      </p:sp>
      <p:sp>
        <p:nvSpPr>
          <p:cNvPr id="17" name="TextBox 16"/>
          <p:cNvSpPr txBox="1"/>
          <p:nvPr/>
        </p:nvSpPr>
        <p:spPr>
          <a:xfrm>
            <a:off x="502920" y="4389120"/>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訓練と検証の両方を見て，モデルの適合を考える．</a:t>
            </a:r>
            <a:endParaRPr lang="ja-JP" sz="190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データの品質と，予測時に使える情報</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参照：scikit-learn</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汎化と評価　26</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6492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欠損や誤った正解があると，学習や評価に影響する．</a:t>
            </a:r>
            <a:endParaRPr lang="ja-JP" sz="2000"/>
          </a:p>
        </p:txBody>
      </p:sp>
      <p:sp>
        <p:nvSpPr>
          <p:cNvPr id="7" name="TextBox 6"/>
          <p:cNvSpPr txBox="1"/>
          <p:nvPr/>
        </p:nvSpPr>
        <p:spPr>
          <a:xfrm>
            <a:off x="502920" y="193395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1901952"/>
            <a:ext cx="7882127" cy="6492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一部の季節・利用者だけのデータでは，偏りが生じる．</a:t>
            </a:r>
            <a:endParaRPr lang="ja-JP" sz="2000"/>
          </a:p>
        </p:txBody>
      </p:sp>
      <p:sp>
        <p:nvSpPr>
          <p:cNvPr id="9" name="TextBox 8"/>
          <p:cNvSpPr txBox="1"/>
          <p:nvPr/>
        </p:nvSpPr>
        <p:spPr>
          <a:xfrm>
            <a:off x="502920" y="264718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2615184"/>
            <a:ext cx="7882127" cy="6492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予測するときに入手できない情報を，入力に混ぜない．</a:t>
            </a:r>
            <a:endParaRPr lang="ja-JP" sz="2000"/>
          </a:p>
        </p:txBody>
      </p:sp>
      <p:sp>
        <p:nvSpPr>
          <p:cNvPr id="11" name="Rectangle 10"/>
          <p:cNvSpPr/>
          <p:nvPr/>
        </p:nvSpPr>
        <p:spPr>
          <a:xfrm>
            <a:off x="594360" y="3593592"/>
            <a:ext cx="7955279" cy="868680"/>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FF0000"/>
                </a:solidFill>
                <a:latin typeface="Arial"/>
                <a:ea typeface="ＭＳ Ｐゴシック"/>
                <a:cs typeface="ＭＳ Ｐゴシック"/>
              </a:rPr>
              <a:t>販売予測の例</a:t>
            </a:r>
          </a:p>
          <a:p>
            <a:pPr algn="ctr">
              <a:lnSpc>
                <a:spcPct val="108000"/>
              </a:lnSpc>
              <a:spcAft>
                <a:spcPts val="0"/>
              </a:spcAft>
            </a:pPr>
            <a:r>
              <a:rPr sz="2000" b="0" lang="ja-JP">
                <a:solidFill>
                  <a:srgbClr val="FF0000"/>
                </a:solidFill>
                <a:latin typeface="Arial"/>
                <a:ea typeface="ＭＳ Ｐゴシック"/>
                <a:cs typeface="ＭＳ Ｐゴシック"/>
              </a:rPr>
              <a:t>前日には分からない「対象日の閉店後の在庫」は使えない．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最終確認：学習方法と評価の理由を説明する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確認　27</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92354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① 過去の実績から，明日のパンの販売数を予測する．</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　 どの学習方法・どのタスクか？</a:t>
            </a:r>
            <a:endParaRPr lang="ja-JP" sz="2000"/>
          </a:p>
        </p:txBody>
      </p:sp>
      <p:sp>
        <p:nvSpPr>
          <p:cNvPr id="7" name="TextBox 6"/>
          <p:cNvSpPr txBox="1"/>
          <p:nvPr/>
        </p:nvSpPr>
        <p:spPr>
          <a:xfrm>
            <a:off x="502920" y="220827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2176272"/>
            <a:ext cx="7882127" cy="92354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② 正解の区分を与えず，顧客を似たグループに分ける．</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　 どの学習方法か？</a:t>
            </a:r>
            <a:endParaRPr lang="ja-JP" sz="2000"/>
          </a:p>
        </p:txBody>
      </p:sp>
      <p:sp>
        <p:nvSpPr>
          <p:cNvPr id="9" name="TextBox 8"/>
          <p:cNvSpPr txBox="1"/>
          <p:nvPr/>
        </p:nvSpPr>
        <p:spPr>
          <a:xfrm>
            <a:off x="502920" y="319582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3163824"/>
            <a:ext cx="7882127" cy="92354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③ 訓練データで高精度だった．この結果だけで，</a:t>
            </a:r>
            <a:endParaRPr lang="ja-JP" sz="2000"/>
          </a:p>
          <a:p>
            <a:pPr algn="l">
              <a:lnSpc>
                <a:spcPct val="113000"/>
              </a:lnSpc>
              <a:spcAft>
                <a:spcPts val="0"/>
              </a:spcAft>
            </a:pPr>
            <a:r>
              <a:rPr sz="2000" b="0" lang="ja-JP">
                <a:solidFill>
                  <a:srgbClr val="404040"/>
                </a:solidFill>
                <a:latin typeface="Arial"/>
                <a:ea typeface="ＭＳ Ｐゴシック"/>
                <a:cs typeface="ＭＳ Ｐゴシック"/>
              </a:rPr>
              <a:t>　 実際に使っても良いと判断できるか？</a:t>
            </a:r>
            <a:endParaRPr lang="ja-JP" sz="200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最終確認：解答</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確認　28</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868680"/>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
            </a:r>
            <a:r>
              <a:rPr sz="2100" b="0" lang="ja-JP">
                <a:solidFill>
                  <a:srgbClr val="FF0000"/>
                </a:solidFill>
                <a:latin typeface="Arial"/>
                <a:ea typeface="ＭＳ Ｐゴシック"/>
                <a:cs typeface="ＭＳ Ｐゴシック"/>
              </a:rPr>
              <a:t>① 教師あり学習の回帰</a:t>
            </a:r>
            <a:r>
              <a:rPr sz="2100" b="0" lang="ja-JP">
                <a:solidFill>
                  <a:srgbClr val="404040"/>
                </a:solidFill>
                <a:latin typeface="Arial"/>
                <a:ea typeface="ＭＳ Ｐゴシック"/>
                <a:cs typeface="ＭＳ Ｐゴシック"/>
              </a:rPr>
              <a:t>：実際の販売数を正解として学ぶ．</a:t>
            </a:r>
            <a:endParaRPr lang="ja-JP" sz="2100"/>
          </a:p>
        </p:txBody>
      </p:sp>
      <p:sp>
        <p:nvSpPr>
          <p:cNvPr id="7" name="TextBox 6"/>
          <p:cNvSpPr txBox="1"/>
          <p:nvPr/>
        </p:nvSpPr>
        <p:spPr>
          <a:xfrm>
            <a:off x="502920" y="2153412"/>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2121408"/>
            <a:ext cx="7882127" cy="868680"/>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
            </a:r>
            <a:r>
              <a:rPr sz="2100" b="0" lang="ja-JP">
                <a:solidFill>
                  <a:srgbClr val="FF0000"/>
                </a:solidFill>
                <a:latin typeface="Arial"/>
                <a:ea typeface="ＭＳ Ｐゴシック"/>
                <a:cs typeface="ＭＳ Ｐゴシック"/>
              </a:rPr>
              <a:t>② 教師なし学習</a:t>
            </a:r>
            <a:r>
              <a:rPr sz="2100" b="0" lang="ja-JP">
                <a:solidFill>
                  <a:srgbClr val="404040"/>
                </a:solidFill>
                <a:latin typeface="Arial"/>
                <a:ea typeface="ＭＳ Ｐゴシック"/>
                <a:cs typeface="ＭＳ Ｐゴシック"/>
              </a:rPr>
              <a:t>：正解の区分なしでグループを探す．</a:t>
            </a:r>
            <a:endParaRPr lang="ja-JP" sz="2100"/>
          </a:p>
        </p:txBody>
      </p:sp>
      <p:sp>
        <p:nvSpPr>
          <p:cNvPr id="9" name="TextBox 8"/>
          <p:cNvSpPr txBox="1"/>
          <p:nvPr/>
        </p:nvSpPr>
        <p:spPr>
          <a:xfrm>
            <a:off x="502920" y="308610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3054096"/>
            <a:ext cx="7882127" cy="868680"/>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
            </a:r>
            <a:r>
              <a:rPr sz="2100" b="0" lang="ja-JP">
                <a:solidFill>
                  <a:srgbClr val="FF0000"/>
                </a:solidFill>
                <a:latin typeface="Arial"/>
                <a:ea typeface="ＭＳ Ｐゴシック"/>
                <a:cs typeface="ＭＳ Ｐゴシック"/>
              </a:rPr>
              <a:t>③ 訓練結果だけでは判断できない</a:t>
            </a:r>
            <a:r>
              <a:rPr sz="2100" b="0" lang="ja-JP">
                <a:solidFill>
                  <a:srgbClr val="404040"/>
                </a:solidFill>
                <a:latin typeface="Arial"/>
                <a:ea typeface="ＭＳ Ｐゴシック"/>
                <a:cs typeface="ＭＳ Ｐゴシック"/>
              </a:rPr>
              <a:t>．
　 学習に使っていないデータと，実際の利用条件で確認する．</a:t>
            </a:r>
            <a:endParaRPr lang="ja-JP" sz="210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今日のまとめ</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まとめ　29</a:t>
            </a:r>
            <a:endParaRPr lang="ja-JP" sz="1050"/>
          </a:p>
        </p:txBody>
      </p:sp>
      <p:sp>
        <p:nvSpPr>
          <p:cNvPr id="5" name="Rectangle 4"/>
          <p:cNvSpPr/>
          <p:nvPr/>
        </p:nvSpPr>
        <p:spPr>
          <a:xfrm>
            <a:off x="365760" y="1188720"/>
            <a:ext cx="2999232" cy="73152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問い</a:t>
            </a:r>
          </a:p>
        </p:txBody>
      </p:sp>
      <p:sp>
        <p:nvSpPr>
          <p:cNvPr id="6" name="Rectangle 5"/>
          <p:cNvSpPr/>
          <p:nvPr/>
        </p:nvSpPr>
        <p:spPr>
          <a:xfrm>
            <a:off x="3364991" y="1188720"/>
            <a:ext cx="5367528" cy="73152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考えること</a:t>
            </a:r>
          </a:p>
        </p:txBody>
      </p:sp>
      <p:sp>
        <p:nvSpPr>
          <p:cNvPr id="7" name="Rectangle 6"/>
          <p:cNvSpPr/>
          <p:nvPr/>
        </p:nvSpPr>
        <p:spPr>
          <a:xfrm>
            <a:off x="365760" y="1920240"/>
            <a:ext cx="2999232"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何を予測・発見したい？</a:t>
            </a:r>
          </a:p>
        </p:txBody>
      </p:sp>
      <p:sp>
        <p:nvSpPr>
          <p:cNvPr id="8" name="Rectangle 7"/>
          <p:cNvSpPr/>
          <p:nvPr/>
        </p:nvSpPr>
        <p:spPr>
          <a:xfrm>
            <a:off x="3364991" y="1920240"/>
            <a:ext cx="5367528"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入力・出力・使う時点を決める</a:t>
            </a:r>
          </a:p>
        </p:txBody>
      </p:sp>
      <p:sp>
        <p:nvSpPr>
          <p:cNvPr id="9" name="Rectangle 8"/>
          <p:cNvSpPr/>
          <p:nvPr/>
        </p:nvSpPr>
        <p:spPr>
          <a:xfrm>
            <a:off x="365760" y="2651760"/>
            <a:ext cx="2999232"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何を手がかりに学ぶ？</a:t>
            </a:r>
          </a:p>
        </p:txBody>
      </p:sp>
      <p:sp>
        <p:nvSpPr>
          <p:cNvPr id="10" name="Rectangle 9"/>
          <p:cNvSpPr/>
          <p:nvPr/>
        </p:nvSpPr>
        <p:spPr>
          <a:xfrm>
            <a:off x="3364991" y="2651760"/>
            <a:ext cx="5367528"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正解・データの構造・報酬を区別する</a:t>
            </a:r>
          </a:p>
        </p:txBody>
      </p:sp>
      <p:sp>
        <p:nvSpPr>
          <p:cNvPr id="11" name="Rectangle 10"/>
          <p:cNvSpPr/>
          <p:nvPr/>
        </p:nvSpPr>
        <p:spPr>
          <a:xfrm>
            <a:off x="365760" y="3383280"/>
            <a:ext cx="2999232"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新しいデータでも役立つ？</a:t>
            </a:r>
          </a:p>
        </p:txBody>
      </p:sp>
      <p:sp>
        <p:nvSpPr>
          <p:cNvPr id="12" name="Rectangle 11"/>
          <p:cNvSpPr/>
          <p:nvPr/>
        </p:nvSpPr>
        <p:spPr>
          <a:xfrm>
            <a:off x="3364991" y="3383280"/>
            <a:ext cx="5367528"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訓練・検証・テストを分け，結果を比べる</a:t>
            </a:r>
          </a:p>
        </p:txBody>
      </p:sp>
      <p:sp>
        <p:nvSpPr>
          <p:cNvPr id="13" name="TextBox 12"/>
          <p:cNvSpPr txBox="1"/>
          <p:nvPr/>
        </p:nvSpPr>
        <p:spPr>
          <a:xfrm>
            <a:off x="502920" y="4416552"/>
            <a:ext cx="8229600" cy="384048"/>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データ → 学習 → 推論 → 評価，という流れを説明する．</a:t>
            </a:r>
            <a:endParaRPr lang="ja-JP" sz="180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振り返りと次回</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振り返り　30</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667512"/>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身近な課題を一つ選び，入力と出力を書いてみる．</a:t>
            </a:r>
            <a:endParaRPr lang="ja-JP" sz="2100"/>
          </a:p>
        </p:txBody>
      </p:sp>
      <p:sp>
        <p:nvSpPr>
          <p:cNvPr id="7" name="TextBox 6"/>
          <p:cNvSpPr txBox="1"/>
          <p:nvPr/>
        </p:nvSpPr>
        <p:spPr>
          <a:xfrm>
            <a:off x="502920" y="195224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1920240"/>
            <a:ext cx="7882127" cy="667512"/>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教師あり・教師なし・強化学習のどれが合いそうか？</a:t>
            </a:r>
            <a:endParaRPr lang="ja-JP" sz="2100"/>
          </a:p>
        </p:txBody>
      </p:sp>
      <p:sp>
        <p:nvSpPr>
          <p:cNvPr id="9" name="TextBox 8"/>
          <p:cNvSpPr txBox="1"/>
          <p:nvPr/>
        </p:nvSpPr>
        <p:spPr>
          <a:xfrm>
            <a:off x="502920" y="268376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2651760"/>
            <a:ext cx="7882127" cy="667512"/>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学習に使っていないデータで，何を確かめたいか？</a:t>
            </a:r>
            <a:endParaRPr lang="ja-JP" sz="2100"/>
          </a:p>
        </p:txBody>
      </p:sp>
      <p:sp>
        <p:nvSpPr>
          <p:cNvPr id="11" name="Rectangle 10"/>
          <p:cNvSpPr/>
          <p:nvPr/>
        </p:nvSpPr>
        <p:spPr>
          <a:xfrm>
            <a:off x="594360" y="3630168"/>
            <a:ext cx="7955279" cy="877824"/>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FF0000"/>
                </a:solidFill>
                <a:latin typeface="Arial"/>
                <a:ea typeface="ＭＳ Ｐゴシック"/>
                <a:cs typeface="ＭＳ Ｐゴシック"/>
              </a:rPr>
              <a:t>次回：代表的な機械学習手法と評価</a:t>
            </a:r>
          </a:p>
          <a:p>
            <a:pPr algn="ctr">
              <a:lnSpc>
                <a:spcPct val="108000"/>
              </a:lnSpc>
              <a:spcAft>
                <a:spcPts val="0"/>
              </a:spcAft>
            </a:pPr>
            <a:r>
              <a:rPr sz="2100" b="0" lang="ja-JP">
                <a:solidFill>
                  <a:srgbClr val="FF0000"/>
                </a:solidFill>
                <a:latin typeface="Arial"/>
                <a:ea typeface="ＭＳ Ｐゴシック"/>
                <a:cs typeface="ＭＳ Ｐゴシック"/>
              </a:rPr>
              <a:t>モデルの特徴と，予測の良さの測り方を具体的に学ぶ．</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参考資料1：機械学習の基本</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出典リンク：各項目をクリック／講師用ノートにも記載</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参考資料　31</a:t>
            </a:r>
            <a:endParaRPr lang="ja-JP" sz="1050"/>
          </a:p>
        </p:txBody>
      </p:sp>
      <p:sp>
        <p:nvSpPr>
          <p:cNvPr id="5" name="TextBox 4"/>
          <p:cNvSpPr txBox="1"/>
          <p:nvPr/>
        </p:nvSpPr>
        <p:spPr>
          <a:xfrm>
            <a:off x="566928" y="1298448"/>
            <a:ext cx="8046720" cy="493776"/>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hlinkClick r:id="rId3"/>
              </a:rPr>
              <a:t>● Google：What is Machine Learning?</a:t>
            </a:r>
            <a:endParaRPr lang="ja-JP" sz="1800"/>
          </a:p>
        </p:txBody>
      </p:sp>
      <p:sp>
        <p:nvSpPr>
          <p:cNvPr id="6" name="TextBox 5"/>
          <p:cNvSpPr txBox="1"/>
          <p:nvPr/>
        </p:nvSpPr>
        <p:spPr>
          <a:xfrm>
            <a:off x="566928" y="1865376"/>
            <a:ext cx="8046720" cy="493776"/>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hlinkClick r:id="rId4"/>
              </a:rPr>
              <a:t>● Google：Supervised Learning</a:t>
            </a:r>
            <a:endParaRPr lang="ja-JP" sz="1800"/>
          </a:p>
        </p:txBody>
      </p:sp>
      <p:sp>
        <p:nvSpPr>
          <p:cNvPr id="7" name="TextBox 6"/>
          <p:cNvSpPr txBox="1"/>
          <p:nvPr/>
        </p:nvSpPr>
        <p:spPr>
          <a:xfrm>
            <a:off x="566928" y="2432304"/>
            <a:ext cx="8046720" cy="493776"/>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hlinkClick r:id="rId5"/>
              </a:rPr>
              <a:t>● Google：Linear regression</a:t>
            </a:r>
            <a:endParaRPr lang="ja-JP" sz="1800"/>
          </a:p>
        </p:txBody>
      </p:sp>
      <p:sp>
        <p:nvSpPr>
          <p:cNvPr id="8" name="TextBox 7"/>
          <p:cNvSpPr txBox="1"/>
          <p:nvPr/>
        </p:nvSpPr>
        <p:spPr>
          <a:xfrm>
            <a:off x="566928" y="2999232"/>
            <a:ext cx="8046720" cy="493776"/>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hlinkClick r:id="rId6"/>
              </a:rPr>
              <a:t>● scikit-learn：Clustering</a:t>
            </a:r>
            <a:endParaRPr lang="ja-JP" sz="1800"/>
          </a:p>
        </p:txBody>
      </p:sp>
      <p:sp>
        <p:nvSpPr>
          <p:cNvPr id="9" name="TextBox 8"/>
          <p:cNvSpPr txBox="1"/>
          <p:nvPr/>
        </p:nvSpPr>
        <p:spPr>
          <a:xfrm>
            <a:off x="566928" y="3566160"/>
            <a:ext cx="8046720" cy="493776"/>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hlinkClick r:id="rId7"/>
              </a:rPr>
              <a:t>● Sutton &amp; Barto：Reinforcement Learning, 2nd ed.</a:t>
            </a:r>
            <a:endParaRPr lang="ja-JP" sz="1800"/>
          </a:p>
        </p:txBody>
      </p:sp>
      <p:sp>
        <p:nvSpPr>
          <p:cNvPr id="10" name="TextBox 9"/>
          <p:cNvSpPr txBox="1"/>
          <p:nvPr/>
        </p:nvSpPr>
        <p:spPr>
          <a:xfrm>
            <a:off x="502920" y="4544568"/>
            <a:ext cx="8229600" cy="219456"/>
          </a:xfrm>
          <a:prstGeom prst="rect">
            <a:avLst/>
          </a:prstGeom>
          <a:noFill/>
        </p:spPr>
        <p:txBody>
          <a:bodyPr wrap="square" anchor="t" lIns="0" rIns="0" tIns="0" bIns="0">
            <a:noAutofit/>
          </a:bodyPr>
          <a:lstStyle/>
          <a:p>
            <a:pPr algn="l">
              <a:lnSpc>
                <a:spcPct val="113000"/>
              </a:lnSpc>
              <a:spcAft>
                <a:spcPts val="0"/>
              </a:spcAft>
            </a:pPr>
            <a:r>
              <a:rPr sz="1250" b="0" lang="ja-JP">
                <a:solidFill>
                  <a:srgbClr val="707070"/>
                </a:solidFill>
                <a:latin typeface="Arial"/>
                <a:ea typeface="ＭＳ Ｐゴシック"/>
                <a:cs typeface="ＭＳ Ｐゴシック"/>
              </a:rPr>
              <a:t>確認日：2026年10月7日／詳しいリンクは各スライドのノートにも記載</a:t>
            </a:r>
            <a:endParaRPr lang="ja-JP" sz="125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参考資料2：汎化・データ分割・過学習</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出典リンク：各項目をクリック／講師用ノートにも記載</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第3回　参考資料　32</a:t>
            </a:r>
            <a:endParaRPr lang="ja-JP" sz="1050"/>
          </a:p>
        </p:txBody>
      </p:sp>
      <p:sp>
        <p:nvSpPr>
          <p:cNvPr id="5" name="TextBox 4"/>
          <p:cNvSpPr txBox="1"/>
          <p:nvPr/>
        </p:nvSpPr>
        <p:spPr>
          <a:xfrm>
            <a:off x="566928" y="1298448"/>
            <a:ext cx="8046720" cy="493776"/>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hlinkClick r:id="rId3"/>
              </a:rPr>
              <a:t>● Google：Generalization</a:t>
            </a:r>
            <a:endParaRPr lang="ja-JP" sz="1800"/>
          </a:p>
        </p:txBody>
      </p:sp>
      <p:sp>
        <p:nvSpPr>
          <p:cNvPr id="6" name="TextBox 5"/>
          <p:cNvSpPr txBox="1"/>
          <p:nvPr/>
        </p:nvSpPr>
        <p:spPr>
          <a:xfrm>
            <a:off x="566928" y="1883664"/>
            <a:ext cx="8046720" cy="493776"/>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hlinkClick r:id="rId4"/>
              </a:rPr>
              <a:t>● Google：Dividing the original dataset</a:t>
            </a:r>
            <a:endParaRPr lang="ja-JP" sz="1800"/>
          </a:p>
        </p:txBody>
      </p:sp>
      <p:sp>
        <p:nvSpPr>
          <p:cNvPr id="7" name="TextBox 6"/>
          <p:cNvSpPr txBox="1"/>
          <p:nvPr/>
        </p:nvSpPr>
        <p:spPr>
          <a:xfrm>
            <a:off x="566928" y="2468880"/>
            <a:ext cx="8046720" cy="493776"/>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hlinkClick r:id="rId5"/>
              </a:rPr>
              <a:t>● Google：Overfitting</a:t>
            </a:r>
            <a:endParaRPr lang="ja-JP" sz="1800"/>
          </a:p>
        </p:txBody>
      </p:sp>
      <p:sp>
        <p:nvSpPr>
          <p:cNvPr id="8" name="TextBox 7"/>
          <p:cNvSpPr txBox="1"/>
          <p:nvPr/>
        </p:nvSpPr>
        <p:spPr>
          <a:xfrm>
            <a:off x="566928" y="3054096"/>
            <a:ext cx="8046720" cy="493776"/>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hlinkClick r:id="rId6"/>
              </a:rPr>
              <a:t>● scikit-learn：Common pitfalls</a:t>
            </a:r>
            <a:endParaRPr lang="ja-JP" sz="1800"/>
          </a:p>
        </p:txBody>
      </p:sp>
      <p:sp>
        <p:nvSpPr>
          <p:cNvPr id="9" name="TextBox 8"/>
          <p:cNvSpPr txBox="1"/>
          <p:nvPr/>
        </p:nvSpPr>
        <p:spPr>
          <a:xfrm>
            <a:off x="566928" y="3886200"/>
            <a:ext cx="8046720" cy="685800"/>
          </a:xfrm>
          <a:prstGeom prst="rect">
            <a:avLst/>
          </a:prstGeom>
          <a:noFill/>
        </p:spPr>
        <p:txBody>
          <a:bodyPr wrap="square" anchor="t" lIns="0" rIns="0" tIns="0" bIns="0">
            <a:noAutofit/>
          </a:bodyPr>
          <a:lstStyle/>
          <a:p>
            <a:pPr algn="l">
              <a:lnSpc>
                <a:spcPct val="113000"/>
              </a:lnSpc>
              <a:spcAft>
                <a:spcPts val="0"/>
              </a:spcAft>
            </a:pPr>
            <a:r>
              <a:rPr sz="1700" b="0" lang="ja-JP">
                <a:solidFill>
                  <a:srgbClr val="707070"/>
                </a:solidFill>
                <a:latin typeface="Arial"/>
                <a:ea typeface="ＭＳ Ｐゴシック"/>
                <a:cs typeface="ＭＳ Ｐゴシック"/>
              </a:rPr>
              <a:t>講義計画：lecture-plan.md</a:t>
            </a:r>
            <a:endParaRPr lang="ja-JP" sz="1700"/>
          </a:p>
          <a:p>
            <a:pPr algn="l">
              <a:lnSpc>
                <a:spcPct val="113000"/>
              </a:lnSpc>
              <a:spcAft>
                <a:spcPts val="0"/>
              </a:spcAft>
            </a:pPr>
            <a:r>
              <a:rPr sz="1700" b="0" lang="ja-JP">
                <a:solidFill>
                  <a:srgbClr val="707070"/>
                </a:solidFill>
                <a:latin typeface="Arial"/>
                <a:ea typeface="ＭＳ Ｐゴシック"/>
                <a:cs typeface="ＭＳ Ｐゴシック"/>
              </a:rPr>
              <a:t>詳細な試験範囲：g-kentei-syllabus.md</a:t>
            </a:r>
            <a:endParaRPr lang="ja-JP" sz="17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情報技術者（民間資格）3：機械学習の基礎</dc:title>
  <cp:lastModifiedBy>python-pptx</cp:lastModifiedBy>
  <cp:revision>1</cp:revision>
  <dcterms:modified xsi:type="dcterms:W3CDTF">2026-10-07T06:15:58Z</dcterms:modified>
  <dc:subject>G検定対策・90分授業／シラバス2024 第1.4版</dc:subject>
  <dc:creator>眞田嵩大</dc:creator>
  <cp:keywords>G検定, 機械学習, 教師あり学習, 教師なし学習, 強化学習, 汎化</cp:keywords>
  <dc:description>第1回のPowerPointのテーマ・画面比率を引き継いだ第3回講義資料．図と確認問題は本教材のための作例．</dc:description>
</cp:coreProperties>
</file>