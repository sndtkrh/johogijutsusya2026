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2c2cf434e9642cc" /><Relationship Type="http://schemas.openxmlformats.org/officeDocument/2006/relationships/extended-properties" Target="/docProps/app.xml" Id="Rca840106e2bb4154" /><Relationship Type="http://schemas.openxmlformats.org/officeDocument/2006/relationships/officeDocument" Target="/ppt/presentation.xml" Id="R31c5ee37176848bd" /></Relationships>
</file>

<file path=ppt/presentation.xml><?xml version="1.0" encoding="utf-8"?>
<p:presentation xmlns:p="http://schemas.openxmlformats.org/presentationml/2006/main">
  <p:sldMasterIdLst>
    <p:sldMasterId xmlns:r="http://schemas.openxmlformats.org/officeDocument/2006/relationships" id="2147483648" r:id="R49d4312212354f48"/>
  </p:sldMasterIdLst>
  <p:notesMasterIdLst>
    <p:notesMasterId xmlns:r="http://schemas.openxmlformats.org/officeDocument/2006/relationships" r:id="Rdc56716eb02844d8"/>
  </p:notesMasterIdLst>
  <p:sldIdLst>
    <p:sldId xmlns:r="http://schemas.openxmlformats.org/officeDocument/2006/relationships" id="256" r:id="R7bae8af403aa42fe"/>
    <p:sldId xmlns:r="http://schemas.openxmlformats.org/officeDocument/2006/relationships" id="257" r:id="R3f49af33fe714ad7"/>
    <p:sldId xmlns:r="http://schemas.openxmlformats.org/officeDocument/2006/relationships" id="258" r:id="Rac33c8cb1ea84923"/>
    <p:sldId xmlns:r="http://schemas.openxmlformats.org/officeDocument/2006/relationships" id="259" r:id="R6a1a0cf89f4e4bc9"/>
    <p:sldId xmlns:r="http://schemas.openxmlformats.org/officeDocument/2006/relationships" id="260" r:id="R145682d6d14e4a30"/>
    <p:sldId xmlns:r="http://schemas.openxmlformats.org/officeDocument/2006/relationships" id="261" r:id="Re863a96d2afe4481"/>
    <p:sldId xmlns:r="http://schemas.openxmlformats.org/officeDocument/2006/relationships" id="262" r:id="R6a30ea88ff9f4c91"/>
    <p:sldId xmlns:r="http://schemas.openxmlformats.org/officeDocument/2006/relationships" id="263" r:id="R6b4b72c83fe54bf0"/>
    <p:sldId xmlns:r="http://schemas.openxmlformats.org/officeDocument/2006/relationships" id="264" r:id="Ra080177d25504aa2"/>
    <p:sldId xmlns:r="http://schemas.openxmlformats.org/officeDocument/2006/relationships" id="265" r:id="Rc60a604530e345d2"/>
    <p:sldId xmlns:r="http://schemas.openxmlformats.org/officeDocument/2006/relationships" id="266" r:id="R15526c6ace7c4409"/>
    <p:sldId xmlns:r="http://schemas.openxmlformats.org/officeDocument/2006/relationships" id="267" r:id="R55bcd36790ac4833"/>
    <p:sldId xmlns:r="http://schemas.openxmlformats.org/officeDocument/2006/relationships" id="268" r:id="R9efe6154f29f4d93"/>
    <p:sldId xmlns:r="http://schemas.openxmlformats.org/officeDocument/2006/relationships" id="269" r:id="Ra5c225a93c7f423e"/>
    <p:sldId xmlns:r="http://schemas.openxmlformats.org/officeDocument/2006/relationships" id="270" r:id="R12425ee73d7040f2"/>
    <p:sldId xmlns:r="http://schemas.openxmlformats.org/officeDocument/2006/relationships" id="271" r:id="Re067da0542e84b04"/>
    <p:sldId xmlns:r="http://schemas.openxmlformats.org/officeDocument/2006/relationships" id="272" r:id="Re12f9a21c66948ce"/>
    <p:sldId xmlns:r="http://schemas.openxmlformats.org/officeDocument/2006/relationships" id="273" r:id="R72f1cd5343a64464"/>
    <p:sldId xmlns:r="http://schemas.openxmlformats.org/officeDocument/2006/relationships" id="274" r:id="R7891532b1ad64d76"/>
    <p:sldId xmlns:r="http://schemas.openxmlformats.org/officeDocument/2006/relationships" id="275" r:id="Rcc92af8e986f4b36"/>
    <p:sldId xmlns:r="http://schemas.openxmlformats.org/officeDocument/2006/relationships" id="276" r:id="R30e2a5c3ef2740cc"/>
    <p:sldId xmlns:r="http://schemas.openxmlformats.org/officeDocument/2006/relationships" id="277" r:id="R7fe0f2f783594197"/>
    <p:sldId xmlns:r="http://schemas.openxmlformats.org/officeDocument/2006/relationships" id="278" r:id="Rf47c5fbac4754fe4"/>
    <p:sldId xmlns:r="http://schemas.openxmlformats.org/officeDocument/2006/relationships" id="279" r:id="Rb0d7c307e3b24cbf"/>
    <p:sldId xmlns:r="http://schemas.openxmlformats.org/officeDocument/2006/relationships" id="280" r:id="Rbc79e057a9724b3d"/>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1d0e7b5837f4a83" /><Relationship Type="http://schemas.openxmlformats.org/officeDocument/2006/relationships/slideMaster" Target="/ppt/slideMasters/slideMaster1.xml" Id="R49d4312212354f48" /><Relationship Type="http://schemas.openxmlformats.org/officeDocument/2006/relationships/notesMaster" Target="/ppt/notesMasters/notesMaster1.xml" Id="Rdc56716eb02844d8" /><Relationship Type="http://schemas.openxmlformats.org/officeDocument/2006/relationships/presProps" Target="/ppt/presProps.xml" Id="R253bff8f57694dee" /><Relationship Type="http://schemas.openxmlformats.org/officeDocument/2006/relationships/viewProps" Target="/ppt/viewProps.xml" Id="R130c139288df4274" /><Relationship Type="http://schemas.openxmlformats.org/officeDocument/2006/relationships/tableStyles" Target="/ppt/tableStyles.xml" Id="R39bf2dce9747443b" /><Relationship Type="http://schemas.openxmlformats.org/officeDocument/2006/relationships/slide" Target="/ppt/slides/slide1.xml" Id="R7bae8af403aa42fe" /><Relationship Type="http://schemas.openxmlformats.org/officeDocument/2006/relationships/slide" Target="/ppt/slides/slide2.xml" Id="R3f49af33fe714ad7" /><Relationship Type="http://schemas.openxmlformats.org/officeDocument/2006/relationships/slide" Target="/ppt/slides/slide3.xml" Id="Rac33c8cb1ea84923" /><Relationship Type="http://schemas.openxmlformats.org/officeDocument/2006/relationships/slide" Target="/ppt/slides/slide4.xml" Id="R6a1a0cf89f4e4bc9" /><Relationship Type="http://schemas.openxmlformats.org/officeDocument/2006/relationships/slide" Target="/ppt/slides/slide5.xml" Id="R145682d6d14e4a30" /><Relationship Type="http://schemas.openxmlformats.org/officeDocument/2006/relationships/slide" Target="/ppt/slides/slide6.xml" Id="Re863a96d2afe4481" /><Relationship Type="http://schemas.openxmlformats.org/officeDocument/2006/relationships/slide" Target="/ppt/slides/slide7.xml" Id="R6a30ea88ff9f4c91" /><Relationship Type="http://schemas.openxmlformats.org/officeDocument/2006/relationships/slide" Target="/ppt/slides/slide8.xml" Id="R6b4b72c83fe54bf0" /><Relationship Type="http://schemas.openxmlformats.org/officeDocument/2006/relationships/slide" Target="/ppt/slides/slide9.xml" Id="Ra080177d25504aa2" /><Relationship Type="http://schemas.openxmlformats.org/officeDocument/2006/relationships/slide" Target="/ppt/slides/slide10.xml" Id="Rc60a604530e345d2" /><Relationship Type="http://schemas.openxmlformats.org/officeDocument/2006/relationships/slide" Target="/ppt/slides/slide11.xml" Id="R15526c6ace7c4409" /><Relationship Type="http://schemas.openxmlformats.org/officeDocument/2006/relationships/slide" Target="/ppt/slides/slide12.xml" Id="R55bcd36790ac4833" /><Relationship Type="http://schemas.openxmlformats.org/officeDocument/2006/relationships/slide" Target="/ppt/slides/slide13.xml" Id="R9efe6154f29f4d93" /><Relationship Type="http://schemas.openxmlformats.org/officeDocument/2006/relationships/slide" Target="/ppt/slides/slide14.xml" Id="Ra5c225a93c7f423e" /><Relationship Type="http://schemas.openxmlformats.org/officeDocument/2006/relationships/slide" Target="/ppt/slides/slide15.xml" Id="R12425ee73d7040f2" /><Relationship Type="http://schemas.openxmlformats.org/officeDocument/2006/relationships/slide" Target="/ppt/slides/slide16.xml" Id="Re067da0542e84b04" /><Relationship Type="http://schemas.openxmlformats.org/officeDocument/2006/relationships/slide" Target="/ppt/slides/slide17.xml" Id="Re12f9a21c66948ce" /><Relationship Type="http://schemas.openxmlformats.org/officeDocument/2006/relationships/slide" Target="/ppt/slides/slide18.xml" Id="R72f1cd5343a64464" /><Relationship Type="http://schemas.openxmlformats.org/officeDocument/2006/relationships/slide" Target="/ppt/slides/slide19.xml" Id="R7891532b1ad64d76" /><Relationship Type="http://schemas.openxmlformats.org/officeDocument/2006/relationships/slide" Target="/ppt/slides/slide20.xml" Id="Rcc92af8e986f4b36" /><Relationship Type="http://schemas.openxmlformats.org/officeDocument/2006/relationships/slide" Target="/ppt/slides/slide21.xml" Id="R30e2a5c3ef2740cc" /><Relationship Type="http://schemas.openxmlformats.org/officeDocument/2006/relationships/slide" Target="/ppt/slides/slide22.xml" Id="R7fe0f2f783594197" /><Relationship Type="http://schemas.openxmlformats.org/officeDocument/2006/relationships/slide" Target="/ppt/slides/slide23.xml" Id="Rf47c5fbac4754fe4" /><Relationship Type="http://schemas.openxmlformats.org/officeDocument/2006/relationships/slide" Target="/ppt/slides/slide24.xml" Id="Rb0d7c307e3b24cbf" /><Relationship Type="http://schemas.openxmlformats.org/officeDocument/2006/relationships/slide" Target="/ppt/slides/slide25.xml" Id="Rbc79e057a9724b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9aec138f7642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dce0ba913547e3" /><Relationship Type="http://schemas.openxmlformats.org/officeDocument/2006/relationships/notesMaster" Target="/ppt/notesMasters/notesMaster1.xml" Id="Rd9a9cd46392742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f1515c54d740c3" /><Relationship Type="http://schemas.openxmlformats.org/officeDocument/2006/relationships/notesMaster" Target="/ppt/notesMasters/notesMaster1.xml" Id="Rf3822e04a5f94f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a02cd0c4474f1b" /><Relationship Type="http://schemas.openxmlformats.org/officeDocument/2006/relationships/notesMaster" Target="/ppt/notesMasters/notesMaster1.xml" Id="R048fb787ced147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94481b38db468a" /><Relationship Type="http://schemas.openxmlformats.org/officeDocument/2006/relationships/notesMaster" Target="/ppt/notesMasters/notesMaster1.xml" Id="R736f6997a9d44e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a48cbf799d497a" /><Relationship Type="http://schemas.openxmlformats.org/officeDocument/2006/relationships/notesMaster" Target="/ppt/notesMasters/notesMaster1.xml" Id="R4d27a6510db04c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4258d83ebf450d" /><Relationship Type="http://schemas.openxmlformats.org/officeDocument/2006/relationships/notesMaster" Target="/ppt/notesMasters/notesMaster1.xml" Id="R71dd8c819b7e4e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64a3d373f84c3b" /><Relationship Type="http://schemas.openxmlformats.org/officeDocument/2006/relationships/notesMaster" Target="/ppt/notesMasters/notesMaster1.xml" Id="R066ec0f14b334d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a0f5ff157042fa" /><Relationship Type="http://schemas.openxmlformats.org/officeDocument/2006/relationships/notesMaster" Target="/ppt/notesMasters/notesMaster1.xml" Id="Rbee1372b532f40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99789c78654184" /><Relationship Type="http://schemas.openxmlformats.org/officeDocument/2006/relationships/notesMaster" Target="/ppt/notesMasters/notesMaster1.xml" Id="Rfe41a4fdf8ad45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9b8536d19245f8" /><Relationship Type="http://schemas.openxmlformats.org/officeDocument/2006/relationships/notesMaster" Target="/ppt/notesMasters/notesMaster1.xml" Id="Rd25f635c9d6046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19dad3fe7f4c50" /><Relationship Type="http://schemas.openxmlformats.org/officeDocument/2006/relationships/notesMaster" Target="/ppt/notesMasters/notesMaster1.xml" Id="R0f406f983a1440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9ccef4624f472c" /><Relationship Type="http://schemas.openxmlformats.org/officeDocument/2006/relationships/notesMaster" Target="/ppt/notesMasters/notesMaster1.xml" Id="Re3b4c428aecb4e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a7f1b544064f69" /><Relationship Type="http://schemas.openxmlformats.org/officeDocument/2006/relationships/notesMaster" Target="/ppt/notesMasters/notesMaster1.xml" Id="R0932e50f232048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c62a5d2c834668" /><Relationship Type="http://schemas.openxmlformats.org/officeDocument/2006/relationships/notesMaster" Target="/ppt/notesMasters/notesMaster1.xml" Id="R3fc1aa1bf51845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44f92f685f4ac3" /><Relationship Type="http://schemas.openxmlformats.org/officeDocument/2006/relationships/notesMaster" Target="/ppt/notesMasters/notesMaster1.xml" Id="Ra8f791a8fbc249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a2479ddc95438c" /><Relationship Type="http://schemas.openxmlformats.org/officeDocument/2006/relationships/notesMaster" Target="/ppt/notesMasters/notesMaster1.xml" Id="R198eefd420ff41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7a328f4e4440db" /><Relationship Type="http://schemas.openxmlformats.org/officeDocument/2006/relationships/notesMaster" Target="/ppt/notesMasters/notesMaster1.xml" Id="Rf960404b5cfe4b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30b40e14904204" /><Relationship Type="http://schemas.openxmlformats.org/officeDocument/2006/relationships/notesMaster" Target="/ppt/notesMasters/notesMaster1.xml" Id="R465fdb6cdc7846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77c0102e3e04f82" /><Relationship Type="http://schemas.openxmlformats.org/officeDocument/2006/relationships/notesMaster" Target="/ppt/notesMasters/notesMaster1.xml" Id="R7c5540f0c10a43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fdfeb75552541c6" /><Relationship Type="http://schemas.openxmlformats.org/officeDocument/2006/relationships/notesMaster" Target="/ppt/notesMasters/notesMaster1.xml" Id="R1265f14f67674f3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98d5cc31c84554" /><Relationship Type="http://schemas.openxmlformats.org/officeDocument/2006/relationships/notesMaster" Target="/ppt/notesMasters/notesMaster1.xml" Id="R68964a616aed4bc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5e5dc1438848da" /><Relationship Type="http://schemas.openxmlformats.org/officeDocument/2006/relationships/notesMaster" Target="/ppt/notesMasters/notesMaster1.xml" Id="Rb237d8411e4d4e3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d1e344d71e344a5" /><Relationship Type="http://schemas.openxmlformats.org/officeDocument/2006/relationships/notesMaster" Target="/ppt/notesMasters/notesMaster1.xml" Id="R0d630c7c1b01448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0a5603c3edf4bc1" /><Relationship Type="http://schemas.openxmlformats.org/officeDocument/2006/relationships/notesMaster" Target="/ppt/notesMasters/notesMaster1.xml" Id="R60d1a5b1a36a4c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366b432827491f" /><Relationship Type="http://schemas.openxmlformats.org/officeDocument/2006/relationships/notesMaster" Target="/ppt/notesMasters/notesMaster1.xml" Id="R8365c73d15d84e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ニューラルネットワークと深層学習</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第4回のモデルと評価を土台に，ネットワークの計算と学習を理解する．数式の導出より，何を計算し，何を変更するかを重視する．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a:p xmlns:a="http://schemas.openxmlformats.org/drawingml/2006/main">
            <a:r>
              <a:t/>
            </a:r>
          </a:p>
          <a:p xmlns:a="http://schemas.openxmlformats.org/drawingml/2006/main">
            <a:r>
              <a:t>Google：Activation functions</a:t>
            </a:r>
          </a:p>
          <a:p xmlns:a="http://schemas.openxmlformats.org/drawingml/2006/main">
            <a:r>
              <a:t>https://developers.google.com/machine-learning/crash-course/neural-networks/activation-functions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最後に「入力，計算，損失，更新」の関係を自分の言葉で説明する．演習では計算機を使ってよい．</a:t>
            </a:r>
          </a:p>
          <a:p xmlns:a="http://schemas.openxmlformats.org/drawingml/2006/main">
            <a:r>
              <a:t/>
            </a:r>
          </a:p>
          <a:p xmlns:a="http://schemas.openxmlformats.org/drawingml/2006/main">
            <a:r>
              <a:t>層・重み・バイアスの役割を説明する．</a:t>
            </a:r>
          </a:p>
          <a:p xmlns:a="http://schemas.openxmlformats.org/drawingml/2006/main">
            <a:r>
              <a:t/>
            </a:r>
          </a:p>
          <a:p xmlns:a="http://schemas.openxmlformats.org/drawingml/2006/main">
            <a:r>
              <a:t>小さなネットワークの出力を計算する．</a:t>
            </a:r>
          </a:p>
          <a:p xmlns:a="http://schemas.openxmlformats.org/drawingml/2006/main">
            <a:r>
              <a:t/>
            </a:r>
          </a:p>
          <a:p xmlns:a="http://schemas.openxmlformats.org/drawingml/2006/main">
            <a:r>
              <a:t>損失を減らす学習の流れを説明する．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第4回の復習</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ネットワークもモデルの候補で，評価方法は問題の目的で選ぶ．名前の複雑さと有用性は別に考える．</a:t>
            </a:r>
          </a:p>
          <a:p xmlns:a="http://schemas.openxmlformats.org/drawingml/2006/main">
            <a:r>
              <a:t/>
            </a:r>
          </a:p>
          <a:p xmlns:a="http://schemas.openxmlformats.org/drawingml/2006/main">
            <a:r>
              <a:t>数量の予測 ／ 線形回帰・決定木 ／ MAE・RMSE</a:t>
            </a:r>
          </a:p>
          <a:p xmlns:a="http://schemas.openxmlformats.org/drawingml/2006/main">
            <a:r>
              <a:t>カテゴリの判定 ／ ロジスティック回帰・決定木 ／ 正解率・適合率・再現率</a:t>
            </a:r>
          </a:p>
          <a:p xmlns:a="http://schemas.openxmlformats.org/drawingml/2006/main">
            <a:r>
              <a:t/>
            </a:r>
          </a:p>
          <a:p xmlns:a="http://schemas.openxmlformats.org/drawingml/2006/main">
            <a:r>
              <a:t>未知のデータで確かめる考え方は共通する．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ネットワークの基本構造</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これは全結合のフィードフォワードネットワークの模式図．入力から順に計算する．隠れ層の値を正解データとして与えるという意味ではない．</a:t>
            </a:r>
          </a:p>
          <a:p xmlns:a="http://schemas.openxmlformats.org/drawingml/2006/main">
            <a:r>
              <a:t/>
            </a:r>
          </a:p>
          <a:p xmlns:a="http://schemas.openxmlformats.org/drawingml/2006/main">
            <a:r>
              <a:t>層ごとの計算をつないで，予測を作る．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一つのユニットの計算</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まずz=w₁x₁+w₂x₂+bを計算し，活性化関数で変換する．図の矢印は入力の依存関係．脳のニューロンをそのまま再現するモデルではない．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a:p xmlns:a="http://schemas.openxmlformats.org/drawingml/2006/main">
            <a:r>
              <a:t/>
            </a:r>
          </a:p>
          <a:p xmlns:a="http://schemas.openxmlformats.org/drawingml/2006/main">
            <a:r>
              <a:t>Google：Activation functions</a:t>
            </a:r>
          </a:p>
          <a:p xmlns:a="http://schemas.openxmlformats.org/drawingml/2006/main">
            <a:r>
              <a:t>https://developers.google.com/machine-learning/crash-course/neural-networks/activation-functions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重みとバイアス</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重みが大きいことだけで現実の原因の強さを結論づけない．入力の尺度，符号，相関によって読み方が変わる．</a:t>
            </a:r>
          </a:p>
          <a:p xmlns:a="http://schemas.openxmlformats.org/drawingml/2006/main">
            <a:r>
              <a:t/>
            </a:r>
          </a:p>
          <a:p xmlns:a="http://schemas.openxmlformats.org/drawingml/2006/main">
            <a:r>
              <a:t>入力 x ／ 与えられた特徴量 ／ 通常，この値自体を更新しない</a:t>
            </a:r>
          </a:p>
          <a:p xmlns:a="http://schemas.openxmlformats.org/drawingml/2006/main">
            <a:r>
              <a:t>重み w ／ 入力の寄与を調整 ／ データから調整する</a:t>
            </a:r>
          </a:p>
          <a:p xmlns:a="http://schemas.openxmlformats.org/drawingml/2006/main">
            <a:r>
              <a:t>バイアス b ／ 計算の基準をずらす ／ データから調整する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演習1：ユニットの出力</a:t>
            </a:r>
          </a:p>
          <a:p xmlns:a="http://schemas.openxmlformats.org/drawingml/2006/main">
            <a:r>
              <a:t/>
            </a:r>
          </a:p>
          <a:p xmlns:a="http://schemas.openxmlformats.org/drawingml/2006/main">
            <a:r>
              <a:t>目安：5分／授業開始から21〜26分</a:t>
            </a:r>
          </a:p>
          <a:p xmlns:a="http://schemas.openxmlformats.org/drawingml/2006/main">
            <a:r>
              <a:t/>
            </a:r>
          </a:p>
          <a:p xmlns:a="http://schemas.openxmlformats.org/drawingml/2006/main">
            <a:r>
              <a:t>個人で2分，ペアで2分，確認1分．先に積を二つ求めてから和とバイアスを加える．この値は学習済みの実測結果ではなく作例．</a:t>
            </a:r>
          </a:p>
          <a:p xmlns:a="http://schemas.openxmlformats.org/drawingml/2006/main">
            <a:r>
              <a:t/>
            </a:r>
          </a:p>
          <a:p xmlns:a="http://schemas.openxmlformats.org/drawingml/2006/main">
            <a:r>
              <a:t>x₁＝2，x₂＝1，w₁＝0.5，w₂＝−1，b＝1</a:t>
            </a:r>
          </a:p>
          <a:p xmlns:a="http://schemas.openxmlformats.org/drawingml/2006/main">
            <a:r>
              <a:t/>
            </a:r>
          </a:p>
          <a:p xmlns:a="http://schemas.openxmlformats.org/drawingml/2006/main">
            <a:r>
              <a:t>z＝w₁x₁＋w₂x₂＋b を求める．</a:t>
            </a:r>
          </a:p>
          <a:p xmlns:a="http://schemas.openxmlformats.org/drawingml/2006/main">
            <a:r>
              <a:t/>
            </a:r>
          </a:p>
          <a:p xmlns:a="http://schemas.openxmlformats.org/drawingml/2006/main">
            <a:r>
              <a:t>出力をReLU(z)＝max(0,z)として求める．</a:t>
            </a:r>
          </a:p>
          <a:p xmlns:a="http://schemas.openxmlformats.org/drawingml/2006/main">
            <a:r>
              <a:t/>
            </a:r>
          </a:p>
          <a:p xmlns:a="http://schemas.openxmlformats.org/drawingml/2006/main">
            <a:r>
              <a:t>入力に重みを掛け，足してから変換する．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演習1：解答</a:t>
            </a:r>
          </a:p>
          <a:p xmlns:a="http://schemas.openxmlformats.org/drawingml/2006/main">
            <a:r>
              <a:t/>
            </a:r>
          </a:p>
          <a:p xmlns:a="http://schemas.openxmlformats.org/drawingml/2006/main">
            <a:r>
              <a:t>目安：4分／授業開始から26〜30分</a:t>
            </a:r>
          </a:p>
          <a:p xmlns:a="http://schemas.openxmlformats.org/drawingml/2006/main">
            <a:r>
              <a:t/>
            </a:r>
          </a:p>
          <a:p xmlns:a="http://schemas.openxmlformats.org/drawingml/2006/main">
            <a:r>
              <a:t>負の重みと負のバイアスを混同しない．追加例は重み付きの和が0で，バイアス−2を加えると−2になる．</a:t>
            </a:r>
          </a:p>
          <a:p xmlns:a="http://schemas.openxmlformats.org/drawingml/2006/main">
            <a:r>
              <a:t/>
            </a:r>
          </a:p>
          <a:p xmlns:a="http://schemas.openxmlformats.org/drawingml/2006/main">
            <a:r>
              <a:t>z＝0.5×2＋（−1）×1＋1＝1</a:t>
            </a:r>
          </a:p>
          <a:p xmlns:a="http://schemas.openxmlformats.org/drawingml/2006/main">
            <a:r>
              <a:t/>
            </a:r>
          </a:p>
          <a:p xmlns:a="http://schemas.openxmlformats.org/drawingml/2006/main">
            <a:r>
              <a:t>ReLU(1)＝1</a:t>
            </a:r>
          </a:p>
          <a:p xmlns:a="http://schemas.openxmlformats.org/drawingml/2006/main">
            <a:r>
              <a:t/>
            </a:r>
          </a:p>
          <a:p xmlns:a="http://schemas.openxmlformats.org/drawingml/2006/main">
            <a:r>
              <a:t>バイアスだけを−2へ変えると，z＝−2，出力＝0．</a:t>
            </a:r>
          </a:p>
          <a:p xmlns:a="http://schemas.openxmlformats.org/drawingml/2006/main">
            <a:r>
              <a:t/>
            </a:r>
          </a:p>
          <a:p xmlns:a="http://schemas.openxmlformats.org/drawingml/2006/main">
            <a:r>
              <a:t>重みやバイアスを変えると，出力が変わる．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Google：Activation functions</a:t>
            </a:r>
          </a:p>
          <a:p xmlns:a="http://schemas.openxmlformats.org/drawingml/2006/main">
            <a:r>
              <a:t>https://developers.google.com/machine-learning/crash-course/neural-networks/activation-functions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代表的な活性化関数</a:t>
            </a:r>
          </a:p>
          <a:p xmlns:a="http://schemas.openxmlformats.org/drawingml/2006/main">
            <a:r>
              <a:t/>
            </a:r>
          </a:p>
          <a:p xmlns:a="http://schemas.openxmlformats.org/drawingml/2006/main">
            <a:r>
              <a:t>目安：4分／授業開始から30〜34分</a:t>
            </a:r>
          </a:p>
          <a:p xmlns:a="http://schemas.openxmlformats.org/drawingml/2006/main">
            <a:r>
              <a:t/>
            </a:r>
          </a:p>
          <a:p xmlns:a="http://schemas.openxmlformats.org/drawingml/2006/main">
            <a:r>
              <a:t>使用場面は例で，全てのモデルに固定された規則ではない．ReLUの0での微分は厳密な導出をせず，ライブラリが定める扱いとする．</a:t>
            </a:r>
          </a:p>
          <a:p xmlns:a="http://schemas.openxmlformats.org/drawingml/2006/main">
            <a:r>
              <a:t/>
            </a:r>
          </a:p>
          <a:p xmlns:a="http://schemas.openxmlformats.org/drawingml/2006/main">
            <a:r>
              <a:t>ReLU ／ 負なら0，それ以外は入力の値 ／ 隠れ層</a:t>
            </a:r>
          </a:p>
          <a:p xmlns:a="http://schemas.openxmlformats.org/drawingml/2006/main">
            <a:r>
              <a:t>シグモイド ／ 0と1の間 ／ 二値分類の出力</a:t>
            </a:r>
          </a:p>
          <a:p xmlns:a="http://schemas.openxmlformats.org/drawingml/2006/main">
            <a:r>
              <a:t>tanh ／ −1と1の間 ／ 系列モデルなど</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Google：Activation functions</a:t>
            </a:r>
          </a:p>
          <a:p xmlns:a="http://schemas.openxmlformats.org/drawingml/2006/main">
            <a:r>
              <a:t>https://developers.google.com/machine-learning/crash-course/neural-networks/activation-functions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ReLUの計算例</a:t>
            </a:r>
          </a:p>
          <a:p xmlns:a="http://schemas.openxmlformats.org/drawingml/2006/main">
            <a:r>
              <a:t/>
            </a:r>
          </a:p>
          <a:p xmlns:a="http://schemas.openxmlformats.org/drawingml/2006/main">
            <a:r>
              <a:t>目安：4分／授業開始から34〜38分</a:t>
            </a:r>
          </a:p>
          <a:p xmlns:a="http://schemas.openxmlformats.org/drawingml/2006/main">
            <a:r>
              <a:t/>
            </a:r>
          </a:p>
          <a:p xmlns:a="http://schemas.openxmlformats.org/drawingml/2006/main">
            <a:r>
              <a:t>関数を指定した計算例で，観測データではない．折れ曲がりがあり，全区間で一つの直線にはならない．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Google：Activation functions</a:t>
            </a:r>
          </a:p>
          <a:p xmlns:a="http://schemas.openxmlformats.org/drawingml/2006/main">
            <a:r>
              <a:t>https://developers.google.com/machine-learning/crash-course/neural-networks/activation-functions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非線形な変換の役割</a:t>
            </a:r>
          </a:p>
          <a:p xmlns:a="http://schemas.openxmlformats.org/drawingml/2006/main">
            <a:r>
              <a:t/>
            </a:r>
          </a:p>
          <a:p xmlns:a="http://schemas.openxmlformats.org/drawingml/2006/main">
            <a:r>
              <a:t>目安：4分／授業開始から38〜42分</a:t>
            </a:r>
          </a:p>
          <a:p xmlns:a="http://schemas.openxmlformats.org/drawingml/2006/main">
            <a:r>
              <a:t/>
            </a:r>
          </a:p>
          <a:p xmlns:a="http://schemas.openxmlformats.org/drawingml/2006/main">
            <a:r>
              <a:t>線形の導出は必要なら(awx+ab+c)の式で補足する．非線形にすれば必ず予測が良くなるという意味ではない．</a:t>
            </a:r>
          </a:p>
          <a:p xmlns:a="http://schemas.openxmlformats.org/drawingml/2006/main">
            <a:r>
              <a:t/>
            </a:r>
          </a:p>
          <a:p xmlns:a="http://schemas.openxmlformats.org/drawingml/2006/main">
            <a:r>
              <a:t>線形な計算だけを重ねても，全体は線形な関係になる．</a:t>
            </a:r>
          </a:p>
          <a:p xmlns:a="http://schemas.openxmlformats.org/drawingml/2006/main">
            <a:r>
              <a:t/>
            </a:r>
          </a:p>
          <a:p xmlns:a="http://schemas.openxmlformats.org/drawingml/2006/main">
            <a:r>
              <a:t>非線形な活性化関数を間に入れる．</a:t>
            </a:r>
          </a:p>
          <a:p xmlns:a="http://schemas.openxmlformats.org/drawingml/2006/main">
            <a:r>
              <a:t/>
            </a:r>
          </a:p>
          <a:p xmlns:a="http://schemas.openxmlformats.org/drawingml/2006/main">
            <a:r>
              <a:t>入力と出力の複雑な関係を表す候補を増やす．</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Google：Activation functions</a:t>
            </a:r>
          </a:p>
          <a:p xmlns:a="http://schemas.openxmlformats.org/drawingml/2006/main">
            <a:r>
              <a:t>https://developers.google.com/machine-learning/crash-course/neural-networks/activation-functions</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層とパラメータの数</a:t>
            </a:r>
          </a:p>
          <a:p xmlns:a="http://schemas.openxmlformats.org/drawingml/2006/main">
            <a:r>
              <a:t/>
            </a:r>
          </a:p>
          <a:p xmlns:a="http://schemas.openxmlformats.org/drawingml/2006/main">
            <a:r>
              <a:t>目安：4分／授業開始から42〜46分</a:t>
            </a:r>
          </a:p>
          <a:p xmlns:a="http://schemas.openxmlformats.org/drawingml/2006/main">
            <a:r>
              <a:t/>
            </a:r>
          </a:p>
          <a:p xmlns:a="http://schemas.openxmlformats.org/drawingml/2006/main">
            <a:r>
              <a:t>各隠れユニットと出力ユニットがそれぞれバイアスを持つ全結合の作例．入力層はこの数え方でパラメータを持たない．計9個を学習する．</a:t>
            </a:r>
          </a:p>
          <a:p xmlns:a="http://schemas.openxmlformats.org/drawingml/2006/main">
            <a:r>
              <a:t/>
            </a:r>
          </a:p>
          <a:p xmlns:a="http://schemas.openxmlformats.org/drawingml/2006/main">
            <a:r>
              <a:t>入力2個・隠れ2個 ／ 2×2＝4 ／ 2</a:t>
            </a:r>
          </a:p>
          <a:p xmlns:a="http://schemas.openxmlformats.org/drawingml/2006/main">
            <a:r>
              <a:t>隠れ2個・出力1個 ／ 2×1＝2 ／ 1</a:t>
            </a:r>
          </a:p>
          <a:p xmlns:a="http://schemas.openxmlformats.org/drawingml/2006/main">
            <a:r>
              <a:t>合計 ／ 6 ／ 3</a:t>
            </a:r>
          </a:p>
          <a:p xmlns:a="http://schemas.openxmlformats.org/drawingml/2006/main">
            <a:r>
              <a:t/>
            </a:r>
          </a:p>
          <a:p xmlns:a="http://schemas.openxmlformats.org/drawingml/2006/main">
            <a:r>
              <a:t>層やユニットを増やすと，学ぶ値も増える．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深層学習の考え方</a:t>
            </a:r>
          </a:p>
          <a:p xmlns:a="http://schemas.openxmlformats.org/drawingml/2006/main">
            <a:r>
              <a:t/>
            </a:r>
          </a:p>
          <a:p xmlns:a="http://schemas.openxmlformats.org/drawingml/2006/main">
            <a:r>
              <a:t>目安：4分／授業開始から46〜50分</a:t>
            </a:r>
          </a:p>
          <a:p xmlns:a="http://schemas.openxmlformats.org/drawingml/2006/main">
            <a:r>
              <a:t/>
            </a:r>
          </a:p>
          <a:p xmlns:a="http://schemas.openxmlformats.org/drawingml/2006/main">
            <a:r>
              <a:t>深層学習の深さに単一の普遍的な境界を設けない．今日の全結合以外にもCNNやTransformerがあり，第7・8回で学ぶ．</a:t>
            </a:r>
          </a:p>
          <a:p xmlns:a="http://schemas.openxmlformats.org/drawingml/2006/main">
            <a:r>
              <a:t/>
            </a:r>
          </a:p>
          <a:p xmlns:a="http://schemas.openxmlformats.org/drawingml/2006/main">
            <a:r>
              <a:t>複数の層を使い，データの表現を段階的に変える．</a:t>
            </a:r>
          </a:p>
          <a:p xmlns:a="http://schemas.openxmlformats.org/drawingml/2006/main">
            <a:r>
              <a:t/>
            </a:r>
          </a:p>
          <a:p xmlns:a="http://schemas.openxmlformats.org/drawingml/2006/main">
            <a:r>
              <a:t>画像や文章などの複雑な入力にも利用する．</a:t>
            </a:r>
          </a:p>
          <a:p xmlns:a="http://schemas.openxmlformats.org/drawingml/2006/main">
            <a:r>
              <a:t/>
            </a:r>
          </a:p>
          <a:p xmlns:a="http://schemas.openxmlformats.org/drawingml/2006/main">
            <a:r>
              <a:t>深さだけでなく，構造・データ・学習条件が結果に影響する．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特徴の表現を学ぶ</a:t>
            </a:r>
          </a:p>
          <a:p xmlns:a="http://schemas.openxmlformats.org/drawingml/2006/main">
            <a:r>
              <a:t/>
            </a:r>
          </a:p>
          <a:p xmlns:a="http://schemas.openxmlformats.org/drawingml/2006/main">
            <a:r>
              <a:t>目安：4分／授業開始から50〜54分</a:t>
            </a:r>
          </a:p>
          <a:p xmlns:a="http://schemas.openxmlformats.org/drawingml/2006/main">
            <a:r>
              <a:t/>
            </a:r>
          </a:p>
          <a:p xmlns:a="http://schemas.openxmlformats.org/drawingml/2006/main">
            <a:r>
              <a:t>入力は数値の画素．中間の表現は学習で変化する．各層が必ず「目」「顔」など人の名前に対応する特徴だけを検出するとは限らない．</a:t>
            </a:r>
          </a:p>
          <a:p xmlns:a="http://schemas.openxmlformats.org/drawingml/2006/main">
            <a:r>
              <a:t/>
            </a:r>
          </a:p>
          <a:p xmlns:a="http://schemas.openxmlformats.org/drawingml/2006/main">
            <a:r>
              <a:t>中間の表現も，学習する計算の一部になる．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出力と問題の対応</a:t>
            </a:r>
          </a:p>
          <a:p xmlns:a="http://schemas.openxmlformats.org/drawingml/2006/main">
            <a:r>
              <a:t/>
            </a:r>
          </a:p>
          <a:p xmlns:a="http://schemas.openxmlformats.org/drawingml/2006/main">
            <a:r>
              <a:t>目安：4分／授業開始から54〜58分</a:t>
            </a:r>
          </a:p>
          <a:p xmlns:a="http://schemas.openxmlformats.org/drawingml/2006/main">
            <a:r>
              <a:t/>
            </a:r>
          </a:p>
          <a:p xmlns:a="http://schemas.openxmlformats.org/drawingml/2006/main">
            <a:r>
              <a:t>分類ではスコアから予測クラスを決める．確率として使う場合はソフトマックスなどの処理を行うが，校正の良さは別に確認する．</a:t>
            </a:r>
          </a:p>
          <a:p xmlns:a="http://schemas.openxmlformats.org/drawingml/2006/main">
            <a:r>
              <a:t/>
            </a:r>
          </a:p>
          <a:p xmlns:a="http://schemas.openxmlformats.org/drawingml/2006/main">
            <a:r>
              <a:t>回帰 ／ 一つの数値 ／ MAE・RMSE</a:t>
            </a:r>
          </a:p>
          <a:p xmlns:a="http://schemas.openxmlformats.org/drawingml/2006/main">
            <a:r>
              <a:t>二値分類 ／ 一方のクラスの確率 ／ 適合率・再現率など</a:t>
            </a:r>
          </a:p>
          <a:p xmlns:a="http://schemas.openxmlformats.org/drawingml/2006/main">
            <a:r>
              <a:t>多クラス分類 ／ 各クラスに対応するスコア ／ 正解率・混同行列</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PyTorch：Optimizing Model Parameters</a:t>
            </a:r>
          </a:p>
          <a:p xmlns:a="http://schemas.openxmlformats.org/drawingml/2006/main">
            <a:r>
              <a:t>https://docs.pytorch.org/tutorials/beginner/basics/optimization_tutorial.html</a:t>
            </a:r>
          </a:p>
          <a:p xmlns:a="http://schemas.openxmlformats.org/drawingml/2006/main">
            <a:r>
              <a:t/>
            </a:r>
          </a:p>
          <a:p xmlns:a="http://schemas.openxmlformats.org/drawingml/2006/main">
            <a:r>
              <a:t>Google：Logistic regression loss</a:t>
            </a:r>
          </a:p>
          <a:p xmlns:a="http://schemas.openxmlformats.org/drawingml/2006/main">
            <a:r>
              <a:t>https://developers.google.com/machine-learning/crash-course/logistic-regression/loss-regularization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損失関数と評価指標</a:t>
            </a:r>
          </a:p>
          <a:p xmlns:a="http://schemas.openxmlformats.org/drawingml/2006/main">
            <a:r>
              <a:t/>
            </a:r>
          </a:p>
          <a:p xmlns:a="http://schemas.openxmlformats.org/drawingml/2006/main">
            <a:r>
              <a:t>目安：4分／授業開始から58〜62分</a:t>
            </a:r>
          </a:p>
          <a:p xmlns:a="http://schemas.openxmlformats.org/drawingml/2006/main">
            <a:r>
              <a:t/>
            </a:r>
          </a:p>
          <a:p xmlns:a="http://schemas.openxmlformats.org/drawingml/2006/main">
            <a:r>
              <a:t>正解率は多くの分類モデルでそのまま微分して学習しにくい．学習用の損失と業務上の評価指標は同じとは限らない．</a:t>
            </a:r>
          </a:p>
          <a:p xmlns:a="http://schemas.openxmlformats.org/drawingml/2006/main">
            <a:r>
              <a:t/>
            </a:r>
          </a:p>
          <a:p xmlns:a="http://schemas.openxmlformats.org/drawingml/2006/main">
            <a:r>
              <a:t>損失関数は，学習中に小さくしたい量を表す．</a:t>
            </a:r>
          </a:p>
          <a:p xmlns:a="http://schemas.openxmlformats.org/drawingml/2006/main">
            <a:r>
              <a:t/>
            </a:r>
          </a:p>
          <a:p xmlns:a="http://schemas.openxmlformats.org/drawingml/2006/main">
            <a:r>
              <a:t>回帰では二乗誤差，分類では交差エントロピーなどを使う．</a:t>
            </a:r>
          </a:p>
          <a:p xmlns:a="http://schemas.openxmlformats.org/drawingml/2006/main">
            <a:r>
              <a:t/>
            </a:r>
          </a:p>
          <a:p xmlns:a="http://schemas.openxmlformats.org/drawingml/2006/main">
            <a:r>
              <a:t>最終的な評価は，利用目的に合う指標で行う．</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PyTorch：Optimizing Model Parameters</a:t>
            </a:r>
          </a:p>
          <a:p xmlns:a="http://schemas.openxmlformats.org/drawingml/2006/main">
            <a:r>
              <a:t>https://docs.pytorch.org/tutorials/beginner/basics/optimization_tutorial.html</a:t>
            </a:r>
          </a:p>
          <a:p xmlns:a="http://schemas.openxmlformats.org/drawingml/2006/main">
            <a:r>
              <a:t/>
            </a:r>
          </a:p>
          <a:p xmlns:a="http://schemas.openxmlformats.org/drawingml/2006/main">
            <a:r>
              <a:t>Google：Logistic regression loss</a:t>
            </a:r>
          </a:p>
          <a:p xmlns:a="http://schemas.openxmlformats.org/drawingml/2006/main">
            <a:r>
              <a:t>https://developers.google.com/machine-learning/crash-course/logistic-regression/loss-regularization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演習2：二乗誤差</a:t>
            </a:r>
          </a:p>
          <a:p xmlns:a="http://schemas.openxmlformats.org/drawingml/2006/main">
            <a:r>
              <a:t/>
            </a:r>
          </a:p>
          <a:p xmlns:a="http://schemas.openxmlformats.org/drawingml/2006/main">
            <a:r>
              <a:t>目安：4分／授業開始から62〜66分</a:t>
            </a:r>
          </a:p>
          <a:p xmlns:a="http://schemas.openxmlformats.org/drawingml/2006/main">
            <a:r>
              <a:t/>
            </a:r>
          </a:p>
          <a:p xmlns:a="http://schemas.openxmlformats.org/drawingml/2006/main">
            <a:r>
              <a:t>個人で1分，理由の確認2分．一例の二乗誤差であって，多数例の平均MSEとは区別する．</a:t>
            </a:r>
          </a:p>
          <a:p xmlns:a="http://schemas.openxmlformats.org/drawingml/2006/main">
            <a:r>
              <a:t/>
            </a:r>
          </a:p>
          <a:p xmlns:a="http://schemas.openxmlformats.org/drawingml/2006/main">
            <a:r>
              <a:t>実際の値は3．モデルAの予測は1，モデルBは2．</a:t>
            </a:r>
          </a:p>
          <a:p xmlns:a="http://schemas.openxmlformats.org/drawingml/2006/main">
            <a:r>
              <a:t/>
            </a:r>
          </a:p>
          <a:p xmlns:a="http://schemas.openxmlformats.org/drawingml/2006/main">
            <a:r>
              <a:t>一つの例の損失を（予測−実際）²として計算する．</a:t>
            </a:r>
          </a:p>
          <a:p xmlns:a="http://schemas.openxmlformats.org/drawingml/2006/main">
            <a:r>
              <a:t/>
            </a:r>
          </a:p>
          <a:p xmlns:a="http://schemas.openxmlformats.org/drawingml/2006/main">
            <a:r>
              <a:t>この例では，どちらの損失が小さいか？</a:t>
            </a:r>
          </a:p>
          <a:p xmlns:a="http://schemas.openxmlformats.org/drawingml/2006/main">
            <a:r>
              <a:t/>
            </a:r>
          </a:p>
          <a:p xmlns:a="http://schemas.openxmlformats.org/drawingml/2006/main">
            <a:r>
              <a:t>一つの例の誤差から，損失を計算する．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演習2：解答</a:t>
            </a:r>
          </a:p>
          <a:p xmlns:a="http://schemas.openxmlformats.org/drawingml/2006/main">
            <a:r>
              <a:t/>
            </a:r>
          </a:p>
          <a:p xmlns:a="http://schemas.openxmlformats.org/drawingml/2006/main">
            <a:r>
              <a:t>目安：4分／授業開始から66〜70分</a:t>
            </a:r>
          </a:p>
          <a:p xmlns:a="http://schemas.openxmlformats.org/drawingml/2006/main">
            <a:r>
              <a:t/>
            </a:r>
          </a:p>
          <a:p xmlns:a="http://schemas.openxmlformats.org/drawingml/2006/main">
            <a:r>
              <a:t>一例での優劣をモデル全体の優劣に広げない．複数例で平均し，未知のデータでも比較する．</a:t>
            </a:r>
          </a:p>
          <a:p xmlns:a="http://schemas.openxmlformats.org/drawingml/2006/main">
            <a:r>
              <a:t/>
            </a:r>
          </a:p>
          <a:p xmlns:a="http://schemas.openxmlformats.org/drawingml/2006/main">
            <a:r>
              <a:t>モデルA：（1−3）²＝4</a:t>
            </a:r>
          </a:p>
          <a:p xmlns:a="http://schemas.openxmlformats.org/drawingml/2006/main">
            <a:r>
              <a:t/>
            </a:r>
          </a:p>
          <a:p xmlns:a="http://schemas.openxmlformats.org/drawingml/2006/main">
            <a:r>
              <a:t>モデルB：（2−3）²＝1</a:t>
            </a:r>
          </a:p>
          <a:p xmlns:a="http://schemas.openxmlformats.org/drawingml/2006/main">
            <a:r>
              <a:t/>
            </a:r>
          </a:p>
          <a:p xmlns:a="http://schemas.openxmlformats.org/drawingml/2006/main">
            <a:r>
              <a:t>この例の二乗誤差はBが小さい．</a:t>
            </a:r>
          </a:p>
          <a:p xmlns:a="http://schemas.openxmlformats.org/drawingml/2006/main">
            <a:r>
              <a:t/>
            </a:r>
          </a:p>
          <a:p xmlns:a="http://schemas.openxmlformats.org/drawingml/2006/main">
            <a:r>
              <a:t>別のデータでも良いかは，さらに評価する．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PyTorch：Optimizing Model Parameters</a:t>
            </a:r>
          </a:p>
          <a:p xmlns:a="http://schemas.openxmlformats.org/drawingml/2006/main">
            <a:r>
              <a:t>https://docs.pytorch.org/tutorials/beginner/basics/optimization_tutorial.html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勾配と損失の変化</a:t>
            </a:r>
          </a:p>
          <a:p xmlns:a="http://schemas.openxmlformats.org/drawingml/2006/main">
            <a:r>
              <a:t/>
            </a:r>
          </a:p>
          <a:p xmlns:a="http://schemas.openxmlformats.org/drawingml/2006/main">
            <a:r>
              <a:t>目安：4分／授業開始から70〜74分</a:t>
            </a:r>
          </a:p>
          <a:p xmlns:a="http://schemas.openxmlformats.org/drawingml/2006/main">
            <a:r>
              <a:t/>
            </a:r>
          </a:p>
          <a:p xmlns:a="http://schemas.openxmlformats.org/drawingml/2006/main">
            <a:r>
              <a:t>連続した放物線上の五点を示す作例．勾配はその点での局所的な変化率．実際のネットワークの損失がこの形に限るわけではない．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Google：Gradient descent</a:t>
            </a:r>
          </a:p>
          <a:p xmlns:a="http://schemas.openxmlformats.org/drawingml/2006/main">
            <a:r>
              <a:t>https://developers.google.com/machine-learning/crash-course/linear-regression/gradient-descent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演習3：重みの更新</a:t>
            </a:r>
          </a:p>
          <a:p xmlns:a="http://schemas.openxmlformats.org/drawingml/2006/main">
            <a:r>
              <a:t/>
            </a:r>
          </a:p>
          <a:p xmlns:a="http://schemas.openxmlformats.org/drawingml/2006/main">
            <a:r>
              <a:t>目安：4分／授業開始から74〜78分</a:t>
            </a:r>
          </a:p>
          <a:p xmlns:a="http://schemas.openxmlformats.org/drawingml/2006/main">
            <a:r>
              <a:t/>
            </a:r>
          </a:p>
          <a:p xmlns:a="http://schemas.openxmlformats.org/drawingml/2006/main">
            <a:r>
              <a:t>L(w)=(w−2)²ではw=1の勾配は−2．導出を要求せず，符号と更新の方向を確認する．個人計算2分，話し合い2分．</a:t>
            </a:r>
          </a:p>
          <a:p xmlns:a="http://schemas.openxmlformats.org/drawingml/2006/main">
            <a:r>
              <a:t/>
            </a:r>
          </a:p>
          <a:p xmlns:a="http://schemas.openxmlformats.org/drawingml/2006/main">
            <a:r>
              <a:t>更新式：新しいw＝現在のw−学習率×勾配</a:t>
            </a:r>
          </a:p>
          <a:p xmlns:a="http://schemas.openxmlformats.org/drawingml/2006/main">
            <a:r>
              <a:t/>
            </a:r>
          </a:p>
          <a:p xmlns:a="http://schemas.openxmlformats.org/drawingml/2006/main">
            <a:r>
              <a:t>現在のw＝1，学習率＝0.1，勾配＝−2</a:t>
            </a:r>
          </a:p>
          <a:p xmlns:a="http://schemas.openxmlformats.org/drawingml/2006/main">
            <a:r>
              <a:t/>
            </a:r>
          </a:p>
          <a:p xmlns:a="http://schemas.openxmlformats.org/drawingml/2006/main">
            <a:r>
              <a:t>新しいwを求める．</a:t>
            </a:r>
          </a:p>
          <a:p xmlns:a="http://schemas.openxmlformats.org/drawingml/2006/main">
            <a:r>
              <a:t/>
            </a:r>
          </a:p>
          <a:p xmlns:a="http://schemas.openxmlformats.org/drawingml/2006/main">
            <a:r>
              <a:t>勾配と反対の向きへ，小さく動かす．</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Google：Gradient descent</a:t>
            </a:r>
          </a:p>
          <a:p xmlns:a="http://schemas.openxmlformats.org/drawingml/2006/main">
            <a:r>
              <a:t>https://developers.google.com/machine-learning/crash-course/linear-regression/gradient-descent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演習3：解答</a:t>
            </a:r>
          </a:p>
          <a:p xmlns:a="http://schemas.openxmlformats.org/drawingml/2006/main">
            <a:r>
              <a:t/>
            </a:r>
          </a:p>
          <a:p xmlns:a="http://schemas.openxmlformats.org/drawingml/2006/main">
            <a:r>
              <a:t>目安：4分／授業開始から78〜82分</a:t>
            </a:r>
          </a:p>
          <a:p xmlns:a="http://schemas.openxmlformats.org/drawingml/2006/main">
            <a:r>
              <a:t/>
            </a:r>
          </a:p>
          <a:p xmlns:a="http://schemas.openxmlformats.org/drawingml/2006/main">
            <a:r>
              <a:t>(1.2−2)²=0.64を確認する．実際の非凸な損失やミニバッチの更新では毎回必ず損失が下がる保証はない．</a:t>
            </a:r>
          </a:p>
          <a:p xmlns:a="http://schemas.openxmlformats.org/drawingml/2006/main">
            <a:r>
              <a:t/>
            </a:r>
          </a:p>
          <a:p xmlns:a="http://schemas.openxmlformats.org/drawingml/2006/main">
            <a:r>
              <a:t>新しいw＝1−0.1×（−2）＝1.2</a:t>
            </a:r>
          </a:p>
          <a:p xmlns:a="http://schemas.openxmlformats.org/drawingml/2006/main">
            <a:r>
              <a:t/>
            </a:r>
          </a:p>
          <a:p xmlns:a="http://schemas.openxmlformats.org/drawingml/2006/main">
            <a:r>
              <a:t>この例では，損失は1から0.64に減る．</a:t>
            </a:r>
          </a:p>
          <a:p xmlns:a="http://schemas.openxmlformats.org/drawingml/2006/main">
            <a:r>
              <a:t/>
            </a:r>
          </a:p>
          <a:p xmlns:a="http://schemas.openxmlformats.org/drawingml/2006/main">
            <a:r>
              <a:t>動かす大きさは，学習率で調整する．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Google：Gradient descent</a:t>
            </a:r>
          </a:p>
          <a:p xmlns:a="http://schemas.openxmlformats.org/drawingml/2006/main">
            <a:r>
              <a:t>https://developers.google.com/machine-learning/crash-course/linear-regression/gradient-descent</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誤差逆伝播の役割</a:t>
            </a:r>
          </a:p>
          <a:p xmlns:a="http://schemas.openxmlformats.org/drawingml/2006/main">
            <a:r>
              <a:t/>
            </a:r>
          </a:p>
          <a:p xmlns:a="http://schemas.openxmlformats.org/drawingml/2006/main">
            <a:r>
              <a:t>目安：4分／授業開始から82〜86分</a:t>
            </a:r>
          </a:p>
          <a:p xmlns:a="http://schemas.openxmlformats.org/drawingml/2006/main">
            <a:r>
              <a:t/>
            </a:r>
          </a:p>
          <a:p xmlns:a="http://schemas.openxmlformats.org/drawingml/2006/main">
            <a:r>
              <a:t>逆伝播は各パラメータが損失にどう影響するかを，連鎖律で効率よく求める．逆伝播とパラメータ更新は役割が異なり，勾配を受け取った最適化手法が重みを更新する．</a:t>
            </a:r>
          </a:p>
          <a:p xmlns:a="http://schemas.openxmlformats.org/drawingml/2006/main">
            <a:r>
              <a:t/>
            </a:r>
          </a:p>
          <a:p xmlns:a="http://schemas.openxmlformats.org/drawingml/2006/main">
            <a:r>
              <a:t>逆伝播で勾配を求め，最適化手法で更新する．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Google：Training using backpropagation</a:t>
            </a:r>
          </a:p>
          <a:p xmlns:a="http://schemas.openxmlformats.org/drawingml/2006/main">
            <a:r>
              <a:t>https://developers.google.com/machine-learning/crash-course/neural-networks/backpropagation</a:t>
            </a:r>
          </a:p>
          <a:p xmlns:a="http://schemas.openxmlformats.org/drawingml/2006/main">
            <a:r>
              <a:t/>
            </a:r>
          </a:p>
          <a:p xmlns:a="http://schemas.openxmlformats.org/drawingml/2006/main">
            <a:r>
              <a:t>PyTorch：Optimizing Model Parameters</a:t>
            </a:r>
          </a:p>
          <a:p xmlns:a="http://schemas.openxmlformats.org/drawingml/2006/main">
            <a:r>
              <a:t>https://docs.pytorch.org/tutorials/beginner/basics/optimization_tutorial.html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目安：4分／授業開始から86〜90分</a:t>
            </a:r>
          </a:p>
          <a:p xmlns:a="http://schemas.openxmlformats.org/drawingml/2006/main">
            <a:r>
              <a:t/>
            </a:r>
          </a:p>
          <a:p xmlns:a="http://schemas.openxmlformats.org/drawingml/2006/main">
            <a:r>
              <a:t>出口課題：入力，重み，損失，逆伝播の四語を使って学習を説明する．次回は学習率，バッチ，過学習対策を扱う．</a:t>
            </a:r>
          </a:p>
          <a:p xmlns:a="http://schemas.openxmlformats.org/drawingml/2006/main">
            <a:r>
              <a:t/>
            </a:r>
          </a:p>
          <a:p xmlns:a="http://schemas.openxmlformats.org/drawingml/2006/main">
            <a:r>
              <a:t>重み付きの和と活性化関数を，層ごとにつなぐ．</a:t>
            </a:r>
          </a:p>
          <a:p xmlns:a="http://schemas.openxmlformats.org/drawingml/2006/main">
            <a:r>
              <a:t/>
            </a:r>
          </a:p>
          <a:p xmlns:a="http://schemas.openxmlformats.org/drawingml/2006/main">
            <a:r>
              <a:t>損失から勾配を求め，パラメータを更新する．</a:t>
            </a:r>
          </a:p>
          <a:p xmlns:a="http://schemas.openxmlformats.org/drawingml/2006/main">
            <a:r>
              <a:t/>
            </a:r>
          </a:p>
          <a:p xmlns:a="http://schemas.openxmlformats.org/drawingml/2006/main">
            <a:r>
              <a:t>未知のデータで，目的に合う評価を行う．</a:t>
            </a:r>
          </a:p>
          <a:p xmlns:a="http://schemas.openxmlformats.org/drawingml/2006/main">
            <a:r>
              <a:t/>
            </a:r>
          </a:p>
          <a:p xmlns:a="http://schemas.openxmlformats.org/drawingml/2006/main">
            <a:r>
              <a:t>次回：深層学習をうまく学習させるには</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a:p xmlns:a="http://schemas.openxmlformats.org/drawingml/2006/main">
            <a:r>
              <a:t/>
            </a:r>
          </a:p>
          <a:p xmlns:a="http://schemas.openxmlformats.org/drawingml/2006/main">
            <a:r>
              <a:t>Google：Activation functions</a:t>
            </a:r>
          </a:p>
          <a:p xmlns:a="http://schemas.openxmlformats.org/drawingml/2006/main">
            <a:r>
              <a:t>https://developers.google.com/machine-learning/crash-course/neural-networks/activation-functions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a:p xmlns:a="http://schemas.openxmlformats.org/drawingml/2006/main">
            <a:r>
              <a:t/>
            </a:r>
          </a:p>
          <a:p xmlns:a="http://schemas.openxmlformats.org/drawingml/2006/main">
            <a:r>
              <a:t>Google：Activation functions</a:t>
            </a:r>
          </a:p>
          <a:p xmlns:a="http://schemas.openxmlformats.org/drawingml/2006/main">
            <a:r>
              <a:t>https://developers.google.com/machine-learning/crash-course/neural-networks/activation-functions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c3b1610a964d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2d2f6c98454b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74436775ca4b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61a033386e47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9d6dd117d043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bfba8cffdf47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ae084aa2f524ea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5e781611d7e4b9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f6c14cef080497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3b41da69ef3440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c837424aaea419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1454d70aba4dfa" /><Relationship Type="http://schemas.openxmlformats.org/officeDocument/2006/relationships/slideLayout" Target="/ppt/slideLayouts/slideLayout1.xml" Id="Rc63f086ae1474d03" /><Relationship Type="http://schemas.openxmlformats.org/officeDocument/2006/relationships/slideLayout" Target="/ppt/slideLayouts/slideLayout2.xml" Id="R3fc9ed8005984233" /><Relationship Type="http://schemas.openxmlformats.org/officeDocument/2006/relationships/slideLayout" Target="/ppt/slideLayouts/slideLayout3.xml" Id="Rf163b517f14a436e" /><Relationship Type="http://schemas.openxmlformats.org/officeDocument/2006/relationships/slideLayout" Target="/ppt/slideLayouts/slideLayout4.xml" Id="Rc4828b562bfa463d" /><Relationship Type="http://schemas.openxmlformats.org/officeDocument/2006/relationships/slideLayout" Target="/ppt/slideLayouts/slideLayout5.xml" Id="R173086129793415f" /><Relationship Type="http://schemas.openxmlformats.org/officeDocument/2006/relationships/slideLayout" Target="/ppt/slideLayouts/slideLayout6.xml" Id="Rbd17815e8f8f4343" /><Relationship Type="http://schemas.openxmlformats.org/officeDocument/2006/relationships/slideLayout" Target="/ppt/slideLayouts/slideLayout7.xml" Id="R76beadc2273243e3" /><Relationship Type="http://schemas.openxmlformats.org/officeDocument/2006/relationships/slideLayout" Target="/ppt/slideLayouts/slideLayout8.xml" Id="Rf7d2c30192e54f54" /><Relationship Type="http://schemas.openxmlformats.org/officeDocument/2006/relationships/slideLayout" Target="/ppt/slideLayouts/slideLayout9.xml" Id="R19b25b49f6734ccc" /><Relationship Type="http://schemas.openxmlformats.org/officeDocument/2006/relationships/slideLayout" Target="/ppt/slideLayouts/slideLayout10.xml" Id="Rcf22d860d93648ac" /><Relationship Type="http://schemas.openxmlformats.org/officeDocument/2006/relationships/slideLayout" Target="/ppt/slideLayouts/slideLayout11.xml" Id="R77ddd030ce24470f"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63f086ae1474d03"/>
    <p:sldLayoutId xmlns:r="http://schemas.openxmlformats.org/officeDocument/2006/relationships" id="2147483650" r:id="R3fc9ed8005984233"/>
    <p:sldLayoutId xmlns:r="http://schemas.openxmlformats.org/officeDocument/2006/relationships" id="2147483651" r:id="Rf163b517f14a436e"/>
    <p:sldLayoutId xmlns:r="http://schemas.openxmlformats.org/officeDocument/2006/relationships" id="2147483652" r:id="Rc4828b562bfa463d"/>
    <p:sldLayoutId xmlns:r="http://schemas.openxmlformats.org/officeDocument/2006/relationships" id="2147483653" r:id="R173086129793415f"/>
    <p:sldLayoutId xmlns:r="http://schemas.openxmlformats.org/officeDocument/2006/relationships" id="2147483654" r:id="Rbd17815e8f8f4343"/>
    <p:sldLayoutId xmlns:r="http://schemas.openxmlformats.org/officeDocument/2006/relationships" id="2147483655" r:id="R76beadc2273243e3"/>
    <p:sldLayoutId xmlns:r="http://schemas.openxmlformats.org/officeDocument/2006/relationships" id="2147483656" r:id="Rf7d2c30192e54f54"/>
    <p:sldLayoutId xmlns:r="http://schemas.openxmlformats.org/officeDocument/2006/relationships" id="2147483657" r:id="R19b25b49f6734ccc"/>
    <p:sldLayoutId xmlns:r="http://schemas.openxmlformats.org/officeDocument/2006/relationships" id="2147483658" r:id="Rcf22d860d93648ac"/>
    <p:sldLayoutId xmlns:r="http://schemas.openxmlformats.org/officeDocument/2006/relationships" id="2147483659" r:id="R77ddd030ce24470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9ba75da822324926" /><Relationship Type="http://schemas.openxmlformats.org/officeDocument/2006/relationships/notesSlide" Target="/ppt/notesSlides/notesSlide1.xml" Id="Rf4fdb0d2999f4d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f1925451158e43da" /><Relationship Type="http://schemas.openxmlformats.org/officeDocument/2006/relationships/notesSlide" Target="/ppt/notesSlides/notesSlide2.xml" Id="R51004f36acfd4f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2b89b99ebded409e" /><Relationship Type="http://schemas.openxmlformats.org/officeDocument/2006/relationships/notesSlide" Target="/ppt/notesSlides/notesSlide3.xml" Id="R4eda9f91918149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77b7826d28224b7b" /><Relationship Type="http://schemas.openxmlformats.org/officeDocument/2006/relationships/notesSlide" Target="/ppt/notesSlides/notesSlide4.xml" Id="R3336e5b41ec740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cc22b2dbf69244a9" /><Relationship Type="http://schemas.openxmlformats.org/officeDocument/2006/relationships/notesSlide" Target="/ppt/notesSlides/notesSlide5.xml" Id="R974acc313a704a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cea59d5ed34d42b7" /><Relationship Type="http://schemas.openxmlformats.org/officeDocument/2006/relationships/notesSlide" Target="/ppt/notesSlides/notesSlide6.xml" Id="Rb089b86b582049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fc2fdeee6cfc4096" /><Relationship Type="http://schemas.openxmlformats.org/officeDocument/2006/relationships/notesSlide" Target="/ppt/notesSlides/notesSlide7.xml" Id="R08fe820ca15849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1b6a4adb4af24351" /><Relationship Type="http://schemas.openxmlformats.org/officeDocument/2006/relationships/notesSlide" Target="/ppt/notesSlides/notesSlide8.xml" Id="R59fff26efe6744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0cf2e07cf6254408" /><Relationship Type="http://schemas.openxmlformats.org/officeDocument/2006/relationships/notesSlide" Target="/ppt/notesSlides/notesSlide9.xml" Id="R2aef1c91c2f549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21eb32879dce4660" /><Relationship Type="http://schemas.openxmlformats.org/officeDocument/2006/relationships/chart" Target="/ppt/slides/charts/chart1.xml" Id="R738abcfc2bf945f0" /><Relationship Type="http://schemas.openxmlformats.org/officeDocument/2006/relationships/notesSlide" Target="/ppt/notesSlides/notesSlide10.xml" Id="R76e57316ec3140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8ee9cf8735fe402e" /><Relationship Type="http://schemas.openxmlformats.org/officeDocument/2006/relationships/notesSlide" Target="/ppt/notesSlides/notesSlide11.xml" Id="R024de263173c48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73e17cf296064474" /><Relationship Type="http://schemas.openxmlformats.org/officeDocument/2006/relationships/notesSlide" Target="/ppt/notesSlides/notesSlide12.xml" Id="Re8eaaab5de874d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83d77d05137243f3" /><Relationship Type="http://schemas.openxmlformats.org/officeDocument/2006/relationships/notesSlide" Target="/ppt/notesSlides/notesSlide13.xml" Id="R0deb70a8351a4f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8ec93428940c46f8" /><Relationship Type="http://schemas.openxmlformats.org/officeDocument/2006/relationships/notesSlide" Target="/ppt/notesSlides/notesSlide14.xml" Id="R527c4ba0c2e54b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b5ccc639ae4a40b1" /><Relationship Type="http://schemas.openxmlformats.org/officeDocument/2006/relationships/notesSlide" Target="/ppt/notesSlides/notesSlide15.xml" Id="R333487906ef644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b261e3638f084ea4" /><Relationship Type="http://schemas.openxmlformats.org/officeDocument/2006/relationships/notesSlide" Target="/ppt/notesSlides/notesSlide16.xml" Id="Rfffd693eeea54b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cd45893790814eba" /><Relationship Type="http://schemas.openxmlformats.org/officeDocument/2006/relationships/notesSlide" Target="/ppt/notesSlides/notesSlide17.xml" Id="R64a7c9abdfc846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f2a352a9dc7d45b1" /><Relationship Type="http://schemas.openxmlformats.org/officeDocument/2006/relationships/notesSlide" Target="/ppt/notesSlides/notesSlide18.xml" Id="R78d618dfd430411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0cc9ff91ba2b466e" /><Relationship Type="http://schemas.openxmlformats.org/officeDocument/2006/relationships/chart" Target="/ppt/slides/charts/chart2.xml" Id="Re65800e2e61e4f71" /><Relationship Type="http://schemas.openxmlformats.org/officeDocument/2006/relationships/notesSlide" Target="/ppt/notesSlides/notesSlide19.xml" Id="Rb7c6d15ff3f942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c82f6c625ed9429f" /><Relationship Type="http://schemas.openxmlformats.org/officeDocument/2006/relationships/notesSlide" Target="/ppt/notesSlides/notesSlide20.xml" Id="R0fb7a6d86c944ec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d41700c03f164c2e" /><Relationship Type="http://schemas.openxmlformats.org/officeDocument/2006/relationships/notesSlide" Target="/ppt/notesSlides/notesSlide21.xml" Id="Rc85f0d02d3b3469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d59d7216044040c3" /><Relationship Type="http://schemas.openxmlformats.org/officeDocument/2006/relationships/notesSlide" Target="/ppt/notesSlides/notesSlide22.xml" Id="R49b451f18f07491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812acd185eab44cd" /><Relationship Type="http://schemas.openxmlformats.org/officeDocument/2006/relationships/notesSlide" Target="/ppt/notesSlides/notesSlide23.xml" Id="R30d7bb2307024cd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064462e662ec4892" /><Relationship Type="http://schemas.openxmlformats.org/officeDocument/2006/relationships/hyperlink" Target="https://developers.google.com/machine-learning/crash-course/neural-networks/nodes-hidden-layers" TargetMode="External" Id="R7817bba2907e43ef" /><Relationship Type="http://schemas.openxmlformats.org/officeDocument/2006/relationships/hyperlink" Target="https://developers.google.com/machine-learning/crash-course/neural-networks/activation-functions" TargetMode="External" Id="R27178041f17446f3" /><Relationship Type="http://schemas.openxmlformats.org/officeDocument/2006/relationships/hyperlink" Target="https://developers.google.com/machine-learning/crash-course/neural-networks/backpropagation" TargetMode="External" Id="R4115d5ae0c2644dd" /><Relationship Type="http://schemas.openxmlformats.org/officeDocument/2006/relationships/notesSlide" Target="/ppt/notesSlides/notesSlide24.xml" Id="Rafff806e15f341d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9deeca34eaa7421e" /><Relationship Type="http://schemas.openxmlformats.org/officeDocument/2006/relationships/hyperlink" Target="https://developers.google.com/machine-learning/crash-course/linear-regression/gradient-descent" TargetMode="External" Id="R26ecabb6f9f54adf" /><Relationship Type="http://schemas.openxmlformats.org/officeDocument/2006/relationships/hyperlink" Target="https://docs.pytorch.org/tutorials/beginner/basics/optimization_tutorial.html" TargetMode="External" Id="Rea661a5795224944" /><Relationship Type="http://schemas.openxmlformats.org/officeDocument/2006/relationships/hyperlink" Target="https://developers.google.com/machine-learning/crash-course/logistic-regression/loss-regularization" TargetMode="External" Id="Rc607d6b8f4504a4a" /><Relationship Type="http://schemas.openxmlformats.org/officeDocument/2006/relationships/notesSlide" Target="/ppt/notesSlides/notesSlide25.xml" Id="R6078a36d7de24b3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ReLU(z)</c:v>
          </c:tx>
          <c:spPr>
            <a:solidFill xmlns:a="http://schemas.openxmlformats.org/drawingml/2006/main">
              <a:srgbClr val="FF0000"/>
            </a:solidFill>
            <a:ln xmlns:a="http://schemas.openxmlformats.org/drawingml/2006/main" w="19050">
              <a:solidFill>
                <a:srgbClr val="FF0000"/>
              </a:solidFill>
            </a:ln>
          </c:spPr>
          <c:marker>
            <c:symbol val="circle"/>
            <c:size val="4"/>
            <c:spPr>
              <a:solidFill xmlns:a="http://schemas.openxmlformats.org/drawingml/2006/main">
                <a:srgbClr val="FF0000"/>
              </a:solidFill>
            </c:spPr>
          </c:marker>
          <c:cat>
            <c:strRef>
              <c:f>'Chart Data'!$A$2:$A$6</c:f>
              <c:strCache>
                <c:ptCount val="5"/>
                <c:pt idx="0">
                  <c:v>−2</c:v>
                </c:pt>
                <c:pt idx="1">
                  <c:v>−1</c:v>
                </c:pt>
                <c:pt idx="2">
                  <c:v>0</c:v>
                </c:pt>
                <c:pt idx="3">
                  <c:v>1</c:v>
                </c:pt>
                <c:pt idx="4">
                  <c:v>2</c:v>
                </c:pt>
              </c:strCache>
            </c:strRef>
          </c:cat>
          <c:val>
            <c:numRef>
              <c:f>'Chart Data'!$B$2:$B$6</c:f>
              <c:numCache>
                <c:formatCode>General</c:formatCode>
                <c:ptCount val="5"/>
                <c:pt idx="0">
                  <c:v>0</c:v>
                </c:pt>
                <c:pt idx="1">
                  <c:v>0</c:v>
                </c:pt>
                <c:pt idx="2">
                  <c:v>0</c:v>
                </c:pt>
                <c:pt idx="3">
                  <c:v>1</c:v>
                </c:pt>
                <c:pt idx="4">
                  <c:v>2</c:v>
                </c:pt>
              </c:numCache>
            </c:numRef>
          </c:val>
          <c:smooth val="0"/>
        </c:ser>
        <c:dLbls>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入力 z</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72768"/>
      </c:catAx>
      <c:valAx>
        <c:axId val="48672768"/>
        <c:scaling>
          <c:orientation val="minMax"/>
          <c:max val="2"/>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出力</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L(w)</c:v>
          </c:tx>
          <c:spPr>
            <a:solidFill xmlns:a="http://schemas.openxmlformats.org/drawingml/2006/main">
              <a:srgbClr val="FF0000"/>
            </a:solidFill>
            <a:ln xmlns:a="http://schemas.openxmlformats.org/drawingml/2006/main" w="19050">
              <a:solidFill>
                <a:srgbClr val="FF0000"/>
              </a:solidFill>
            </a:ln>
          </c:spPr>
          <c:marker>
            <c:symbol val="circle"/>
            <c:size val="4"/>
            <c:spPr>
              <a:solidFill xmlns:a="http://schemas.openxmlformats.org/drawingml/2006/main">
                <a:srgbClr val="FF0000"/>
              </a:solidFill>
            </c:spPr>
          </c:marker>
          <c:cat>
            <c:numRef>
              <c:f>'Chart Data'!$A$2:$A$6</c:f>
              <c:numCache>
                <c:formatCode>General</c:formatCode>
                <c:ptCount val="5"/>
                <c:pt idx="0">
                  <c:v>0</c:v>
                </c:pt>
                <c:pt idx="1">
                  <c:v>1</c:v>
                </c:pt>
                <c:pt idx="2">
                  <c:v>2</c:v>
                </c:pt>
                <c:pt idx="3">
                  <c:v>3</c:v>
                </c:pt>
                <c:pt idx="4">
                  <c:v>4</c:v>
                </c:pt>
              </c:numCache>
            </c:numRef>
          </c:cat>
          <c:val>
            <c:numRef>
              <c:f>'Chart Data'!$B$2:$B$6</c:f>
              <c:numCache>
                <c:formatCode>General</c:formatCode>
                <c:ptCount val="5"/>
                <c:pt idx="0">
                  <c:v>4</c:v>
                </c:pt>
                <c:pt idx="1">
                  <c:v>1</c:v>
                </c:pt>
                <c:pt idx="2">
                  <c:v>0</c:v>
                </c:pt>
                <c:pt idx="3">
                  <c:v>1</c:v>
                </c:pt>
                <c:pt idx="4">
                  <c:v>4</c:v>
                </c:pt>
              </c:numCache>
            </c:numRef>
          </c:val>
          <c:smooth val="0"/>
        </c:ser>
        <c:dLbls>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重み w</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72768"/>
      </c:catAx>
      <c:valAx>
        <c:axId val="48672768"/>
        <c:scaling>
          <c:orientation val="minMax"/>
          <c:max val="4"/>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損失 L</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5&#10;G検定">
            <a:extLst xmlns:a="http://schemas.openxmlformats.org/drawingml/2006/main">
              <a:ext uri="{FF2B5EF4-FFF2-40B4-BE49-F238E27FC236}">
                <a16:creationId xmlns:a16="http://schemas.microsoft.com/office/drawing/2014/main" id="{CB001C1D-3CAD-4E50-A7F8-BFB66F9D9291}"/>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情報技術者（民間資格）5</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ニューラルネットワークと深層学習">
            <a:extLst xmlns:a="http://schemas.openxmlformats.org/drawingml/2006/main">
              <a:ext uri="{FF2B5EF4-FFF2-40B4-BE49-F238E27FC236}">
                <a16:creationId xmlns:a16="http://schemas.microsoft.com/office/drawing/2014/main" id="{BB00741F-A2ED-4220-B567-D6438162AF00}"/>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ニューラルネットワークと深層学習</a:t>
            </a:r>
          </a:p>
        </p:txBody>
      </p:sp>
      <p:sp>
        <p:nvSpPr>
          <p:cNvPr id="3" name="第5回 ／ 90分 ／ 全25枚">
            <a:extLst xmlns:a="http://schemas.openxmlformats.org/drawingml/2006/main">
              <a:ext uri="{FF2B5EF4-FFF2-40B4-BE49-F238E27FC236}">
                <a16:creationId xmlns:a16="http://schemas.microsoft.com/office/drawing/2014/main" id="{1BC794A0-97A1-4F59-9E56-7CAE3F827FFF}"/>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第5回 ／ 90分 ／ 全25枚</a:t>
            </a:r>
          </a:p>
        </p:txBody>
      </p:sp>
      <p:sp>
        <p:nvSpPr>
          <p:cNvPr id="4" name="参照：Google">
            <a:extLst xmlns:a="http://schemas.openxmlformats.org/drawingml/2006/main">
              <a:ext uri="{FF2B5EF4-FFF2-40B4-BE49-F238E27FC236}">
                <a16:creationId xmlns:a16="http://schemas.microsoft.com/office/drawing/2014/main" id="{0019CDEA-C61F-4863-892E-31A5EEAABAF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5回　1">
            <a:extLst xmlns:a="http://schemas.openxmlformats.org/drawingml/2006/main">
              <a:ext uri="{FF2B5EF4-FFF2-40B4-BE49-F238E27FC236}">
                <a16:creationId xmlns:a16="http://schemas.microsoft.com/office/drawing/2014/main" id="{37C2F316-056E-4132-A39B-8AF17083EEB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a:t>
            </a:r>
          </a:p>
        </p:txBody>
      </p:sp>
    </p:spTree>
    <p:extLst>
      <p:ext uri="{BB962C8B-B14F-4D97-AF65-F5344CB8AC3E}">
        <p14:creationId xmlns:p14="http://schemas.microsoft.com/office/powerpoint/2010/main" val="1183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2D21440A-9C8E-4B0C-8E81-A9D4240BF35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52A898A6-68C2-49F8-8474-0ED782EA1B4A}"/>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層・重み・バイアスの役割を説明する．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小さなネットワークの出力を計算する．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損失を減らす学習の流れを説明する．</a:t>
            </a:r>
          </a:p>
        </p:txBody>
      </p:sp>
      <p:sp>
        <p:nvSpPr>
          <p:cNvPr id="3" name="図・設問：本教材の作例">
            <a:extLst xmlns:a="http://schemas.openxmlformats.org/drawingml/2006/main">
              <a:ext uri="{FF2B5EF4-FFF2-40B4-BE49-F238E27FC236}">
                <a16:creationId xmlns:a16="http://schemas.microsoft.com/office/drawing/2014/main" id="{EDACE270-D85E-4728-A1DF-91620718FB8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5回　2">
            <a:extLst xmlns:a="http://schemas.openxmlformats.org/drawingml/2006/main">
              <a:ext uri="{FF2B5EF4-FFF2-40B4-BE49-F238E27FC236}">
                <a16:creationId xmlns:a16="http://schemas.microsoft.com/office/drawing/2014/main" id="{5C3F77B0-A47E-4595-B241-4949C1F7CBE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2</a:t>
            </a:r>
          </a:p>
        </p:txBody>
      </p:sp>
    </p:spTree>
    <p:extLst>
      <p:ext uri="{BB962C8B-B14F-4D97-AF65-F5344CB8AC3E}">
        <p14:creationId xmlns:p14="http://schemas.microsoft.com/office/powerpoint/2010/main" val="1750149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第4回の復習">
            <a:extLst xmlns:a="http://schemas.openxmlformats.org/drawingml/2006/main">
              <a:ext uri="{FF2B5EF4-FFF2-40B4-BE49-F238E27FC236}">
                <a16:creationId xmlns:a16="http://schemas.microsoft.com/office/drawing/2014/main" id="{84FBA019-A1E2-4A54-97F7-6A0DEC75151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第4回の復習</a:t>
            </a:r>
          </a:p>
        </p:txBody>
      </p:sp>
      <p:graphicFrame>
        <p:nvGraphicFramePr>
          <p:cNvPr id="7" name=""/>
          <p:cNvGraphicFramePr/>
          <p:nvPr/>
        </p:nvGraphicFramePr>
        <p:xfrm>
          <a:off xmlns:a="http://schemas.openxmlformats.org/drawingml/2006/main" x="365760" y="1243584"/>
          <a:ext xmlns:a="http://schemas.openxmlformats.org/drawingml/2006/main" cx="8366760" cy="1892808"/>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目的</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例</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評価</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数量の予測</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線形回帰・決定木</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MAE・RMSE</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カテゴリの判定</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ロジスティック回帰・決定木</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正解率・適合率・再現率</a:t>
                      </a:r>
                    </a:p>
                  </a:txBody>
                  <a:tcPr marL="76200" marR="76200" marT="47625" marB="47625" anchor="ctr">
                    <a:solidFill>
                      <a:srgbClr val="FFFFFF"/>
                    </a:solidFill>
                  </a:tcPr>
                </a:tc>
              </a:tr>
            </a:tbl>
          </a:graphicData>
        </a:graphic>
      </p:graphicFrame>
      <p:sp>
        <p:nvSpPr>
          <p:cNvPr id="3" name="未知のデータで確かめる考え方は共通する．">
            <a:extLst xmlns:a="http://schemas.openxmlformats.org/drawingml/2006/main">
              <a:ext uri="{FF2B5EF4-FFF2-40B4-BE49-F238E27FC236}">
                <a16:creationId xmlns:a16="http://schemas.microsoft.com/office/drawing/2014/main" id="{9E36991B-ABE1-46E7-9707-DE51FEFF0844}"/>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未知のデータで確かめる考え方は共通する．</a:t>
            </a:r>
          </a:p>
        </p:txBody>
      </p:sp>
      <p:sp>
        <p:nvSpPr>
          <p:cNvPr id="4" name="参照：scikit-learn">
            <a:extLst xmlns:a="http://schemas.openxmlformats.org/drawingml/2006/main">
              <a:ext uri="{FF2B5EF4-FFF2-40B4-BE49-F238E27FC236}">
                <a16:creationId xmlns:a16="http://schemas.microsoft.com/office/drawing/2014/main" id="{9E1DCA4D-2577-4A61-82DA-DDC8921BC1E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5回　3">
            <a:extLst xmlns:a="http://schemas.openxmlformats.org/drawingml/2006/main">
              <a:ext uri="{FF2B5EF4-FFF2-40B4-BE49-F238E27FC236}">
                <a16:creationId xmlns:a16="http://schemas.microsoft.com/office/drawing/2014/main" id="{65B25026-5664-41D8-AC75-AE6E20C70D5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3</a:t>
            </a:r>
          </a:p>
        </p:txBody>
      </p:sp>
    </p:spTree>
    <p:extLst>
      <p:ext uri="{BB962C8B-B14F-4D97-AF65-F5344CB8AC3E}">
        <p14:creationId xmlns:p14="http://schemas.microsoft.com/office/powerpoint/2010/main" val="7705109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ネットワークの基本構造">
            <a:extLst xmlns:a="http://schemas.openxmlformats.org/drawingml/2006/main">
              <a:ext uri="{FF2B5EF4-FFF2-40B4-BE49-F238E27FC236}">
                <a16:creationId xmlns:a16="http://schemas.microsoft.com/office/drawing/2014/main" id="{252C6929-7670-4271-887D-0991846189D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ネットワークの基本構造</a:t>
            </a:r>
          </a:p>
        </p:txBody>
      </p:sp>
      <p:sp>
        <p:nvSpPr>
          <p:cNvPr id="2" name="入力層&#10;特徴量">
            <a:extLst xmlns:a="http://schemas.openxmlformats.org/drawingml/2006/main">
              <a:ext uri="{FF2B5EF4-FFF2-40B4-BE49-F238E27FC236}">
                <a16:creationId xmlns:a16="http://schemas.microsoft.com/office/drawing/2014/main" id="{AC2E9A25-DE0B-4DF0-A4E0-D5ABB2BBC766}"/>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入力層</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特徴量</a:t>
            </a:r>
          </a:p>
        </p:txBody>
      </p:sp>
      <p:sp>
        <p:nvSpPr>
          <p:cNvPr id="3" name="隠れ層&#10;値を変換">
            <a:extLst xmlns:a="http://schemas.openxmlformats.org/drawingml/2006/main">
              <a:ext uri="{FF2B5EF4-FFF2-40B4-BE49-F238E27FC236}">
                <a16:creationId xmlns:a16="http://schemas.microsoft.com/office/drawing/2014/main" id="{BFCA3A3B-EC09-422A-AB29-5FDD76572121}"/>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隠れ層</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値を変換</a:t>
            </a:r>
          </a:p>
        </p:txBody>
      </p:sp>
      <p:sp>
        <p:nvSpPr>
          <p:cNvPr id="4" name="出力層&#10;予測">
            <a:extLst xmlns:a="http://schemas.openxmlformats.org/drawingml/2006/main">
              <a:ext uri="{FF2B5EF4-FFF2-40B4-BE49-F238E27FC236}">
                <a16:creationId xmlns:a16="http://schemas.microsoft.com/office/drawing/2014/main" id="{EEC888B4-D886-4809-ABA7-75FA2A8B23AB}"/>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出力層</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予測</a:t>
            </a:r>
          </a:p>
        </p:txBody>
      </p:sp>
      <p:cxnSp>
        <p:nvCxnSpPr>
          <p:cNvPr id="14"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層ごとの計算をつないで，予測を作る．">
            <a:extLst xmlns:a="http://schemas.openxmlformats.org/drawingml/2006/main">
              <a:ext uri="{FF2B5EF4-FFF2-40B4-BE49-F238E27FC236}">
                <a16:creationId xmlns:a16="http://schemas.microsoft.com/office/drawing/2014/main" id="{D2AECCB9-007B-4DF2-B789-528BBB7FA838}"/>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層ごとの計算をつないで，予測を作る．</a:t>
            </a:r>
          </a:p>
        </p:txBody>
      </p:sp>
      <p:sp>
        <p:nvSpPr>
          <p:cNvPr id="8" name="参照：Google">
            <a:extLst xmlns:a="http://schemas.openxmlformats.org/drawingml/2006/main">
              <a:ext uri="{FF2B5EF4-FFF2-40B4-BE49-F238E27FC236}">
                <a16:creationId xmlns:a16="http://schemas.microsoft.com/office/drawing/2014/main" id="{A75BAB5F-56E5-4B17-94A1-52F0DD542C2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9" name="第5回　4">
            <a:extLst xmlns:a="http://schemas.openxmlformats.org/drawingml/2006/main">
              <a:ext uri="{FF2B5EF4-FFF2-40B4-BE49-F238E27FC236}">
                <a16:creationId xmlns:a16="http://schemas.microsoft.com/office/drawing/2014/main" id="{8E1BE59D-835D-4696-91CE-34670FCCEBA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4</a:t>
            </a:r>
          </a:p>
        </p:txBody>
      </p:sp>
    </p:spTree>
    <p:extLst>
      <p:ext uri="{BB962C8B-B14F-4D97-AF65-F5344CB8AC3E}">
        <p14:creationId xmlns:p14="http://schemas.microsoft.com/office/powerpoint/2010/main" val="12885157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一つのユニットの計算">
            <a:extLst xmlns:a="http://schemas.openxmlformats.org/drawingml/2006/main">
              <a:ext uri="{FF2B5EF4-FFF2-40B4-BE49-F238E27FC236}">
                <a16:creationId xmlns:a16="http://schemas.microsoft.com/office/drawing/2014/main" id="{CB3BB536-3324-4150-B110-C5FDD422F9C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一つのユニットの計算</a:t>
            </a:r>
          </a:p>
        </p:txBody>
      </p:sp>
      <p:sp>
        <p:nvSpPr>
          <p:cNvPr id="2" name="x₁">
            <a:extLst xmlns:a="http://schemas.openxmlformats.org/drawingml/2006/main">
              <a:ext uri="{FF2B5EF4-FFF2-40B4-BE49-F238E27FC236}">
                <a16:creationId xmlns:a16="http://schemas.microsoft.com/office/drawing/2014/main" id="{87FF97EA-2E52-4C9A-BA3D-C7DABCAF8C7B}"/>
              </a:ext>
            </a:extLst>
          </p:cNvPr>
          <p:cNvSpPr>
            <a:spLocks xmlns:a="http://schemas.openxmlformats.org/drawingml/2006/main" noGrp="1"/>
          </p:cNvSpPr>
          <p:nvPr/>
        </p:nvSpPr>
        <p:spPr>
          <a:xfrm xmlns:a="http://schemas.openxmlformats.org/drawingml/2006/main">
            <a:off x="731520" y="1554480"/>
            <a:ext cx="1188720" cy="658368"/>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x₁</a:t>
            </a:r>
          </a:p>
        </p:txBody>
      </p:sp>
      <p:sp>
        <p:nvSpPr>
          <p:cNvPr id="3" name="x₂">
            <a:extLst xmlns:a="http://schemas.openxmlformats.org/drawingml/2006/main">
              <a:ext uri="{FF2B5EF4-FFF2-40B4-BE49-F238E27FC236}">
                <a16:creationId xmlns:a16="http://schemas.microsoft.com/office/drawing/2014/main" id="{75198AF5-B507-47D2-AFEA-1A62F5ACED7E}"/>
              </a:ext>
            </a:extLst>
          </p:cNvPr>
          <p:cNvSpPr>
            <a:spLocks xmlns:a="http://schemas.openxmlformats.org/drawingml/2006/main" noGrp="1"/>
          </p:cNvSpPr>
          <p:nvPr/>
        </p:nvSpPr>
        <p:spPr>
          <a:xfrm xmlns:a="http://schemas.openxmlformats.org/drawingml/2006/main">
            <a:off x="731520" y="2834640"/>
            <a:ext cx="1188720" cy="658368"/>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x₂</a:t>
            </a:r>
          </a:p>
        </p:txBody>
      </p:sp>
      <p:sp>
        <p:nvSpPr>
          <p:cNvPr id="4" name="重み付きの和&#10;＋バイアス">
            <a:extLst xmlns:a="http://schemas.openxmlformats.org/drawingml/2006/main">
              <a:ext uri="{FF2B5EF4-FFF2-40B4-BE49-F238E27FC236}">
                <a16:creationId xmlns:a16="http://schemas.microsoft.com/office/drawing/2014/main" id="{F3DBCDCE-0CF4-403E-8E0C-BC498793AE64}"/>
              </a:ext>
            </a:extLst>
          </p:cNvPr>
          <p:cNvSpPr>
            <a:spLocks xmlns:a="http://schemas.openxmlformats.org/drawingml/2006/main" noGrp="1"/>
          </p:cNvSpPr>
          <p:nvPr/>
        </p:nvSpPr>
        <p:spPr>
          <a:xfrm xmlns:a="http://schemas.openxmlformats.org/drawingml/2006/main">
            <a:off x="3108960" y="2011680"/>
            <a:ext cx="2377440" cy="109728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重み付きの和</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＋バイアス</a:t>
            </a:r>
          </a:p>
        </p:txBody>
      </p:sp>
      <p:sp>
        <p:nvSpPr>
          <p:cNvPr id="5" name="活性化関数">
            <a:extLst xmlns:a="http://schemas.openxmlformats.org/drawingml/2006/main">
              <a:ext uri="{FF2B5EF4-FFF2-40B4-BE49-F238E27FC236}">
                <a16:creationId xmlns:a16="http://schemas.microsoft.com/office/drawing/2014/main" id="{CD90E2CB-4FDA-4AD5-A8F1-CBBDD30670DA}"/>
              </a:ext>
            </a:extLst>
          </p:cNvPr>
          <p:cNvSpPr>
            <a:spLocks xmlns:a="http://schemas.openxmlformats.org/drawingml/2006/main" noGrp="1"/>
          </p:cNvSpPr>
          <p:nvPr/>
        </p:nvSpPr>
        <p:spPr>
          <a:xfrm xmlns:a="http://schemas.openxmlformats.org/drawingml/2006/main">
            <a:off x="6400800" y="2011680"/>
            <a:ext cx="2103120" cy="109728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活性化関数</a:t>
            </a:r>
          </a:p>
        </p:txBody>
      </p:sp>
      <p:cxnSp>
        <p:nvCxnSpPr>
          <p:cNvPr id="18" name=""/>
          <p:cNvCxnSpPr>
            <a:stCxn xmlns:a="http://schemas.openxmlformats.org/drawingml/2006/main" id="2" idx="3"/>
            <a:endCxn xmlns:a="http://schemas.openxmlformats.org/drawingml/2006/main" id="4" idx="1"/>
          </p:cNvCxnSpPr>
          <p:nvPr/>
        </p:nvCxnSpPr>
        <p:spPr>
          <a:xfrm xmlns:a="http://schemas.openxmlformats.org/drawingml/2006/main">
            <a:off x="1920240" y="1883664"/>
            <a:ext cx="1188720" cy="676656"/>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flipV="1">
            <a:off x="1920240" y="2560320"/>
            <a:ext cx="1188720" cy="603504"/>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5486400" y="2560320"/>
            <a:ext cx="914400"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9" name="w₁">
            <a:extLst xmlns:a="http://schemas.openxmlformats.org/drawingml/2006/main">
              <a:ext uri="{FF2B5EF4-FFF2-40B4-BE49-F238E27FC236}">
                <a16:creationId xmlns:a16="http://schemas.microsoft.com/office/drawing/2014/main" id="{3348932D-C4CD-4750-94AB-D0C5E5A04F44}"/>
              </a:ext>
            </a:extLst>
          </p:cNvPr>
          <p:cNvSpPr>
            <a:spLocks xmlns:a="http://schemas.openxmlformats.org/drawingml/2006/main" noGrp="1"/>
          </p:cNvSpPr>
          <p:nvPr/>
        </p:nvSpPr>
        <p:spPr>
          <a:xfrm xmlns:a="http://schemas.openxmlformats.org/drawingml/2006/main">
            <a:off x="2377440" y="1417320"/>
            <a:ext cx="1828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0" lang="ja-JP">
                <a:solidFill>
                  <a:srgbClr val="404040"/>
                </a:solidFill>
                <a:latin typeface="Arial"/>
                <a:ea typeface="ＭＳ Ｐゴシック"/>
                <a:cs typeface="ＭＳ Ｐゴシック"/>
              </a:defRPr>
            </a:pPr>
            <a:r>
              <a:rPr sz="1700" b="0" lang="ja-JP">
                <a:solidFill>
                  <a:srgbClr val="404040"/>
                </a:solidFill>
                <a:latin typeface="Arial"/>
                <a:ea typeface="ＭＳ Ｐゴシック"/>
                <a:cs typeface="ＭＳ Ｐゴシック"/>
              </a:rPr>
              <a:t>w₁</a:t>
            </a:r>
          </a:p>
        </p:txBody>
      </p:sp>
      <p:sp>
        <p:nvSpPr>
          <p:cNvPr id="10" name="w₂">
            <a:extLst xmlns:a="http://schemas.openxmlformats.org/drawingml/2006/main">
              <a:ext uri="{FF2B5EF4-FFF2-40B4-BE49-F238E27FC236}">
                <a16:creationId xmlns:a16="http://schemas.microsoft.com/office/drawing/2014/main" id="{40A9576F-06B5-4CDD-A1BB-2A21FF22569D}"/>
              </a:ext>
            </a:extLst>
          </p:cNvPr>
          <p:cNvSpPr>
            <a:spLocks xmlns:a="http://schemas.openxmlformats.org/drawingml/2006/main" noGrp="1"/>
          </p:cNvSpPr>
          <p:nvPr/>
        </p:nvSpPr>
        <p:spPr>
          <a:xfrm xmlns:a="http://schemas.openxmlformats.org/drawingml/2006/main">
            <a:off x="2377440" y="3182112"/>
            <a:ext cx="1828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0" lang="ja-JP">
                <a:solidFill>
                  <a:srgbClr val="404040"/>
                </a:solidFill>
                <a:latin typeface="Arial"/>
                <a:ea typeface="ＭＳ Ｐゴシック"/>
                <a:cs typeface="ＭＳ Ｐゴシック"/>
              </a:defRPr>
            </a:pPr>
            <a:r>
              <a:rPr sz="1700" b="0" lang="ja-JP">
                <a:solidFill>
                  <a:srgbClr val="404040"/>
                </a:solidFill>
                <a:latin typeface="Arial"/>
                <a:ea typeface="ＭＳ Ｐゴシック"/>
                <a:cs typeface="ＭＳ Ｐゴシック"/>
              </a:rPr>
              <a:t>w₂</a:t>
            </a:r>
          </a:p>
        </p:txBody>
      </p:sp>
      <p:sp>
        <p:nvSpPr>
          <p:cNvPr id="11" name="参照：Google">
            <a:extLst xmlns:a="http://schemas.openxmlformats.org/drawingml/2006/main">
              <a:ext uri="{FF2B5EF4-FFF2-40B4-BE49-F238E27FC236}">
                <a16:creationId xmlns:a16="http://schemas.microsoft.com/office/drawing/2014/main" id="{53BEED0A-E9EB-432D-B26B-069998D7419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12" name="第5回　5">
            <a:extLst xmlns:a="http://schemas.openxmlformats.org/drawingml/2006/main">
              <a:ext uri="{FF2B5EF4-FFF2-40B4-BE49-F238E27FC236}">
                <a16:creationId xmlns:a16="http://schemas.microsoft.com/office/drawing/2014/main" id="{3AD4C6C1-7B4B-46E5-9BDD-C7385400E6C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5</a:t>
            </a:r>
          </a:p>
        </p:txBody>
      </p:sp>
    </p:spTree>
    <p:extLst>
      <p:ext uri="{BB962C8B-B14F-4D97-AF65-F5344CB8AC3E}">
        <p14:creationId xmlns:p14="http://schemas.microsoft.com/office/powerpoint/2010/main" val="12568346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重みとバイアス">
            <a:extLst xmlns:a="http://schemas.openxmlformats.org/drawingml/2006/main">
              <a:ext uri="{FF2B5EF4-FFF2-40B4-BE49-F238E27FC236}">
                <a16:creationId xmlns:a16="http://schemas.microsoft.com/office/drawing/2014/main" id="{EA26307F-B786-4006-B6F2-7FAF4AF5232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重みとバイアス</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要素</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役割</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学習時の扱い</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入力 x</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与えられた特徴量</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通常，この値自体を更新しない</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重み w</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入力の寄与を調整</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データから調整する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バイアス b</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計算の基準をずらす</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データから調整する</a:t>
                      </a:r>
                    </a:p>
                  </a:txBody>
                  <a:tcPr marL="76200" marR="76200" marT="47625" marB="47625" anchor="ctr">
                    <a:solidFill>
                      <a:srgbClr val="FFFFFF"/>
                    </a:solidFill>
                  </a:tcPr>
                </a:tc>
              </a:tr>
            </a:tbl>
          </a:graphicData>
        </a:graphic>
      </p:graphicFrame>
      <p:sp>
        <p:nvSpPr>
          <p:cNvPr id="3" name="参照：Google">
            <a:extLst xmlns:a="http://schemas.openxmlformats.org/drawingml/2006/main">
              <a:ext uri="{FF2B5EF4-FFF2-40B4-BE49-F238E27FC236}">
                <a16:creationId xmlns:a16="http://schemas.microsoft.com/office/drawing/2014/main" id="{2705F9A2-E0FB-4EDC-B02F-1F48C7A8F51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5回　6">
            <a:extLst xmlns:a="http://schemas.openxmlformats.org/drawingml/2006/main">
              <a:ext uri="{FF2B5EF4-FFF2-40B4-BE49-F238E27FC236}">
                <a16:creationId xmlns:a16="http://schemas.microsoft.com/office/drawing/2014/main" id="{F417CFF8-7B5A-4648-8EA5-3FA1D4ABB8F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6</a:t>
            </a:r>
          </a:p>
        </p:txBody>
      </p:sp>
    </p:spTree>
    <p:extLst>
      <p:ext uri="{BB962C8B-B14F-4D97-AF65-F5344CB8AC3E}">
        <p14:creationId xmlns:p14="http://schemas.microsoft.com/office/powerpoint/2010/main" val="3806607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ユニットの出力">
            <a:extLst xmlns:a="http://schemas.openxmlformats.org/drawingml/2006/main">
              <a:ext uri="{FF2B5EF4-FFF2-40B4-BE49-F238E27FC236}">
                <a16:creationId xmlns:a16="http://schemas.microsoft.com/office/drawing/2014/main" id="{C8904BFC-B7E0-4765-A980-D2C4FAF40F6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演習1：ユニットの出力</a:t>
            </a:r>
          </a:p>
        </p:txBody>
      </p:sp>
      <p:sp>
        <p:nvSpPr>
          <p:cNvPr id="2" name="">
            <a:extLst xmlns:a="http://schemas.openxmlformats.org/drawingml/2006/main">
              <a:ext uri="{FF2B5EF4-FFF2-40B4-BE49-F238E27FC236}">
                <a16:creationId xmlns:a16="http://schemas.microsoft.com/office/drawing/2014/main" id="{D15A7DD2-2AE8-408D-8543-17B1751F360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x₁＝2，x₂＝1，w₁＝0.5，w₂＝−1，b＝1</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z＝w₁x₁＋w₂x₂＋b を求める．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出力をReLU(z)＝max(0,z)として求める．</a:t>
            </a:r>
          </a:p>
        </p:txBody>
      </p:sp>
      <p:sp>
        <p:nvSpPr>
          <p:cNvPr id="3" name="入力に重みを掛け，足してから変換する．">
            <a:extLst xmlns:a="http://schemas.openxmlformats.org/drawingml/2006/main">
              <a:ext uri="{FF2B5EF4-FFF2-40B4-BE49-F238E27FC236}">
                <a16:creationId xmlns:a16="http://schemas.microsoft.com/office/drawing/2014/main" id="{B8786B8F-2DC5-4857-9AB4-43990AA5E921}"/>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入力に重みを掛け，足してから変換する．</a:t>
            </a:r>
          </a:p>
        </p:txBody>
      </p:sp>
      <p:sp>
        <p:nvSpPr>
          <p:cNvPr id="4" name="図・設問：本教材の作例">
            <a:extLst xmlns:a="http://schemas.openxmlformats.org/drawingml/2006/main">
              <a:ext uri="{FF2B5EF4-FFF2-40B4-BE49-F238E27FC236}">
                <a16:creationId xmlns:a16="http://schemas.microsoft.com/office/drawing/2014/main" id="{067203F0-6A40-4465-BF30-95DCFE45E81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5回　7">
            <a:extLst xmlns:a="http://schemas.openxmlformats.org/drawingml/2006/main">
              <a:ext uri="{FF2B5EF4-FFF2-40B4-BE49-F238E27FC236}">
                <a16:creationId xmlns:a16="http://schemas.microsoft.com/office/drawing/2014/main" id="{750DE8DF-DEB6-4280-BB5E-4362B70CB8E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7</a:t>
            </a:r>
          </a:p>
        </p:txBody>
      </p:sp>
    </p:spTree>
    <p:extLst>
      <p:ext uri="{BB962C8B-B14F-4D97-AF65-F5344CB8AC3E}">
        <p14:creationId xmlns:p14="http://schemas.microsoft.com/office/powerpoint/2010/main" val="10303779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解答">
            <a:extLst xmlns:a="http://schemas.openxmlformats.org/drawingml/2006/main">
              <a:ext uri="{FF2B5EF4-FFF2-40B4-BE49-F238E27FC236}">
                <a16:creationId xmlns:a16="http://schemas.microsoft.com/office/drawing/2014/main" id="{44B82D82-B9F9-47B1-B960-6A37EA4806B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演習1：解答</a:t>
            </a:r>
          </a:p>
        </p:txBody>
      </p:sp>
      <p:sp>
        <p:nvSpPr>
          <p:cNvPr id="2" name="">
            <a:extLst xmlns:a="http://schemas.openxmlformats.org/drawingml/2006/main">
              <a:ext uri="{FF2B5EF4-FFF2-40B4-BE49-F238E27FC236}">
                <a16:creationId xmlns:a16="http://schemas.microsoft.com/office/drawing/2014/main" id="{AFBA0053-3306-4686-A1CA-574F7AA7D05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z＝0.5×2＋（−1）×1＋1＝1</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ReLU(1)＝1</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バイアスだけを−2へ変えると，z＝−2，出力＝0．</a:t>
            </a:r>
          </a:p>
        </p:txBody>
      </p:sp>
      <p:sp>
        <p:nvSpPr>
          <p:cNvPr id="3" name="重みやバイアスを変えると，出力が変わる．">
            <a:extLst xmlns:a="http://schemas.openxmlformats.org/drawingml/2006/main">
              <a:ext uri="{FF2B5EF4-FFF2-40B4-BE49-F238E27FC236}">
                <a16:creationId xmlns:a16="http://schemas.microsoft.com/office/drawing/2014/main" id="{78DF8BFC-ED97-4AED-8E06-61599963EAE0}"/>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重みやバイアスを変えると，出力が変わる．</a:t>
            </a:r>
          </a:p>
        </p:txBody>
      </p:sp>
      <p:sp>
        <p:nvSpPr>
          <p:cNvPr id="4" name="参照：Google">
            <a:extLst xmlns:a="http://schemas.openxmlformats.org/drawingml/2006/main">
              <a:ext uri="{FF2B5EF4-FFF2-40B4-BE49-F238E27FC236}">
                <a16:creationId xmlns:a16="http://schemas.microsoft.com/office/drawing/2014/main" id="{65253AE6-51B7-43D3-94B7-411433403E8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5回　8">
            <a:extLst xmlns:a="http://schemas.openxmlformats.org/drawingml/2006/main">
              <a:ext uri="{FF2B5EF4-FFF2-40B4-BE49-F238E27FC236}">
                <a16:creationId xmlns:a16="http://schemas.microsoft.com/office/drawing/2014/main" id="{2D96A0AE-1E9D-4C58-BE09-7B1B8E57030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8</a:t>
            </a:r>
          </a:p>
        </p:txBody>
      </p:sp>
    </p:spTree>
    <p:extLst>
      <p:ext uri="{BB962C8B-B14F-4D97-AF65-F5344CB8AC3E}">
        <p14:creationId xmlns:p14="http://schemas.microsoft.com/office/powerpoint/2010/main" val="1651461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代表的な活性化関数">
            <a:extLst xmlns:a="http://schemas.openxmlformats.org/drawingml/2006/main">
              <a:ext uri="{FF2B5EF4-FFF2-40B4-BE49-F238E27FC236}">
                <a16:creationId xmlns:a16="http://schemas.microsoft.com/office/drawing/2014/main" id="{1F88E696-8850-40C8-9982-D33327BE3DC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代表的な活性化関数</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関数</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出力の特徴</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よく使う場面の例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ReLU</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負なら0，それ以外は入力の値</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隠れ層</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シグモイド</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0と1の間</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二値分類の出力</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tanh</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−1と1の間</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系列モデルなど</a:t>
                      </a:r>
                    </a:p>
                  </a:txBody>
                  <a:tcPr marL="76200" marR="76200" marT="47625" marB="47625" anchor="ctr">
                    <a:solidFill>
                      <a:srgbClr val="FFFFFF"/>
                    </a:solidFill>
                  </a:tcPr>
                </a:tc>
              </a:tr>
            </a:tbl>
          </a:graphicData>
        </a:graphic>
      </p:graphicFrame>
      <p:sp>
        <p:nvSpPr>
          <p:cNvPr id="3" name="参照：Google">
            <a:extLst xmlns:a="http://schemas.openxmlformats.org/drawingml/2006/main">
              <a:ext uri="{FF2B5EF4-FFF2-40B4-BE49-F238E27FC236}">
                <a16:creationId xmlns:a16="http://schemas.microsoft.com/office/drawing/2014/main" id="{F346AED4-9C39-46E1-8C0A-4887327CE9B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5回　9">
            <a:extLst xmlns:a="http://schemas.openxmlformats.org/drawingml/2006/main">
              <a:ext uri="{FF2B5EF4-FFF2-40B4-BE49-F238E27FC236}">
                <a16:creationId xmlns:a16="http://schemas.microsoft.com/office/drawing/2014/main" id="{8D7E8100-A986-4012-85A4-4044E830619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9</a:t>
            </a:r>
          </a:p>
        </p:txBody>
      </p:sp>
    </p:spTree>
    <p:extLst>
      <p:ext uri="{BB962C8B-B14F-4D97-AF65-F5344CB8AC3E}">
        <p14:creationId xmlns:p14="http://schemas.microsoft.com/office/powerpoint/2010/main" val="1785194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LUの計算例">
            <a:extLst xmlns:a="http://schemas.openxmlformats.org/drawingml/2006/main">
              <a:ext uri="{FF2B5EF4-FFF2-40B4-BE49-F238E27FC236}">
                <a16:creationId xmlns:a16="http://schemas.microsoft.com/office/drawing/2014/main" id="{9C916AA1-53A5-471B-9453-C3D767A4FC0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ReLUの計算例</a:t>
            </a:r>
          </a:p>
        </p:txBody>
      </p:sp>
      <p:graphicFrame>
        <p:nvGraphicFramePr>
          <p:cNvPr id="7" name="Chart"/>
          <p:cNvGraphicFramePr/>
          <p:nvPr/>
        </p:nvGraphicFramePr>
        <p:xfrm>
          <a:off xmlns:a="http://schemas.openxmlformats.org/drawingml/2006/main" x="530352" y="1261872"/>
          <a:ext xmlns:a="http://schemas.openxmlformats.org/drawingml/2006/main" cx="4800600" cy="2834640"/>
        </p:xfrm>
        <a:graphic xmlns:a="http://schemas.openxmlformats.org/drawingml/2006/main">
          <a:graphicData uri="http://schemas.openxmlformats.org/drawingml/2006/chart">
            <c:chart xmlns:r="http://schemas.openxmlformats.org/officeDocument/2006/relationships" xmlns:c="http://schemas.openxmlformats.org/drawingml/2006/chart" r:id="R738abcfc2bf945f0"/>
          </a:graphicData>
        </a:graphic>
      </p:graphicFrame>
      <p:sp>
        <p:nvSpPr>
          <p:cNvPr id="3" name="負の入力を0にする．&#10;&#10;正の入力は，&#10;その値を通す．">
            <a:extLst xmlns:a="http://schemas.openxmlformats.org/drawingml/2006/main">
              <a:ext uri="{FF2B5EF4-FFF2-40B4-BE49-F238E27FC236}">
                <a16:creationId xmlns:a16="http://schemas.microsoft.com/office/drawing/2014/main" id="{D39AC665-5EDD-4B18-9274-3DF18B85F59B}"/>
              </a:ext>
            </a:extLst>
          </p:cNvPr>
          <p:cNvSpPr>
            <a:spLocks xmlns:a="http://schemas.openxmlformats.org/drawingml/2006/main" noGrp="1"/>
          </p:cNvSpPr>
          <p:nvPr/>
        </p:nvSpPr>
        <p:spPr>
          <a:xfrm xmlns:a="http://schemas.openxmlformats.org/drawingml/2006/main">
            <a:off x="5577840" y="1463040"/>
            <a:ext cx="2999232" cy="276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負の入力を0にする．</a:t>
            </a:r>
          </a:p>
          <a:p xmlns:a="http://schemas.openxmlformats.org/drawingml/2006/main">
            <a:r>
              <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正の入力は，</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その値を通す．</a:t>
            </a:r>
          </a:p>
        </p:txBody>
      </p:sp>
      <p:sp>
        <p:nvSpPr>
          <p:cNvPr id="4" name="参照：Google">
            <a:extLst xmlns:a="http://schemas.openxmlformats.org/drawingml/2006/main">
              <a:ext uri="{FF2B5EF4-FFF2-40B4-BE49-F238E27FC236}">
                <a16:creationId xmlns:a16="http://schemas.microsoft.com/office/drawing/2014/main" id="{EEEEEBAB-6A4E-4872-877D-603D1A29693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5回　10">
            <a:extLst xmlns:a="http://schemas.openxmlformats.org/drawingml/2006/main">
              <a:ext uri="{FF2B5EF4-FFF2-40B4-BE49-F238E27FC236}">
                <a16:creationId xmlns:a16="http://schemas.microsoft.com/office/drawing/2014/main" id="{D2A8DDD0-74B0-4736-B8F3-DBB091E64A0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10</a:t>
            </a:r>
          </a:p>
        </p:txBody>
      </p:sp>
    </p:spTree>
    <p:extLst>
      <p:ext uri="{BB962C8B-B14F-4D97-AF65-F5344CB8AC3E}">
        <p14:creationId xmlns:p14="http://schemas.microsoft.com/office/powerpoint/2010/main" val="19772753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非線形な変換の役割">
            <a:extLst xmlns:a="http://schemas.openxmlformats.org/drawingml/2006/main">
              <a:ext uri="{FF2B5EF4-FFF2-40B4-BE49-F238E27FC236}">
                <a16:creationId xmlns:a16="http://schemas.microsoft.com/office/drawing/2014/main" id="{D6E2995F-1F58-4962-A5DA-2CF25449719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非線形な変換の役割</a:t>
            </a:r>
          </a:p>
        </p:txBody>
      </p:sp>
      <p:sp>
        <p:nvSpPr>
          <p:cNvPr id="2" name="">
            <a:extLst xmlns:a="http://schemas.openxmlformats.org/drawingml/2006/main">
              <a:ext uri="{FF2B5EF4-FFF2-40B4-BE49-F238E27FC236}">
                <a16:creationId xmlns:a16="http://schemas.microsoft.com/office/drawing/2014/main" id="{056F7734-C7F3-467C-8182-FD5B13C340F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線形な計算だけを重ねても，全体は線形な関係になる．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非線形な活性化関数を間に入れる．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入力と出力の複雑な関係を表す候補を増やす．</a:t>
            </a:r>
          </a:p>
        </p:txBody>
      </p:sp>
      <p:sp>
        <p:nvSpPr>
          <p:cNvPr id="3" name="参照：Google">
            <a:extLst xmlns:a="http://schemas.openxmlformats.org/drawingml/2006/main">
              <a:ext uri="{FF2B5EF4-FFF2-40B4-BE49-F238E27FC236}">
                <a16:creationId xmlns:a16="http://schemas.microsoft.com/office/drawing/2014/main" id="{685CDDA9-E857-404F-ACD1-928CB9D14EE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5回　11">
            <a:extLst xmlns:a="http://schemas.openxmlformats.org/drawingml/2006/main">
              <a:ext uri="{FF2B5EF4-FFF2-40B4-BE49-F238E27FC236}">
                <a16:creationId xmlns:a16="http://schemas.microsoft.com/office/drawing/2014/main" id="{90A89752-C758-400A-97A7-894FF41FF4C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11</a:t>
            </a:r>
          </a:p>
        </p:txBody>
      </p:sp>
    </p:spTree>
    <p:extLst>
      <p:ext uri="{BB962C8B-B14F-4D97-AF65-F5344CB8AC3E}">
        <p14:creationId xmlns:p14="http://schemas.microsoft.com/office/powerpoint/2010/main" val="7989490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層とパラメータの数">
            <a:extLst xmlns:a="http://schemas.openxmlformats.org/drawingml/2006/main">
              <a:ext uri="{FF2B5EF4-FFF2-40B4-BE49-F238E27FC236}">
                <a16:creationId xmlns:a16="http://schemas.microsoft.com/office/drawing/2014/main" id="{D14C63E6-48CC-4628-B77D-AF7B7E7413C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層とパラメータの数</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接続</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重みの数</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バイアスの数</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入力2個・隠れ2個</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2×2＝4</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2</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隠れ2個・出力1個</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2×1＝2</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合計</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6</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a:t>
                      </a:r>
                    </a:p>
                  </a:txBody>
                  <a:tcPr marL="76200" marR="76200" marT="47625" marB="47625" anchor="ctr">
                    <a:solidFill>
                      <a:srgbClr val="FFFFFF"/>
                    </a:solidFill>
                  </a:tcPr>
                </a:tc>
              </a:tr>
            </a:tbl>
          </a:graphicData>
        </a:graphic>
      </p:graphicFrame>
      <p:sp>
        <p:nvSpPr>
          <p:cNvPr id="3" name="層やユニットを増やすと，学ぶ値も増える．">
            <a:extLst xmlns:a="http://schemas.openxmlformats.org/drawingml/2006/main">
              <a:ext uri="{FF2B5EF4-FFF2-40B4-BE49-F238E27FC236}">
                <a16:creationId xmlns:a16="http://schemas.microsoft.com/office/drawing/2014/main" id="{77953BB6-2085-4CD2-B75F-CBAA98393034}"/>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層やユニットを増やすと，学ぶ値も増える．</a:t>
            </a:r>
          </a:p>
        </p:txBody>
      </p:sp>
      <p:sp>
        <p:nvSpPr>
          <p:cNvPr id="4" name="参照：Google">
            <a:extLst xmlns:a="http://schemas.openxmlformats.org/drawingml/2006/main">
              <a:ext uri="{FF2B5EF4-FFF2-40B4-BE49-F238E27FC236}">
                <a16:creationId xmlns:a16="http://schemas.microsoft.com/office/drawing/2014/main" id="{06C80B76-1D7A-4F8C-AA93-2F0043EBDAE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5回　12">
            <a:extLst xmlns:a="http://schemas.openxmlformats.org/drawingml/2006/main">
              <a:ext uri="{FF2B5EF4-FFF2-40B4-BE49-F238E27FC236}">
                <a16:creationId xmlns:a16="http://schemas.microsoft.com/office/drawing/2014/main" id="{45D342F1-AAC8-4CD7-8F36-933D43FAD29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12</a:t>
            </a:r>
          </a:p>
        </p:txBody>
      </p:sp>
    </p:spTree>
    <p:extLst>
      <p:ext uri="{BB962C8B-B14F-4D97-AF65-F5344CB8AC3E}">
        <p14:creationId xmlns:p14="http://schemas.microsoft.com/office/powerpoint/2010/main" val="13776916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深層学習の考え方">
            <a:extLst xmlns:a="http://schemas.openxmlformats.org/drawingml/2006/main">
              <a:ext uri="{FF2B5EF4-FFF2-40B4-BE49-F238E27FC236}">
                <a16:creationId xmlns:a16="http://schemas.microsoft.com/office/drawing/2014/main" id="{2F9DEA08-F002-401C-84BD-C15FD297C66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深層学習の考え方</a:t>
            </a:r>
          </a:p>
        </p:txBody>
      </p:sp>
      <p:sp>
        <p:nvSpPr>
          <p:cNvPr id="2" name="">
            <a:extLst xmlns:a="http://schemas.openxmlformats.org/drawingml/2006/main">
              <a:ext uri="{FF2B5EF4-FFF2-40B4-BE49-F238E27FC236}">
                <a16:creationId xmlns:a16="http://schemas.microsoft.com/office/drawing/2014/main" id="{6C750BA0-C439-44EA-A53A-F6D074DBC7C9}"/>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複数の層を使い，データの表現を段階的に変える．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画像や文章などの複雑な入力にも利用する．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深さだけでなく，構造・データ・学習条件が結果に影響する．</a:t>
            </a:r>
          </a:p>
        </p:txBody>
      </p:sp>
      <p:sp>
        <p:nvSpPr>
          <p:cNvPr id="3" name="参照：Google">
            <a:extLst xmlns:a="http://schemas.openxmlformats.org/drawingml/2006/main">
              <a:ext uri="{FF2B5EF4-FFF2-40B4-BE49-F238E27FC236}">
                <a16:creationId xmlns:a16="http://schemas.microsoft.com/office/drawing/2014/main" id="{E234B465-5B49-4BEE-A9F1-29AE3CC442E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5回　13">
            <a:extLst xmlns:a="http://schemas.openxmlformats.org/drawingml/2006/main">
              <a:ext uri="{FF2B5EF4-FFF2-40B4-BE49-F238E27FC236}">
                <a16:creationId xmlns:a16="http://schemas.microsoft.com/office/drawing/2014/main" id="{20A908DD-385C-40AB-AB44-8464D245843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13</a:t>
            </a:r>
          </a:p>
        </p:txBody>
      </p:sp>
    </p:spTree>
    <p:extLst>
      <p:ext uri="{BB962C8B-B14F-4D97-AF65-F5344CB8AC3E}">
        <p14:creationId xmlns:p14="http://schemas.microsoft.com/office/powerpoint/2010/main" val="8239297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特徴の表現を学ぶ">
            <a:extLst xmlns:a="http://schemas.openxmlformats.org/drawingml/2006/main">
              <a:ext uri="{FF2B5EF4-FFF2-40B4-BE49-F238E27FC236}">
                <a16:creationId xmlns:a16="http://schemas.microsoft.com/office/drawing/2014/main" id="{7BBFBE69-48DF-4A00-8F76-557382BEAA9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特徴の表現を学ぶ</a:t>
            </a:r>
          </a:p>
        </p:txBody>
      </p:sp>
      <p:sp>
        <p:nvSpPr>
          <p:cNvPr id="2" name="画素の値">
            <a:extLst xmlns:a="http://schemas.openxmlformats.org/drawingml/2006/main">
              <a:ext uri="{FF2B5EF4-FFF2-40B4-BE49-F238E27FC236}">
                <a16:creationId xmlns:a16="http://schemas.microsoft.com/office/drawing/2014/main" id="{2F6A3AF0-FC78-4A0C-9DEF-85EA851A0C0E}"/>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画素の値</a:t>
            </a:r>
          </a:p>
        </p:txBody>
      </p:sp>
      <p:sp>
        <p:nvSpPr>
          <p:cNvPr id="3" name="隠れ層の表現">
            <a:extLst xmlns:a="http://schemas.openxmlformats.org/drawingml/2006/main">
              <a:ext uri="{FF2B5EF4-FFF2-40B4-BE49-F238E27FC236}">
                <a16:creationId xmlns:a16="http://schemas.microsoft.com/office/drawing/2014/main" id="{66284E1C-F8C4-4C8A-B8CF-40DB28E011E6}"/>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隠れ層の表現</a:t>
            </a:r>
          </a:p>
        </p:txBody>
      </p:sp>
      <p:sp>
        <p:nvSpPr>
          <p:cNvPr id="4" name="カテゴリの出力">
            <a:extLst xmlns:a="http://schemas.openxmlformats.org/drawingml/2006/main">
              <a:ext uri="{FF2B5EF4-FFF2-40B4-BE49-F238E27FC236}">
                <a16:creationId xmlns:a16="http://schemas.microsoft.com/office/drawing/2014/main" id="{93A98499-4127-4743-A2DE-8D9B8AFE5919}"/>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カテゴリの出力</a:t>
            </a:r>
          </a:p>
        </p:txBody>
      </p:sp>
      <p:cxnSp>
        <p:nvCxnSpPr>
          <p:cNvPr id="14"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中間の表現も，学習する計算の一部になる．">
            <a:extLst xmlns:a="http://schemas.openxmlformats.org/drawingml/2006/main">
              <a:ext uri="{FF2B5EF4-FFF2-40B4-BE49-F238E27FC236}">
                <a16:creationId xmlns:a16="http://schemas.microsoft.com/office/drawing/2014/main" id="{A15FBE11-C20F-4B50-88DE-5B0D0782B624}"/>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中間の表現も，学習する計算の一部になる．</a:t>
            </a:r>
          </a:p>
        </p:txBody>
      </p:sp>
      <p:sp>
        <p:nvSpPr>
          <p:cNvPr id="8" name="参照：Google">
            <a:extLst xmlns:a="http://schemas.openxmlformats.org/drawingml/2006/main">
              <a:ext uri="{FF2B5EF4-FFF2-40B4-BE49-F238E27FC236}">
                <a16:creationId xmlns:a16="http://schemas.microsoft.com/office/drawing/2014/main" id="{A91216AF-3A33-4CC9-9F9C-8960A72950D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9" name="第5回　14">
            <a:extLst xmlns:a="http://schemas.openxmlformats.org/drawingml/2006/main">
              <a:ext uri="{FF2B5EF4-FFF2-40B4-BE49-F238E27FC236}">
                <a16:creationId xmlns:a16="http://schemas.microsoft.com/office/drawing/2014/main" id="{49E91C04-E764-4583-A584-158A4875D98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14</a:t>
            </a:r>
          </a:p>
        </p:txBody>
      </p:sp>
    </p:spTree>
    <p:extLst>
      <p:ext uri="{BB962C8B-B14F-4D97-AF65-F5344CB8AC3E}">
        <p14:creationId xmlns:p14="http://schemas.microsoft.com/office/powerpoint/2010/main" val="9769937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出力と問題の対応">
            <a:extLst xmlns:a="http://schemas.openxmlformats.org/drawingml/2006/main">
              <a:ext uri="{FF2B5EF4-FFF2-40B4-BE49-F238E27FC236}">
                <a16:creationId xmlns:a16="http://schemas.microsoft.com/office/drawing/2014/main" id="{663E887D-0D90-40D2-9AFE-95300994A04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出力と問題の対応</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問題</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出力の例</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確かめる指標</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回帰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一つの数値</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MAE・RMSE</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二値分類</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一方のクラスの確率</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適合率・再現率など</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多クラス分類</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各クラスに対応するスコア</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正解率・混同行列</a:t>
                      </a:r>
                    </a:p>
                  </a:txBody>
                  <a:tcPr marL="76200" marR="76200" marT="47625" marB="47625" anchor="ctr">
                    <a:solidFill>
                      <a:srgbClr val="FFFFFF"/>
                    </a:solidFill>
                  </a:tcPr>
                </a:tc>
              </a:tr>
            </a:tbl>
          </a:graphicData>
        </a:graphic>
      </p:graphicFrame>
      <p:sp>
        <p:nvSpPr>
          <p:cNvPr id="3" name="参照：PyTorch／Google">
            <a:extLst xmlns:a="http://schemas.openxmlformats.org/drawingml/2006/main">
              <a:ext uri="{FF2B5EF4-FFF2-40B4-BE49-F238E27FC236}">
                <a16:creationId xmlns:a16="http://schemas.microsoft.com/office/drawing/2014/main" id="{5742A7A1-8A46-4653-9C78-94DA1C40458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参照：PyTorch／Google</a:t>
            </a:r>
          </a:p>
        </p:txBody>
      </p:sp>
      <p:sp>
        <p:nvSpPr>
          <p:cNvPr id="4" name="第5回　15">
            <a:extLst xmlns:a="http://schemas.openxmlformats.org/drawingml/2006/main">
              <a:ext uri="{FF2B5EF4-FFF2-40B4-BE49-F238E27FC236}">
                <a16:creationId xmlns:a16="http://schemas.microsoft.com/office/drawing/2014/main" id="{AF5B7471-F2A7-4B7E-9BBE-5562570E3AB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15</a:t>
            </a:r>
          </a:p>
        </p:txBody>
      </p:sp>
    </p:spTree>
    <p:extLst>
      <p:ext uri="{BB962C8B-B14F-4D97-AF65-F5344CB8AC3E}">
        <p14:creationId xmlns:p14="http://schemas.microsoft.com/office/powerpoint/2010/main" val="18743638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損失関数と評価指標">
            <a:extLst xmlns:a="http://schemas.openxmlformats.org/drawingml/2006/main">
              <a:ext uri="{FF2B5EF4-FFF2-40B4-BE49-F238E27FC236}">
                <a16:creationId xmlns:a16="http://schemas.microsoft.com/office/drawing/2014/main" id="{7A7E5F55-3182-410A-BCBE-BAB63C6F220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損失関数と評価指標</a:t>
            </a:r>
          </a:p>
        </p:txBody>
      </p:sp>
      <p:sp>
        <p:nvSpPr>
          <p:cNvPr id="2" name="">
            <a:extLst xmlns:a="http://schemas.openxmlformats.org/drawingml/2006/main">
              <a:ext uri="{FF2B5EF4-FFF2-40B4-BE49-F238E27FC236}">
                <a16:creationId xmlns:a16="http://schemas.microsoft.com/office/drawing/2014/main" id="{D529580D-9345-42FC-90E4-7D731F2F0C18}"/>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損失関数は，学習中に小さくしたい量を表す．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回帰では二乗誤差，分類では交差エントロピーなどを使う．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最終的な評価は，利用目的に合う指標で行う．</a:t>
            </a:r>
          </a:p>
        </p:txBody>
      </p:sp>
      <p:sp>
        <p:nvSpPr>
          <p:cNvPr id="3" name="参照：PyTorch／Google">
            <a:extLst xmlns:a="http://schemas.openxmlformats.org/drawingml/2006/main">
              <a:ext uri="{FF2B5EF4-FFF2-40B4-BE49-F238E27FC236}">
                <a16:creationId xmlns:a16="http://schemas.microsoft.com/office/drawing/2014/main" id="{BA143653-5E22-4576-8A7E-A664C573298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参照：PyTorch／Google</a:t>
            </a:r>
          </a:p>
        </p:txBody>
      </p:sp>
      <p:sp>
        <p:nvSpPr>
          <p:cNvPr id="4" name="第5回　16">
            <a:extLst xmlns:a="http://schemas.openxmlformats.org/drawingml/2006/main">
              <a:ext uri="{FF2B5EF4-FFF2-40B4-BE49-F238E27FC236}">
                <a16:creationId xmlns:a16="http://schemas.microsoft.com/office/drawing/2014/main" id="{1EE88635-5E95-458E-BC2E-DF098BA9BEC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16</a:t>
            </a:r>
          </a:p>
        </p:txBody>
      </p:sp>
    </p:spTree>
    <p:extLst>
      <p:ext uri="{BB962C8B-B14F-4D97-AF65-F5344CB8AC3E}">
        <p14:creationId xmlns:p14="http://schemas.microsoft.com/office/powerpoint/2010/main" val="1064270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二乗誤差">
            <a:extLst xmlns:a="http://schemas.openxmlformats.org/drawingml/2006/main">
              <a:ext uri="{FF2B5EF4-FFF2-40B4-BE49-F238E27FC236}">
                <a16:creationId xmlns:a16="http://schemas.microsoft.com/office/drawing/2014/main" id="{862B1441-77F9-4D69-B584-9827D95E2D4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演習2：二乗誤差</a:t>
            </a:r>
          </a:p>
        </p:txBody>
      </p:sp>
      <p:sp>
        <p:nvSpPr>
          <p:cNvPr id="2" name="">
            <a:extLst xmlns:a="http://schemas.openxmlformats.org/drawingml/2006/main">
              <a:ext uri="{FF2B5EF4-FFF2-40B4-BE49-F238E27FC236}">
                <a16:creationId xmlns:a16="http://schemas.microsoft.com/office/drawing/2014/main" id="{92B215BE-1D4C-4F2D-A178-FBD81FF0B2AB}"/>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実際の値は3．モデルAの予測は1，モデルBは2．</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一つの例の損失を（予測−実際）²として計算する．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この例では，どちらの損失が小さいか？</a:t>
            </a:r>
          </a:p>
        </p:txBody>
      </p:sp>
      <p:sp>
        <p:nvSpPr>
          <p:cNvPr id="3" name="一つの例の誤差から，損失を計算する．">
            <a:extLst xmlns:a="http://schemas.openxmlformats.org/drawingml/2006/main">
              <a:ext uri="{FF2B5EF4-FFF2-40B4-BE49-F238E27FC236}">
                <a16:creationId xmlns:a16="http://schemas.microsoft.com/office/drawing/2014/main" id="{779EA396-F745-4CB5-90B9-428FB2CCB57F}"/>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一つの例の誤差から，損失を計算する．</a:t>
            </a:r>
          </a:p>
        </p:txBody>
      </p:sp>
      <p:sp>
        <p:nvSpPr>
          <p:cNvPr id="4" name="図・設問：本教材の作例">
            <a:extLst xmlns:a="http://schemas.openxmlformats.org/drawingml/2006/main">
              <a:ext uri="{FF2B5EF4-FFF2-40B4-BE49-F238E27FC236}">
                <a16:creationId xmlns:a16="http://schemas.microsoft.com/office/drawing/2014/main" id="{9318CAA2-5C86-4073-AD96-117C6DE56A8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5回　17">
            <a:extLst xmlns:a="http://schemas.openxmlformats.org/drawingml/2006/main">
              <a:ext uri="{FF2B5EF4-FFF2-40B4-BE49-F238E27FC236}">
                <a16:creationId xmlns:a16="http://schemas.microsoft.com/office/drawing/2014/main" id="{4F72F3AE-DBCD-432F-82D7-083AC3373A7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17</a:t>
            </a:r>
          </a:p>
        </p:txBody>
      </p:sp>
    </p:spTree>
    <p:extLst>
      <p:ext uri="{BB962C8B-B14F-4D97-AF65-F5344CB8AC3E}">
        <p14:creationId xmlns:p14="http://schemas.microsoft.com/office/powerpoint/2010/main" val="10620975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解答">
            <a:extLst xmlns:a="http://schemas.openxmlformats.org/drawingml/2006/main">
              <a:ext uri="{FF2B5EF4-FFF2-40B4-BE49-F238E27FC236}">
                <a16:creationId xmlns:a16="http://schemas.microsoft.com/office/drawing/2014/main" id="{026B23C5-6768-4AEA-A6D2-241FB23016E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演習2：解答</a:t>
            </a:r>
          </a:p>
        </p:txBody>
      </p:sp>
      <p:sp>
        <p:nvSpPr>
          <p:cNvPr id="2" name="">
            <a:extLst xmlns:a="http://schemas.openxmlformats.org/drawingml/2006/main">
              <a:ext uri="{FF2B5EF4-FFF2-40B4-BE49-F238E27FC236}">
                <a16:creationId xmlns:a16="http://schemas.microsoft.com/office/drawing/2014/main" id="{61E233F0-04BE-498A-9787-E31162C2628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モデルA：（1−3）²＝4</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モデルB：（2−3）²＝1</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この例の二乗誤差はBが小さい．</a:t>
            </a:r>
          </a:p>
        </p:txBody>
      </p:sp>
      <p:sp>
        <p:nvSpPr>
          <p:cNvPr id="3" name="別のデータでも良いかは，さらに評価する．">
            <a:extLst xmlns:a="http://schemas.openxmlformats.org/drawingml/2006/main">
              <a:ext uri="{FF2B5EF4-FFF2-40B4-BE49-F238E27FC236}">
                <a16:creationId xmlns:a16="http://schemas.microsoft.com/office/drawing/2014/main" id="{684EC40A-5D51-4221-848B-8476CE29B9B7}"/>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別のデータでも良いかは，さらに評価する．</a:t>
            </a:r>
          </a:p>
        </p:txBody>
      </p:sp>
      <p:sp>
        <p:nvSpPr>
          <p:cNvPr id="4" name="参照：PyTorch">
            <a:extLst xmlns:a="http://schemas.openxmlformats.org/drawingml/2006/main">
              <a:ext uri="{FF2B5EF4-FFF2-40B4-BE49-F238E27FC236}">
                <a16:creationId xmlns:a16="http://schemas.microsoft.com/office/drawing/2014/main" id="{00F15EFE-E753-410F-9A4C-A6D7887BD57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a:t>
            </a:r>
          </a:p>
        </p:txBody>
      </p:sp>
      <p:sp>
        <p:nvSpPr>
          <p:cNvPr id="5" name="第5回　18">
            <a:extLst xmlns:a="http://schemas.openxmlformats.org/drawingml/2006/main">
              <a:ext uri="{FF2B5EF4-FFF2-40B4-BE49-F238E27FC236}">
                <a16:creationId xmlns:a16="http://schemas.microsoft.com/office/drawing/2014/main" id="{00F5BE1F-FF06-4364-A394-B396662CA05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18</a:t>
            </a:r>
          </a:p>
        </p:txBody>
      </p:sp>
    </p:spTree>
    <p:extLst>
      <p:ext uri="{BB962C8B-B14F-4D97-AF65-F5344CB8AC3E}">
        <p14:creationId xmlns:p14="http://schemas.microsoft.com/office/powerpoint/2010/main" val="145673545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勾配と損失の変化">
            <a:extLst xmlns:a="http://schemas.openxmlformats.org/drawingml/2006/main">
              <a:ext uri="{FF2B5EF4-FFF2-40B4-BE49-F238E27FC236}">
                <a16:creationId xmlns:a16="http://schemas.microsoft.com/office/drawing/2014/main" id="{C7C9C88F-BE77-4C28-B50D-216FFB1B45FA}"/>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勾配と損失の変化</a:t>
            </a:r>
          </a:p>
        </p:txBody>
      </p:sp>
      <p:graphicFrame>
        <p:nvGraphicFramePr>
          <p:cNvPr id="7" name="Chart"/>
          <p:cNvGraphicFramePr/>
          <p:nvPr/>
        </p:nvGraphicFramePr>
        <p:xfrm>
          <a:off xmlns:a="http://schemas.openxmlformats.org/drawingml/2006/main" x="530352" y="1261872"/>
          <a:ext xmlns:a="http://schemas.openxmlformats.org/drawingml/2006/main" cx="4800600" cy="2834640"/>
        </p:xfrm>
        <a:graphic xmlns:a="http://schemas.openxmlformats.org/drawingml/2006/main">
          <a:graphicData uri="http://schemas.openxmlformats.org/drawingml/2006/chart">
            <c:chart xmlns:r="http://schemas.openxmlformats.org/officeDocument/2006/relationships" xmlns:c="http://schemas.openxmlformats.org/drawingml/2006/chart" r:id="Re65800e2e61e4f71"/>
          </a:graphicData>
        </a:graphic>
      </p:graphicFrame>
      <p:sp>
        <p:nvSpPr>
          <p:cNvPr id="3" name="作例：L(w)＝(w−2)²&#10;&#10;w＝1では，&#10;右へ少し進むと&#10;損失が小さくなる．">
            <a:extLst xmlns:a="http://schemas.openxmlformats.org/drawingml/2006/main">
              <a:ext uri="{FF2B5EF4-FFF2-40B4-BE49-F238E27FC236}">
                <a16:creationId xmlns:a16="http://schemas.microsoft.com/office/drawing/2014/main" id="{5E888012-24EC-4D01-8E8B-FACFC5D6F1AD}"/>
              </a:ext>
            </a:extLst>
          </p:cNvPr>
          <p:cNvSpPr>
            <a:spLocks xmlns:a="http://schemas.openxmlformats.org/drawingml/2006/main" noGrp="1"/>
          </p:cNvSpPr>
          <p:nvPr/>
        </p:nvSpPr>
        <p:spPr>
          <a:xfrm xmlns:a="http://schemas.openxmlformats.org/drawingml/2006/main">
            <a:off x="5577840" y="1463040"/>
            <a:ext cx="2999232" cy="276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作例：L(w)＝(w−2)²</a:t>
            </a:r>
          </a:p>
          <a:p xmlns:a="http://schemas.openxmlformats.org/drawingml/2006/main">
            <a:r>
              <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w＝1では，</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右へ少し進むと</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損失が小さくなる．</a:t>
            </a:r>
          </a:p>
        </p:txBody>
      </p:sp>
      <p:sp>
        <p:nvSpPr>
          <p:cNvPr id="4" name="参照：Google">
            <a:extLst xmlns:a="http://schemas.openxmlformats.org/drawingml/2006/main">
              <a:ext uri="{FF2B5EF4-FFF2-40B4-BE49-F238E27FC236}">
                <a16:creationId xmlns:a16="http://schemas.microsoft.com/office/drawing/2014/main" id="{D3F23421-2814-4709-91FB-649CD38F663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5回　19">
            <a:extLst xmlns:a="http://schemas.openxmlformats.org/drawingml/2006/main">
              <a:ext uri="{FF2B5EF4-FFF2-40B4-BE49-F238E27FC236}">
                <a16:creationId xmlns:a16="http://schemas.microsoft.com/office/drawing/2014/main" id="{8A3E0F66-E714-4AA3-84A4-67A1718DEC2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19</a:t>
            </a:r>
          </a:p>
        </p:txBody>
      </p:sp>
    </p:spTree>
    <p:extLst>
      <p:ext uri="{BB962C8B-B14F-4D97-AF65-F5344CB8AC3E}">
        <p14:creationId xmlns:p14="http://schemas.microsoft.com/office/powerpoint/2010/main" val="98783274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3：重みの更新">
            <a:extLst xmlns:a="http://schemas.openxmlformats.org/drawingml/2006/main">
              <a:ext uri="{FF2B5EF4-FFF2-40B4-BE49-F238E27FC236}">
                <a16:creationId xmlns:a16="http://schemas.microsoft.com/office/drawing/2014/main" id="{2461C3EE-C8E8-4499-8A8D-584BA91E939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演習3：重みの更新</a:t>
            </a:r>
          </a:p>
        </p:txBody>
      </p:sp>
      <p:sp>
        <p:nvSpPr>
          <p:cNvPr id="2" name="">
            <a:extLst xmlns:a="http://schemas.openxmlformats.org/drawingml/2006/main">
              <a:ext uri="{FF2B5EF4-FFF2-40B4-BE49-F238E27FC236}">
                <a16:creationId xmlns:a16="http://schemas.microsoft.com/office/drawing/2014/main" id="{E1102760-8652-4BFD-9F73-AD5D7BEFE49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更新式：新しいw＝現在のw−学習率×勾配</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現在のw＝1，学習率＝0.1，勾配＝−2</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新しいwを求める．</a:t>
            </a:r>
          </a:p>
        </p:txBody>
      </p:sp>
      <p:sp>
        <p:nvSpPr>
          <p:cNvPr id="3" name="勾配と反対の向きへ，小さく動かす．">
            <a:extLst xmlns:a="http://schemas.openxmlformats.org/drawingml/2006/main">
              <a:ext uri="{FF2B5EF4-FFF2-40B4-BE49-F238E27FC236}">
                <a16:creationId xmlns:a16="http://schemas.microsoft.com/office/drawing/2014/main" id="{6E76A595-A267-482C-922A-B7D11D3DA4FF}"/>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勾配と反対の向きへ，小さく動かす．</a:t>
            </a:r>
          </a:p>
        </p:txBody>
      </p:sp>
      <p:sp>
        <p:nvSpPr>
          <p:cNvPr id="4" name="参照：Google">
            <a:extLst xmlns:a="http://schemas.openxmlformats.org/drawingml/2006/main">
              <a:ext uri="{FF2B5EF4-FFF2-40B4-BE49-F238E27FC236}">
                <a16:creationId xmlns:a16="http://schemas.microsoft.com/office/drawing/2014/main" id="{A8AB8A63-3E2E-4445-A56A-9A1DCC231CCD}"/>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5回　20">
            <a:extLst xmlns:a="http://schemas.openxmlformats.org/drawingml/2006/main">
              <a:ext uri="{FF2B5EF4-FFF2-40B4-BE49-F238E27FC236}">
                <a16:creationId xmlns:a16="http://schemas.microsoft.com/office/drawing/2014/main" id="{E36DE300-5103-4AF0-862D-88355581C14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20</a:t>
            </a:r>
          </a:p>
        </p:txBody>
      </p:sp>
    </p:spTree>
    <p:extLst>
      <p:ext uri="{BB962C8B-B14F-4D97-AF65-F5344CB8AC3E}">
        <p14:creationId xmlns:p14="http://schemas.microsoft.com/office/powerpoint/2010/main" val="159267824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3：解答">
            <a:extLst xmlns:a="http://schemas.openxmlformats.org/drawingml/2006/main">
              <a:ext uri="{FF2B5EF4-FFF2-40B4-BE49-F238E27FC236}">
                <a16:creationId xmlns:a16="http://schemas.microsoft.com/office/drawing/2014/main" id="{3552F438-7A80-4589-A9E3-255A6BE485C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演習3：解答</a:t>
            </a:r>
          </a:p>
        </p:txBody>
      </p:sp>
      <p:sp>
        <p:nvSpPr>
          <p:cNvPr id="2" name="">
            <a:extLst xmlns:a="http://schemas.openxmlformats.org/drawingml/2006/main">
              <a:ext uri="{FF2B5EF4-FFF2-40B4-BE49-F238E27FC236}">
                <a16:creationId xmlns:a16="http://schemas.microsoft.com/office/drawing/2014/main" id="{224BECB4-987F-4975-8D4A-5C2430E32DB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新しいw＝1−0.1×（−2）＝1.2</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この例では，損失は1から0.64に減る．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動かす大きさは，学習率で調整する．</a:t>
            </a:r>
          </a:p>
        </p:txBody>
      </p:sp>
      <p:sp>
        <p:nvSpPr>
          <p:cNvPr id="3" name="参照：Google">
            <a:extLst xmlns:a="http://schemas.openxmlformats.org/drawingml/2006/main">
              <a:ext uri="{FF2B5EF4-FFF2-40B4-BE49-F238E27FC236}">
                <a16:creationId xmlns:a16="http://schemas.microsoft.com/office/drawing/2014/main" id="{CBF5DD91-4306-41A1-B0D3-06F5F36C309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5回　21">
            <a:extLst xmlns:a="http://schemas.openxmlformats.org/drawingml/2006/main">
              <a:ext uri="{FF2B5EF4-FFF2-40B4-BE49-F238E27FC236}">
                <a16:creationId xmlns:a16="http://schemas.microsoft.com/office/drawing/2014/main" id="{E214C1B4-E258-4C40-ADE1-1724FB3865E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21</a:t>
            </a:r>
          </a:p>
        </p:txBody>
      </p:sp>
    </p:spTree>
    <p:extLst>
      <p:ext uri="{BB962C8B-B14F-4D97-AF65-F5344CB8AC3E}">
        <p14:creationId xmlns:p14="http://schemas.microsoft.com/office/powerpoint/2010/main" val="209457080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誤差逆伝播の役割">
            <a:extLst xmlns:a="http://schemas.openxmlformats.org/drawingml/2006/main">
              <a:ext uri="{FF2B5EF4-FFF2-40B4-BE49-F238E27FC236}">
                <a16:creationId xmlns:a16="http://schemas.microsoft.com/office/drawing/2014/main" id="{05337B0E-10DC-4FB3-B9B2-FB3070F7136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誤差逆伝播の役割</a:t>
            </a:r>
          </a:p>
        </p:txBody>
      </p:sp>
      <p:sp>
        <p:nvSpPr>
          <p:cNvPr id="2" name="順伝播&#10;予測を計算">
            <a:extLst xmlns:a="http://schemas.openxmlformats.org/drawingml/2006/main">
              <a:ext uri="{FF2B5EF4-FFF2-40B4-BE49-F238E27FC236}">
                <a16:creationId xmlns:a16="http://schemas.microsoft.com/office/drawing/2014/main" id="{9B73F852-9BB1-4D60-873C-37A810BDAAD0}"/>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順伝播</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予測を計算</a:t>
            </a:r>
          </a:p>
        </p:txBody>
      </p:sp>
      <p:sp>
        <p:nvSpPr>
          <p:cNvPr id="3" name="損失を計算">
            <a:extLst xmlns:a="http://schemas.openxmlformats.org/drawingml/2006/main">
              <a:ext uri="{FF2B5EF4-FFF2-40B4-BE49-F238E27FC236}">
                <a16:creationId xmlns:a16="http://schemas.microsoft.com/office/drawing/2014/main" id="{442BCA29-31CB-4F59-8DFB-1DA5CB81131B}"/>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損失を計算</a:t>
            </a:r>
          </a:p>
        </p:txBody>
      </p:sp>
      <p:sp>
        <p:nvSpPr>
          <p:cNvPr id="4" name="逆伝播&#10;勾配を計算">
            <a:extLst xmlns:a="http://schemas.openxmlformats.org/drawingml/2006/main">
              <a:ext uri="{FF2B5EF4-FFF2-40B4-BE49-F238E27FC236}">
                <a16:creationId xmlns:a16="http://schemas.microsoft.com/office/drawing/2014/main" id="{96EC2D25-1A51-49D3-87B1-332353015862}"/>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逆伝播</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勾配を計算</a:t>
            </a:r>
          </a:p>
        </p:txBody>
      </p:sp>
      <p:cxnSp>
        <p:nvCxnSpPr>
          <p:cNvPr id="14"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逆伝播で勾配を求め，最適化手法で更新する．">
            <a:extLst xmlns:a="http://schemas.openxmlformats.org/drawingml/2006/main">
              <a:ext uri="{FF2B5EF4-FFF2-40B4-BE49-F238E27FC236}">
                <a16:creationId xmlns:a16="http://schemas.microsoft.com/office/drawing/2014/main" id="{139DF1F7-55E0-4649-A875-7767C8167E5A}"/>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逆伝播で勾配を求め，最適化手法で更新する．</a:t>
            </a:r>
          </a:p>
        </p:txBody>
      </p:sp>
      <p:sp>
        <p:nvSpPr>
          <p:cNvPr id="8" name="参照：Google／PyTorch">
            <a:extLst xmlns:a="http://schemas.openxmlformats.org/drawingml/2006/main">
              <a:ext uri="{FF2B5EF4-FFF2-40B4-BE49-F238E27FC236}">
                <a16:creationId xmlns:a16="http://schemas.microsoft.com/office/drawing/2014/main" id="{CA0FDE05-583D-43B0-AA86-D2A84A017FB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参照：Google／PyTorch</a:t>
            </a:r>
          </a:p>
        </p:txBody>
      </p:sp>
      <p:sp>
        <p:nvSpPr>
          <p:cNvPr id="9" name="第5回　22">
            <a:extLst xmlns:a="http://schemas.openxmlformats.org/drawingml/2006/main">
              <a:ext uri="{FF2B5EF4-FFF2-40B4-BE49-F238E27FC236}">
                <a16:creationId xmlns:a16="http://schemas.microsoft.com/office/drawing/2014/main" id="{2919753B-3B4D-4227-84C0-92702DE0895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22</a:t>
            </a:r>
          </a:p>
        </p:txBody>
      </p:sp>
    </p:spTree>
    <p:extLst>
      <p:ext uri="{BB962C8B-B14F-4D97-AF65-F5344CB8AC3E}">
        <p14:creationId xmlns:p14="http://schemas.microsoft.com/office/powerpoint/2010/main" val="6095833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904EDA2B-9BB1-4F03-8552-E764454A968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DBF361A7-D0D8-4AF6-AEE3-5D00534C6A5F}"/>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重み付きの和と活性化関数を，層ごとにつなぐ．</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損失から勾配を求め，パラメータを更新する．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未知のデータで，目的に合う評価を行う．</a:t>
            </a:r>
          </a:p>
        </p:txBody>
      </p:sp>
      <p:sp>
        <p:nvSpPr>
          <p:cNvPr id="3" name="次回：深層学習をうまく学習させるには">
            <a:extLst xmlns:a="http://schemas.openxmlformats.org/drawingml/2006/main">
              <a:ext uri="{FF2B5EF4-FFF2-40B4-BE49-F238E27FC236}">
                <a16:creationId xmlns:a16="http://schemas.microsoft.com/office/drawing/2014/main" id="{D50EB49D-2502-4BE5-80D7-471BAB3C9192}"/>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次回：深層学習をうまく学習させるには</a:t>
            </a:r>
          </a:p>
        </p:txBody>
      </p:sp>
      <p:sp>
        <p:nvSpPr>
          <p:cNvPr id="4" name="図・設問：本教材の作例">
            <a:extLst xmlns:a="http://schemas.openxmlformats.org/drawingml/2006/main">
              <a:ext uri="{FF2B5EF4-FFF2-40B4-BE49-F238E27FC236}">
                <a16:creationId xmlns:a16="http://schemas.microsoft.com/office/drawing/2014/main" id="{1419AF8E-C183-483B-8162-2EB47E55533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5回　23">
            <a:extLst xmlns:a="http://schemas.openxmlformats.org/drawingml/2006/main">
              <a:ext uri="{FF2B5EF4-FFF2-40B4-BE49-F238E27FC236}">
                <a16:creationId xmlns:a16="http://schemas.microsoft.com/office/drawing/2014/main" id="{8E2E38B4-2ABF-401E-A6B4-ADE36C6D59F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23</a:t>
            </a:r>
          </a:p>
        </p:txBody>
      </p:sp>
    </p:spTree>
    <p:extLst>
      <p:ext uri="{BB962C8B-B14F-4D97-AF65-F5344CB8AC3E}">
        <p14:creationId xmlns:p14="http://schemas.microsoft.com/office/powerpoint/2010/main" val="192109755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1">
            <a:extLst xmlns:a="http://schemas.openxmlformats.org/drawingml/2006/main">
              <a:ext uri="{FF2B5EF4-FFF2-40B4-BE49-F238E27FC236}">
                <a16:creationId xmlns:a16="http://schemas.microsoft.com/office/drawing/2014/main" id="{8A9E38F9-228B-4C6F-A153-BE2B7686AC3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Google：Nodes and hidden layers">
            <a:extLst xmlns:a="http://schemas.openxmlformats.org/drawingml/2006/main">
              <a:ext uri="{FF2B5EF4-FFF2-40B4-BE49-F238E27FC236}">
                <a16:creationId xmlns:a16="http://schemas.microsoft.com/office/drawing/2014/main" id="{61FFDA4C-2CA7-4F16-A6CF-F3B5F996CD43}"/>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7817bba2907e43ef"/>
              </a:rPr>
              <a:t>1. Google：Nodes and hidden layers</a:t>
            </a:r>
          </a:p>
        </p:txBody>
      </p:sp>
      <p:sp>
        <p:nvSpPr>
          <p:cNvPr id="3" name="2. Google：Activation functions">
            <a:extLst xmlns:a="http://schemas.openxmlformats.org/drawingml/2006/main">
              <a:ext uri="{FF2B5EF4-FFF2-40B4-BE49-F238E27FC236}">
                <a16:creationId xmlns:a16="http://schemas.microsoft.com/office/drawing/2014/main" id="{5E0C99AA-1911-40CE-B15D-35FF37CB9F1F}"/>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27178041f17446f3"/>
              </a:rPr>
              <a:t>2. Google：Activation functions</a:t>
            </a:r>
          </a:p>
        </p:txBody>
      </p:sp>
      <p:sp>
        <p:nvSpPr>
          <p:cNvPr id="4" name="3. Google：Training using backpropagation">
            <a:extLst xmlns:a="http://schemas.openxmlformats.org/drawingml/2006/main">
              <a:ext uri="{FF2B5EF4-FFF2-40B4-BE49-F238E27FC236}">
                <a16:creationId xmlns:a16="http://schemas.microsoft.com/office/drawing/2014/main" id="{69AA98D5-5A9E-40B9-912C-0CD879CC0172}"/>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4115d5ae0c2644dd"/>
              </a:rPr>
              <a:t>3. Google：Training using backpropagation</a:t>
            </a:r>
          </a:p>
        </p:txBody>
      </p:sp>
      <p:sp>
        <p:nvSpPr>
          <p:cNvPr id="5" name="各項目をクリックすると，参考資料を開く．">
            <a:extLst xmlns:a="http://schemas.openxmlformats.org/drawingml/2006/main">
              <a:ext uri="{FF2B5EF4-FFF2-40B4-BE49-F238E27FC236}">
                <a16:creationId xmlns:a16="http://schemas.microsoft.com/office/drawing/2014/main" id="{B10F5628-BB22-4FE5-B00C-F9EABA208076}"/>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CB8F52B0-7BE7-4FC6-B1AE-F255E57E4D9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5回　24">
            <a:extLst xmlns:a="http://schemas.openxmlformats.org/drawingml/2006/main">
              <a:ext uri="{FF2B5EF4-FFF2-40B4-BE49-F238E27FC236}">
                <a16:creationId xmlns:a16="http://schemas.microsoft.com/office/drawing/2014/main" id="{4ED7B9A4-40B0-4B78-98B2-B0DC588B731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24</a:t>
            </a:r>
          </a:p>
        </p:txBody>
      </p:sp>
    </p:spTree>
    <p:extLst>
      <p:ext uri="{BB962C8B-B14F-4D97-AF65-F5344CB8AC3E}">
        <p14:creationId xmlns:p14="http://schemas.microsoft.com/office/powerpoint/2010/main" val="116136144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91BE8156-DB4B-437B-BF02-DD5769C3264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Google：Gradient descent">
            <a:extLst xmlns:a="http://schemas.openxmlformats.org/drawingml/2006/main">
              <a:ext uri="{FF2B5EF4-FFF2-40B4-BE49-F238E27FC236}">
                <a16:creationId xmlns:a16="http://schemas.microsoft.com/office/drawing/2014/main" id="{750F3533-9008-4C54-AD73-1A39D0AF593B}"/>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26ecabb6f9f54adf"/>
              </a:rPr>
              <a:t>1. Google：Gradient descent</a:t>
            </a:r>
          </a:p>
        </p:txBody>
      </p:sp>
      <p:sp>
        <p:nvSpPr>
          <p:cNvPr id="3" name="2. PyTorch：Optimizing Model Parameters">
            <a:extLst xmlns:a="http://schemas.openxmlformats.org/drawingml/2006/main">
              <a:ext uri="{FF2B5EF4-FFF2-40B4-BE49-F238E27FC236}">
                <a16:creationId xmlns:a16="http://schemas.microsoft.com/office/drawing/2014/main" id="{FE2458C5-E89E-46B7-AB50-FF6DDB84ED8F}"/>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ea661a5795224944"/>
              </a:rPr>
              <a:t>2. PyTorch：Optimizing Model Parameters</a:t>
            </a:r>
          </a:p>
        </p:txBody>
      </p:sp>
      <p:sp>
        <p:nvSpPr>
          <p:cNvPr id="4" name="3. Google：Logistic regression loss">
            <a:extLst xmlns:a="http://schemas.openxmlformats.org/drawingml/2006/main">
              <a:ext uri="{FF2B5EF4-FFF2-40B4-BE49-F238E27FC236}">
                <a16:creationId xmlns:a16="http://schemas.microsoft.com/office/drawing/2014/main" id="{BB0535F4-C339-4C2F-BFD6-57E6A8211DFF}"/>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c607d6b8f4504a4a"/>
              </a:rPr>
              <a:t>3. Google：Logistic regression loss</a:t>
            </a:r>
          </a:p>
        </p:txBody>
      </p:sp>
      <p:sp>
        <p:nvSpPr>
          <p:cNvPr id="5" name="各項目をクリックすると，参考資料を開く．">
            <a:extLst xmlns:a="http://schemas.openxmlformats.org/drawingml/2006/main">
              <a:ext uri="{FF2B5EF4-FFF2-40B4-BE49-F238E27FC236}">
                <a16:creationId xmlns:a16="http://schemas.microsoft.com/office/drawing/2014/main" id="{670B2864-9735-4A0C-9F62-24470E031DF4}"/>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206DD027-98B9-46B4-8E83-C7EC218E386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5回　25">
            <a:extLst xmlns:a="http://schemas.openxmlformats.org/drawingml/2006/main">
              <a:ext uri="{FF2B5EF4-FFF2-40B4-BE49-F238E27FC236}">
                <a16:creationId xmlns:a16="http://schemas.microsoft.com/office/drawing/2014/main" id="{DD5986E3-5917-448A-8D75-0932C54810A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第5回　25</a:t>
            </a:r>
          </a:p>
        </p:txBody>
      </p:sp>
    </p:spTree>
    <p:extLst>
      <p:ext uri="{BB962C8B-B14F-4D97-AF65-F5344CB8AC3E}">
        <p14:creationId xmlns:p14="http://schemas.microsoft.com/office/powerpoint/2010/main" val="996724249"/>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2026-10-07T07:32:50.0800000Z</dcterms:created>
  <dcterms:modified xsi:type="dcterms:W3CDTF">2026-10-07T07:32:50.0810000Z</dcterms:modified>
</coreProperties>
</file>