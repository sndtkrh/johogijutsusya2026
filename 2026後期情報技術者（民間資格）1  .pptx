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e38163ee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e38163ee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e38163e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e38163e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e38163ee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e38163ee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e38163ee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e38163ee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e38163ee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e38163ee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8e38163ee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8e38163ee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e38163e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e38163e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e38163ee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e38163ee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e38163ee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e38163ee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e38163ee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e38163ee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e38163ee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e38163ee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8e38163ee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8e38163ee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e38163ee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e38163ee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e38163ee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e38163ee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38163ee8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38163ee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e496ef40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e496ef40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e496ef40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e496ef40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e496ef40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e496ef40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urims.kyoto-u.ac.jp/~tsanada/index-j.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jdla.org/certificate/genera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jdla.org/certificate/genera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情報技術者（民間資格）1</a:t>
            </a:r>
            <a:endParaRPr/>
          </a:p>
          <a:p>
            <a:pPr indent="0" lvl="0" marL="0" rtl="0" algn="ctr">
              <a:spcBef>
                <a:spcPts val="0"/>
              </a:spcBef>
              <a:spcAft>
                <a:spcPts val="0"/>
              </a:spcAft>
              <a:buNone/>
            </a:pPr>
            <a:r>
              <a:rPr lang="ja"/>
              <a:t>G検定</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担当教員</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眞田 嵩大（さなだ たかひろ）</a:t>
            </a:r>
            <a:endParaRPr/>
          </a:p>
          <a:p>
            <a:pPr indent="-342900" lvl="0" marL="457200" rtl="0" algn="l">
              <a:spcBef>
                <a:spcPts val="0"/>
              </a:spcBef>
              <a:spcAft>
                <a:spcPts val="0"/>
              </a:spcAft>
              <a:buSzPts val="1800"/>
              <a:buChar char="●"/>
            </a:pPr>
            <a:r>
              <a:rPr lang="ja" u="sng">
                <a:solidFill>
                  <a:schemeClr val="hlink"/>
                </a:solidFill>
                <a:hlinkClick r:id="rId3"/>
              </a:rPr>
              <a:t>https://www.kurims.kyoto-u.ac.jp/~tsanada/index-j.html</a:t>
            </a:r>
            <a:endParaRPr/>
          </a:p>
          <a:p>
            <a:pPr indent="-342900" lvl="0" marL="457200" rtl="0" algn="l">
              <a:spcBef>
                <a:spcPts val="0"/>
              </a:spcBef>
              <a:spcAft>
                <a:spcPts val="0"/>
              </a:spcAft>
              <a:buSzPts val="1800"/>
              <a:buChar char="●"/>
            </a:pPr>
            <a:r>
              <a:rPr lang="ja"/>
              <a:t>情報センター 助教</a:t>
            </a:r>
            <a:endParaRPr/>
          </a:p>
          <a:p>
            <a:pPr indent="-342900" lvl="0" marL="457200" rtl="0" algn="l">
              <a:spcBef>
                <a:spcPts val="0"/>
              </a:spcBef>
              <a:spcAft>
                <a:spcPts val="0"/>
              </a:spcAft>
              <a:buSzPts val="1800"/>
              <a:buChar char="●"/>
            </a:pPr>
            <a:r>
              <a:rPr lang="ja"/>
              <a:t>理化学研究所 客員研究員</a:t>
            </a:r>
            <a:endParaRPr/>
          </a:p>
          <a:p>
            <a:pPr indent="-342900" lvl="0" marL="457200" rtl="0" algn="l">
              <a:spcBef>
                <a:spcPts val="0"/>
              </a:spcBef>
              <a:spcAft>
                <a:spcPts val="0"/>
              </a:spcAft>
              <a:buSzPts val="1800"/>
              <a:buChar char="●"/>
            </a:pPr>
            <a:r>
              <a:rPr lang="ja"/>
              <a:t>専門分野：理論計算機科学，特に圏論的意味論，プログラミング言語理論</a:t>
            </a:r>
            <a:endParaRPr/>
          </a:p>
          <a:p>
            <a:pPr indent="-317500" lvl="1" marL="914400" rtl="0" algn="l">
              <a:spcBef>
                <a:spcPts val="0"/>
              </a:spcBef>
              <a:spcAft>
                <a:spcPts val="0"/>
              </a:spcAft>
              <a:buSzPts val="1400"/>
              <a:buChar char="○"/>
            </a:pPr>
            <a:r>
              <a:rPr lang="ja"/>
              <a:t>最近は</a:t>
            </a:r>
            <a:r>
              <a:rPr lang="ja">
                <a:solidFill>
                  <a:srgbClr val="FF0000"/>
                </a:solidFill>
              </a:rPr>
              <a:t>ニューラルネットワーク</a:t>
            </a:r>
            <a:r>
              <a:rPr lang="ja"/>
              <a:t>実装のための代数的エフェクトを持つプログラミング言語や，</a:t>
            </a:r>
            <a:r>
              <a:rPr lang="ja">
                <a:solidFill>
                  <a:srgbClr val="FF0000"/>
                </a:solidFill>
              </a:rPr>
              <a:t>探索・最適化アルゴリズム</a:t>
            </a:r>
            <a:r>
              <a:rPr lang="ja"/>
              <a:t>の圏論的・余代数的一般化について研究中</a:t>
            </a:r>
            <a:endParaRPr/>
          </a:p>
          <a:p>
            <a:pPr indent="-342900" lvl="0" marL="457200" rtl="0" algn="l">
              <a:spcBef>
                <a:spcPts val="0"/>
              </a:spcBef>
              <a:spcAft>
                <a:spcPts val="0"/>
              </a:spcAft>
              <a:buSzPts val="1800"/>
              <a:buChar char="●"/>
            </a:pPr>
            <a:r>
              <a:rPr lang="ja"/>
              <a:t>居室は図書館棟2階のポスターが貼ってある部屋</a:t>
            </a:r>
            <a:endParaRPr/>
          </a:p>
          <a:p>
            <a:pPr indent="-317500" lvl="1" marL="914400" rtl="0" algn="l">
              <a:spcBef>
                <a:spcPts val="0"/>
              </a:spcBef>
              <a:spcAft>
                <a:spcPts val="0"/>
              </a:spcAft>
              <a:buSzPts val="1400"/>
              <a:buChar char="○"/>
            </a:pPr>
            <a:r>
              <a:rPr lang="ja"/>
              <a:t>オフィスアワーは適宜ということにしています．水曜午後は対応可能なことが多いです．</a:t>
            </a:r>
            <a:endParaRPr/>
          </a:p>
          <a:p>
            <a:pPr indent="-317500" lvl="1" marL="914400" rtl="0" algn="l">
              <a:spcBef>
                <a:spcPts val="0"/>
              </a:spcBef>
              <a:spcAft>
                <a:spcPts val="0"/>
              </a:spcAft>
              <a:buSzPts val="1400"/>
              <a:buChar char="○"/>
            </a:pPr>
            <a:r>
              <a:rPr lang="ja"/>
              <a:t>後期の月曜・火曜は出張に行っていることが多いと思います．</a:t>
            </a:r>
            <a:endParaRPr/>
          </a:p>
          <a:p>
            <a:pPr indent="-317500" lvl="1" marL="914400" rtl="0" algn="l">
              <a:spcBef>
                <a:spcPts val="0"/>
              </a:spcBef>
              <a:spcAft>
                <a:spcPts val="0"/>
              </a:spcAft>
              <a:buSzPts val="1400"/>
              <a:buChar char="○"/>
            </a:pPr>
            <a:r>
              <a:rPr lang="ja"/>
              <a:t>質問・相談・雑談などお気軽にどうぞ</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この講義について</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講義名：情報技術者（民間資格）</a:t>
            </a:r>
            <a:endParaRPr/>
          </a:p>
          <a:p>
            <a:pPr indent="-342900" lvl="0" marL="457200" rtl="0" algn="l">
              <a:spcBef>
                <a:spcPts val="0"/>
              </a:spcBef>
              <a:spcAft>
                <a:spcPts val="0"/>
              </a:spcAft>
              <a:buSzPts val="1800"/>
              <a:buChar char="●"/>
            </a:pPr>
            <a:r>
              <a:rPr lang="ja"/>
              <a:t>概要</a:t>
            </a:r>
            <a:endParaRPr/>
          </a:p>
          <a:p>
            <a:pPr indent="-317500" lvl="1" marL="914400" rtl="0" algn="l">
              <a:spcBef>
                <a:spcPts val="0"/>
              </a:spcBef>
              <a:spcAft>
                <a:spcPts val="0"/>
              </a:spcAft>
              <a:buSzPts val="1400"/>
              <a:buChar char="○"/>
            </a:pPr>
            <a:r>
              <a:rPr lang="ja"/>
              <a:t>情報技術に関する民間資格である</a:t>
            </a:r>
            <a:r>
              <a:rPr lang="ja">
                <a:solidFill>
                  <a:srgbClr val="FF0000"/>
                </a:solidFill>
              </a:rPr>
              <a:t>G検定</a:t>
            </a:r>
            <a:r>
              <a:rPr lang="ja"/>
              <a:t>を対象として、この検定に沿った内容を身につける。</a:t>
            </a:r>
            <a:endParaRPr/>
          </a:p>
          <a:p>
            <a:pPr indent="-317500" lvl="1" marL="914400" rtl="0" algn="l">
              <a:spcBef>
                <a:spcPts val="0"/>
              </a:spcBef>
              <a:spcAft>
                <a:spcPts val="0"/>
              </a:spcAft>
              <a:buSzPts val="1400"/>
              <a:buChar char="○"/>
            </a:pPr>
            <a:r>
              <a:rPr lang="ja"/>
              <a:t>具体的には、人工知能に関する技術（ディープラーニングやその周辺理論・技術）と人工知能に関する法律・倫理を理解する。</a:t>
            </a:r>
            <a:endParaRPr/>
          </a:p>
          <a:p>
            <a:pPr indent="-317500" lvl="1" marL="914400" rtl="0" algn="l">
              <a:spcBef>
                <a:spcPts val="0"/>
              </a:spcBef>
              <a:spcAft>
                <a:spcPts val="0"/>
              </a:spcAft>
              <a:buSzPts val="1400"/>
              <a:buChar char="○"/>
            </a:pPr>
            <a:r>
              <a:rPr lang="ja"/>
              <a:t>ディープラーニングについては、演習を通して実際にAIを作る。</a:t>
            </a:r>
            <a:endParaRPr/>
          </a:p>
          <a:p>
            <a:pPr indent="-342900" lvl="0" marL="457200" rtl="0" algn="l">
              <a:spcBef>
                <a:spcPts val="0"/>
              </a:spcBef>
              <a:spcAft>
                <a:spcPts val="0"/>
              </a:spcAft>
              <a:buSzPts val="1800"/>
              <a:buChar char="●"/>
            </a:pPr>
            <a:r>
              <a:rPr lang="ja"/>
              <a:t>到達目標</a:t>
            </a:r>
            <a:endParaRPr/>
          </a:p>
          <a:p>
            <a:pPr indent="-317500" lvl="1" marL="914400" rtl="0" algn="l">
              <a:spcBef>
                <a:spcPts val="0"/>
              </a:spcBef>
              <a:spcAft>
                <a:spcPts val="0"/>
              </a:spcAft>
              <a:buSzPts val="1400"/>
              <a:buChar char="○"/>
            </a:pPr>
            <a:r>
              <a:rPr lang="ja"/>
              <a:t>G検定合格におおむね相当する知識が身についている</a:t>
            </a:r>
            <a:endParaRPr/>
          </a:p>
          <a:p>
            <a:pPr indent="-317500" lvl="1" marL="914400" rtl="0" algn="l">
              <a:spcBef>
                <a:spcPts val="0"/>
              </a:spcBef>
              <a:spcAft>
                <a:spcPts val="0"/>
              </a:spcAft>
              <a:buSzPts val="1400"/>
              <a:buChar char="○"/>
            </a:pPr>
            <a:r>
              <a:rPr lang="ja"/>
              <a:t>ディープラーニング技術について説明できる</a:t>
            </a:r>
            <a:endParaRPr/>
          </a:p>
          <a:p>
            <a:pPr indent="-317500" lvl="1" marL="914400" rtl="0" algn="l">
              <a:spcBef>
                <a:spcPts val="0"/>
              </a:spcBef>
              <a:spcAft>
                <a:spcPts val="0"/>
              </a:spcAft>
              <a:buSzPts val="1400"/>
              <a:buChar char="○"/>
            </a:pPr>
            <a:r>
              <a:rPr lang="ja"/>
              <a:t>AIを社会で用いるための法的・倫理的注意点を理解している</a:t>
            </a:r>
            <a:endParaRPr/>
          </a:p>
          <a:p>
            <a:pPr indent="-342900" lvl="0" marL="457200" rtl="0" algn="l">
              <a:spcBef>
                <a:spcPts val="0"/>
              </a:spcBef>
              <a:spcAft>
                <a:spcPts val="0"/>
              </a:spcAft>
              <a:buSzPts val="1800"/>
              <a:buChar char="●"/>
            </a:pPr>
            <a:r>
              <a:rPr lang="ja"/>
              <a:t>関連科目：情報処理演習（AI）（後期 木曜3限）</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G</a:t>
            </a:r>
            <a:r>
              <a:rPr lang="ja"/>
              <a:t>検定について</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u="sng">
                <a:solidFill>
                  <a:schemeClr val="hlink"/>
                </a:solidFill>
                <a:hlinkClick r:id="rId3"/>
              </a:rPr>
              <a:t>https://www.jdla.org/certificate/general/</a:t>
            </a:r>
            <a:endParaRPr/>
          </a:p>
          <a:p>
            <a:pPr indent="-342900" lvl="0" marL="457200" rtl="0" algn="l">
              <a:spcBef>
                <a:spcPts val="0"/>
              </a:spcBef>
              <a:spcAft>
                <a:spcPts val="0"/>
              </a:spcAft>
              <a:buSzPts val="1800"/>
              <a:buChar char="●"/>
            </a:pPr>
            <a:r>
              <a:rPr lang="ja"/>
              <a:t>一般社団法人　日本ディープラーニング協会が実施する民間資格</a:t>
            </a:r>
            <a:endParaRPr/>
          </a:p>
          <a:p>
            <a:pPr indent="-342900" lvl="0" marL="457200" rtl="0" algn="l">
              <a:spcBef>
                <a:spcPts val="0"/>
              </a:spcBef>
              <a:spcAft>
                <a:spcPts val="0"/>
              </a:spcAft>
              <a:buSzPts val="1800"/>
              <a:buChar char="●"/>
            </a:pPr>
            <a:r>
              <a:rPr lang="ja"/>
              <a:t>内容：ディープラーニングの基礎知識を有し，適切な活用方針を決定して，事業活用する能力や知識を有しているかを検定する</a:t>
            </a:r>
            <a:endParaRPr/>
          </a:p>
          <a:p>
            <a:pPr indent="-342900" lvl="0" marL="457200" rtl="0" algn="l">
              <a:spcBef>
                <a:spcPts val="0"/>
              </a:spcBef>
              <a:spcAft>
                <a:spcPts val="0"/>
              </a:spcAft>
              <a:buSzPts val="1800"/>
              <a:buChar char="●"/>
            </a:pPr>
            <a:r>
              <a:rPr lang="ja"/>
              <a:t>試験時間：120分</a:t>
            </a:r>
            <a:endParaRPr/>
          </a:p>
          <a:p>
            <a:pPr indent="-342900" lvl="0" marL="457200" rtl="0" algn="l">
              <a:spcBef>
                <a:spcPts val="0"/>
              </a:spcBef>
              <a:spcAft>
                <a:spcPts val="0"/>
              </a:spcAft>
              <a:buSzPts val="1800"/>
              <a:buChar char="●"/>
            </a:pPr>
            <a:r>
              <a:rPr lang="ja"/>
              <a:t>試験形式：知識問題（多肢選択式・160問程度），オンライン実施（自宅受験）</a:t>
            </a:r>
            <a:endParaRPr/>
          </a:p>
          <a:p>
            <a:pPr indent="-342900" lvl="0" marL="457200" rtl="0" algn="l">
              <a:spcBef>
                <a:spcPts val="0"/>
              </a:spcBef>
              <a:spcAft>
                <a:spcPts val="0"/>
              </a:spcAft>
              <a:buSzPts val="1800"/>
              <a:buChar char="●"/>
            </a:pPr>
            <a:r>
              <a:rPr lang="ja"/>
              <a:t>出題問題：指定された範囲から出題</a:t>
            </a:r>
            <a:endParaRPr/>
          </a:p>
          <a:p>
            <a:pPr indent="-342900" lvl="0" marL="457200" rtl="0" algn="l">
              <a:spcBef>
                <a:spcPts val="0"/>
              </a:spcBef>
              <a:spcAft>
                <a:spcPts val="0"/>
              </a:spcAft>
              <a:buSzPts val="1800"/>
              <a:buChar char="●"/>
            </a:pPr>
            <a:r>
              <a:rPr lang="ja"/>
              <a:t>試験時期：年6回実施予定</a:t>
            </a:r>
            <a:endParaRPr/>
          </a:p>
          <a:p>
            <a:pPr indent="-342900" lvl="0" marL="457200" rtl="0" algn="l">
              <a:spcBef>
                <a:spcPts val="0"/>
              </a:spcBef>
              <a:spcAft>
                <a:spcPts val="0"/>
              </a:spcAft>
              <a:buSzPts val="1800"/>
              <a:buChar char="●"/>
            </a:pPr>
            <a:r>
              <a:rPr lang="ja"/>
              <a:t>詳しくはwebサイトを参照</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この講義でどこまでカバーされるか</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時間や演習を行う都合上，G検定の細かな範囲まで丁寧にカバーすることはできない</a:t>
            </a:r>
            <a:endParaRPr/>
          </a:p>
          <a:p>
            <a:pPr indent="-342900" lvl="0" marL="457200" rtl="0" algn="l">
              <a:spcBef>
                <a:spcPts val="0"/>
              </a:spcBef>
              <a:spcAft>
                <a:spcPts val="0"/>
              </a:spcAft>
              <a:buSzPts val="1800"/>
              <a:buChar char="●"/>
            </a:pPr>
            <a:r>
              <a:rPr lang="ja"/>
              <a:t>この講義で基礎知識を身につけることで，G検定の参考書などを読む基礎的な素養が身に付く</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G</a:t>
            </a:r>
            <a:r>
              <a:rPr lang="ja"/>
              <a:t>検定の範囲</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u="sng">
                <a:solidFill>
                  <a:schemeClr val="accent5"/>
                </a:solidFill>
                <a:hlinkClick r:id="rId3">
                  <a:extLst>
                    <a:ext uri="{A12FA001-AC4F-418D-AE19-62706E023703}">
                      <ahyp:hlinkClr val="tx"/>
                    </a:ext>
                  </a:extLst>
                </a:hlinkClick>
              </a:rPr>
              <a:t>https://www.jdla.org/certificate/general/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人工知能（AI）とは</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1956</a:t>
            </a:r>
            <a:r>
              <a:rPr lang="ja"/>
              <a:t>年，アメリカで開催されたダートマス会議で，ジョン・マッカーシー（人工知能研究者）が</a:t>
            </a:r>
            <a:r>
              <a:rPr lang="ja">
                <a:solidFill>
                  <a:srgbClr val="FF0000"/>
                </a:solidFill>
              </a:rPr>
              <a:t>人工知能(artificial inteligence)</a:t>
            </a:r>
            <a:r>
              <a:rPr lang="ja"/>
              <a:t>という言葉を初めて用いた．</a:t>
            </a:r>
            <a:endParaRPr/>
          </a:p>
          <a:p>
            <a:pPr indent="-342900" lvl="0" marL="457200" rtl="0" algn="l">
              <a:spcBef>
                <a:spcPts val="0"/>
              </a:spcBef>
              <a:spcAft>
                <a:spcPts val="0"/>
              </a:spcAft>
              <a:buSzPts val="1800"/>
              <a:buChar char="●"/>
            </a:pPr>
            <a:r>
              <a:rPr lang="ja"/>
              <a:t>人工知能について誰しもが合意する明確な定義があるわけではない</a:t>
            </a:r>
            <a:endParaRPr/>
          </a:p>
          <a:p>
            <a:pPr indent="-317500" lvl="1" marL="914400" rtl="0" algn="l">
              <a:spcBef>
                <a:spcPts val="0"/>
              </a:spcBef>
              <a:spcAft>
                <a:spcPts val="0"/>
              </a:spcAft>
              <a:buSzPts val="1400"/>
              <a:buChar char="○"/>
            </a:pPr>
            <a:r>
              <a:rPr lang="ja"/>
              <a:t>知能を定義すること自体が難しい</a:t>
            </a:r>
            <a:endParaRPr/>
          </a:p>
          <a:p>
            <a:pPr indent="-317500" lvl="1" marL="914400" rtl="0" algn="l">
              <a:spcBef>
                <a:spcPts val="0"/>
              </a:spcBef>
              <a:spcAft>
                <a:spcPts val="0"/>
              </a:spcAft>
              <a:buSzPts val="1400"/>
              <a:buChar char="○"/>
            </a:pPr>
            <a:r>
              <a:rPr lang="ja"/>
              <a:t>多くの研究者は，推論・認識・判断などにおいて人間と同じ知的な処理能力を持つ情報処理システムを人工知能と呼んでいる</a:t>
            </a:r>
            <a:endParaRPr/>
          </a:p>
          <a:p>
            <a:pPr indent="-317500" lvl="1" marL="914400" rtl="0" algn="l">
              <a:spcBef>
                <a:spcPts val="0"/>
              </a:spcBef>
              <a:spcAft>
                <a:spcPts val="0"/>
              </a:spcAft>
              <a:buSzPts val="1400"/>
              <a:buChar char="○"/>
            </a:pPr>
            <a:r>
              <a:rPr lang="ja"/>
              <a:t>時代や文脈によってかなりいい加減な使われ方もしている．特にマーケティングの場面では古典的な制御理論との区別が曖昧．よく知らない消費者にすごいと思わせるために使われることも……．</a:t>
            </a:r>
            <a:endParaRPr/>
          </a:p>
          <a:p>
            <a:pPr indent="-317500" lvl="2" marL="1371600" rtl="0" algn="l">
              <a:spcBef>
                <a:spcPts val="0"/>
              </a:spcBef>
              <a:spcAft>
                <a:spcPts val="0"/>
              </a:spcAft>
              <a:buSzPts val="1400"/>
              <a:buChar char="■"/>
            </a:pPr>
            <a:r>
              <a:rPr lang="ja"/>
              <a:t>例：人工知能搭載炊飯器</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人工知能っぽいものたち</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知的さの絶対的な評価は難しいので以下の並びは適当</a:t>
            </a:r>
            <a:endParaRPr/>
          </a:p>
          <a:p>
            <a:pPr indent="-342900" lvl="0" marL="457200" rtl="0" algn="l">
              <a:spcBef>
                <a:spcPts val="0"/>
              </a:spcBef>
              <a:spcAft>
                <a:spcPts val="0"/>
              </a:spcAft>
              <a:buSzPts val="1800"/>
              <a:buChar char="●"/>
            </a:pPr>
            <a:r>
              <a:rPr lang="ja"/>
              <a:t>エアコンや炊飯器の制御でも，古典的だが高度な制御理論がある（PID制御など）</a:t>
            </a:r>
            <a:endParaRPr/>
          </a:p>
        </p:txBody>
      </p:sp>
      <p:sp>
        <p:nvSpPr>
          <p:cNvPr id="98" name="Google Shape;98;p20"/>
          <p:cNvSpPr/>
          <p:nvPr/>
        </p:nvSpPr>
        <p:spPr>
          <a:xfrm>
            <a:off x="770000" y="2263800"/>
            <a:ext cx="7289100" cy="615900"/>
          </a:xfrm>
          <a:prstGeom prst="right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低　　　　　　人間からみて知的に見える度合い　　　　　高</a:t>
            </a:r>
            <a:endParaRPr/>
          </a:p>
        </p:txBody>
      </p:sp>
      <p:sp>
        <p:nvSpPr>
          <p:cNvPr id="99" name="Google Shape;99;p20"/>
          <p:cNvSpPr/>
          <p:nvPr/>
        </p:nvSpPr>
        <p:spPr>
          <a:xfrm>
            <a:off x="698100" y="3374750"/>
            <a:ext cx="1950600" cy="48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エアコンの温度制御</a:t>
            </a:r>
            <a:endParaRPr/>
          </a:p>
        </p:txBody>
      </p:sp>
      <p:sp>
        <p:nvSpPr>
          <p:cNvPr id="100" name="Google Shape;100;p20"/>
          <p:cNvSpPr/>
          <p:nvPr/>
        </p:nvSpPr>
        <p:spPr>
          <a:xfrm>
            <a:off x="583600" y="2875550"/>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炊飯器の</a:t>
            </a:r>
            <a:r>
              <a:rPr lang="ja"/>
              <a:t>制御</a:t>
            </a:r>
            <a:endParaRPr/>
          </a:p>
        </p:txBody>
      </p:sp>
      <p:sp>
        <p:nvSpPr>
          <p:cNvPr id="101" name="Google Shape;101;p20"/>
          <p:cNvSpPr/>
          <p:nvPr/>
        </p:nvSpPr>
        <p:spPr>
          <a:xfrm>
            <a:off x="2597375" y="2875550"/>
            <a:ext cx="10827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チェスAI</a:t>
            </a:r>
            <a:endParaRPr/>
          </a:p>
        </p:txBody>
      </p:sp>
      <p:sp>
        <p:nvSpPr>
          <p:cNvPr id="102" name="Google Shape;102;p20"/>
          <p:cNvSpPr/>
          <p:nvPr/>
        </p:nvSpPr>
        <p:spPr>
          <a:xfrm>
            <a:off x="2597375" y="3944150"/>
            <a:ext cx="1950600" cy="48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カーナビゲーションシステム</a:t>
            </a:r>
            <a:endParaRPr/>
          </a:p>
        </p:txBody>
      </p:sp>
      <p:sp>
        <p:nvSpPr>
          <p:cNvPr id="103" name="Google Shape;103;p20"/>
          <p:cNvSpPr/>
          <p:nvPr/>
        </p:nvSpPr>
        <p:spPr>
          <a:xfrm>
            <a:off x="3796950" y="2875550"/>
            <a:ext cx="10827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将棋AI</a:t>
            </a:r>
            <a:endParaRPr/>
          </a:p>
        </p:txBody>
      </p:sp>
      <p:sp>
        <p:nvSpPr>
          <p:cNvPr id="104" name="Google Shape;104;p20"/>
          <p:cNvSpPr/>
          <p:nvPr/>
        </p:nvSpPr>
        <p:spPr>
          <a:xfrm>
            <a:off x="4719825" y="3269950"/>
            <a:ext cx="10827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囲碁</a:t>
            </a:r>
            <a:r>
              <a:rPr lang="ja"/>
              <a:t>AI</a:t>
            </a:r>
            <a:endParaRPr/>
          </a:p>
        </p:txBody>
      </p:sp>
      <p:sp>
        <p:nvSpPr>
          <p:cNvPr id="105" name="Google Shape;105;p20"/>
          <p:cNvSpPr/>
          <p:nvPr/>
        </p:nvSpPr>
        <p:spPr>
          <a:xfrm>
            <a:off x="4547975" y="3864838"/>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手書き文字認識</a:t>
            </a:r>
            <a:endParaRPr/>
          </a:p>
        </p:txBody>
      </p:sp>
      <p:sp>
        <p:nvSpPr>
          <p:cNvPr id="106" name="Google Shape;106;p20"/>
          <p:cNvSpPr/>
          <p:nvPr/>
        </p:nvSpPr>
        <p:spPr>
          <a:xfrm>
            <a:off x="4762225" y="2746100"/>
            <a:ext cx="17472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自動翻訳</a:t>
            </a:r>
            <a:endParaRPr/>
          </a:p>
        </p:txBody>
      </p:sp>
      <p:sp>
        <p:nvSpPr>
          <p:cNvPr id="107" name="Google Shape;107;p20"/>
          <p:cNvSpPr/>
          <p:nvPr/>
        </p:nvSpPr>
        <p:spPr>
          <a:xfrm>
            <a:off x="6665300" y="2881488"/>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チャットAI</a:t>
            </a:r>
            <a:endParaRPr/>
          </a:p>
        </p:txBody>
      </p:sp>
      <p:sp>
        <p:nvSpPr>
          <p:cNvPr id="108" name="Google Shape;108;p20"/>
          <p:cNvSpPr/>
          <p:nvPr/>
        </p:nvSpPr>
        <p:spPr>
          <a:xfrm>
            <a:off x="4458750" y="4389550"/>
            <a:ext cx="3776100" cy="48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自動定理証明</a:t>
            </a:r>
            <a:endParaRPr/>
          </a:p>
        </p:txBody>
      </p:sp>
      <p:sp>
        <p:nvSpPr>
          <p:cNvPr id="109" name="Google Shape;109;p20"/>
          <p:cNvSpPr/>
          <p:nvPr/>
        </p:nvSpPr>
        <p:spPr>
          <a:xfrm>
            <a:off x="2767175" y="3409850"/>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掃除機ロボット</a:t>
            </a:r>
            <a:endParaRPr/>
          </a:p>
        </p:txBody>
      </p:sp>
      <p:sp>
        <p:nvSpPr>
          <p:cNvPr id="110" name="Google Shape;110;p20"/>
          <p:cNvSpPr/>
          <p:nvPr/>
        </p:nvSpPr>
        <p:spPr>
          <a:xfrm>
            <a:off x="5755475" y="3464825"/>
            <a:ext cx="17472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自動運転</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p:nvPr/>
        </p:nvSpPr>
        <p:spPr>
          <a:xfrm>
            <a:off x="4664975" y="1258950"/>
            <a:ext cx="3609900" cy="3165300"/>
          </a:xfrm>
          <a:prstGeom prst="rect">
            <a:avLst/>
          </a:prstGeom>
          <a:solidFill>
            <a:srgbClr val="EAD1D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t>機械学習</a:t>
            </a:r>
            <a:endParaRPr/>
          </a:p>
          <a:p>
            <a:pPr indent="0" lvl="0" marL="0" rtl="0" algn="ctr">
              <a:spcBef>
                <a:spcPts val="0"/>
              </a:spcBef>
              <a:spcAft>
                <a:spcPts val="0"/>
              </a:spcAft>
              <a:buNone/>
            </a:pPr>
            <a:r>
              <a:rPr lang="ja" sz="1300"/>
              <a:t>（ニューラルネットワーク・強化学習など）</a:t>
            </a:r>
            <a:endParaRPr sz="1300"/>
          </a:p>
        </p:txBody>
      </p:sp>
      <p:sp>
        <p:nvSpPr>
          <p:cNvPr id="116" name="Google Shape;116;p21"/>
          <p:cNvSpPr/>
          <p:nvPr/>
        </p:nvSpPr>
        <p:spPr>
          <a:xfrm>
            <a:off x="5523350" y="1817175"/>
            <a:ext cx="2638500" cy="2494800"/>
          </a:xfrm>
          <a:prstGeom prst="rect">
            <a:avLst/>
          </a:prstGeom>
          <a:solidFill>
            <a:srgbClr val="EA999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t>ディープラーニング（深層ニューラルネットワーク）</a:t>
            </a:r>
            <a:endParaRPr/>
          </a:p>
        </p:txBody>
      </p:sp>
      <p:sp>
        <p:nvSpPr>
          <p:cNvPr id="117" name="Google Shape;117;p21"/>
          <p:cNvSpPr/>
          <p:nvPr/>
        </p:nvSpPr>
        <p:spPr>
          <a:xfrm>
            <a:off x="2597375" y="1253000"/>
            <a:ext cx="1950600" cy="3654900"/>
          </a:xfrm>
          <a:prstGeom prst="rect">
            <a:avLst/>
          </a:prstGeom>
          <a:solidFill>
            <a:srgbClr val="EAD1D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t>探索・最適化アルゴリズム</a:t>
            </a:r>
            <a:endParaRPr/>
          </a:p>
        </p:txBody>
      </p:sp>
      <p:sp>
        <p:nvSpPr>
          <p:cNvPr id="118" name="Google Shape;118;p21"/>
          <p:cNvSpPr/>
          <p:nvPr/>
        </p:nvSpPr>
        <p:spPr>
          <a:xfrm>
            <a:off x="529775" y="1258950"/>
            <a:ext cx="1950600" cy="3654900"/>
          </a:xfrm>
          <a:prstGeom prst="rect">
            <a:avLst/>
          </a:prstGeom>
          <a:solidFill>
            <a:srgbClr val="EAD1D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t>古典的制御理論</a:t>
            </a:r>
            <a:endParaRPr/>
          </a:p>
        </p:txBody>
      </p:sp>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人工知能っぽいものたち</a:t>
            </a:r>
            <a:endParaRPr/>
          </a:p>
        </p:txBody>
      </p:sp>
      <p:sp>
        <p:nvSpPr>
          <p:cNvPr id="120" name="Google Shape;120;p21"/>
          <p:cNvSpPr/>
          <p:nvPr/>
        </p:nvSpPr>
        <p:spPr>
          <a:xfrm>
            <a:off x="831600" y="2321463"/>
            <a:ext cx="7289100" cy="615900"/>
          </a:xfrm>
          <a:prstGeom prst="right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低　　　　　　人間からみて知的に見える度合い　　　　　高</a:t>
            </a:r>
            <a:endParaRPr/>
          </a:p>
        </p:txBody>
      </p:sp>
      <p:sp>
        <p:nvSpPr>
          <p:cNvPr id="121" name="Google Shape;121;p21"/>
          <p:cNvSpPr/>
          <p:nvPr/>
        </p:nvSpPr>
        <p:spPr>
          <a:xfrm>
            <a:off x="698100" y="3374750"/>
            <a:ext cx="1950600" cy="48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エアコンの温度制御</a:t>
            </a:r>
            <a:endParaRPr/>
          </a:p>
        </p:txBody>
      </p:sp>
      <p:sp>
        <p:nvSpPr>
          <p:cNvPr id="122" name="Google Shape;122;p21"/>
          <p:cNvSpPr/>
          <p:nvPr/>
        </p:nvSpPr>
        <p:spPr>
          <a:xfrm>
            <a:off x="583600" y="2875550"/>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炊飯器の制御</a:t>
            </a:r>
            <a:endParaRPr/>
          </a:p>
        </p:txBody>
      </p:sp>
      <p:sp>
        <p:nvSpPr>
          <p:cNvPr id="123" name="Google Shape;123;p21"/>
          <p:cNvSpPr/>
          <p:nvPr/>
        </p:nvSpPr>
        <p:spPr>
          <a:xfrm>
            <a:off x="2480375" y="2759825"/>
            <a:ext cx="10827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チェスAI</a:t>
            </a:r>
            <a:endParaRPr/>
          </a:p>
        </p:txBody>
      </p:sp>
      <p:sp>
        <p:nvSpPr>
          <p:cNvPr id="124" name="Google Shape;124;p21"/>
          <p:cNvSpPr/>
          <p:nvPr/>
        </p:nvSpPr>
        <p:spPr>
          <a:xfrm>
            <a:off x="2597375" y="3944150"/>
            <a:ext cx="1950600" cy="48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カーナビゲーションシステム</a:t>
            </a:r>
            <a:endParaRPr/>
          </a:p>
        </p:txBody>
      </p:sp>
      <p:sp>
        <p:nvSpPr>
          <p:cNvPr id="125" name="Google Shape;125;p21"/>
          <p:cNvSpPr/>
          <p:nvPr/>
        </p:nvSpPr>
        <p:spPr>
          <a:xfrm>
            <a:off x="3489300" y="2939875"/>
            <a:ext cx="13596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将棋AI</a:t>
            </a:r>
            <a:endParaRPr/>
          </a:p>
        </p:txBody>
      </p:sp>
      <p:sp>
        <p:nvSpPr>
          <p:cNvPr id="126" name="Google Shape;126;p21"/>
          <p:cNvSpPr/>
          <p:nvPr/>
        </p:nvSpPr>
        <p:spPr>
          <a:xfrm>
            <a:off x="4743363" y="3223725"/>
            <a:ext cx="10827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囲碁AI</a:t>
            </a:r>
            <a:endParaRPr/>
          </a:p>
        </p:txBody>
      </p:sp>
      <p:sp>
        <p:nvSpPr>
          <p:cNvPr id="127" name="Google Shape;127;p21"/>
          <p:cNvSpPr/>
          <p:nvPr/>
        </p:nvSpPr>
        <p:spPr>
          <a:xfrm>
            <a:off x="4664975" y="3798300"/>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手書き文字認識</a:t>
            </a:r>
            <a:endParaRPr/>
          </a:p>
        </p:txBody>
      </p:sp>
      <p:sp>
        <p:nvSpPr>
          <p:cNvPr id="128" name="Google Shape;128;p21"/>
          <p:cNvSpPr/>
          <p:nvPr/>
        </p:nvSpPr>
        <p:spPr>
          <a:xfrm>
            <a:off x="4396738" y="2759825"/>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自動翻訳</a:t>
            </a:r>
            <a:endParaRPr/>
          </a:p>
        </p:txBody>
      </p:sp>
      <p:sp>
        <p:nvSpPr>
          <p:cNvPr id="129" name="Google Shape;129;p21"/>
          <p:cNvSpPr/>
          <p:nvPr/>
        </p:nvSpPr>
        <p:spPr>
          <a:xfrm>
            <a:off x="6665300" y="2881488"/>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チャットAI</a:t>
            </a:r>
            <a:endParaRPr/>
          </a:p>
        </p:txBody>
      </p:sp>
      <p:sp>
        <p:nvSpPr>
          <p:cNvPr id="130" name="Google Shape;130;p21"/>
          <p:cNvSpPr/>
          <p:nvPr/>
        </p:nvSpPr>
        <p:spPr>
          <a:xfrm>
            <a:off x="4273725" y="4292125"/>
            <a:ext cx="4209900" cy="61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自動定理証明</a:t>
            </a:r>
            <a:endParaRPr/>
          </a:p>
        </p:txBody>
      </p:sp>
      <p:sp>
        <p:nvSpPr>
          <p:cNvPr id="131" name="Google Shape;131;p21"/>
          <p:cNvSpPr/>
          <p:nvPr/>
        </p:nvSpPr>
        <p:spPr>
          <a:xfrm>
            <a:off x="2767175" y="3409850"/>
            <a:ext cx="15519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掃除機ロボット</a:t>
            </a:r>
            <a:endParaRPr/>
          </a:p>
        </p:txBody>
      </p:sp>
      <p:sp>
        <p:nvSpPr>
          <p:cNvPr id="132" name="Google Shape;132;p21"/>
          <p:cNvSpPr/>
          <p:nvPr/>
        </p:nvSpPr>
        <p:spPr>
          <a:xfrm>
            <a:off x="5757275" y="3355500"/>
            <a:ext cx="1425300" cy="40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自動運転</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古典的制御理論</a:t>
            </a:r>
            <a:endParaRPr/>
          </a:p>
        </p:txBody>
      </p:sp>
      <p:sp>
        <p:nvSpPr>
          <p:cNvPr id="138" name="Google Shape;13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家電，古典的な自動車，さまざまな機械に使われている</a:t>
            </a:r>
            <a:endParaRPr/>
          </a:p>
          <a:p>
            <a:pPr indent="-342900" lvl="0" marL="457200" rtl="0" algn="l">
              <a:spcBef>
                <a:spcPts val="0"/>
              </a:spcBef>
              <a:spcAft>
                <a:spcPts val="0"/>
              </a:spcAft>
              <a:buSzPts val="1800"/>
              <a:buChar char="●"/>
            </a:pPr>
            <a:r>
              <a:rPr lang="ja"/>
              <a:t>温度制御，モーター制御，電圧制御</a:t>
            </a:r>
            <a:endParaRPr/>
          </a:p>
          <a:p>
            <a:pPr indent="-342900" lvl="0" marL="457200" rtl="0" algn="l">
              <a:spcBef>
                <a:spcPts val="0"/>
              </a:spcBef>
              <a:spcAft>
                <a:spcPts val="0"/>
              </a:spcAft>
              <a:buSzPts val="1800"/>
              <a:buChar char="●"/>
            </a:pPr>
            <a:r>
              <a:rPr lang="ja"/>
              <a:t>欲しい結果を得るためには，どのくらいの出力を出せばいいか</a:t>
            </a:r>
            <a:endParaRPr/>
          </a:p>
          <a:p>
            <a:pPr indent="-342900" lvl="0" marL="457200" rtl="0" algn="l">
              <a:spcBef>
                <a:spcPts val="0"/>
              </a:spcBef>
              <a:spcAft>
                <a:spcPts val="0"/>
              </a:spcAft>
              <a:buSzPts val="1800"/>
              <a:buChar char="●"/>
            </a:pPr>
            <a:r>
              <a:rPr lang="ja"/>
              <a:t>現在の環境からのフィードバックを取り入れたりもする</a:t>
            </a:r>
            <a:endParaRPr/>
          </a:p>
          <a:p>
            <a:pPr indent="-342900" lvl="0" marL="457200" rtl="0" algn="l">
              <a:spcBef>
                <a:spcPts val="0"/>
              </a:spcBef>
              <a:spcAft>
                <a:spcPts val="0"/>
              </a:spcAft>
              <a:buSzPts val="1800"/>
              <a:buChar char="●"/>
            </a:pPr>
            <a:r>
              <a:rPr lang="ja"/>
              <a:t>ちゃんと勉強しようとすると結構ややこしい数学が必要</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探索・最適化アルゴリズム</a:t>
            </a:r>
            <a:endParaRPr/>
          </a:p>
        </p:txBody>
      </p:sp>
      <p:sp>
        <p:nvSpPr>
          <p:cNvPr id="144" name="Google Shape;14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初期（1960–1980ごろ）の人工知能といえば，探索・最適化アルゴリズムのことだった．</a:t>
            </a:r>
            <a:endParaRPr/>
          </a:p>
          <a:p>
            <a:pPr indent="-317500" lvl="1" marL="914400" rtl="0" algn="l">
              <a:spcBef>
                <a:spcPts val="0"/>
              </a:spcBef>
              <a:spcAft>
                <a:spcPts val="0"/>
              </a:spcAft>
              <a:buSzPts val="1400"/>
              <a:buChar char="○"/>
            </a:pPr>
            <a:r>
              <a:rPr lang="ja"/>
              <a:t>カーナビゲーションシステム</a:t>
            </a:r>
            <a:endParaRPr/>
          </a:p>
          <a:p>
            <a:pPr indent="-317500" lvl="1" marL="914400" rtl="0" algn="l">
              <a:spcBef>
                <a:spcPts val="0"/>
              </a:spcBef>
              <a:spcAft>
                <a:spcPts val="0"/>
              </a:spcAft>
              <a:buSzPts val="1400"/>
              <a:buChar char="○"/>
            </a:pPr>
            <a:r>
              <a:rPr lang="ja"/>
              <a:t>チェスAI</a:t>
            </a:r>
            <a:endParaRPr/>
          </a:p>
          <a:p>
            <a:pPr indent="-342900" lvl="0" marL="457200" rtl="0" algn="l">
              <a:spcBef>
                <a:spcPts val="0"/>
              </a:spcBef>
              <a:spcAft>
                <a:spcPts val="0"/>
              </a:spcAft>
              <a:buSzPts val="1800"/>
              <a:buChar char="●"/>
            </a:pPr>
            <a:r>
              <a:rPr lang="ja"/>
              <a:t>特定の「知的」タスクに特化し，その領域では人間を超える能力を持つ</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機械学習</a:t>
            </a:r>
            <a:endParaRPr/>
          </a:p>
        </p:txBody>
      </p:sp>
      <p:sp>
        <p:nvSpPr>
          <p:cNvPr id="150" name="Google Shape;15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ja"/>
              <a:t>非常に多くのサンプルデータをもとに入力と出力の関係を学習する手法</a:t>
            </a:r>
            <a:endParaRPr/>
          </a:p>
          <a:p>
            <a:pPr indent="-317500" lvl="1" marL="914400" rtl="0" algn="l">
              <a:spcBef>
                <a:spcPts val="0"/>
              </a:spcBef>
              <a:spcAft>
                <a:spcPts val="0"/>
              </a:spcAft>
              <a:buSzPts val="1400"/>
              <a:buChar char="○"/>
            </a:pPr>
            <a:r>
              <a:rPr lang="ja"/>
              <a:t>推薦システム（おすすめの商品の提案や動画のリコメンド）</a:t>
            </a:r>
            <a:endParaRPr/>
          </a:p>
          <a:p>
            <a:pPr indent="-317500" lvl="1" marL="914400" rtl="0" algn="l">
              <a:spcBef>
                <a:spcPts val="0"/>
              </a:spcBef>
              <a:spcAft>
                <a:spcPts val="0"/>
              </a:spcAft>
              <a:buSzPts val="1400"/>
              <a:buChar char="○"/>
            </a:pPr>
            <a:r>
              <a:rPr lang="ja"/>
              <a:t>検索エンジン</a:t>
            </a:r>
            <a:endParaRPr/>
          </a:p>
          <a:p>
            <a:pPr indent="-317500" lvl="1" marL="914400" rtl="0" algn="l">
              <a:spcBef>
                <a:spcPts val="0"/>
              </a:spcBef>
              <a:spcAft>
                <a:spcPts val="0"/>
              </a:spcAft>
              <a:buSzPts val="1400"/>
              <a:buChar char="○"/>
            </a:pPr>
            <a:r>
              <a:rPr lang="ja"/>
              <a:t>パターン認識</a:t>
            </a:r>
            <a:endParaRPr/>
          </a:p>
          <a:p>
            <a:pPr indent="-342900" lvl="0" marL="457200" rtl="0" algn="l">
              <a:spcBef>
                <a:spcPts val="0"/>
              </a:spcBef>
              <a:spcAft>
                <a:spcPts val="0"/>
              </a:spcAft>
              <a:buSzPts val="1800"/>
              <a:buChar char="●"/>
            </a:pPr>
            <a:r>
              <a:rPr lang="ja"/>
              <a:t>2000年代ごろからのビッグデータ時代からいろいろな理論・技術・応用が登場</a:t>
            </a:r>
            <a:endParaRPr/>
          </a:p>
          <a:p>
            <a:pPr indent="-342900" lvl="0" marL="457200" rtl="0" algn="l">
              <a:spcBef>
                <a:spcPts val="0"/>
              </a:spcBef>
              <a:spcAft>
                <a:spcPts val="0"/>
              </a:spcAft>
              <a:buSzPts val="1800"/>
              <a:buChar char="●"/>
            </a:pPr>
            <a:r>
              <a:rPr lang="ja"/>
              <a:t>人間が明示的に教えなくても，勝手に学習するような仕組みがある</a:t>
            </a:r>
            <a:endParaRPr/>
          </a:p>
          <a:p>
            <a:pPr indent="-317500" lvl="1" marL="914400" rtl="0" algn="l">
              <a:spcBef>
                <a:spcPts val="0"/>
              </a:spcBef>
              <a:spcAft>
                <a:spcPts val="0"/>
              </a:spcAft>
              <a:buSzPts val="1400"/>
              <a:buChar char="○"/>
            </a:pPr>
            <a:r>
              <a:rPr lang="ja"/>
              <a:t>人間が理解・認知できない事実・現象を学習できるという事例もある</a:t>
            </a:r>
            <a:endParaRPr/>
          </a:p>
          <a:p>
            <a:pPr indent="-342900" lvl="0" marL="457200" rtl="0" algn="l">
              <a:spcBef>
                <a:spcPts val="0"/>
              </a:spcBef>
              <a:spcAft>
                <a:spcPts val="0"/>
              </a:spcAft>
              <a:buSzPts val="1800"/>
              <a:buChar char="●"/>
            </a:pPr>
            <a:r>
              <a:rPr lang="ja"/>
              <a:t>ニューラルネットワークはそのような仕組みのひとつ</a:t>
            </a:r>
            <a:endParaRPr/>
          </a:p>
          <a:p>
            <a:pPr indent="-317500" lvl="1" marL="914400" rtl="0" algn="l">
              <a:spcBef>
                <a:spcPts val="0"/>
              </a:spcBef>
              <a:spcAft>
                <a:spcPts val="0"/>
              </a:spcAft>
              <a:buSzPts val="1400"/>
              <a:buChar char="○"/>
            </a:pPr>
            <a:r>
              <a:rPr lang="ja"/>
              <a:t>生物の脳神経回路を模倣した手法</a:t>
            </a:r>
            <a:endParaRPr/>
          </a:p>
          <a:p>
            <a:pPr indent="-317500" lvl="1" marL="914400" rtl="0" algn="l">
              <a:spcBef>
                <a:spcPts val="0"/>
              </a:spcBef>
              <a:spcAft>
                <a:spcPts val="0"/>
              </a:spcAft>
              <a:buSzPts val="1400"/>
              <a:buChar char="○"/>
            </a:pPr>
            <a:r>
              <a:rPr lang="ja"/>
              <a:t>最近の将棋AIは部分的にニューラルネットワークを使っている</a:t>
            </a:r>
            <a:endParaRPr/>
          </a:p>
          <a:p>
            <a:pPr indent="-317500" lvl="1" marL="914400" rtl="0" algn="l">
              <a:spcBef>
                <a:spcPts val="0"/>
              </a:spcBef>
              <a:spcAft>
                <a:spcPts val="0"/>
              </a:spcAft>
              <a:buSzPts val="1400"/>
              <a:buChar char="○"/>
            </a:pPr>
            <a:r>
              <a:rPr lang="ja"/>
              <a:t>ChatGPTも</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220"/>
              <a:t>ディープラーニング（深層学習）</a:t>
            </a:r>
            <a:endParaRPr sz="2220"/>
          </a:p>
        </p:txBody>
      </p:sp>
      <p:sp>
        <p:nvSpPr>
          <p:cNvPr id="156" name="Google Shape;15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ニューラルネットワークをたくさん連ねた構造（深層ニューラルネットワーク）を用いる手法</a:t>
            </a:r>
            <a:endParaRPr/>
          </a:p>
          <a:p>
            <a:pPr indent="-317500" lvl="1" marL="914400" rtl="0" algn="l">
              <a:spcBef>
                <a:spcPts val="0"/>
              </a:spcBef>
              <a:spcAft>
                <a:spcPts val="0"/>
              </a:spcAft>
              <a:buSzPts val="1400"/>
              <a:buChar char="○"/>
            </a:pPr>
            <a:r>
              <a:rPr lang="ja"/>
              <a:t>ChatGPTは巨大な深層ニューラルネットワークの一種（トランスフォーマーモデル）で実現されている</a:t>
            </a:r>
            <a:endParaRPr/>
          </a:p>
          <a:p>
            <a:pPr indent="-342900" lvl="0" marL="457200" rtl="0" algn="l">
              <a:spcBef>
                <a:spcPts val="0"/>
              </a:spcBef>
              <a:spcAft>
                <a:spcPts val="0"/>
              </a:spcAft>
              <a:buSzPts val="1800"/>
              <a:buChar char="●"/>
            </a:pPr>
            <a:r>
              <a:rPr lang="ja"/>
              <a:t>学習対象となるデータについて，どのような特徴が学習結果に大きく影響するか（</a:t>
            </a:r>
            <a:r>
              <a:rPr lang="ja">
                <a:solidFill>
                  <a:srgbClr val="FF0000"/>
                </a:solidFill>
              </a:rPr>
              <a:t>特徴量</a:t>
            </a:r>
            <a:r>
              <a:rPr lang="ja"/>
              <a:t>）を自動的に学習する</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人工知能研究の歴史</a:t>
            </a:r>
            <a:endParaRPr/>
          </a:p>
        </p:txBody>
      </p:sp>
      <p:sp>
        <p:nvSpPr>
          <p:cNvPr id="162" name="Google Shape;16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1946</a:t>
            </a:r>
            <a:r>
              <a:rPr lang="ja"/>
              <a:t>年，米国ペンシルバニア大学で世界初（とされる）汎用電子式コンピュータENIACが開発される</a:t>
            </a:r>
            <a:endParaRPr/>
          </a:p>
          <a:p>
            <a:pPr indent="-342900" lvl="0" marL="457200" rtl="0" algn="l">
              <a:spcBef>
                <a:spcPts val="0"/>
              </a:spcBef>
              <a:spcAft>
                <a:spcPts val="0"/>
              </a:spcAft>
              <a:buSzPts val="1800"/>
              <a:buChar char="●"/>
            </a:pPr>
            <a:r>
              <a:rPr lang="ja"/>
              <a:t>1956年，ダートマス会議で，人工知能(artificial inteligence)という言葉が用いられる．知能をコンピュータによって人工的に実現することの方法論や実現可能性が議論される</a:t>
            </a:r>
            <a:endParaRPr/>
          </a:p>
          <a:p>
            <a:pPr indent="-317500" lvl="1" marL="914400" rtl="0" algn="l">
              <a:spcBef>
                <a:spcPts val="0"/>
              </a:spcBef>
              <a:spcAft>
                <a:spcPts val="0"/>
              </a:spcAft>
              <a:buSzPts val="1400"/>
              <a:buChar char="○"/>
            </a:pPr>
            <a:r>
              <a:rPr lang="ja"/>
              <a:t>ロジック・セオリスト：数学の定理（のうち簡単なもの）を自動的に証明するプログラム</a:t>
            </a:r>
            <a:endParaRPr/>
          </a:p>
          <a:p>
            <a:pPr indent="-317500" lvl="1" marL="914400" rtl="0" algn="l">
              <a:spcBef>
                <a:spcPts val="0"/>
              </a:spcBef>
              <a:spcAft>
                <a:spcPts val="0"/>
              </a:spcAft>
              <a:buSzPts val="1400"/>
              <a:buChar char="○"/>
            </a:pPr>
            <a:r>
              <a:rPr lang="ja"/>
              <a:t>当時はコンピュータの使い道はもっぱら数値計算（ロケットの軌道計算やシミュレーション）だったため，画期的だった</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繰り返されるAIブームと冬の時代</a:t>
            </a:r>
            <a:endParaRPr/>
          </a:p>
        </p:txBody>
      </p:sp>
      <p:sp>
        <p:nvSpPr>
          <p:cNvPr id="168" name="Google Shape;168;p27"/>
          <p:cNvSpPr txBox="1"/>
          <p:nvPr>
            <p:ph idx="1" type="body"/>
          </p:nvPr>
        </p:nvSpPr>
        <p:spPr>
          <a:xfrm>
            <a:off x="311700" y="1152475"/>
            <a:ext cx="8520600" cy="3816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第1次AIブーム（探索・推論の時代 1950–1960）</a:t>
            </a:r>
            <a:endParaRPr/>
          </a:p>
          <a:p>
            <a:pPr indent="-317500" lvl="1" marL="914400" rtl="0" algn="l">
              <a:spcBef>
                <a:spcPts val="0"/>
              </a:spcBef>
              <a:spcAft>
                <a:spcPts val="0"/>
              </a:spcAft>
              <a:buSzPts val="1400"/>
              <a:buChar char="○"/>
            </a:pPr>
            <a:r>
              <a:rPr lang="ja"/>
              <a:t>定型的な問題しか解けない（それでも十分実用になるのだが）</a:t>
            </a:r>
            <a:endParaRPr/>
          </a:p>
          <a:p>
            <a:pPr indent="-317500" lvl="1" marL="914400" rtl="0" algn="l">
              <a:spcBef>
                <a:spcPts val="0"/>
              </a:spcBef>
              <a:spcAft>
                <a:spcPts val="0"/>
              </a:spcAft>
              <a:buSzPts val="1400"/>
              <a:buChar char="○"/>
            </a:pPr>
            <a:r>
              <a:rPr lang="ja"/>
              <a:t>人間のような知能ができると思っていた人はがっかり（「トイ・プロブレム」（おもちゃのような簡単な問題）しか解けないのではないかという批判）</a:t>
            </a:r>
            <a:endParaRPr/>
          </a:p>
          <a:p>
            <a:pPr indent="-342900" lvl="0" marL="457200" rtl="0" algn="l">
              <a:spcBef>
                <a:spcPts val="0"/>
              </a:spcBef>
              <a:spcAft>
                <a:spcPts val="0"/>
              </a:spcAft>
              <a:buSzPts val="1800"/>
              <a:buChar char="●"/>
            </a:pPr>
            <a:r>
              <a:rPr lang="ja"/>
              <a:t>第2次AIブーム（知識の時代 1980年代）</a:t>
            </a:r>
            <a:endParaRPr/>
          </a:p>
          <a:p>
            <a:pPr indent="-317500" lvl="1" marL="914400" rtl="0" algn="l">
              <a:spcBef>
                <a:spcPts val="0"/>
              </a:spcBef>
              <a:spcAft>
                <a:spcPts val="0"/>
              </a:spcAft>
              <a:buSzPts val="1400"/>
              <a:buChar char="○"/>
            </a:pPr>
            <a:r>
              <a:rPr lang="ja"/>
              <a:t>データベースにたくさん知識を詰め込めば賢いシステムができるだろうという発想</a:t>
            </a:r>
            <a:endParaRPr/>
          </a:p>
          <a:p>
            <a:pPr indent="-317500" lvl="1" marL="914400" rtl="0" algn="l">
              <a:spcBef>
                <a:spcPts val="0"/>
              </a:spcBef>
              <a:spcAft>
                <a:spcPts val="0"/>
              </a:spcAft>
              <a:buClr>
                <a:srgbClr val="FF0000"/>
              </a:buClr>
              <a:buSzPts val="1400"/>
              <a:buChar char="○"/>
            </a:pPr>
            <a:r>
              <a:rPr lang="ja">
                <a:solidFill>
                  <a:srgbClr val="FF0000"/>
                </a:solidFill>
              </a:rPr>
              <a:t>エキスパートシステム</a:t>
            </a:r>
            <a:endParaRPr>
              <a:solidFill>
                <a:srgbClr val="FF0000"/>
              </a:solidFill>
            </a:endParaRPr>
          </a:p>
          <a:p>
            <a:pPr indent="-317500" lvl="1" marL="914400" rtl="0" algn="l">
              <a:spcBef>
                <a:spcPts val="0"/>
              </a:spcBef>
              <a:spcAft>
                <a:spcPts val="0"/>
              </a:spcAft>
              <a:buSzPts val="1400"/>
              <a:buChar char="○"/>
            </a:pPr>
            <a:r>
              <a:rPr lang="ja"/>
              <a:t>知識をたくさん詰め込むのはかなり大変だということが明らかになった（人間が常識だと思うことも，この方法だと明示的に知識として入力しなければならない．たいへん！）</a:t>
            </a:r>
            <a:endParaRPr/>
          </a:p>
          <a:p>
            <a:pPr indent="-342900" lvl="0" marL="457200" rtl="0" algn="l">
              <a:spcBef>
                <a:spcPts val="0"/>
              </a:spcBef>
              <a:spcAft>
                <a:spcPts val="0"/>
              </a:spcAft>
              <a:buSzPts val="1800"/>
              <a:buChar char="●"/>
            </a:pPr>
            <a:r>
              <a:rPr lang="ja"/>
              <a:t>第3次AIブーム（機械学習の時代 2010–）</a:t>
            </a:r>
            <a:endParaRPr/>
          </a:p>
          <a:p>
            <a:pPr indent="-317500" lvl="1" marL="914400" rtl="0" algn="l">
              <a:spcBef>
                <a:spcPts val="0"/>
              </a:spcBef>
              <a:spcAft>
                <a:spcPts val="0"/>
              </a:spcAft>
              <a:buSzPts val="1400"/>
              <a:buChar char="○"/>
            </a:pPr>
            <a:r>
              <a:rPr lang="ja"/>
              <a:t>たくさんデータを用意して（</a:t>
            </a:r>
            <a:r>
              <a:rPr lang="ja">
                <a:solidFill>
                  <a:srgbClr val="FF0000"/>
                </a:solidFill>
              </a:rPr>
              <a:t>ビッグデータ</a:t>
            </a:r>
            <a:r>
              <a:rPr lang="ja"/>
              <a:t>），そこから自動的に有益な情報（</a:t>
            </a:r>
            <a:r>
              <a:rPr lang="ja">
                <a:solidFill>
                  <a:srgbClr val="FF0000"/>
                </a:solidFill>
              </a:rPr>
              <a:t>特徴量</a:t>
            </a:r>
            <a:r>
              <a:rPr lang="ja"/>
              <a:t>）を獲得できれば，知識を明示的に入力しなくてもよい</a:t>
            </a:r>
            <a:endParaRPr/>
          </a:p>
          <a:p>
            <a:pPr indent="-317500" lvl="1" marL="914400" rtl="0" algn="l">
              <a:spcBef>
                <a:spcPts val="0"/>
              </a:spcBef>
              <a:spcAft>
                <a:spcPts val="0"/>
              </a:spcAft>
              <a:buSzPts val="1400"/>
              <a:buChar char="○"/>
            </a:pPr>
            <a:r>
              <a:rPr lang="ja">
                <a:solidFill>
                  <a:srgbClr val="FF0000"/>
                </a:solidFill>
              </a:rPr>
              <a:t>ディープラーニング</a:t>
            </a:r>
            <a:r>
              <a:rPr lang="ja"/>
              <a:t>という手法でそれを実現できることが判明した</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人工知能分野の諸問題１</a:t>
            </a:r>
            <a:endParaRPr/>
          </a:p>
        </p:txBody>
      </p:sp>
      <p:sp>
        <p:nvSpPr>
          <p:cNvPr id="174" name="Google Shape;17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フレーム問題</a:t>
            </a:r>
            <a:endParaRPr/>
          </a:p>
          <a:p>
            <a:pPr indent="-317500" lvl="1" marL="914400" rtl="0" algn="l">
              <a:spcBef>
                <a:spcPts val="0"/>
              </a:spcBef>
              <a:spcAft>
                <a:spcPts val="0"/>
              </a:spcAft>
              <a:buSzPts val="1400"/>
              <a:buChar char="○"/>
            </a:pPr>
            <a:r>
              <a:rPr lang="ja"/>
              <a:t>1969年，ジョン・マッカーシーとパトリックヘイズが提唱</a:t>
            </a:r>
            <a:endParaRPr/>
          </a:p>
          <a:p>
            <a:pPr indent="-317500" lvl="1" marL="914400" rtl="0" algn="l">
              <a:spcBef>
                <a:spcPts val="0"/>
              </a:spcBef>
              <a:spcAft>
                <a:spcPts val="0"/>
              </a:spcAft>
              <a:buClr>
                <a:srgbClr val="FF0000"/>
              </a:buClr>
              <a:buSzPts val="1400"/>
              <a:buChar char="○"/>
            </a:pPr>
            <a:r>
              <a:rPr lang="ja">
                <a:solidFill>
                  <a:srgbClr val="FF0000"/>
                </a:solidFill>
              </a:rPr>
              <a:t>今しようとしていることに関係のあることがらだけを選び出すことが，実は非常に難しい</a:t>
            </a:r>
            <a:endParaRPr>
              <a:solidFill>
                <a:srgbClr val="FF0000"/>
              </a:solidFill>
            </a:endParaRPr>
          </a:p>
          <a:p>
            <a:pPr indent="-342900" lvl="0" marL="457200" rtl="0" algn="l">
              <a:spcBef>
                <a:spcPts val="0"/>
              </a:spcBef>
              <a:spcAft>
                <a:spcPts val="0"/>
              </a:spcAft>
              <a:buSzPts val="1800"/>
              <a:buChar char="●"/>
            </a:pPr>
            <a:r>
              <a:rPr lang="ja"/>
              <a:t>チューリングテスト</a:t>
            </a:r>
            <a:endParaRPr/>
          </a:p>
          <a:p>
            <a:pPr indent="-317500" lvl="1" marL="914400" rtl="0" algn="l">
              <a:spcBef>
                <a:spcPts val="0"/>
              </a:spcBef>
              <a:spcAft>
                <a:spcPts val="0"/>
              </a:spcAft>
              <a:buSzPts val="1400"/>
              <a:buChar char="○"/>
            </a:pPr>
            <a:r>
              <a:rPr lang="ja"/>
              <a:t>アラン・チューリングが提唱</a:t>
            </a:r>
            <a:endParaRPr/>
          </a:p>
          <a:p>
            <a:pPr indent="-317500" lvl="1" marL="914400" rtl="0" algn="l">
              <a:spcBef>
                <a:spcPts val="0"/>
              </a:spcBef>
              <a:spcAft>
                <a:spcPts val="0"/>
              </a:spcAft>
              <a:buSzPts val="1400"/>
              <a:buChar char="○"/>
            </a:pPr>
            <a:r>
              <a:rPr lang="ja"/>
              <a:t>人工知能と呼べるものができたかどうかの判定基準</a:t>
            </a:r>
            <a:endParaRPr/>
          </a:p>
          <a:p>
            <a:pPr indent="-317500" lvl="1" marL="914400" rtl="0" algn="l">
              <a:spcBef>
                <a:spcPts val="0"/>
              </a:spcBef>
              <a:spcAft>
                <a:spcPts val="0"/>
              </a:spcAft>
              <a:buClr>
                <a:srgbClr val="FF0000"/>
              </a:buClr>
              <a:buSzPts val="1400"/>
              <a:buChar char="○"/>
            </a:pPr>
            <a:r>
              <a:rPr lang="ja">
                <a:solidFill>
                  <a:srgbClr val="FF0000"/>
                </a:solidFill>
              </a:rPr>
              <a:t>別の場所にいる人間がコンピュータと会話し，相手がコンピュータだと見抜けなければコンピュータには知能があるとする</a:t>
            </a:r>
            <a:endParaRPr>
              <a:solidFill>
                <a:srgbClr val="FF0000"/>
              </a:solidFill>
            </a:endParaRPr>
          </a:p>
          <a:p>
            <a:pPr indent="-317500" lvl="1" marL="914400" rtl="0" algn="l">
              <a:spcBef>
                <a:spcPts val="0"/>
              </a:spcBef>
              <a:spcAft>
                <a:spcPts val="0"/>
              </a:spcAft>
              <a:buSzPts val="1400"/>
              <a:buChar char="○"/>
            </a:pPr>
            <a:r>
              <a:rPr lang="ja"/>
              <a:t>ChatGPTなどの最近のチャットAIはチューリングテストに合格すると言ってもいいかもしれない</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人工知能分野の諸問題２</a:t>
            </a:r>
            <a:endParaRPr/>
          </a:p>
        </p:txBody>
      </p:sp>
      <p:sp>
        <p:nvSpPr>
          <p:cNvPr id="180" name="Google Shape;18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ja"/>
              <a:t>強いAIと弱いAI</a:t>
            </a:r>
            <a:endParaRPr/>
          </a:p>
          <a:p>
            <a:pPr indent="-317500" lvl="1" marL="914400" rtl="0" algn="l">
              <a:spcBef>
                <a:spcPts val="0"/>
              </a:spcBef>
              <a:spcAft>
                <a:spcPts val="0"/>
              </a:spcAft>
              <a:buSzPts val="1400"/>
              <a:buChar char="○"/>
            </a:pPr>
            <a:r>
              <a:rPr lang="ja"/>
              <a:t>哲学者ジョン・サールが1980年に提唱</a:t>
            </a:r>
            <a:endParaRPr/>
          </a:p>
          <a:p>
            <a:pPr indent="-317500" lvl="1" marL="914400" rtl="0" algn="l">
              <a:spcBef>
                <a:spcPts val="0"/>
              </a:spcBef>
              <a:spcAft>
                <a:spcPts val="0"/>
              </a:spcAft>
              <a:buSzPts val="1400"/>
              <a:buChar char="○"/>
            </a:pPr>
            <a:r>
              <a:rPr lang="ja"/>
              <a:t>強いAI：適切にプログラムされたコンピュータは</a:t>
            </a:r>
            <a:r>
              <a:rPr lang="ja">
                <a:solidFill>
                  <a:srgbClr val="FF0000"/>
                </a:solidFill>
              </a:rPr>
              <a:t>人間が心を持つのと同じ意味で心を持つ</a:t>
            </a:r>
            <a:r>
              <a:rPr lang="ja"/>
              <a:t>とする立場．またそのようなプログラムのこと</a:t>
            </a:r>
            <a:endParaRPr/>
          </a:p>
          <a:p>
            <a:pPr indent="-317500" lvl="1" marL="914400" rtl="0" algn="l">
              <a:spcBef>
                <a:spcPts val="0"/>
              </a:spcBef>
              <a:spcAft>
                <a:spcPts val="0"/>
              </a:spcAft>
              <a:buSzPts val="1400"/>
              <a:buChar char="○"/>
            </a:pPr>
            <a:r>
              <a:rPr lang="ja"/>
              <a:t>弱いAI：コンピュータは人間の</a:t>
            </a:r>
            <a:r>
              <a:rPr lang="ja">
                <a:solidFill>
                  <a:srgbClr val="FF0000"/>
                </a:solidFill>
              </a:rPr>
              <a:t>心を持つ必要はなく</a:t>
            </a:r>
            <a:r>
              <a:rPr lang="ja"/>
              <a:t>，</a:t>
            </a:r>
            <a:r>
              <a:rPr lang="ja">
                <a:solidFill>
                  <a:srgbClr val="FF0000"/>
                </a:solidFill>
              </a:rPr>
              <a:t>有用な道具</a:t>
            </a:r>
            <a:r>
              <a:rPr lang="ja"/>
              <a:t>であればよいとする立場．またそのようなプログラムのこと</a:t>
            </a:r>
            <a:endParaRPr/>
          </a:p>
          <a:p>
            <a:pPr indent="-342900" lvl="0" marL="457200" rtl="0" algn="l">
              <a:spcBef>
                <a:spcPts val="0"/>
              </a:spcBef>
              <a:spcAft>
                <a:spcPts val="0"/>
              </a:spcAft>
              <a:buSzPts val="1800"/>
              <a:buChar char="●"/>
            </a:pPr>
            <a:r>
              <a:rPr lang="ja"/>
              <a:t>中国語の部屋</a:t>
            </a:r>
            <a:endParaRPr/>
          </a:p>
          <a:p>
            <a:pPr indent="-317500" lvl="1" marL="914400" rtl="0" algn="l">
              <a:spcBef>
                <a:spcPts val="0"/>
              </a:spcBef>
              <a:spcAft>
                <a:spcPts val="0"/>
              </a:spcAft>
              <a:buSzPts val="1400"/>
              <a:buChar char="○"/>
            </a:pPr>
            <a:r>
              <a:rPr lang="ja"/>
              <a:t>ジョン・サールの思考実験</a:t>
            </a:r>
            <a:endParaRPr/>
          </a:p>
          <a:p>
            <a:pPr indent="-317500" lvl="1" marL="914400" rtl="0" algn="l">
              <a:spcBef>
                <a:spcPts val="0"/>
              </a:spcBef>
              <a:spcAft>
                <a:spcPts val="0"/>
              </a:spcAft>
              <a:buSzPts val="1400"/>
              <a:buChar char="○"/>
            </a:pPr>
            <a:r>
              <a:rPr lang="ja"/>
              <a:t>ある部屋に英語しかわからない人Aが閉じ込められる．その部屋には中国語の質問に答えるための記号変換ルールのようなものが書かれている．部屋の外の人Bが中国語で質問をし，返答が返ってくるのを観察する．人物Bは部屋の中がどうなっているかわからないが，この部屋の中の人物は十分な知性を持つように思える</a:t>
            </a:r>
            <a:endParaRPr/>
          </a:p>
          <a:p>
            <a:pPr indent="-317500" lvl="1" marL="914400" rtl="0" algn="l">
              <a:spcBef>
                <a:spcPts val="0"/>
              </a:spcBef>
              <a:spcAft>
                <a:spcPts val="0"/>
              </a:spcAft>
              <a:buSzPts val="1400"/>
              <a:buChar char="○"/>
            </a:pPr>
            <a:r>
              <a:rPr lang="ja"/>
              <a:t>知性はどこにあるのか？</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人工知能分野の諸問題３</a:t>
            </a:r>
            <a:endParaRPr/>
          </a:p>
        </p:txBody>
      </p:sp>
      <p:sp>
        <p:nvSpPr>
          <p:cNvPr id="186" name="Google Shape;18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ja"/>
              <a:t>量子脳仮説</a:t>
            </a:r>
            <a:endParaRPr/>
          </a:p>
          <a:p>
            <a:pPr indent="-317500" lvl="1" marL="914400" rtl="0" algn="l">
              <a:spcBef>
                <a:spcPts val="0"/>
              </a:spcBef>
              <a:spcAft>
                <a:spcPts val="0"/>
              </a:spcAft>
              <a:buSzPts val="1400"/>
              <a:buChar char="○"/>
            </a:pPr>
            <a:r>
              <a:rPr lang="ja"/>
              <a:t>ロジャー・ペンローズ（物理学者・数学者．ノーベル物理学賞受賞者）が提唱</a:t>
            </a:r>
            <a:endParaRPr/>
          </a:p>
          <a:p>
            <a:pPr indent="-317500" lvl="1" marL="914400" rtl="0" algn="l">
              <a:spcBef>
                <a:spcPts val="0"/>
              </a:spcBef>
              <a:spcAft>
                <a:spcPts val="0"/>
              </a:spcAft>
              <a:buSzPts val="1400"/>
              <a:buChar char="○"/>
            </a:pPr>
            <a:r>
              <a:rPr lang="ja"/>
              <a:t>人間の脳は情報処理に量子力学的効果を利用している可能性があり，知性はそこからできているとする仮説</a:t>
            </a:r>
            <a:endParaRPr/>
          </a:p>
          <a:p>
            <a:pPr indent="-317500" lvl="1" marL="914400" rtl="0" algn="l">
              <a:spcBef>
                <a:spcPts val="0"/>
              </a:spcBef>
              <a:spcAft>
                <a:spcPts val="0"/>
              </a:spcAft>
              <a:buSzPts val="1400"/>
              <a:buChar char="○"/>
            </a:pPr>
            <a:r>
              <a:rPr lang="ja">
                <a:solidFill>
                  <a:srgbClr val="FF0000"/>
                </a:solidFill>
              </a:rPr>
              <a:t>科学的根拠はかなり薄く</a:t>
            </a:r>
            <a:r>
              <a:rPr lang="ja"/>
              <a:t>，あまりまともに受け取らないほうがよい</a:t>
            </a:r>
            <a:endParaRPr/>
          </a:p>
          <a:p>
            <a:pPr indent="-342900" lvl="0" marL="457200" rtl="0" algn="l">
              <a:spcBef>
                <a:spcPts val="0"/>
              </a:spcBef>
              <a:spcAft>
                <a:spcPts val="0"/>
              </a:spcAft>
              <a:buSzPts val="1800"/>
              <a:buChar char="●"/>
            </a:pPr>
            <a:r>
              <a:rPr lang="ja"/>
              <a:t>シンボルグラウディング問題</a:t>
            </a:r>
            <a:endParaRPr/>
          </a:p>
          <a:p>
            <a:pPr indent="-317500" lvl="1" marL="914400" rtl="0" algn="l">
              <a:spcBef>
                <a:spcPts val="0"/>
              </a:spcBef>
              <a:spcAft>
                <a:spcPts val="0"/>
              </a:spcAft>
              <a:buSzPts val="1400"/>
              <a:buChar char="○"/>
            </a:pPr>
            <a:r>
              <a:rPr lang="ja"/>
              <a:t>1990年，スティーブン・ハルナッドが提唱</a:t>
            </a:r>
            <a:endParaRPr/>
          </a:p>
          <a:p>
            <a:pPr indent="-317500" lvl="1" marL="914400" rtl="0" algn="l">
              <a:spcBef>
                <a:spcPts val="0"/>
              </a:spcBef>
              <a:spcAft>
                <a:spcPts val="0"/>
              </a:spcAft>
              <a:buClr>
                <a:srgbClr val="FF0000"/>
              </a:buClr>
              <a:buSzPts val="1400"/>
              <a:buChar char="○"/>
            </a:pPr>
            <a:r>
              <a:rPr lang="ja">
                <a:solidFill>
                  <a:srgbClr val="FF0000"/>
                </a:solidFill>
              </a:rPr>
              <a:t>記号（シンボル）とその対象がいかにして結びつくか</a:t>
            </a:r>
            <a:endParaRPr>
              <a:solidFill>
                <a:srgbClr val="FF0000"/>
              </a:solidFill>
            </a:endParaRPr>
          </a:p>
          <a:p>
            <a:pPr indent="-317500" lvl="1" marL="914400" rtl="0" algn="l">
              <a:spcBef>
                <a:spcPts val="0"/>
              </a:spcBef>
              <a:spcAft>
                <a:spcPts val="0"/>
              </a:spcAft>
              <a:buSzPts val="1400"/>
              <a:buChar char="○"/>
            </a:pPr>
            <a:r>
              <a:rPr lang="ja"/>
              <a:t>縞模様 + ウマ = シマウマ</a:t>
            </a:r>
            <a:endParaRPr/>
          </a:p>
          <a:p>
            <a:pPr indent="-317500" lvl="2" marL="1371600" rtl="0" algn="l">
              <a:spcBef>
                <a:spcPts val="0"/>
              </a:spcBef>
              <a:spcAft>
                <a:spcPts val="0"/>
              </a:spcAft>
              <a:buSzPts val="1400"/>
              <a:buChar char="■"/>
            </a:pPr>
            <a:r>
              <a:rPr lang="ja"/>
              <a:t>人間は，シマウマを見たことがない人でも，「シマウマは縞模様のあるウマである」という説明とウマと縞模様を見たことがあれば，シマウマを初めて見たとき「あれが話に聞いていたシマウマか」と思える．AIにはそのようなことが可能か？</a:t>
            </a:r>
            <a:endParaRPr/>
          </a:p>
          <a:p>
            <a:pPr indent="-317500" lvl="1" marL="914400" rtl="0" algn="l">
              <a:spcBef>
                <a:spcPts val="0"/>
              </a:spcBef>
              <a:spcAft>
                <a:spcPts val="0"/>
              </a:spcAft>
              <a:buSzPts val="1400"/>
              <a:buChar char="○"/>
            </a:pPr>
            <a:r>
              <a:rPr lang="ja"/>
              <a:t>言語学や計算機科学における意味論に関する問題（私見）</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人工知能分野の諸問題４</a:t>
            </a:r>
            <a:endParaRPr/>
          </a:p>
        </p:txBody>
      </p:sp>
      <p:sp>
        <p:nvSpPr>
          <p:cNvPr id="192" name="Google Shape;19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身体性</a:t>
            </a:r>
            <a:endParaRPr/>
          </a:p>
          <a:p>
            <a:pPr indent="-317500" lvl="1" marL="914400" rtl="0" algn="l">
              <a:spcBef>
                <a:spcPts val="0"/>
              </a:spcBef>
              <a:spcAft>
                <a:spcPts val="0"/>
              </a:spcAft>
              <a:buSzPts val="1400"/>
              <a:buChar char="○"/>
            </a:pPr>
            <a:r>
              <a:rPr lang="ja"/>
              <a:t>知能が成立するためには身体が不可欠であるという考え方・仮説</a:t>
            </a:r>
            <a:endParaRPr/>
          </a:p>
          <a:p>
            <a:pPr indent="-317500" lvl="1" marL="914400" rtl="0" algn="l">
              <a:spcBef>
                <a:spcPts val="0"/>
              </a:spcBef>
              <a:spcAft>
                <a:spcPts val="0"/>
              </a:spcAft>
              <a:buSzPts val="1400"/>
              <a:buChar char="○"/>
            </a:pPr>
            <a:r>
              <a:rPr lang="ja"/>
              <a:t>人間は身体の神経系を通して世界・環境を知覚する</a:t>
            </a:r>
            <a:endParaRPr/>
          </a:p>
          <a:p>
            <a:pPr indent="-317500" lvl="1" marL="914400" rtl="0" algn="l">
              <a:spcBef>
                <a:spcPts val="0"/>
              </a:spcBef>
              <a:spcAft>
                <a:spcPts val="0"/>
              </a:spcAft>
              <a:buSzPts val="1400"/>
              <a:buChar char="○"/>
            </a:pPr>
            <a:r>
              <a:rPr lang="ja"/>
              <a:t>このような知覚が概念理解・知性に重要なのではないかという考え方</a:t>
            </a:r>
            <a:endParaRPr/>
          </a:p>
          <a:p>
            <a:pPr indent="-317500" lvl="1" marL="914400" rtl="0" algn="l">
              <a:spcBef>
                <a:spcPts val="0"/>
              </a:spcBef>
              <a:spcAft>
                <a:spcPts val="0"/>
              </a:spcAft>
              <a:buSzPts val="1400"/>
              <a:buChar char="○"/>
            </a:pPr>
            <a:r>
              <a:rPr lang="ja"/>
              <a:t>一方でChatGPTなどには身体がないがある程度の知性はあるように思える</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