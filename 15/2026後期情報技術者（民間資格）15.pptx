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677199879e48c2" /><Relationship Type="http://schemas.openxmlformats.org/officeDocument/2006/relationships/extended-properties" Target="/docProps/app.xml" Id="R01195317178243b3" /><Relationship Type="http://schemas.openxmlformats.org/officeDocument/2006/relationships/officeDocument" Target="/ppt/presentation.xml" Id="R3871a6287e4f4f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85a54972c94c40"/>
  </p:sldMasterIdLst>
  <p:notesMasterIdLst>
    <p:notesMasterId xmlns:r="http://schemas.openxmlformats.org/officeDocument/2006/relationships" r:id="R87eed23845574453"/>
  </p:notesMasterIdLst>
  <p:sldIdLst>
    <p:sldId xmlns:r="http://schemas.openxmlformats.org/officeDocument/2006/relationships" id="256" r:id="R8766660ff94a4408"/>
    <p:sldId xmlns:r="http://schemas.openxmlformats.org/officeDocument/2006/relationships" id="257" r:id="Rad5d289d08374b0e"/>
    <p:sldId xmlns:r="http://schemas.openxmlformats.org/officeDocument/2006/relationships" id="258" r:id="Rb8ba8615315248ba"/>
    <p:sldId xmlns:r="http://schemas.openxmlformats.org/officeDocument/2006/relationships" id="259" r:id="R20a6dada1f6a4ee6"/>
    <p:sldId xmlns:r="http://schemas.openxmlformats.org/officeDocument/2006/relationships" id="260" r:id="Rd6947fb754ad4282"/>
    <p:sldId xmlns:r="http://schemas.openxmlformats.org/officeDocument/2006/relationships" id="261" r:id="R1c20d441893d4863"/>
    <p:sldId xmlns:r="http://schemas.openxmlformats.org/officeDocument/2006/relationships" id="262" r:id="R32f0dbf8309647b4"/>
    <p:sldId xmlns:r="http://schemas.openxmlformats.org/officeDocument/2006/relationships" id="263" r:id="R072f6fa5906b43fd"/>
    <p:sldId xmlns:r="http://schemas.openxmlformats.org/officeDocument/2006/relationships" id="264" r:id="R22f6dfbac22f45d8"/>
    <p:sldId xmlns:r="http://schemas.openxmlformats.org/officeDocument/2006/relationships" id="265" r:id="R296acf50bd314840"/>
    <p:sldId xmlns:r="http://schemas.openxmlformats.org/officeDocument/2006/relationships" id="266" r:id="Rf0b1747b28c3445b"/>
    <p:sldId xmlns:r="http://schemas.openxmlformats.org/officeDocument/2006/relationships" id="267" r:id="R342f988880844544"/>
    <p:sldId xmlns:r="http://schemas.openxmlformats.org/officeDocument/2006/relationships" id="268" r:id="Rf0e92e06c35b4529"/>
    <p:sldId xmlns:r="http://schemas.openxmlformats.org/officeDocument/2006/relationships" id="269" r:id="R08166b44d1534a9e"/>
    <p:sldId xmlns:r="http://schemas.openxmlformats.org/officeDocument/2006/relationships" id="270" r:id="R5776b9e69ea0486b"/>
    <p:sldId xmlns:r="http://schemas.openxmlformats.org/officeDocument/2006/relationships" id="271" r:id="Rc3ed07dd21ae4991"/>
    <p:sldId xmlns:r="http://schemas.openxmlformats.org/officeDocument/2006/relationships" id="272" r:id="R1cc21479f4e84e2e"/>
    <p:sldId xmlns:r="http://schemas.openxmlformats.org/officeDocument/2006/relationships" id="273" r:id="R677d43c03cf84091"/>
    <p:sldId xmlns:r="http://schemas.openxmlformats.org/officeDocument/2006/relationships" id="274" r:id="R6f62d8f8735a42d0"/>
    <p:sldId xmlns:r="http://schemas.openxmlformats.org/officeDocument/2006/relationships" id="275" r:id="R8a80527394cb47ac"/>
    <p:sldId xmlns:r="http://schemas.openxmlformats.org/officeDocument/2006/relationships" id="276" r:id="R9680ee8dc01f40a1"/>
    <p:sldId xmlns:r="http://schemas.openxmlformats.org/officeDocument/2006/relationships" id="277" r:id="R6f798e2553d741ba"/>
    <p:sldId xmlns:r="http://schemas.openxmlformats.org/officeDocument/2006/relationships" id="278" r:id="R99a932b5b1c64f55"/>
    <p:sldId xmlns:r="http://schemas.openxmlformats.org/officeDocument/2006/relationships" id="279" r:id="R534a8ff7d0464f45"/>
    <p:sldId xmlns:r="http://schemas.openxmlformats.org/officeDocument/2006/relationships" id="280" r:id="R2e27eae940764f33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70f91f6ee1472d" /><Relationship Type="http://schemas.openxmlformats.org/officeDocument/2006/relationships/slideMaster" Target="/ppt/slideMasters/slideMaster1.xml" Id="Rff85a54972c94c40" /><Relationship Type="http://schemas.openxmlformats.org/officeDocument/2006/relationships/notesMaster" Target="/ppt/notesMasters/notesMaster1.xml" Id="R87eed23845574453" /><Relationship Type="http://schemas.openxmlformats.org/officeDocument/2006/relationships/presProps" Target="/ppt/presProps.xml" Id="Raa7b035589a7402f" /><Relationship Type="http://schemas.openxmlformats.org/officeDocument/2006/relationships/viewProps" Target="/ppt/viewProps.xml" Id="R9033c1aa0ebf459b" /><Relationship Type="http://schemas.openxmlformats.org/officeDocument/2006/relationships/tableStyles" Target="/ppt/tableStyles.xml" Id="Rb7ab9e4068614615" /><Relationship Type="http://schemas.openxmlformats.org/officeDocument/2006/relationships/slide" Target="/ppt/slides/slide1.xml" Id="R8766660ff94a4408" /><Relationship Type="http://schemas.openxmlformats.org/officeDocument/2006/relationships/slide" Target="/ppt/slides/slide2.xml" Id="Rad5d289d08374b0e" /><Relationship Type="http://schemas.openxmlformats.org/officeDocument/2006/relationships/slide" Target="/ppt/slides/slide3.xml" Id="Rb8ba8615315248ba" /><Relationship Type="http://schemas.openxmlformats.org/officeDocument/2006/relationships/slide" Target="/ppt/slides/slide4.xml" Id="R20a6dada1f6a4ee6" /><Relationship Type="http://schemas.openxmlformats.org/officeDocument/2006/relationships/slide" Target="/ppt/slides/slide5.xml" Id="Rd6947fb754ad4282" /><Relationship Type="http://schemas.openxmlformats.org/officeDocument/2006/relationships/slide" Target="/ppt/slides/slide6.xml" Id="R1c20d441893d4863" /><Relationship Type="http://schemas.openxmlformats.org/officeDocument/2006/relationships/slide" Target="/ppt/slides/slide7.xml" Id="R32f0dbf8309647b4" /><Relationship Type="http://schemas.openxmlformats.org/officeDocument/2006/relationships/slide" Target="/ppt/slides/slide8.xml" Id="R072f6fa5906b43fd" /><Relationship Type="http://schemas.openxmlformats.org/officeDocument/2006/relationships/slide" Target="/ppt/slides/slide9.xml" Id="R22f6dfbac22f45d8" /><Relationship Type="http://schemas.openxmlformats.org/officeDocument/2006/relationships/slide" Target="/ppt/slides/slide10.xml" Id="R296acf50bd314840" /><Relationship Type="http://schemas.openxmlformats.org/officeDocument/2006/relationships/slide" Target="/ppt/slides/slide11.xml" Id="Rf0b1747b28c3445b" /><Relationship Type="http://schemas.openxmlformats.org/officeDocument/2006/relationships/slide" Target="/ppt/slides/slide12.xml" Id="R342f988880844544" /><Relationship Type="http://schemas.openxmlformats.org/officeDocument/2006/relationships/slide" Target="/ppt/slides/slide13.xml" Id="Rf0e92e06c35b4529" /><Relationship Type="http://schemas.openxmlformats.org/officeDocument/2006/relationships/slide" Target="/ppt/slides/slide14.xml" Id="R08166b44d1534a9e" /><Relationship Type="http://schemas.openxmlformats.org/officeDocument/2006/relationships/slide" Target="/ppt/slides/slide15.xml" Id="R5776b9e69ea0486b" /><Relationship Type="http://schemas.openxmlformats.org/officeDocument/2006/relationships/slide" Target="/ppt/slides/slide16.xml" Id="Rc3ed07dd21ae4991" /><Relationship Type="http://schemas.openxmlformats.org/officeDocument/2006/relationships/slide" Target="/ppt/slides/slide17.xml" Id="R1cc21479f4e84e2e" /><Relationship Type="http://schemas.openxmlformats.org/officeDocument/2006/relationships/slide" Target="/ppt/slides/slide18.xml" Id="R677d43c03cf84091" /><Relationship Type="http://schemas.openxmlformats.org/officeDocument/2006/relationships/slide" Target="/ppt/slides/slide19.xml" Id="R6f62d8f8735a42d0" /><Relationship Type="http://schemas.openxmlformats.org/officeDocument/2006/relationships/slide" Target="/ppt/slides/slide20.xml" Id="R8a80527394cb47ac" /><Relationship Type="http://schemas.openxmlformats.org/officeDocument/2006/relationships/slide" Target="/ppt/slides/slide21.xml" Id="R9680ee8dc01f40a1" /><Relationship Type="http://schemas.openxmlformats.org/officeDocument/2006/relationships/slide" Target="/ppt/slides/slide22.xml" Id="R6f798e2553d741ba" /><Relationship Type="http://schemas.openxmlformats.org/officeDocument/2006/relationships/slide" Target="/ppt/slides/slide23.xml" Id="R99a932b5b1c64f55" /><Relationship Type="http://schemas.openxmlformats.org/officeDocument/2006/relationships/slide" Target="/ppt/slides/slide24.xml" Id="R534a8ff7d0464f45" /><Relationship Type="http://schemas.openxmlformats.org/officeDocument/2006/relationships/slide" Target="/ppt/slides/slide25.xml" Id="R2e27eae940764f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82e6cd6fa149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5246824fe1469e" /><Relationship Type="http://schemas.openxmlformats.org/officeDocument/2006/relationships/notesMaster" Target="/ppt/notesMasters/notesMaster1.xml" Id="R321e1955a83145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cdf21510fa47de" /><Relationship Type="http://schemas.openxmlformats.org/officeDocument/2006/relationships/notesMaster" Target="/ppt/notesMasters/notesMaster1.xml" Id="R08f04c00f7c744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edf0146dad450c" /><Relationship Type="http://schemas.openxmlformats.org/officeDocument/2006/relationships/notesMaster" Target="/ppt/notesMasters/notesMaster1.xml" Id="Rec6098a195754e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1134a8b1884b17" /><Relationship Type="http://schemas.openxmlformats.org/officeDocument/2006/relationships/notesMaster" Target="/ppt/notesMasters/notesMaster1.xml" Id="R5547a2d39d3c4a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f8c60098c3455f" /><Relationship Type="http://schemas.openxmlformats.org/officeDocument/2006/relationships/notesMaster" Target="/ppt/notesMasters/notesMaster1.xml" Id="R33c5646f57534a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1596ab04d54617" /><Relationship Type="http://schemas.openxmlformats.org/officeDocument/2006/relationships/notesMaster" Target="/ppt/notesMasters/notesMaster1.xml" Id="R88b9775892c545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6ac0a2b53b4572" /><Relationship Type="http://schemas.openxmlformats.org/officeDocument/2006/relationships/notesMaster" Target="/ppt/notesMasters/notesMaster1.xml" Id="Re9b46f7d0bdd4c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8bb1555bc24872" /><Relationship Type="http://schemas.openxmlformats.org/officeDocument/2006/relationships/notesMaster" Target="/ppt/notesMasters/notesMaster1.xml" Id="R29933c98c2954f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e12d464e9946ad" /><Relationship Type="http://schemas.openxmlformats.org/officeDocument/2006/relationships/notesMaster" Target="/ppt/notesMasters/notesMaster1.xml" Id="Rcbc9f6dba31d4e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6e4a6dfdd74ae1" /><Relationship Type="http://schemas.openxmlformats.org/officeDocument/2006/relationships/notesMaster" Target="/ppt/notesMasters/notesMaster1.xml" Id="R55dfe827495c4b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55774f1ccf4d8e" /><Relationship Type="http://schemas.openxmlformats.org/officeDocument/2006/relationships/notesMaster" Target="/ppt/notesMasters/notesMaster1.xml" Id="R7cecee9cb39b41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4a94acca9b47b4" /><Relationship Type="http://schemas.openxmlformats.org/officeDocument/2006/relationships/notesMaster" Target="/ppt/notesMasters/notesMaster1.xml" Id="R6f208c58fc6943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5169f7f7004135" /><Relationship Type="http://schemas.openxmlformats.org/officeDocument/2006/relationships/notesMaster" Target="/ppt/notesMasters/notesMaster1.xml" Id="R67e9e123684742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bd3dcdcb894093" /><Relationship Type="http://schemas.openxmlformats.org/officeDocument/2006/relationships/notesMaster" Target="/ppt/notesMasters/notesMaster1.xml" Id="R7a78a946173a43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12995e40e043df" /><Relationship Type="http://schemas.openxmlformats.org/officeDocument/2006/relationships/notesMaster" Target="/ppt/notesMasters/notesMaster1.xml" Id="R6bfedf8af64445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d87d2507604106" /><Relationship Type="http://schemas.openxmlformats.org/officeDocument/2006/relationships/notesMaster" Target="/ppt/notesMasters/notesMaster1.xml" Id="R843e7595b1ac4b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c9fc4758ed4616" /><Relationship Type="http://schemas.openxmlformats.org/officeDocument/2006/relationships/notesMaster" Target="/ppt/notesMasters/notesMaster1.xml" Id="Raea35482da554d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dea4de824841dc" /><Relationship Type="http://schemas.openxmlformats.org/officeDocument/2006/relationships/notesMaster" Target="/ppt/notesMasters/notesMaster1.xml" Id="R50b10c41253b47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2af442c35743ba" /><Relationship Type="http://schemas.openxmlformats.org/officeDocument/2006/relationships/notesMaster" Target="/ppt/notesMasters/notesMaster1.xml" Id="R619a4e4392af47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ed02258e26648cf" /><Relationship Type="http://schemas.openxmlformats.org/officeDocument/2006/relationships/notesMaster" Target="/ppt/notesMasters/notesMaster1.xml" Id="Rf56ffb9dadbf484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eb49b8aa6794e1b" /><Relationship Type="http://schemas.openxmlformats.org/officeDocument/2006/relationships/notesMaster" Target="/ppt/notesMasters/notesMaster1.xml" Id="R61316373c8384c5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b15090388624f65" /><Relationship Type="http://schemas.openxmlformats.org/officeDocument/2006/relationships/notesMaster" Target="/ppt/notesMasters/notesMaster1.xml" Id="Rbfdc9d3abb0a44f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fc452fa79e24baa" /><Relationship Type="http://schemas.openxmlformats.org/officeDocument/2006/relationships/notesMaster" Target="/ppt/notesMasters/notesMaster1.xml" Id="R3fdc394ef4bf417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48cda4f527484f" /><Relationship Type="http://schemas.openxmlformats.org/officeDocument/2006/relationships/notesMaster" Target="/ppt/notesMasters/notesMaster1.xml" Id="R2a120857f39a452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7c6243c2c4146fc" /><Relationship Type="http://schemas.openxmlformats.org/officeDocument/2006/relationships/notesMaster" Target="/ppt/notesMasters/notesMaster1.xml" Id="Rf2768204c02148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総復習・G検定対策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目安：1分／授業開始から0〜1分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第1〜14回の内容をつなぎ，講義用の確認問題8問を解く．公式問題の転載ではない．答えだけでなく，選択した理由と他の選択肢が違う理由を説明する．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JDLA：G検定のシラバス</a:t>
            </a:r>
          </a:p>
          <a:p xmlns:a="http://schemas.openxmlformats.org/drawingml/2006/main">
            <a:r>
              <a:t>https://www.jdla.org/download/g%E6%A4%9C%E5%AE%9A%E3%81%AE%E8%A9%A6%E9%A8%93%E5%87%BA%E9%A1%8C%E7%AF%84%E5%9B%B2-%EF%BC%88%E3%82%B7%E3%83%A9%E3%83%90%E3%82%B9%EF%BC%89g20246%EF%BD%9Ev1-4/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scikit-learn：Metrics and scoring</a:t>
            </a:r>
          </a:p>
          <a:p xmlns:a="http://schemas.openxmlformats.org/drawingml/2006/main">
            <a:r>
              <a:t>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今日の到達目標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目安：4分／授業開始から1〜5分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授業用の確認問題は8問．出題範囲の全キーワードを網羅するものではない．公式の試験範囲はJDLAの最新資料で確認する．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AI・機械学習・深層学習のつながりを整理する．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問題の前提を読み，技術・評価・利用条件を選ぶ．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苦手な分野を見つけ，復習する内容を決める．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15回で学んだ内容のつながり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目安：4分／授業開始から5〜9分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講義計画を見ながら，手法，評価，社会での利用の三つがつながることを確認する．実習で分割や誤りを観察した経験も思い出す．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1〜4 ／ AIの考え方，探索・知識，機械学習と評価</a:t>
            </a:r>
          </a:p>
          <a:p xmlns:a="http://schemas.openxmlformats.org/drawingml/2006/main">
            <a:r>
              <a:t>5〜9 ／ ネットワークの学習，画像・系列・生成AI</a:t>
            </a:r>
          </a:p>
          <a:p xmlns:a="http://schemas.openxmlformats.org/drawingml/2006/main">
            <a:r>
              <a:t>10〜12 ／ 課題設定と運用，学習・評価の実習</a:t>
            </a:r>
          </a:p>
          <a:p xmlns:a="http://schemas.openxmlformats.org/drawingml/2006/main">
            <a:r>
              <a:t>13〜14 ／ 法律・契約，倫理とガバナンス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AI・機械学習・深層学習の関係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目安：4分／授業開始から9〜13分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「AIなら全て深層学習」という理解を避ける．概念の包含関係は講義で使った整理．境界の定義は文脈によって異なり，知能そのものに一つの定義があるわけではない．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／ 探索や知識を使う方法なども含む広い分野</a:t>
            </a:r>
          </a:p>
          <a:p xmlns:a="http://schemas.openxmlformats.org/drawingml/2006/main">
            <a:r>
              <a:t>機械学習 ／ データから規則性を学ぶ，AIの方法の一つ</a:t>
            </a:r>
          </a:p>
          <a:p xmlns:a="http://schemas.openxmlformats.org/drawingml/2006/main">
            <a:r>
              <a:t>深層学習 ／ 複数の層で表現を学ぶ，機械学習の方法の一つ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JDLA：G検定のシラバス</a:t>
            </a:r>
          </a:p>
          <a:p xmlns:a="http://schemas.openxmlformats.org/drawingml/2006/main">
            <a:r>
              <a:t>https://www.jdla.org/download/g%E6%A4%9C%E5%AE%9A%E3%81%AE%E8%A9%A6%E9%A8%93%E5%87%BA%E9%A1%8C%E7%AF%84%E5%9B%B2-%EF%BC%88%E3%82%B7%E3%83%A9%E3%83%90%E3%82%B9%EF%BC%89g20246%EF%BD%9Ev1-4/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Google：Nodes and hidden layers</a:t>
            </a:r>
          </a:p>
          <a:p xmlns:a="http://schemas.openxmlformats.org/drawingml/2006/main">
            <a:r>
              <a:t>https://developers.google.com/machine-learning/crash-course/neural-networks/nodes-hidden-layers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探索・ルール・学習を比較する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目安：4分／授業開始から13〜17分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第2回の探索木やエキスパートシステム，第3回の特徴量と正解を思い出す．一つのシステムでこれらを組み合わせることもある．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探索 ／ 状態や候補を表し，解を探す</a:t>
            </a:r>
          </a:p>
          <a:p xmlns:a="http://schemas.openxmlformats.org/drawingml/2006/main">
            <a:r>
              <a:t>ルールによる推論 ／ 条件と知識を表し，結論を導く</a:t>
            </a:r>
          </a:p>
          <a:p xmlns:a="http://schemas.openxmlformats.org/drawingml/2006/main">
            <a:r>
              <a:t>機械学習 ／ データと目的を用意し，モデルを調整する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JDLA：G検定のシラバス</a:t>
            </a:r>
          </a:p>
          <a:p xmlns:a="http://schemas.openxmlformats.org/drawingml/2006/main">
            <a:r>
              <a:t>https://www.jdla.org/download/g%E6%A4%9C%E5%AE%9A%E3%81%AE%E8%A9%A6%E9%A8%93%E5%87%BA%E9%A1%8C%E7%AF%84%E5%9B%B2-%EF%BC%88%E3%82%B7%E3%83%A9%E3%83%90%E3%82%B9%EF%BC%89g20246%EF%BD%9Ev1-4/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確認問題1：教師なし学習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目安：5分／授業開始から17〜22分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個人で考え，ペアで理由を説明する．教師なし学習の例を一つ選ぶ．学習に与える情報の違いに着目する．問題は講義用の作例で公式試験問題ではない．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A：販売数の正解データを使って，翌日の販売数を予測する．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B：正解の区分を与えず，似た購入履歴の利用者をまとめる．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C：ゲームで得る報酬から，行動の方針を学ぶ．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学習に使う正解や報酬の有無を読む．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確認問題1：解答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目安：4分／授業開始から22〜26分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答えはB．教師なし学習にも目的や条件はあり，「何も情報を与えない」方法ではない．カテゴリの正解データを直接与えないという点を押さえる．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／ 教師あり学習：予測する販売数の正解がある</a:t>
            </a:r>
          </a:p>
          <a:p xmlns:a="http://schemas.openxmlformats.org/drawingml/2006/main">
            <a:r>
              <a:t>B ／ 教師なし学習：類似性から構造を調べる</a:t>
            </a:r>
          </a:p>
          <a:p xmlns:a="http://schemas.openxmlformats.org/drawingml/2006/main">
            <a:r>
              <a:t>C ／ 強化学習：報酬を通じて行動を学ぶ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JDLA：G検定のシラバス</a:t>
            </a:r>
          </a:p>
          <a:p xmlns:a="http://schemas.openxmlformats.org/drawingml/2006/main">
            <a:r>
              <a:t>https://www.jdla.org/download/g%E6%A4%9C%E5%AE%9A%E3%81%AE%E8%A9%A6%E9%A8%93%E5%87%BA%E9%A1%8C%E7%AF%84%E5%9B%B2-%EF%BC%88%E3%82%B7%E3%83%A9%E3%83%90%E3%82%B9%EF%BC%89g20246%EF%BD%9Ev1-4/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確認問題2：データの分割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目安：5分／授業開始から26〜31分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独立した評価を行う手順として適切なものを選ぶ．標準化は訓練データの統計量を使う前提．実習1・2の操作と結び付ける．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A：全データで標準化してから，訓練とテストに分ける．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B：テストの正解率が最高になるまで，条件を調整する．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C：訓練で学習し，検証で選び，最後にテストする．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評価に使う情報が，学習や選択へ漏れていないか．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確認問題2：解答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目安：4分／授業開始から31〜35分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最終条件を決めた後に訓練＋検証で再学習する手順もある．時系列なら利用時点を考え，同じ人の反復記録ならグループを考えて分割する．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C：検証でモデルや条件を選び，テストは最後の評価に使う．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Aは，テストの情報を前処理へ使っている．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Bは，テストに条件を合わせ，独立した評価を失う．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scikit-learn：Common pitfalls</a:t>
            </a:r>
          </a:p>
          <a:p xmlns:a="http://schemas.openxmlformats.org/drawingml/2006/main">
            <a:r>
              <a:t>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確認問題3：混同行列の計算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目安：3分／授業開始から35〜38分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架空の100件．正解率，適合率，再現率を計算する．どの分母を使うかも説明する．スライドの計算とペア確認を5分程度で行う．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本当も予測も陽性（TP） ／ 18</a:t>
            </a:r>
          </a:p>
          <a:p xmlns:a="http://schemas.openxmlformats.org/drawingml/2006/main">
            <a:r>
              <a:t>本当は陰性，予測は陽性（FP） ／ 6</a:t>
            </a:r>
          </a:p>
          <a:p xmlns:a="http://schemas.openxmlformats.org/drawingml/2006/main">
            <a:r>
              <a:t>本当は陽性，予測は陰性（FN） ／ 12</a:t>
            </a:r>
          </a:p>
          <a:p xmlns:a="http://schemas.openxmlformats.org/drawingml/2006/main">
            <a:r>
              <a:t>本当も予測も陰性（TN） ／ 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陽性の意味を先に決め，分母を区別する．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確認問題3：解答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目安：6分／授業開始から38〜44分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計算時間と説明を合わせて6分程度を確保．正解率の高さだけでは陽性の見逃し12件や誤報6件の負担が分からない．どの指標が重要かは業務の影響で決める．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正解率＝（18＋64）÷100＝82％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適合率＝18÷（18＋6）＝75％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再現率＝18÷（18＋12）＝60％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誤りの影響に合わせて，指標を選ぶ．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scikit-learn：Metrics and scoring</a:t>
            </a:r>
          </a:p>
          <a:p xmlns:a="http://schemas.openxmlformats.org/drawingml/2006/main">
            <a:r>
              <a:t>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確認問題4：ユニットの計算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目安：5分／授業開始から44〜49分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個人で積と和を計算してから，ペアで出力を確かめる．学習で変える値は何かも説明する．作例の値で，実測のパラメータではない．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x₁＝2，x₂＝1，w₁＝0.5，w₂＝−2，b＝0.5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z＝w₁x₁＋w₂x₂＋b を求める．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ReLU(z)＝max(0,z) の出力を求める．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重み付きの和と，活性化を分けて計算する．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確認問題4：解答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目安：3分／授業開始から49〜52分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勾配による更新と誤差逆伝播の役割を第5回と結び付ける．逆伝播は勾配を計算し，最適化手法が更新を行うという区別を補足する．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z＝0.5×2＋（−2）×1＋0.5＝−0.5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ReLU(−0.5)＝0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学習では，損失を減らすよう重みやバイアスを調整する．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Google：Nodes and hidden layers</a:t>
            </a:r>
          </a:p>
          <a:p xmlns:a="http://schemas.openxmlformats.org/drawingml/2006/main">
            <a:r>
              <a:t>https://developers.google.com/machine-learning/crash-course/neural-networks/nodes-hidden-layers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Google：Activation functions</a:t>
            </a:r>
          </a:p>
          <a:p xmlns:a="http://schemas.openxmlformats.org/drawingml/2006/main">
            <a:r>
              <a:t>https://developers.google.com/machine-learning/crash-course/neural-networks/activation-functions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Google：Training using backpropagation</a:t>
            </a:r>
          </a:p>
          <a:p xmlns:a="http://schemas.openxmlformats.org/drawingml/2006/main">
            <a:r>
              <a:t>https://developers.google.com/machine-learning/crash-course/neural-networks/backpropagation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確認問題5：学習曲線を読む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目安：3分／授業開始から52〜55分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同じ損失の定義と同じ評価条件を使う架空の例．過学習を疑う理由と，対策を二つ考える．二点だけで原因の全ては分からないが，検証の悪化を無視しない．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前半 ／ 0.2 ／ 0.3</a:t>
            </a:r>
          </a:p>
          <a:p xmlns:a="http://schemas.openxmlformats.org/drawingml/2006/main">
            <a:r>
              <a:t>後半 ／ 0.1 ／ 0.5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訓練だけ改善し，検証は悪化している．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確認問題5：解答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目安：5分／授業開始から55〜60分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対策を挙げ，何を抑えようとするか説明する．データ拡張は意味とラベルを保つ範囲で行う．情報漏れや評価データの条件も見直す．講義用の曲線で原因を断定しない．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未知のデータへ一般化できず，訓練へ合わせすぎた可能性がある．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正則化，データ拡張，モデルの簡略化などを考える．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検証で学習回数を選び，早期終了を使う方法もある．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対策の効果は，検証結果で確かめる．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TensorFlow：Overfit and underfit</a:t>
            </a:r>
          </a:p>
          <a:p xmlns:a="http://schemas.openxmlformats.org/drawingml/2006/main">
            <a:r>
              <a:t>https://www.tensorflow.org/tutorials/keras/overfit_and_underfit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TensorFlow：Data augmentation</a:t>
            </a:r>
          </a:p>
          <a:p xmlns:a="http://schemas.openxmlformats.org/drawingml/2006/main">
            <a:r>
              <a:t>https://www.tensorflow.org/tutorials/images/data_augmentation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データと構造をつなげて整理する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目安：3分／授業開始から60〜63分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CNNも画像以外に使われる．AttentionとTransformerは同じ意味ではなく，Attentionを使うRNNなどもある．名前だけで用途を一つに固定しない．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CNN ／ 局所的な計算と重みの共有で特徴を作る</a:t>
            </a:r>
          </a:p>
          <a:p xmlns:a="http://schemas.openxmlformats.org/drawingml/2006/main">
            <a:r>
              <a:t>RNN ／ 系列の情報を状態として引き継ぐ</a:t>
            </a:r>
          </a:p>
          <a:p xmlns:a="http://schemas.openxmlformats.org/drawingml/2006/main">
            <a:r>
              <a:t>Attention ／ 関連の強さで重みを付け，情報をまとめる</a:t>
            </a:r>
          </a:p>
          <a:p xmlns:a="http://schemas.openxmlformats.org/drawingml/2006/main">
            <a:r>
              <a:t>Transformer ／ Attentionなどで系列の表現を更新する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CS231n：Convolutional networks</a:t>
            </a:r>
          </a:p>
          <a:p xmlns:a="http://schemas.openxmlformats.org/drawingml/2006/main">
            <a:r>
              <a:t>https://cs231n.github.io/convolutional-networks/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PyTorch：RNN</a:t>
            </a:r>
          </a:p>
          <a:p xmlns:a="http://schemas.openxmlformats.org/drawingml/2006/main">
            <a:r>
              <a:t>https://docs.pytorch.org/docs/stable/generated/torch.nn.RNN.html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Vaswani et al.：Attention Is All You Need</a:t>
            </a:r>
          </a:p>
          <a:p xmlns:a="http://schemas.openxmlformats.org/drawingml/2006/main">
            <a:r>
              <a:t>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確認問題6：RAGと追加学習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目安：5分／授業開始から63〜68分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Aを選び，Bとの違いを説明する．二つを組み合わせることもある．検索の結果が正しいという前提も置かない．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A：関連する資料を検索し，質問と一緒にモデルへ入力する．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B：課題の学習例を使い，モデルのパラメータを更新する．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どちらがRAGの基本的な考え方に当たるか？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外部情報の参照と，重みの更新を区別する．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確認問題6：解答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目安：3分／授業開始から68〜71分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RAGの利用だけでモデルの重みが必ず更新されるわけではない．古い資料，権限のない資料，誤解釈も考える．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AがRAG：検索した資料を，生成のための文脈へ加える．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Bはファインチューニングなどの追加学習．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RAGでも，検索結果と生成した答えを確認する．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Lewis et al.：Retrieval-Augmented Generation</a:t>
            </a:r>
          </a:p>
          <a:p xmlns:a="http://schemas.openxmlformats.org/drawingml/2006/main">
            <a:r>
              <a:t>https://arxiv.org/abs/2005.11401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Google：Fine-tuning, distillation, prompting</a:t>
            </a:r>
          </a:p>
          <a:p xmlns:a="http://schemas.openxmlformats.org/drawingml/2006/main">
            <a:r>
              <a:t>https://developers.google.com/machine-learning/crash-course/llm/tuning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確認問題7：データ・生成物の利用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目安：5分／授業開始から71〜76分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適切な考え方を一つ選び，他の選択肢の問題を説明する．日本法を中心にした講義の整理．架空の事例で具体的な利用許可を判断する設問ではない．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A：氏名を消せば，他の情報で本人を識別できても個人情報ではない．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B：AIサービスが商用利用可能なら，第三者の権利を確認しなくてよい．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C：収集，学習・入力，生成物の公開で，それぞれ条件を確認する．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利用する段階と，権利・契約の条件を読む．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確認問題7：解答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目安：3分／授業開始から76〜79分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個人情報の定義と，生成物の著作物性・侵害・サービス規約の区別を復習する．著作権法30条の4も学習なら全て自由という規定ではない．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C：段階ごとに，利用目的と権利・規約を確認する．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Aは，他の情報との容易な照合による識別を見落としている．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Bは，サービスの規約と第三者の権利を混同している．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個人情報保護委員会：通則編</a:t>
            </a:r>
          </a:p>
          <a:p xmlns:a="http://schemas.openxmlformats.org/drawingml/2006/main">
            <a:r>
              <a:t>https://www.ppc.go.jp/personalinfo/legal/guidelines_tsusoku/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文化庁：AIと著作権に関する考え方（概要）</a:t>
            </a:r>
          </a:p>
          <a:p xmlns:a="http://schemas.openxmlformats.org/drawingml/2006/main">
            <a:r>
              <a:t>https://www.bunka.go.jp/seisaku/bunkashingikai/chosakuken/pdf/94057901_01.pdf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経済産業省：AIの利用・開発に関する契約チェックリスト</a:t>
            </a:r>
          </a:p>
          <a:p xmlns:a="http://schemas.openxmlformats.org/drawingml/2006/main">
            <a:r>
              <a:t>https://www.meti.go.jp/press/2024/02/20250218003/20250218003.html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確認問題8：導入後の異常検知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目安：5分／授業開始から79〜84分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架空の設備点検の事例．適切な対応を選び，誤りの影響と人の役割を説明する．担当者の確認能力に見合う出力や閾値を検証で考える．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担当者は一日10件しか確認できず，AIは40件を候補にする．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A：訓練正解率だけを最大にする．　B：候補を全て異常と断定する．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C：誤報・見逃し・作業量を評価し，確認と監視の手順を決める．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精度と，人の作業・影響・運用を合わせて考える．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確認問題8：解答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目安：3分／授業開始から84〜87分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Aは未知のデータと運用の制約を見ない．Bは異常候補と真の異常を混同する．人による確認が形式だけにならないよう情報，時間，権限が必要．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C：目的に合う指標と，人が対応できる仕組みを作る．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候補の数，適合率，再現率を検証し，停止条件や担当を決める．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導入後も，入力や性能の変化と関係者への影響を確認する．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Google：Production ML systems</a:t>
            </a:r>
          </a:p>
          <a:p xmlns:a="http://schemas.openxmlformats.org/drawingml/2006/main">
            <a:r>
              <a:t>https://developers.google.com/machine-learning/crash-course/production-ml-systems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経済産業省：AI事業者ガイドライン第1.2版</a:t>
            </a:r>
          </a:p>
          <a:p xmlns:a="http://schemas.openxmlformats.org/drawingml/2006/main">
            <a:r>
              <a:t>https://www.meti.go.jp/shingikai/mono_info_service/ai_shakai_jisso/20260331_report.html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scikit-learn：Metrics and scoring</a:t>
            </a:r>
          </a:p>
          <a:p xmlns:a="http://schemas.openxmlformats.org/drawingml/2006/main">
            <a:r>
              <a:t>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振り返りと，今後の復習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目安：3分／授業開始から87〜90分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口課題：理解できた内容を一つ，次に復習する内容を一つ書く．講義は主要分野を理解するための構成で，公式シラバスの全キーワードの個別解説ではない．試験日程や受験の条件はJDLAの最新情報を確認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間違えた問題を，前提の読み違い・用語・計算・理由で分ける．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該当する講義に戻って読み，自分の言葉で説明する．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公式の出題範囲も確認し，追加で学ぶ項目を決める．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用語だけでなく，目的・仕組み・限界をつなげる．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参考資料：授業時間外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授業内容の参考資料．図・数値・設問は出典を別途示したものを除き，本講義の作例．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JDLA：G検定のシラバス</a:t>
            </a:r>
          </a:p>
          <a:p xmlns:a="http://schemas.openxmlformats.org/drawingml/2006/main">
            <a:r>
              <a:t>https://www.jdla.org/download/g%E6%A4%9C%E5%AE%9A%E3%81%AE%E8%A9%A6%E9%A8%93%E5%87%BA%E9%A1%8C%E7%AF%84%E5%9B%B2-%EF%BC%88%E3%82%B7%E3%83%A9%E3%83%90%E3%82%B9%EF%BC%89g20246%EF%BD%9Ev1-4/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scikit-learn：Metrics and scoring</a:t>
            </a:r>
          </a:p>
          <a:p xmlns:a="http://schemas.openxmlformats.org/drawingml/2006/main">
            <a:r>
              <a:t>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参考資料：授業時間外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本文の補足と参考資料．演習は講義用の作例で，公式試験問題ではない．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参照資料（2026年10月8日確認）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JDLA：G検定のシラバス</a:t>
            </a:r>
          </a:p>
          <a:p xmlns:a="http://schemas.openxmlformats.org/drawingml/2006/main">
            <a:r>
              <a:t>https://www.jdla.org/download/g%E6%A4%9C%E5%AE%9A%E3%81%AE%E8%A9%A6%E9%A8%93%E5%87%BA%E9%A1%8C%E7%AF%84%E5%9B%B2-%EF%BC%88%E3%82%B7%E3%83%A9%E3%83%90%E3%82%B9%EF%BC%89g20246%EF%BD%9Ev1-4/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scikit-learn：Metrics and scoring</a:t>
            </a:r>
          </a:p>
          <a:p xmlns:a="http://schemas.openxmlformats.org/drawingml/2006/main">
            <a:r>
              <a:t>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2e1d4c5d644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c29330b1c243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c96382e46646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c572e699f4d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7d58ef5724a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f3807daf940c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a3bbf827b43e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15b7f4dc5b488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b3c0e1fd8466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5a1bed057476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55161ab45421e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97F7A9FC-42F9-4272-8061-420BE7C155B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DF9B35A9-3FE9-4BFF-B656-B4D6A3DC0A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EE4E9B5-D82D-45CC-A6B5-C4CEFF56E3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BFD5D03B-80CF-46D0-B675-64FA89A7F4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E87C2054-8E80-4D76-8DEF-3392908A46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A48A6AB9-704A-4EBC-BC7C-E63FA18B1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D7215D3D-AF97-4F0E-9656-152FBCF3D2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DF7B5FDE-C912-4BA0-875F-484DCB7B2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B16BA528-8965-4793-9AC8-05865DDFC0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0E39A5F4-B176-4DAE-9CB7-A203335062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7E172536-B60A-4A31-A2FA-7BA7BF19B8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2C24B9CB-9CE1-4429-8F38-7501BA6A20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A50B932F-4A9D-4C20-9484-8CF9B39F52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10A4A5C6-0B08-48A3-9AF9-3CC6EB89A4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7B5EE8FA-8AA8-4DEE-8C01-771682B3C2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A6C772D8-01E9-4327-9C03-7A26C992D7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929D0ACB-6748-4C74-A363-D9CD176913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EB4C4AB4-01B0-4B64-8073-04A7A1310B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F925D32E-2AA0-42B4-B90E-E867F36D2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73D0385D-11D1-44BD-9DCD-3C92F13D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A0351056-57DF-4898-A954-791E5DBBA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5D8E1582-629C-417E-97AF-90F193595A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9DF51F9B-459E-40E6-BF85-67159A6AAE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8784D298-F9D4-481C-A581-8DD66EEBFE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90CDD5AF-DC6A-4D21-B2D6-412F53B788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FBC7FC0E-748E-4525-B97C-CEA11BA1A0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DF82A840-592C-4A06-880C-CBB4FCCE248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FA60046D-6491-4CEE-A2BA-C9D70926FC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009999C1-0D75-43B3-B331-E10DC6D330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EA545E12-B334-450B-8E0B-4F79F102D5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8e4c0b3278419b" /><Relationship Type="http://schemas.openxmlformats.org/officeDocument/2006/relationships/slideLayout" Target="/ppt/slideLayouts/slideLayout1.xml" Id="R47db3badcd38408d" /><Relationship Type="http://schemas.openxmlformats.org/officeDocument/2006/relationships/slideLayout" Target="/ppt/slideLayouts/slideLayout2.xml" Id="R5888200e56d64805" /><Relationship Type="http://schemas.openxmlformats.org/officeDocument/2006/relationships/slideLayout" Target="/ppt/slideLayouts/slideLayout3.xml" Id="R707527eee0ca452b" /><Relationship Type="http://schemas.openxmlformats.org/officeDocument/2006/relationships/slideLayout" Target="/ppt/slideLayouts/slideLayout4.xml" Id="Rc0bb0c3a3d194fee" /><Relationship Type="http://schemas.openxmlformats.org/officeDocument/2006/relationships/slideLayout" Target="/ppt/slideLayouts/slideLayout5.xml" Id="R2cb56799230c4a32" /><Relationship Type="http://schemas.openxmlformats.org/officeDocument/2006/relationships/slideLayout" Target="/ppt/slideLayouts/slideLayout6.xml" Id="R87c891b096684922" /><Relationship Type="http://schemas.openxmlformats.org/officeDocument/2006/relationships/slideLayout" Target="/ppt/slideLayouts/slideLayout7.xml" Id="Re207a35d6c9d4310" /><Relationship Type="http://schemas.openxmlformats.org/officeDocument/2006/relationships/slideLayout" Target="/ppt/slideLayouts/slideLayout8.xml" Id="R642b348247e04be6" /><Relationship Type="http://schemas.openxmlformats.org/officeDocument/2006/relationships/slideLayout" Target="/ppt/slideLayouts/slideLayout9.xml" Id="Raf90aa3b18924c5f" /><Relationship Type="http://schemas.openxmlformats.org/officeDocument/2006/relationships/slideLayout" Target="/ppt/slideLayouts/slideLayout10.xml" Id="R88f5d2ff610b433a" /><Relationship Type="http://schemas.openxmlformats.org/officeDocument/2006/relationships/slideLayout" Target="/ppt/slideLayouts/slideLayout11.xml" Id="R03e5933544d14335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F74A3540-C64F-46E3-B616-206CF115C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E08F150-A23F-4348-8C7A-55D3B350A2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4D6018B7-7DF8-468E-A6FA-83523D47D8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db3badcd38408d"/>
    <p:sldLayoutId xmlns:r="http://schemas.openxmlformats.org/officeDocument/2006/relationships" id="2147483650" r:id="R5888200e56d64805"/>
    <p:sldLayoutId xmlns:r="http://schemas.openxmlformats.org/officeDocument/2006/relationships" id="2147483651" r:id="R707527eee0ca452b"/>
    <p:sldLayoutId xmlns:r="http://schemas.openxmlformats.org/officeDocument/2006/relationships" id="2147483652" r:id="Rc0bb0c3a3d194fee"/>
    <p:sldLayoutId xmlns:r="http://schemas.openxmlformats.org/officeDocument/2006/relationships" id="2147483653" r:id="R2cb56799230c4a32"/>
    <p:sldLayoutId xmlns:r="http://schemas.openxmlformats.org/officeDocument/2006/relationships" id="2147483654" r:id="R87c891b096684922"/>
    <p:sldLayoutId xmlns:r="http://schemas.openxmlformats.org/officeDocument/2006/relationships" id="2147483655" r:id="Re207a35d6c9d4310"/>
    <p:sldLayoutId xmlns:r="http://schemas.openxmlformats.org/officeDocument/2006/relationships" id="2147483656" r:id="R642b348247e04be6"/>
    <p:sldLayoutId xmlns:r="http://schemas.openxmlformats.org/officeDocument/2006/relationships" id="2147483657" r:id="Raf90aa3b18924c5f"/>
    <p:sldLayoutId xmlns:r="http://schemas.openxmlformats.org/officeDocument/2006/relationships" id="2147483658" r:id="R88f5d2ff610b433a"/>
    <p:sldLayoutId xmlns:r="http://schemas.openxmlformats.org/officeDocument/2006/relationships" id="2147483659" r:id="R03e5933544d1433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4194690d7c34b3c" /><Relationship Type="http://schemas.openxmlformats.org/officeDocument/2006/relationships/notesSlide" Target="/ppt/notesSlides/notesSlide1.xml" Id="R08401995c9c94f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27020ac3ecb4b2e" /><Relationship Type="http://schemas.openxmlformats.org/officeDocument/2006/relationships/notesSlide" Target="/ppt/notesSlides/notesSlide2.xml" Id="Rf0ec3f71c8d04a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5a975a828af4453" /><Relationship Type="http://schemas.openxmlformats.org/officeDocument/2006/relationships/notesSlide" Target="/ppt/notesSlides/notesSlide3.xml" Id="R673eefed45ee4e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8ce23d4e42d41a3" /><Relationship Type="http://schemas.openxmlformats.org/officeDocument/2006/relationships/notesSlide" Target="/ppt/notesSlides/notesSlide4.xml" Id="R299e5a90833648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eb956b7dd194e92" /><Relationship Type="http://schemas.openxmlformats.org/officeDocument/2006/relationships/notesSlide" Target="/ppt/notesSlides/notesSlide5.xml" Id="Re9d78e7947bf4c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55119e870cf4c8e" /><Relationship Type="http://schemas.openxmlformats.org/officeDocument/2006/relationships/notesSlide" Target="/ppt/notesSlides/notesSlide6.xml" Id="R431de27e2d004b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ad32e7a85864ca4" /><Relationship Type="http://schemas.openxmlformats.org/officeDocument/2006/relationships/notesSlide" Target="/ppt/notesSlides/notesSlide7.xml" Id="R04cd7126958c4a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757491799b343f0" /><Relationship Type="http://schemas.openxmlformats.org/officeDocument/2006/relationships/notesSlide" Target="/ppt/notesSlides/notesSlide8.xml" Id="R41c6e6c0873b4a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029419611c84a45" /><Relationship Type="http://schemas.openxmlformats.org/officeDocument/2006/relationships/notesSlide" Target="/ppt/notesSlides/notesSlide9.xml" Id="R493da1f964a14f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c5011734b45405d" /><Relationship Type="http://schemas.openxmlformats.org/officeDocument/2006/relationships/notesSlide" Target="/ppt/notesSlides/notesSlide10.xml" Id="R5fa64600adfd42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4682f0b03144b6d" /><Relationship Type="http://schemas.openxmlformats.org/officeDocument/2006/relationships/notesSlide" Target="/ppt/notesSlides/notesSlide11.xml" Id="R9764a733266349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65f0fbbc1e547cd" /><Relationship Type="http://schemas.openxmlformats.org/officeDocument/2006/relationships/notesSlide" Target="/ppt/notesSlides/notesSlide12.xml" Id="R918ef83c74184c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ed5fe9ffc5b407d" /><Relationship Type="http://schemas.openxmlformats.org/officeDocument/2006/relationships/notesSlide" Target="/ppt/notesSlides/notesSlide13.xml" Id="R5ff04b763f9943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202b46465234533" /><Relationship Type="http://schemas.openxmlformats.org/officeDocument/2006/relationships/notesSlide" Target="/ppt/notesSlides/notesSlide14.xml" Id="Ra051cce3dc2b43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f6ea6c9195a4563" /><Relationship Type="http://schemas.openxmlformats.org/officeDocument/2006/relationships/notesSlide" Target="/ppt/notesSlides/notesSlide15.xml" Id="Rf9da6a69de5444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25f32caaf6d4457" /><Relationship Type="http://schemas.openxmlformats.org/officeDocument/2006/relationships/notesSlide" Target="/ppt/notesSlides/notesSlide16.xml" Id="R08b168edfaf34a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6f0c3dc648846a8" /><Relationship Type="http://schemas.openxmlformats.org/officeDocument/2006/relationships/notesSlide" Target="/ppt/notesSlides/notesSlide17.xml" Id="Rda934f7c296742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cb61b4c978442bb" /><Relationship Type="http://schemas.openxmlformats.org/officeDocument/2006/relationships/notesSlide" Target="/ppt/notesSlides/notesSlide18.xml" Id="R255891a1cb0145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01d207890b644d5" /><Relationship Type="http://schemas.openxmlformats.org/officeDocument/2006/relationships/notesSlide" Target="/ppt/notesSlides/notesSlide19.xml" Id="R7abd00d2417047c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498d6f77eb846d1" /><Relationship Type="http://schemas.openxmlformats.org/officeDocument/2006/relationships/notesSlide" Target="/ppt/notesSlides/notesSlide20.xml" Id="R7a7ad765894948f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bda8b28c4e14d6f" /><Relationship Type="http://schemas.openxmlformats.org/officeDocument/2006/relationships/notesSlide" Target="/ppt/notesSlides/notesSlide21.xml" Id="R1c43baf8428f40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7812461dd4b4f89" /><Relationship Type="http://schemas.openxmlformats.org/officeDocument/2006/relationships/notesSlide" Target="/ppt/notesSlides/notesSlide22.xml" Id="Ref6204f7b039467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992856524a644ba" /><Relationship Type="http://schemas.openxmlformats.org/officeDocument/2006/relationships/notesSlide" Target="/ppt/notesSlides/notesSlide23.xml" Id="Rcdc0720e7fe1494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a6ea25536024da4" /><Relationship Type="http://schemas.openxmlformats.org/officeDocument/2006/relationships/hyperlink" Target="https://www.jdla.org/download/g%E6%A4%9C%E5%AE%9A%E3%81%AE%E8%A9%A6%E9%A8%93%E5%87%BA%E9%A1%8C%E7%AF%84%E5%9B%B2-%EF%BC%88%E3%82%B7%E3%83%A9%E3%83%90%E3%82%B9%EF%BC%89g20246%EF%BD%9Ev1-4/" TargetMode="External" Id="Reffad4ed99a64b53" /><Relationship Type="http://schemas.openxmlformats.org/officeDocument/2006/relationships/hyperlink" Target="https://scikit-learn.org/stable/modules/model_evaluation.html" TargetMode="External" Id="Rf2707b9171a04ace" /><Relationship Type="http://schemas.openxmlformats.org/officeDocument/2006/relationships/hyperlink" Target="https://developers.google.com/machine-learning/crash-course/neural-networks/nodes-hidden-layers" TargetMode="External" Id="R300b2dbbbf074ffb" /><Relationship Type="http://schemas.openxmlformats.org/officeDocument/2006/relationships/hyperlink" Target="https://arxiv.org/abs/1706.03762" TargetMode="External" Id="R8786992abae24a00" /><Relationship Type="http://schemas.openxmlformats.org/officeDocument/2006/relationships/notesSlide" Target="/ppt/notesSlides/notesSlide24.xml" Id="R51eee3a3086b4a8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a34911a575b4120" /><Relationship Type="http://schemas.openxmlformats.org/officeDocument/2006/relationships/hyperlink" Target="https://arxiv.org/abs/2005.11401" TargetMode="External" Id="R43f4763a64c1495c" /><Relationship Type="http://schemas.openxmlformats.org/officeDocument/2006/relationships/hyperlink" Target="https://www.bunka.go.jp/seisaku/bunkashingikai/chosakuken/pdf/94057901_01.pdf" TargetMode="External" Id="Rc25df990b34748be" /><Relationship Type="http://schemas.openxmlformats.org/officeDocument/2006/relationships/hyperlink" Target="https://www.meti.go.jp/shingikai/mono_info_service/ai_shakai_jisso/20260331_report.html" TargetMode="External" Id="R9d84947311924a67" /><Relationship Type="http://schemas.openxmlformats.org/officeDocument/2006/relationships/notesSlide" Target="/ppt/notesSlides/notesSlide25.xml" Id="R9245fbac153e40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情報技術者（民間資格）15&#10;G検定">
            <a:extLst xmlns:a="http://schemas.openxmlformats.org/drawingml/2006/main">
              <a:ext uri="{FF2B5EF4-FFF2-40B4-BE49-F238E27FC236}">
                <a16:creationId xmlns:a16="http://schemas.microsoft.com/office/drawing/2014/main" id="{9C8C5CA0-B785-4F60-8E41-97E63F74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740664"/>
            <a:ext cx="8522208" cy="204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4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44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情報技術者（民間資格）15</a:t>
            </a:r>
          </a:p>
          <a:p xmlns:a="http://schemas.openxmlformats.org/drawingml/2006/main">
            <a:pPr algn="ctr">
              <a:defRPr sz="44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44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G検定</a:t>
            </a:r>
          </a:p>
        </p:txBody>
      </p:sp>
      <p:sp>
        <p:nvSpPr>
          <p:cNvPr id="2" name="総復習・G検定対策">
            <a:extLst xmlns:a="http://schemas.openxmlformats.org/drawingml/2006/main">
              <a:ext uri="{FF2B5EF4-FFF2-40B4-BE49-F238E27FC236}">
                <a16:creationId xmlns:a16="http://schemas.microsoft.com/office/drawing/2014/main" id="{945F63CE-FE2E-4586-B656-5B7D6B7D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8229600" cy="786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総復習・G検定対策</a:t>
            </a:r>
          </a:p>
        </p:txBody>
      </p:sp>
      <p:sp>
        <p:nvSpPr>
          <p:cNvPr id="3" name="第15回 ／ 90分 ／ 全25枚">
            <a:extLst xmlns:a="http://schemas.openxmlformats.org/drawingml/2006/main">
              <a:ext uri="{FF2B5EF4-FFF2-40B4-BE49-F238E27FC236}">
                <a16:creationId xmlns:a16="http://schemas.microsoft.com/office/drawing/2014/main" id="{9BD9D339-CA1F-404B-816C-07E9AE03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5384"/>
            <a:ext cx="8229600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60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 ／ 90分 ／ 全25枚</a:t>
            </a:r>
          </a:p>
        </p:txBody>
      </p:sp>
      <p:sp>
        <p:nvSpPr>
          <p:cNvPr id="4" name="参照：JDLA／scikit-learn">
            <a:extLst xmlns:a="http://schemas.openxmlformats.org/drawingml/2006/main">
              <a:ext uri="{FF2B5EF4-FFF2-40B4-BE49-F238E27FC236}">
                <a16:creationId xmlns:a16="http://schemas.microsoft.com/office/drawing/2014/main" id="{851EEF4C-B631-4E4B-9FB4-607164A9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参照：JDLA／scikit-learn</a:t>
            </a:r>
          </a:p>
        </p:txBody>
      </p:sp>
      <p:sp>
        <p:nvSpPr>
          <p:cNvPr id="5" name="第15回　1">
            <a:extLst xmlns:a="http://schemas.openxmlformats.org/drawingml/2006/main">
              <a:ext uri="{FF2B5EF4-FFF2-40B4-BE49-F238E27FC236}">
                <a16:creationId xmlns:a16="http://schemas.microsoft.com/office/drawing/2014/main" id="{6FF88592-AFA2-40BA-A79F-879F00DF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1</a:t>
            </a:r>
          </a:p>
        </p:txBody>
      </p:sp>
    </p:spTree>
    <p:extLst>
      <p:ext uri="{BB962C8B-B14F-4D97-AF65-F5344CB8AC3E}">
        <p14:creationId xmlns:p14="http://schemas.microsoft.com/office/powerpoint/2010/main" val="19942328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今日の到達目標">
            <a:extLst xmlns:a="http://schemas.openxmlformats.org/drawingml/2006/main">
              <a:ext uri="{FF2B5EF4-FFF2-40B4-BE49-F238E27FC236}">
                <a16:creationId xmlns:a16="http://schemas.microsoft.com/office/drawing/2014/main" id="{3131C8F2-6F18-4466-A0F0-A4045E05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今日の到達目標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B83CC-EA54-4C1A-BE19-1574383A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AI・機械学習・深層学習のつながりを整理する．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問題の前提を読み，技術・評価・利用条件を選ぶ．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苦手な分野を見つけ，復習する内容を決める．</a:t>
            </a:r>
          </a:p>
        </p:txBody>
      </p:sp>
      <p:sp>
        <p:nvSpPr>
          <p:cNvPr id="3" name="図・設問：本教材の作例">
            <a:extLst xmlns:a="http://schemas.openxmlformats.org/drawingml/2006/main">
              <a:ext uri="{FF2B5EF4-FFF2-40B4-BE49-F238E27FC236}">
                <a16:creationId xmlns:a16="http://schemas.microsoft.com/office/drawing/2014/main" id="{26A3CABA-F463-42B3-97A1-1133B0E0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図・設問：本教材の作例</a:t>
            </a:r>
          </a:p>
        </p:txBody>
      </p:sp>
      <p:sp>
        <p:nvSpPr>
          <p:cNvPr id="4" name="第15回　2">
            <a:extLst xmlns:a="http://schemas.openxmlformats.org/drawingml/2006/main">
              <a:ext uri="{FF2B5EF4-FFF2-40B4-BE49-F238E27FC236}">
                <a16:creationId xmlns:a16="http://schemas.microsoft.com/office/drawing/2014/main" id="{3F268518-BBB3-42C4-9EF5-B0F02B45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2</a:t>
            </a:r>
          </a:p>
        </p:txBody>
      </p:sp>
    </p:spTree>
    <p:extLst>
      <p:ext uri="{BB962C8B-B14F-4D97-AF65-F5344CB8AC3E}">
        <p14:creationId xmlns:p14="http://schemas.microsoft.com/office/powerpoint/2010/main" val="13512943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15回で学んだ内容のつながり">
            <a:extLst xmlns:a="http://schemas.openxmlformats.org/drawingml/2006/main">
              <a:ext uri="{FF2B5EF4-FFF2-40B4-BE49-F238E27FC236}">
                <a16:creationId xmlns:a16="http://schemas.microsoft.com/office/drawing/2014/main" id="{7C81104F-6ED1-48C8-8D1D-A97933BB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15回で学んだ内容のつながり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365760" y="1243584"/>
          <a:ext xmlns:a="http://schemas.openxmlformats.org/drawingml/2006/main" cx="8366760" cy="2953512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28800"/>
                <a:gridCol w="6537960"/>
              </a:tblGrid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回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中心に学んだこと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1〜4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AIの考え方，探索・知識，機械学習と評価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5〜9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ネットワークの学習，画像・系列・生成AI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10〜12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課題設定と運用，学習・評価の実習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13〜14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法律・契約，倫理とガバナンス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図・設問：本教材の作例">
            <a:extLst xmlns:a="http://schemas.openxmlformats.org/drawingml/2006/main">
              <a:ext uri="{FF2B5EF4-FFF2-40B4-BE49-F238E27FC236}">
                <a16:creationId xmlns:a16="http://schemas.microsoft.com/office/drawing/2014/main" id="{BD1D8343-5E54-4E6C-AC47-85055854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図・設問：本教材の作例</a:t>
            </a:r>
          </a:p>
        </p:txBody>
      </p:sp>
      <p:sp>
        <p:nvSpPr>
          <p:cNvPr id="4" name="第15回　3">
            <a:extLst xmlns:a="http://schemas.openxmlformats.org/drawingml/2006/main">
              <a:ext uri="{FF2B5EF4-FFF2-40B4-BE49-F238E27FC236}">
                <a16:creationId xmlns:a16="http://schemas.microsoft.com/office/drawing/2014/main" id="{53E450CB-D333-46F8-B4AA-E531F8EF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3</a:t>
            </a:r>
          </a:p>
        </p:txBody>
      </p:sp>
    </p:spTree>
    <p:extLst>
      <p:ext uri="{BB962C8B-B14F-4D97-AF65-F5344CB8AC3E}">
        <p14:creationId xmlns:p14="http://schemas.microsoft.com/office/powerpoint/2010/main" val="1441392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I・機械学習・深層学習の関係">
            <a:extLst xmlns:a="http://schemas.openxmlformats.org/drawingml/2006/main">
              <a:ext uri="{FF2B5EF4-FFF2-40B4-BE49-F238E27FC236}">
                <a16:creationId xmlns:a16="http://schemas.microsoft.com/office/drawing/2014/main" id="{B2FD651A-AC82-438E-9901-9B4D528A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AI・機械学習・深層学習の関係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365760" y="1243584"/>
          <a:ext xmlns:a="http://schemas.openxmlformats.org/drawingml/2006/main" cx="8366760" cy="2523744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6080760"/>
              </a:tblGrid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用語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大まかな関係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AI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探索や知識を使う方法なども含む広い分野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機械学習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データから規則性を学ぶ，AIの方法の一つ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深層学習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複数の層で表現を学ぶ，機械学習の方法の一つ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参照：JDLA／Google">
            <a:extLst xmlns:a="http://schemas.openxmlformats.org/drawingml/2006/main">
              <a:ext uri="{FF2B5EF4-FFF2-40B4-BE49-F238E27FC236}">
                <a16:creationId xmlns:a16="http://schemas.microsoft.com/office/drawing/2014/main" id="{97E17C29-7076-4F01-95CB-28E9A044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参照：JDLA／Google</a:t>
            </a:r>
          </a:p>
        </p:txBody>
      </p:sp>
      <p:sp>
        <p:nvSpPr>
          <p:cNvPr id="4" name="第15回　4">
            <a:extLst xmlns:a="http://schemas.openxmlformats.org/drawingml/2006/main">
              <a:ext uri="{FF2B5EF4-FFF2-40B4-BE49-F238E27FC236}">
                <a16:creationId xmlns:a16="http://schemas.microsoft.com/office/drawing/2014/main" id="{A8935DA1-E273-4E7C-92A2-223E6F75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4</a:t>
            </a:r>
          </a:p>
        </p:txBody>
      </p:sp>
    </p:spTree>
    <p:extLst>
      <p:ext uri="{BB962C8B-B14F-4D97-AF65-F5344CB8AC3E}">
        <p14:creationId xmlns:p14="http://schemas.microsoft.com/office/powerpoint/2010/main" val="17549621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探索・ルール・学習を比較する">
            <a:extLst xmlns:a="http://schemas.openxmlformats.org/drawingml/2006/main">
              <a:ext uri="{FF2B5EF4-FFF2-40B4-BE49-F238E27FC236}">
                <a16:creationId xmlns:a16="http://schemas.microsoft.com/office/drawing/2014/main" id="{4C28C227-8F48-46D2-AD5C-A78810CE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探索・ルール・学習を比較する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365760" y="1243584"/>
          <a:ext xmlns:a="http://schemas.openxmlformats.org/drawingml/2006/main" cx="8366760" cy="2523744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83380"/>
                <a:gridCol w="4183380"/>
              </a:tblGrid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方法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何を用意し，何を行うか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探索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状態や候補を表し，解を探す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ルールによる推論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条件と知識を表し，結論を導く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機械学習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データと目的を用意し，モデルを調整する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参照：JDLA">
            <a:extLst xmlns:a="http://schemas.openxmlformats.org/drawingml/2006/main">
              <a:ext uri="{FF2B5EF4-FFF2-40B4-BE49-F238E27FC236}">
                <a16:creationId xmlns:a16="http://schemas.microsoft.com/office/drawing/2014/main" id="{CBC87F28-D907-4A39-BEE5-C97DCE55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参照：JDLA</a:t>
            </a:r>
          </a:p>
        </p:txBody>
      </p:sp>
      <p:sp>
        <p:nvSpPr>
          <p:cNvPr id="4" name="第15回　5">
            <a:extLst xmlns:a="http://schemas.openxmlformats.org/drawingml/2006/main">
              <a:ext uri="{FF2B5EF4-FFF2-40B4-BE49-F238E27FC236}">
                <a16:creationId xmlns:a16="http://schemas.microsoft.com/office/drawing/2014/main" id="{23C89EE1-1F38-431E-A7C5-559E3A4C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5</a:t>
            </a:r>
          </a:p>
        </p:txBody>
      </p:sp>
    </p:spTree>
    <p:extLst>
      <p:ext uri="{BB962C8B-B14F-4D97-AF65-F5344CB8AC3E}">
        <p14:creationId xmlns:p14="http://schemas.microsoft.com/office/powerpoint/2010/main" val="713910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確認問題1：教師なし学習">
            <a:extLst xmlns:a="http://schemas.openxmlformats.org/drawingml/2006/main">
              <a:ext uri="{FF2B5EF4-FFF2-40B4-BE49-F238E27FC236}">
                <a16:creationId xmlns:a16="http://schemas.microsoft.com/office/drawing/2014/main" id="{B1525436-91E1-42BE-A538-9B4B2AE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確認問題1：教師なし学習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91949-26DE-45B2-8EDA-5DBA8E13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A：販売数の正解データを使って，翌日の販売数を予測する．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B：正解の区分を与えず，似た購入履歴の利用者をまとめる．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C：ゲームで得る報酬から，行動の方針を学ぶ．</a:t>
            </a:r>
          </a:p>
        </p:txBody>
      </p:sp>
      <p:sp>
        <p:nvSpPr>
          <p:cNvPr id="3" name="学習に使う正解や報酬の有無を読む．">
            <a:extLst xmlns:a="http://schemas.openxmlformats.org/drawingml/2006/main">
              <a:ext uri="{FF2B5EF4-FFF2-40B4-BE49-F238E27FC236}">
                <a16:creationId xmlns:a16="http://schemas.microsoft.com/office/drawing/2014/main" id="{0D6CB371-4291-405E-A492-E74A5470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学習に使う正解や報酬の有無を読む．</a:t>
            </a:r>
          </a:p>
        </p:txBody>
      </p:sp>
      <p:sp>
        <p:nvSpPr>
          <p:cNvPr id="4" name="図・設問：本教材の作例">
            <a:extLst xmlns:a="http://schemas.openxmlformats.org/drawingml/2006/main">
              <a:ext uri="{FF2B5EF4-FFF2-40B4-BE49-F238E27FC236}">
                <a16:creationId xmlns:a16="http://schemas.microsoft.com/office/drawing/2014/main" id="{DAAF3DA1-F20D-43BC-ADFA-0D025A3F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図・設問：本教材の作例</a:t>
            </a:r>
          </a:p>
        </p:txBody>
      </p:sp>
      <p:sp>
        <p:nvSpPr>
          <p:cNvPr id="5" name="第15回　6">
            <a:extLst xmlns:a="http://schemas.openxmlformats.org/drawingml/2006/main">
              <a:ext uri="{FF2B5EF4-FFF2-40B4-BE49-F238E27FC236}">
                <a16:creationId xmlns:a16="http://schemas.microsoft.com/office/drawing/2014/main" id="{18D77499-CEAD-4AF5-95C4-80265AD0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6</a:t>
            </a:r>
          </a:p>
        </p:txBody>
      </p:sp>
    </p:spTree>
    <p:extLst>
      <p:ext uri="{BB962C8B-B14F-4D97-AF65-F5344CB8AC3E}">
        <p14:creationId xmlns:p14="http://schemas.microsoft.com/office/powerpoint/2010/main" val="18885694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確認問題1：解答">
            <a:extLst xmlns:a="http://schemas.openxmlformats.org/drawingml/2006/main">
              <a:ext uri="{FF2B5EF4-FFF2-40B4-BE49-F238E27FC236}">
                <a16:creationId xmlns:a16="http://schemas.microsoft.com/office/drawing/2014/main" id="{C5925CEE-AF87-4F8F-B2EE-EC560E95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確認問題1：解答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365760" y="1243584"/>
          <a:ext xmlns:a="http://schemas.openxmlformats.org/drawingml/2006/main" cx="8366760" cy="2523744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280160"/>
                <a:gridCol w="7086600"/>
              </a:tblGrid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選択肢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学習方法と理由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A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教師あり学習：予測する販売数の正解がある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B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教師なし学習：類似性から構造を調べる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強化学習：報酬を通じて行動を学ぶ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参照：JDLA">
            <a:extLst xmlns:a="http://schemas.openxmlformats.org/drawingml/2006/main">
              <a:ext uri="{FF2B5EF4-FFF2-40B4-BE49-F238E27FC236}">
                <a16:creationId xmlns:a16="http://schemas.microsoft.com/office/drawing/2014/main" id="{C9C7AC8C-98D1-4F7A-8ACF-C58ACFE8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参照：JDLA</a:t>
            </a:r>
          </a:p>
        </p:txBody>
      </p:sp>
      <p:sp>
        <p:nvSpPr>
          <p:cNvPr id="4" name="第15回　7">
            <a:extLst xmlns:a="http://schemas.openxmlformats.org/drawingml/2006/main">
              <a:ext uri="{FF2B5EF4-FFF2-40B4-BE49-F238E27FC236}">
                <a16:creationId xmlns:a16="http://schemas.microsoft.com/office/drawing/2014/main" id="{0665834A-BAAA-4033-A42E-87663841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7</a:t>
            </a:r>
          </a:p>
        </p:txBody>
      </p:sp>
    </p:spTree>
    <p:extLst>
      <p:ext uri="{BB962C8B-B14F-4D97-AF65-F5344CB8AC3E}">
        <p14:creationId xmlns:p14="http://schemas.microsoft.com/office/powerpoint/2010/main" val="20495652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確認問題2：データの分割">
            <a:extLst xmlns:a="http://schemas.openxmlformats.org/drawingml/2006/main">
              <a:ext uri="{FF2B5EF4-FFF2-40B4-BE49-F238E27FC236}">
                <a16:creationId xmlns:a16="http://schemas.microsoft.com/office/drawing/2014/main" id="{5FFA0BE7-D5F1-48EF-A4FA-E7CA3FC9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確認問題2：データの分割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7FD2D-7004-4811-83BF-393D13D9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A：全データで標準化してから，訓練とテストに分ける．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B：テストの正解率が最高になるまで，条件を調整する．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C：訓練で学習し，検証で選び，最後にテストする．</a:t>
            </a:r>
          </a:p>
        </p:txBody>
      </p:sp>
      <p:sp>
        <p:nvSpPr>
          <p:cNvPr id="3" name="評価に使う情報が，学習や選択へ漏れていないか．">
            <a:extLst xmlns:a="http://schemas.openxmlformats.org/drawingml/2006/main">
              <a:ext uri="{FF2B5EF4-FFF2-40B4-BE49-F238E27FC236}">
                <a16:creationId xmlns:a16="http://schemas.microsoft.com/office/drawing/2014/main" id="{B38189BC-5B12-40CF-8C23-B4BF31D6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評価に使う情報が，学習や選択へ漏れていないか．</a:t>
            </a:r>
          </a:p>
        </p:txBody>
      </p:sp>
      <p:sp>
        <p:nvSpPr>
          <p:cNvPr id="4" name="図・設問：本教材の作例">
            <a:extLst xmlns:a="http://schemas.openxmlformats.org/drawingml/2006/main">
              <a:ext uri="{FF2B5EF4-FFF2-40B4-BE49-F238E27FC236}">
                <a16:creationId xmlns:a16="http://schemas.microsoft.com/office/drawing/2014/main" id="{978627B0-1B5A-416B-BF87-56B4BE24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図・設問：本教材の作例</a:t>
            </a:r>
          </a:p>
        </p:txBody>
      </p:sp>
      <p:sp>
        <p:nvSpPr>
          <p:cNvPr id="5" name="第15回　8">
            <a:extLst xmlns:a="http://schemas.openxmlformats.org/drawingml/2006/main">
              <a:ext uri="{FF2B5EF4-FFF2-40B4-BE49-F238E27FC236}">
                <a16:creationId xmlns:a16="http://schemas.microsoft.com/office/drawing/2014/main" id="{B56BAF34-5C3B-444F-9B8F-C09E0AD2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8</a:t>
            </a:r>
          </a:p>
        </p:txBody>
      </p:sp>
    </p:spTree>
    <p:extLst>
      <p:ext uri="{BB962C8B-B14F-4D97-AF65-F5344CB8AC3E}">
        <p14:creationId xmlns:p14="http://schemas.microsoft.com/office/powerpoint/2010/main" val="7800412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確認問題2：解答">
            <a:extLst xmlns:a="http://schemas.openxmlformats.org/drawingml/2006/main">
              <a:ext uri="{FF2B5EF4-FFF2-40B4-BE49-F238E27FC236}">
                <a16:creationId xmlns:a16="http://schemas.microsoft.com/office/drawing/2014/main" id="{D094D6B3-1F0B-4FE1-BC0C-3F4E9362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確認問題2：解答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31677-845F-4EA7-BA31-49375F03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C：検証でモデルや条件を選び，テストは最後の評価に使う．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Aは，テストの情報を前処理へ使っている．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Bは，テストに条件を合わせ，独立した評価を失う．</a:t>
            </a:r>
          </a:p>
        </p:txBody>
      </p:sp>
      <p:sp>
        <p:nvSpPr>
          <p:cNvPr id="3" name="参照：scikit-learn">
            <a:extLst xmlns:a="http://schemas.openxmlformats.org/drawingml/2006/main">
              <a:ext uri="{FF2B5EF4-FFF2-40B4-BE49-F238E27FC236}">
                <a16:creationId xmlns:a16="http://schemas.microsoft.com/office/drawing/2014/main" id="{93F8A025-272A-4C7B-94BA-689BDDFA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参照：scikit-learn</a:t>
            </a:r>
          </a:p>
        </p:txBody>
      </p:sp>
      <p:sp>
        <p:nvSpPr>
          <p:cNvPr id="4" name="第15回　9">
            <a:extLst xmlns:a="http://schemas.openxmlformats.org/drawingml/2006/main">
              <a:ext uri="{FF2B5EF4-FFF2-40B4-BE49-F238E27FC236}">
                <a16:creationId xmlns:a16="http://schemas.microsoft.com/office/drawing/2014/main" id="{B2AF2C61-95C3-47DE-80FC-8E7F899E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9</a:t>
            </a:r>
          </a:p>
        </p:txBody>
      </p:sp>
    </p:spTree>
    <p:extLst>
      <p:ext uri="{BB962C8B-B14F-4D97-AF65-F5344CB8AC3E}">
        <p14:creationId xmlns:p14="http://schemas.microsoft.com/office/powerpoint/2010/main" val="7240212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確認問題3：混同行列の計算">
            <a:extLst xmlns:a="http://schemas.openxmlformats.org/drawingml/2006/main">
              <a:ext uri="{FF2B5EF4-FFF2-40B4-BE49-F238E27FC236}">
                <a16:creationId xmlns:a16="http://schemas.microsoft.com/office/drawing/2014/main" id="{6A632F60-AD34-48C6-A6B6-4E73BA86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確認問題3：混同行列の計算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365760" y="1243584"/>
          <a:ext xmlns:a="http://schemas.openxmlformats.org/drawingml/2006/main" cx="8366760" cy="2953512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83380"/>
                <a:gridCol w="4183380"/>
              </a:tblGrid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結果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件数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本当も予測も陽性（TP）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18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本当は陰性，予測は陽性（FP）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本当は陽性，予測は陰性（FN）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12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本当も予測も陰性（TN）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陽性の意味を先に決め，分母を区別する．">
            <a:extLst xmlns:a="http://schemas.openxmlformats.org/drawingml/2006/main">
              <a:ext uri="{FF2B5EF4-FFF2-40B4-BE49-F238E27FC236}">
                <a16:creationId xmlns:a16="http://schemas.microsoft.com/office/drawing/2014/main" id="{0AD4B9FA-00AA-405B-8819-D0C2FA73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陽性の意味を先に決め，分母を区別する．</a:t>
            </a:r>
          </a:p>
        </p:txBody>
      </p:sp>
      <p:sp>
        <p:nvSpPr>
          <p:cNvPr id="4" name="図・設問：本教材の作例">
            <a:extLst xmlns:a="http://schemas.openxmlformats.org/drawingml/2006/main">
              <a:ext uri="{FF2B5EF4-FFF2-40B4-BE49-F238E27FC236}">
                <a16:creationId xmlns:a16="http://schemas.microsoft.com/office/drawing/2014/main" id="{1D119CA3-E562-47C4-90F7-34BD7AA6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図・設問：本教材の作例</a:t>
            </a:r>
          </a:p>
        </p:txBody>
      </p:sp>
      <p:sp>
        <p:nvSpPr>
          <p:cNvPr id="5" name="第15回　10">
            <a:extLst xmlns:a="http://schemas.openxmlformats.org/drawingml/2006/main">
              <a:ext uri="{FF2B5EF4-FFF2-40B4-BE49-F238E27FC236}">
                <a16:creationId xmlns:a16="http://schemas.microsoft.com/office/drawing/2014/main" id="{2DCF3C52-BDF7-4570-9095-B72A25AE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10</a:t>
            </a:r>
          </a:p>
        </p:txBody>
      </p:sp>
    </p:spTree>
    <p:extLst>
      <p:ext uri="{BB962C8B-B14F-4D97-AF65-F5344CB8AC3E}">
        <p14:creationId xmlns:p14="http://schemas.microsoft.com/office/powerpoint/2010/main" val="6578033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確認問題3：解答">
            <a:extLst xmlns:a="http://schemas.openxmlformats.org/drawingml/2006/main">
              <a:ext uri="{FF2B5EF4-FFF2-40B4-BE49-F238E27FC236}">
                <a16:creationId xmlns:a16="http://schemas.microsoft.com/office/drawing/2014/main" id="{FED907AF-638C-40B7-A4A4-23DF792C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確認問題3：解答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6B1EE-62D2-42D1-88CE-CDADD49D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正解率＝（18＋64）÷100＝82％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適合率＝18÷（18＋6）＝75％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再現率＝18÷（18＋12）＝60％</a:t>
            </a:r>
          </a:p>
        </p:txBody>
      </p:sp>
      <p:sp>
        <p:nvSpPr>
          <p:cNvPr id="3" name="誤りの影響に合わせて，指標を選ぶ．">
            <a:extLst xmlns:a="http://schemas.openxmlformats.org/drawingml/2006/main">
              <a:ext uri="{FF2B5EF4-FFF2-40B4-BE49-F238E27FC236}">
                <a16:creationId xmlns:a16="http://schemas.microsoft.com/office/drawing/2014/main" id="{D7EAF179-4CF2-4810-A0F4-9529D520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誤りの影響に合わせて，指標を選ぶ．</a:t>
            </a:r>
          </a:p>
        </p:txBody>
      </p:sp>
      <p:sp>
        <p:nvSpPr>
          <p:cNvPr id="4" name="参照：scikit-learn">
            <a:extLst xmlns:a="http://schemas.openxmlformats.org/drawingml/2006/main">
              <a:ext uri="{FF2B5EF4-FFF2-40B4-BE49-F238E27FC236}">
                <a16:creationId xmlns:a16="http://schemas.microsoft.com/office/drawing/2014/main" id="{48666B53-EB7A-491D-8F34-7DAC2417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参照：scikit-learn</a:t>
            </a:r>
          </a:p>
        </p:txBody>
      </p:sp>
      <p:sp>
        <p:nvSpPr>
          <p:cNvPr id="5" name="第15回　11">
            <a:extLst xmlns:a="http://schemas.openxmlformats.org/drawingml/2006/main">
              <a:ext uri="{FF2B5EF4-FFF2-40B4-BE49-F238E27FC236}">
                <a16:creationId xmlns:a16="http://schemas.microsoft.com/office/drawing/2014/main" id="{571D6BCD-A987-41A8-A563-8DCC6515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11</a:t>
            </a:r>
          </a:p>
        </p:txBody>
      </p:sp>
    </p:spTree>
    <p:extLst>
      <p:ext uri="{BB962C8B-B14F-4D97-AF65-F5344CB8AC3E}">
        <p14:creationId xmlns:p14="http://schemas.microsoft.com/office/powerpoint/2010/main" val="11560152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確認問題4：ユニットの計算">
            <a:extLst xmlns:a="http://schemas.openxmlformats.org/drawingml/2006/main">
              <a:ext uri="{FF2B5EF4-FFF2-40B4-BE49-F238E27FC236}">
                <a16:creationId xmlns:a16="http://schemas.microsoft.com/office/drawing/2014/main" id="{4228F500-51D1-4809-BD3E-FF65DEF6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確認問題4：ユニットの計算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DE75E-3267-4792-9AFA-DB93BA39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x₁＝2，x₂＝1，w₁＝0.5，w₂＝−2，b＝0.5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z＝w₁x₁＋w₂x₂＋b を求める．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ReLU(z)＝max(0,z) の出力を求める．</a:t>
            </a:r>
          </a:p>
        </p:txBody>
      </p:sp>
      <p:sp>
        <p:nvSpPr>
          <p:cNvPr id="3" name="重み付きの和と，活性化を分けて計算する．">
            <a:extLst xmlns:a="http://schemas.openxmlformats.org/drawingml/2006/main">
              <a:ext uri="{FF2B5EF4-FFF2-40B4-BE49-F238E27FC236}">
                <a16:creationId xmlns:a16="http://schemas.microsoft.com/office/drawing/2014/main" id="{DBF92F65-65E5-41AB-A43F-52EF73BA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重み付きの和と，活性化を分けて計算する．</a:t>
            </a:r>
          </a:p>
        </p:txBody>
      </p:sp>
      <p:sp>
        <p:nvSpPr>
          <p:cNvPr id="4" name="図・設問：本教材の作例">
            <a:extLst xmlns:a="http://schemas.openxmlformats.org/drawingml/2006/main">
              <a:ext uri="{FF2B5EF4-FFF2-40B4-BE49-F238E27FC236}">
                <a16:creationId xmlns:a16="http://schemas.microsoft.com/office/drawing/2014/main" id="{61DF66CE-98A1-4126-B77F-30DB307C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図・設問：本教材の作例</a:t>
            </a:r>
          </a:p>
        </p:txBody>
      </p:sp>
      <p:sp>
        <p:nvSpPr>
          <p:cNvPr id="5" name="第15回　12">
            <a:extLst xmlns:a="http://schemas.openxmlformats.org/drawingml/2006/main">
              <a:ext uri="{FF2B5EF4-FFF2-40B4-BE49-F238E27FC236}">
                <a16:creationId xmlns:a16="http://schemas.microsoft.com/office/drawing/2014/main" id="{946A58F8-2A13-42E1-9FE6-A17069BD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12</a:t>
            </a:r>
          </a:p>
        </p:txBody>
      </p:sp>
    </p:spTree>
    <p:extLst>
      <p:ext uri="{BB962C8B-B14F-4D97-AF65-F5344CB8AC3E}">
        <p14:creationId xmlns:p14="http://schemas.microsoft.com/office/powerpoint/2010/main" val="5975425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確認問題4：解答">
            <a:extLst xmlns:a="http://schemas.openxmlformats.org/drawingml/2006/main">
              <a:ext uri="{FF2B5EF4-FFF2-40B4-BE49-F238E27FC236}">
                <a16:creationId xmlns:a16="http://schemas.microsoft.com/office/drawing/2014/main" id="{FCEAB166-DE9C-4D0D-AD1C-9ECAE244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確認問題4：解答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DA3FE-57E2-4A2E-B3CC-2290804F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z＝0.5×2＋（−2）×1＋0.5＝−0.5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ReLU(−0.5)＝0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学習では，損失を減らすよう重みやバイアスを調整する．</a:t>
            </a:r>
          </a:p>
        </p:txBody>
      </p:sp>
      <p:sp>
        <p:nvSpPr>
          <p:cNvPr id="3" name="参照：Google">
            <a:extLst xmlns:a="http://schemas.openxmlformats.org/drawingml/2006/main">
              <a:ext uri="{FF2B5EF4-FFF2-40B4-BE49-F238E27FC236}">
                <a16:creationId xmlns:a16="http://schemas.microsoft.com/office/drawing/2014/main" id="{0C58073C-2534-4DD0-A7AB-2DDF1DF6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</a:t>
            </a:r>
          </a:p>
        </p:txBody>
      </p:sp>
      <p:sp>
        <p:nvSpPr>
          <p:cNvPr id="4" name="第15回　13">
            <a:extLst xmlns:a="http://schemas.openxmlformats.org/drawingml/2006/main">
              <a:ext uri="{FF2B5EF4-FFF2-40B4-BE49-F238E27FC236}">
                <a16:creationId xmlns:a16="http://schemas.microsoft.com/office/drawing/2014/main" id="{A348322B-1756-4465-905A-3676FC5B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13</a:t>
            </a:r>
          </a:p>
        </p:txBody>
      </p:sp>
    </p:spTree>
    <p:extLst>
      <p:ext uri="{BB962C8B-B14F-4D97-AF65-F5344CB8AC3E}">
        <p14:creationId xmlns:p14="http://schemas.microsoft.com/office/powerpoint/2010/main" val="843854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確認問題5：学習曲線を読む">
            <a:extLst xmlns:a="http://schemas.openxmlformats.org/drawingml/2006/main">
              <a:ext uri="{FF2B5EF4-FFF2-40B4-BE49-F238E27FC236}">
                <a16:creationId xmlns:a16="http://schemas.microsoft.com/office/drawing/2014/main" id="{68D1B326-692C-4D0D-9CD2-DB513674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確認問題5：学習曲線を読む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365760" y="1243584"/>
          <a:ext xmlns:a="http://schemas.openxmlformats.org/drawingml/2006/main" cx="8366760" cy="1892808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88920"/>
                <a:gridCol w="2788920"/>
                <a:gridCol w="2788920"/>
              </a:tblGrid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時点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訓練損失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検証損失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前半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0.2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0.3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後半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0.1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0.5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訓練だけ改善し，検証は悪化している．">
            <a:extLst xmlns:a="http://schemas.openxmlformats.org/drawingml/2006/main">
              <a:ext uri="{FF2B5EF4-FFF2-40B4-BE49-F238E27FC236}">
                <a16:creationId xmlns:a16="http://schemas.microsoft.com/office/drawing/2014/main" id="{2DE76F22-CACF-459A-AD9C-036181CD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訓練だけ改善し，検証は悪化している．</a:t>
            </a:r>
          </a:p>
        </p:txBody>
      </p:sp>
      <p:sp>
        <p:nvSpPr>
          <p:cNvPr id="4" name="図・設問：本教材の作例">
            <a:extLst xmlns:a="http://schemas.openxmlformats.org/drawingml/2006/main">
              <a:ext uri="{FF2B5EF4-FFF2-40B4-BE49-F238E27FC236}">
                <a16:creationId xmlns:a16="http://schemas.microsoft.com/office/drawing/2014/main" id="{264BACD4-EEA4-40BD-A4D8-1749E6D8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図・設問：本教材の作例</a:t>
            </a:r>
          </a:p>
        </p:txBody>
      </p:sp>
      <p:sp>
        <p:nvSpPr>
          <p:cNvPr id="5" name="第15回　14">
            <a:extLst xmlns:a="http://schemas.openxmlformats.org/drawingml/2006/main">
              <a:ext uri="{FF2B5EF4-FFF2-40B4-BE49-F238E27FC236}">
                <a16:creationId xmlns:a16="http://schemas.microsoft.com/office/drawing/2014/main" id="{A80F4E06-3CB4-4375-90F8-960FD5AB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14</a:t>
            </a:r>
          </a:p>
        </p:txBody>
      </p:sp>
    </p:spTree>
    <p:extLst>
      <p:ext uri="{BB962C8B-B14F-4D97-AF65-F5344CB8AC3E}">
        <p14:creationId xmlns:p14="http://schemas.microsoft.com/office/powerpoint/2010/main" val="6743444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確認問題5：解答">
            <a:extLst xmlns:a="http://schemas.openxmlformats.org/drawingml/2006/main">
              <a:ext uri="{FF2B5EF4-FFF2-40B4-BE49-F238E27FC236}">
                <a16:creationId xmlns:a16="http://schemas.microsoft.com/office/drawing/2014/main" id="{F925E6CD-1005-467A-B22E-E17D2129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確認問題5：解答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D57C9-1F56-406C-A98C-942A893C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未知のデータへ一般化できず，訓練へ合わせすぎた可能性がある．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正則化，データ拡張，モデルの簡略化などを考える．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検証で学習回数を選び，早期終了を使う方法もある．</a:t>
            </a:r>
          </a:p>
        </p:txBody>
      </p:sp>
      <p:sp>
        <p:nvSpPr>
          <p:cNvPr id="3" name="対策の効果は，検証結果で確かめる．">
            <a:extLst xmlns:a="http://schemas.openxmlformats.org/drawingml/2006/main">
              <a:ext uri="{FF2B5EF4-FFF2-40B4-BE49-F238E27FC236}">
                <a16:creationId xmlns:a16="http://schemas.microsoft.com/office/drawing/2014/main" id="{54F4B1C7-7CBE-414A-A8FE-3F282D21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対策の効果は，検証結果で確かめる．</a:t>
            </a:r>
          </a:p>
        </p:txBody>
      </p:sp>
      <p:sp>
        <p:nvSpPr>
          <p:cNvPr id="4" name="参照：TensorFlow">
            <a:extLst xmlns:a="http://schemas.openxmlformats.org/drawingml/2006/main">
              <a:ext uri="{FF2B5EF4-FFF2-40B4-BE49-F238E27FC236}">
                <a16:creationId xmlns:a16="http://schemas.microsoft.com/office/drawing/2014/main" id="{2C2020AB-81D5-424E-ACA4-CE042E86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参照：TensorFlow</a:t>
            </a:r>
          </a:p>
        </p:txBody>
      </p:sp>
      <p:sp>
        <p:nvSpPr>
          <p:cNvPr id="5" name="第15回　15">
            <a:extLst xmlns:a="http://schemas.openxmlformats.org/drawingml/2006/main">
              <a:ext uri="{FF2B5EF4-FFF2-40B4-BE49-F238E27FC236}">
                <a16:creationId xmlns:a16="http://schemas.microsoft.com/office/drawing/2014/main" id="{82B3B715-6A4E-419C-BADB-922F49A9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15</a:t>
            </a:r>
          </a:p>
        </p:txBody>
      </p:sp>
    </p:spTree>
    <p:extLst>
      <p:ext uri="{BB962C8B-B14F-4D97-AF65-F5344CB8AC3E}">
        <p14:creationId xmlns:p14="http://schemas.microsoft.com/office/powerpoint/2010/main" val="11462850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データと構造をつなげて整理する">
            <a:extLst xmlns:a="http://schemas.openxmlformats.org/drawingml/2006/main">
              <a:ext uri="{FF2B5EF4-FFF2-40B4-BE49-F238E27FC236}">
                <a16:creationId xmlns:a16="http://schemas.microsoft.com/office/drawing/2014/main" id="{785ECF3E-3808-4415-9E59-2C1BE777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データと構造をつなげて整理する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365760" y="1243584"/>
          <a:ext xmlns:a="http://schemas.openxmlformats.org/drawingml/2006/main" cx="8366760" cy="2953512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83380"/>
                <a:gridCol w="4183380"/>
              </a:tblGrid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考え方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 lang="ja-JP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主な役割</a:t>
                      </a:r>
                    </a:p>
                  </a:txBody>
                  <a:tcPr marL="76200" marR="76200" marT="47625" marB="47625" anchor="ctr">
                    <a:solidFill>
                      <a:srgbClr val="F3F3F3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CNN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局所的な計算と重みの共有で特徴を作る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RNN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系列の情報を状態として引き継ぐ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Attention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関連の強さで重みを付け，情報をまとめる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Transformer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 lang="ja-JP">
                          <a:solidFill>
                            <a:srgbClr val="404040"/>
                          </a:solidFill>
                          <a:latin typeface="Arial"/>
                          <a:ea typeface="ＭＳ Ｐゴシック"/>
                          <a:cs typeface="ＭＳ Ｐゴシック"/>
                        </a:rPr>
                        <a:t>Attentionなどで系列の表現を更新する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参照：Stanford CS231n／PyTorch／Vaswani et al">
            <a:extLst xmlns:a="http://schemas.openxmlformats.org/drawingml/2006/main">
              <a:ext uri="{FF2B5EF4-FFF2-40B4-BE49-F238E27FC236}">
                <a16:creationId xmlns:a16="http://schemas.microsoft.com/office/drawing/2014/main" id="{F3D2AA7F-0A3F-4988-AE35-58F2920E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参照：Stanford CS231n／PyTorch／Vaswani et al.</a:t>
            </a:r>
          </a:p>
        </p:txBody>
      </p:sp>
      <p:sp>
        <p:nvSpPr>
          <p:cNvPr id="4" name="第15回　16">
            <a:extLst xmlns:a="http://schemas.openxmlformats.org/drawingml/2006/main">
              <a:ext uri="{FF2B5EF4-FFF2-40B4-BE49-F238E27FC236}">
                <a16:creationId xmlns:a16="http://schemas.microsoft.com/office/drawing/2014/main" id="{12F5185E-1932-4A79-90E3-A1371CC7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16</a:t>
            </a:r>
          </a:p>
        </p:txBody>
      </p:sp>
    </p:spTree>
    <p:extLst>
      <p:ext uri="{BB962C8B-B14F-4D97-AF65-F5344CB8AC3E}">
        <p14:creationId xmlns:p14="http://schemas.microsoft.com/office/powerpoint/2010/main" val="6782563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確認問題6：RAGと追加学習">
            <a:extLst xmlns:a="http://schemas.openxmlformats.org/drawingml/2006/main">
              <a:ext uri="{FF2B5EF4-FFF2-40B4-BE49-F238E27FC236}">
                <a16:creationId xmlns:a16="http://schemas.microsoft.com/office/drawing/2014/main" id="{AFFA2082-25E9-4D9F-9FAE-18A02105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確認問題6：RAGと追加学習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3EB2B-853F-4D4C-9767-9B80D7FC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A：関連する資料を検索し，質問と一緒にモデルへ入力する．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B：課題の学習例を使い，モデルのパラメータを更新する．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どちらがRAGの基本的な考え方に当たるか？</a:t>
            </a:r>
          </a:p>
        </p:txBody>
      </p:sp>
      <p:sp>
        <p:nvSpPr>
          <p:cNvPr id="3" name="外部情報の参照と，重みの更新を区別する．">
            <a:extLst xmlns:a="http://schemas.openxmlformats.org/drawingml/2006/main">
              <a:ext uri="{FF2B5EF4-FFF2-40B4-BE49-F238E27FC236}">
                <a16:creationId xmlns:a16="http://schemas.microsoft.com/office/drawing/2014/main" id="{4FDE8E67-0BDC-43C8-B1FF-ADAEBABC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外部情報の参照と，重みの更新を区別する．</a:t>
            </a:r>
          </a:p>
        </p:txBody>
      </p:sp>
      <p:sp>
        <p:nvSpPr>
          <p:cNvPr id="4" name="図・設問：本教材の作例">
            <a:extLst xmlns:a="http://schemas.openxmlformats.org/drawingml/2006/main">
              <a:ext uri="{FF2B5EF4-FFF2-40B4-BE49-F238E27FC236}">
                <a16:creationId xmlns:a16="http://schemas.microsoft.com/office/drawing/2014/main" id="{C8D2363E-364D-4BE4-BE90-C6F1A4E7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図・設問：本教材の作例</a:t>
            </a:r>
          </a:p>
        </p:txBody>
      </p:sp>
      <p:sp>
        <p:nvSpPr>
          <p:cNvPr id="5" name="第15回　17">
            <a:extLst xmlns:a="http://schemas.openxmlformats.org/drawingml/2006/main">
              <a:ext uri="{FF2B5EF4-FFF2-40B4-BE49-F238E27FC236}">
                <a16:creationId xmlns:a16="http://schemas.microsoft.com/office/drawing/2014/main" id="{1C27F7F5-1E05-4ECB-8A32-916CC566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17</a:t>
            </a:r>
          </a:p>
        </p:txBody>
      </p:sp>
    </p:spTree>
    <p:extLst>
      <p:ext uri="{BB962C8B-B14F-4D97-AF65-F5344CB8AC3E}">
        <p14:creationId xmlns:p14="http://schemas.microsoft.com/office/powerpoint/2010/main" val="5402900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確認問題6：解答">
            <a:extLst xmlns:a="http://schemas.openxmlformats.org/drawingml/2006/main">
              <a:ext uri="{FF2B5EF4-FFF2-40B4-BE49-F238E27FC236}">
                <a16:creationId xmlns:a16="http://schemas.microsoft.com/office/drawing/2014/main" id="{7AD098BC-BBF6-46E3-B2E0-E1B2C357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確認問題6：解答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02BF4-C3FD-4739-9A82-C777044F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AがRAG：検索した資料を，生成のための文脈へ加える．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Bはファインチューニングなどの追加学習．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RAGでも，検索結果と生成した答えを確認する．</a:t>
            </a:r>
          </a:p>
        </p:txBody>
      </p:sp>
      <p:sp>
        <p:nvSpPr>
          <p:cNvPr id="3" name="参照：Lewis et al.／Google">
            <a:extLst xmlns:a="http://schemas.openxmlformats.org/drawingml/2006/main">
              <a:ext uri="{FF2B5EF4-FFF2-40B4-BE49-F238E27FC236}">
                <a16:creationId xmlns:a16="http://schemas.microsoft.com/office/drawing/2014/main" id="{5CC727D9-7CDD-4A97-970B-C5693F20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参照：Lewis et al.／Google</a:t>
            </a:r>
          </a:p>
        </p:txBody>
      </p:sp>
      <p:sp>
        <p:nvSpPr>
          <p:cNvPr id="4" name="第15回　18">
            <a:extLst xmlns:a="http://schemas.openxmlformats.org/drawingml/2006/main">
              <a:ext uri="{FF2B5EF4-FFF2-40B4-BE49-F238E27FC236}">
                <a16:creationId xmlns:a16="http://schemas.microsoft.com/office/drawing/2014/main" id="{115DA5CA-91F7-405B-93CC-69630083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18</a:t>
            </a:r>
          </a:p>
        </p:txBody>
      </p:sp>
    </p:spTree>
    <p:extLst>
      <p:ext uri="{BB962C8B-B14F-4D97-AF65-F5344CB8AC3E}">
        <p14:creationId xmlns:p14="http://schemas.microsoft.com/office/powerpoint/2010/main" val="2671421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確認問題7：データ・生成物の利用">
            <a:extLst xmlns:a="http://schemas.openxmlformats.org/drawingml/2006/main">
              <a:ext uri="{FF2B5EF4-FFF2-40B4-BE49-F238E27FC236}">
                <a16:creationId xmlns:a16="http://schemas.microsoft.com/office/drawing/2014/main" id="{2CC76D9F-009E-47FE-8D41-DEE985BA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確認問題7：データ・生成物の利用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8D6DA-7F8E-4720-989C-B9F68BCD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A：氏名を消せば，他の情報で本人を識別できても個人情報ではない．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B：AIサービスが商用利用可能なら，第三者の権利を確認しなくてよい．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C：収集，学習・入力，生成物の公開で，それぞれ条件を確認する．</a:t>
            </a:r>
          </a:p>
        </p:txBody>
      </p:sp>
      <p:sp>
        <p:nvSpPr>
          <p:cNvPr id="3" name="利用する段階と，権利・契約の条件を読む．">
            <a:extLst xmlns:a="http://schemas.openxmlformats.org/drawingml/2006/main">
              <a:ext uri="{FF2B5EF4-FFF2-40B4-BE49-F238E27FC236}">
                <a16:creationId xmlns:a16="http://schemas.microsoft.com/office/drawing/2014/main" id="{A61B5366-A8E6-448C-B729-03C811AF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利用する段階と，権利・契約の条件を読む．</a:t>
            </a:r>
          </a:p>
        </p:txBody>
      </p:sp>
      <p:sp>
        <p:nvSpPr>
          <p:cNvPr id="4" name="図・設問：本教材の作例">
            <a:extLst xmlns:a="http://schemas.openxmlformats.org/drawingml/2006/main">
              <a:ext uri="{FF2B5EF4-FFF2-40B4-BE49-F238E27FC236}">
                <a16:creationId xmlns:a16="http://schemas.microsoft.com/office/drawing/2014/main" id="{A89C881F-B769-44AD-AC7C-4F9EE05F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図・設問：本教材の作例</a:t>
            </a:r>
          </a:p>
        </p:txBody>
      </p:sp>
      <p:sp>
        <p:nvSpPr>
          <p:cNvPr id="5" name="第15回　19">
            <a:extLst xmlns:a="http://schemas.openxmlformats.org/drawingml/2006/main">
              <a:ext uri="{FF2B5EF4-FFF2-40B4-BE49-F238E27FC236}">
                <a16:creationId xmlns:a16="http://schemas.microsoft.com/office/drawing/2014/main" id="{15024CF7-5EE8-4086-8837-A6B6A8A1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19</a:t>
            </a:r>
          </a:p>
        </p:txBody>
      </p:sp>
    </p:spTree>
    <p:extLst>
      <p:ext uri="{BB962C8B-B14F-4D97-AF65-F5344CB8AC3E}">
        <p14:creationId xmlns:p14="http://schemas.microsoft.com/office/powerpoint/2010/main" val="17039169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確認問題7：解答">
            <a:extLst xmlns:a="http://schemas.openxmlformats.org/drawingml/2006/main">
              <a:ext uri="{FF2B5EF4-FFF2-40B4-BE49-F238E27FC236}">
                <a16:creationId xmlns:a16="http://schemas.microsoft.com/office/drawing/2014/main" id="{B57A93A9-958D-433F-947E-56A7B94E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確認問題7：解答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CD53C-1570-4999-B71A-378085FD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C：段階ごとに，利用目的と権利・規約を確認する．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Aは，他の情報との容易な照合による識別を見落としている．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Bは，サービスの規約と第三者の権利を混同している．</a:t>
            </a:r>
          </a:p>
        </p:txBody>
      </p:sp>
      <p:sp>
        <p:nvSpPr>
          <p:cNvPr id="3" name="参照：個人情報保護委員会／文化庁／経済産業省">
            <a:extLst xmlns:a="http://schemas.openxmlformats.org/drawingml/2006/main">
              <a:ext uri="{FF2B5EF4-FFF2-40B4-BE49-F238E27FC236}">
                <a16:creationId xmlns:a16="http://schemas.microsoft.com/office/drawing/2014/main" id="{90819CC5-B6B9-4E86-911B-9F9BE449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参照：個人情報保護委員会／文化庁／経済産業省</a:t>
            </a:r>
          </a:p>
        </p:txBody>
      </p:sp>
      <p:sp>
        <p:nvSpPr>
          <p:cNvPr id="4" name="第15回　20">
            <a:extLst xmlns:a="http://schemas.openxmlformats.org/drawingml/2006/main">
              <a:ext uri="{FF2B5EF4-FFF2-40B4-BE49-F238E27FC236}">
                <a16:creationId xmlns:a16="http://schemas.microsoft.com/office/drawing/2014/main" id="{C7171242-F49F-4838-A12E-E81E80D8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20</a:t>
            </a:r>
          </a:p>
        </p:txBody>
      </p:sp>
    </p:spTree>
    <p:extLst>
      <p:ext uri="{BB962C8B-B14F-4D97-AF65-F5344CB8AC3E}">
        <p14:creationId xmlns:p14="http://schemas.microsoft.com/office/powerpoint/2010/main" val="11519360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確認問題8：導入後の異常検知">
            <a:extLst xmlns:a="http://schemas.openxmlformats.org/drawingml/2006/main">
              <a:ext uri="{FF2B5EF4-FFF2-40B4-BE49-F238E27FC236}">
                <a16:creationId xmlns:a16="http://schemas.microsoft.com/office/drawing/2014/main" id="{62B87034-6A18-4977-9B22-071ED63A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確認問題8：導入後の異常検知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C8DAB-76F7-4A43-A2EB-BD4A82E8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担当者は一日10件しか確認できず，AIは40件を候補にする．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A：訓練正解率だけを最大にする．　B：候補を全て異常と断定する．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C：誤報・見逃し・作業量を評価し，確認と監視の手順を決める．</a:t>
            </a:r>
          </a:p>
        </p:txBody>
      </p:sp>
      <p:sp>
        <p:nvSpPr>
          <p:cNvPr id="3" name="精度と，人の作業・影響・運用を合わせて考える．">
            <a:extLst xmlns:a="http://schemas.openxmlformats.org/drawingml/2006/main">
              <a:ext uri="{FF2B5EF4-FFF2-40B4-BE49-F238E27FC236}">
                <a16:creationId xmlns:a16="http://schemas.microsoft.com/office/drawing/2014/main" id="{66485A9F-7F06-4970-9C4C-27ED822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精度と，人の作業・影響・運用を合わせて考える．</a:t>
            </a:r>
          </a:p>
        </p:txBody>
      </p:sp>
      <p:sp>
        <p:nvSpPr>
          <p:cNvPr id="4" name="図・設問：本教材の作例">
            <a:extLst xmlns:a="http://schemas.openxmlformats.org/drawingml/2006/main">
              <a:ext uri="{FF2B5EF4-FFF2-40B4-BE49-F238E27FC236}">
                <a16:creationId xmlns:a16="http://schemas.microsoft.com/office/drawing/2014/main" id="{7CA4DC27-E857-46FD-932E-21FF1F5F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図・設問：本教材の作例</a:t>
            </a:r>
          </a:p>
        </p:txBody>
      </p:sp>
      <p:sp>
        <p:nvSpPr>
          <p:cNvPr id="5" name="第15回　21">
            <a:extLst xmlns:a="http://schemas.openxmlformats.org/drawingml/2006/main">
              <a:ext uri="{FF2B5EF4-FFF2-40B4-BE49-F238E27FC236}">
                <a16:creationId xmlns:a16="http://schemas.microsoft.com/office/drawing/2014/main" id="{32F20FD5-85D2-4E2A-A3B2-9C96A4A2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21</a:t>
            </a:r>
          </a:p>
        </p:txBody>
      </p:sp>
    </p:spTree>
    <p:extLst>
      <p:ext uri="{BB962C8B-B14F-4D97-AF65-F5344CB8AC3E}">
        <p14:creationId xmlns:p14="http://schemas.microsoft.com/office/powerpoint/2010/main" val="7683835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確認問題8：解答">
            <a:extLst xmlns:a="http://schemas.openxmlformats.org/drawingml/2006/main">
              <a:ext uri="{FF2B5EF4-FFF2-40B4-BE49-F238E27FC236}">
                <a16:creationId xmlns:a16="http://schemas.microsoft.com/office/drawing/2014/main" id="{EABBC1E2-1D2B-49F7-AEBC-5518530F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確認問題8：解答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AAA01-9E45-4BA7-91E2-F2B9C08B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C：目的に合う指標と，人が対応できる仕組みを作る．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候補の数，適合率，再現率を検証し，停止条件や担当を決める．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導入後も，入力や性能の変化と関係者への影響を確認する．</a:t>
            </a:r>
          </a:p>
        </p:txBody>
      </p:sp>
      <p:sp>
        <p:nvSpPr>
          <p:cNvPr id="3" name="参照：Google／経済産業省／scikit-learn">
            <a:extLst xmlns:a="http://schemas.openxmlformats.org/drawingml/2006/main">
              <a:ext uri="{FF2B5EF4-FFF2-40B4-BE49-F238E27FC236}">
                <a16:creationId xmlns:a16="http://schemas.microsoft.com/office/drawing/2014/main" id="{AB365C42-7E2B-4B3B-B765-91A33148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参照：Google／経済産業省／scikit-learn</a:t>
            </a:r>
          </a:p>
        </p:txBody>
      </p:sp>
      <p:sp>
        <p:nvSpPr>
          <p:cNvPr id="4" name="第15回　22">
            <a:extLst xmlns:a="http://schemas.openxmlformats.org/drawingml/2006/main">
              <a:ext uri="{FF2B5EF4-FFF2-40B4-BE49-F238E27FC236}">
                <a16:creationId xmlns:a16="http://schemas.microsoft.com/office/drawing/2014/main" id="{97A666F5-F6C5-4D78-8AC5-D583CEE5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22</a:t>
            </a:r>
          </a:p>
        </p:txBody>
      </p:sp>
    </p:spTree>
    <p:extLst>
      <p:ext uri="{BB962C8B-B14F-4D97-AF65-F5344CB8AC3E}">
        <p14:creationId xmlns:p14="http://schemas.microsoft.com/office/powerpoint/2010/main" val="14593882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振り返りと，今後の復習">
            <a:extLst xmlns:a="http://schemas.openxmlformats.org/drawingml/2006/main">
              <a:ext uri="{FF2B5EF4-FFF2-40B4-BE49-F238E27FC236}">
                <a16:creationId xmlns:a16="http://schemas.microsoft.com/office/drawing/2014/main" id="{45CBE23B-E895-476D-992D-933CA6BA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振り返りと，今後の復習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DBFF5-B5D8-489E-842B-60C1C97C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229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間違えた問題を，前提の読み違い・用語・計算・理由で分ける．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該当する講義に戻って読み，自分の言葉で説明する．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t>公式の出題範囲も確認し，追加で学ぶ項目を決める．</a:t>
            </a:r>
          </a:p>
        </p:txBody>
      </p:sp>
      <p:sp>
        <p:nvSpPr>
          <p:cNvPr id="3" name="用語だけでなく，目的・仕組み・限界をつなげる．">
            <a:extLst xmlns:a="http://schemas.openxmlformats.org/drawingml/2006/main">
              <a:ext uri="{FF2B5EF4-FFF2-40B4-BE49-F238E27FC236}">
                <a16:creationId xmlns:a16="http://schemas.microsoft.com/office/drawing/2014/main" id="{3B8E2F93-9F1F-40DF-8706-DE6CDBEF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07408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FF0000"/>
                </a:solidFill>
                <a:latin typeface="Arial"/>
                <a:ea typeface="ＭＳ Ｐゴシック"/>
                <a:cs typeface="ＭＳ Ｐゴシック"/>
              </a:rPr>
              <a:t>用語だけでなく，目的・仕組み・限界をつなげる．</a:t>
            </a:r>
          </a:p>
        </p:txBody>
      </p:sp>
      <p:sp>
        <p:nvSpPr>
          <p:cNvPr id="4" name="図・設問：本教材の作例">
            <a:extLst xmlns:a="http://schemas.openxmlformats.org/drawingml/2006/main">
              <a:ext uri="{FF2B5EF4-FFF2-40B4-BE49-F238E27FC236}">
                <a16:creationId xmlns:a16="http://schemas.microsoft.com/office/drawing/2014/main" id="{5995FE68-D5BA-4606-933E-FC62F3E5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図・設問：本教材の作例</a:t>
            </a:r>
          </a:p>
        </p:txBody>
      </p:sp>
      <p:sp>
        <p:nvSpPr>
          <p:cNvPr id="5" name="第15回　23">
            <a:extLst xmlns:a="http://schemas.openxmlformats.org/drawingml/2006/main">
              <a:ext uri="{FF2B5EF4-FFF2-40B4-BE49-F238E27FC236}">
                <a16:creationId xmlns:a16="http://schemas.microsoft.com/office/drawing/2014/main" id="{ED9E8E14-47E1-4123-87AC-C2FB5B6A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23</a:t>
            </a:r>
          </a:p>
        </p:txBody>
      </p:sp>
    </p:spTree>
    <p:extLst>
      <p:ext uri="{BB962C8B-B14F-4D97-AF65-F5344CB8AC3E}">
        <p14:creationId xmlns:p14="http://schemas.microsoft.com/office/powerpoint/2010/main" val="20121607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参考資料1">
            <a:extLst xmlns:a="http://schemas.openxmlformats.org/drawingml/2006/main">
              <a:ext uri="{FF2B5EF4-FFF2-40B4-BE49-F238E27FC236}">
                <a16:creationId xmlns:a16="http://schemas.microsoft.com/office/drawing/2014/main" id="{E7A89386-0041-4E06-9909-497CC866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参考資料1</a:t>
            </a:r>
          </a:p>
        </p:txBody>
      </p:sp>
      <p:sp>
        <p:nvSpPr>
          <p:cNvPr id="2" name="1. JDLA：G検定のシラバス">
            <a:extLst xmlns:a="http://schemas.openxmlformats.org/drawingml/2006/main">
              <a:ext uri="{FF2B5EF4-FFF2-40B4-BE49-F238E27FC236}">
                <a16:creationId xmlns:a16="http://schemas.microsoft.com/office/drawing/2014/main" id="{64D9CF00-8864-4127-9156-3FEBCD4D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07592"/>
            <a:ext cx="804672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  <a:hlinkClick xmlns:r="http://schemas.openxmlformats.org/officeDocument/2006/relationships" r:id="Reffad4ed99a64b53"/>
              </a:rPr>
              <a:t>1. JDLA：G検定のシラバス</a:t>
            </a:r>
          </a:p>
        </p:txBody>
      </p:sp>
      <p:sp>
        <p:nvSpPr>
          <p:cNvPr id="3" name="2. scikit-learn：Metrics and scoring">
            <a:extLst xmlns:a="http://schemas.openxmlformats.org/drawingml/2006/main">
              <a:ext uri="{FF2B5EF4-FFF2-40B4-BE49-F238E27FC236}">
                <a16:creationId xmlns:a16="http://schemas.microsoft.com/office/drawing/2014/main" id="{76739BD5-5770-485B-80DF-763EA0EC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20824"/>
            <a:ext cx="804672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  <a:hlinkClick xmlns:r="http://schemas.openxmlformats.org/officeDocument/2006/relationships" r:id="Rf2707b9171a04ace"/>
              </a:rPr>
              <a:t>2. scikit-learn：Metrics and scoring</a:t>
            </a:r>
          </a:p>
        </p:txBody>
      </p:sp>
      <p:sp>
        <p:nvSpPr>
          <p:cNvPr id="4" name="3. Google：Nodes and hidden layers">
            <a:extLst xmlns:a="http://schemas.openxmlformats.org/drawingml/2006/main">
              <a:ext uri="{FF2B5EF4-FFF2-40B4-BE49-F238E27FC236}">
                <a16:creationId xmlns:a16="http://schemas.microsoft.com/office/drawing/2014/main" id="{15DD36BA-618F-4F2E-BDF7-4B764D2B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34056"/>
            <a:ext cx="804672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  <a:hlinkClick xmlns:r="http://schemas.openxmlformats.org/officeDocument/2006/relationships" r:id="R300b2dbbbf074ffb"/>
              </a:rPr>
              <a:t>3. Google：Nodes and hidden layers</a:t>
            </a:r>
          </a:p>
        </p:txBody>
      </p:sp>
      <p:sp>
        <p:nvSpPr>
          <p:cNvPr id="5" name="4. Vaswani et al.：Attention Is All You N">
            <a:extLst xmlns:a="http://schemas.openxmlformats.org/drawingml/2006/main">
              <a:ext uri="{FF2B5EF4-FFF2-40B4-BE49-F238E27FC236}">
                <a16:creationId xmlns:a16="http://schemas.microsoft.com/office/drawing/2014/main" id="{762DD76B-47CA-404D-8290-E4AB39CB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47288"/>
            <a:ext cx="804672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  <a:hlinkClick xmlns:r="http://schemas.openxmlformats.org/officeDocument/2006/relationships" r:id="R8786992abae24a00"/>
              </a:rPr>
              <a:t>4. Vaswani et al.：Attention Is All You Need</a:t>
            </a:r>
          </a:p>
        </p:txBody>
      </p:sp>
      <p:sp>
        <p:nvSpPr>
          <p:cNvPr id="6" name="各項目をクリックすると，参考資料を開く．">
            <a:extLst xmlns:a="http://schemas.openxmlformats.org/drawingml/2006/main">
              <a:ext uri="{FF2B5EF4-FFF2-40B4-BE49-F238E27FC236}">
                <a16:creationId xmlns:a16="http://schemas.microsoft.com/office/drawing/2014/main" id="{86E58EC5-6CEE-46B1-9726-C65AFCA2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40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各項目をクリックすると，参考資料を開く．</a:t>
            </a:r>
          </a:p>
        </p:txBody>
      </p:sp>
      <p:sp>
        <p:nvSpPr>
          <p:cNvPr id="7" name="参考資料のリンクは各項目・講師用ノートに記載">
            <a:extLst xmlns:a="http://schemas.openxmlformats.org/drawingml/2006/main">
              <a:ext uri="{FF2B5EF4-FFF2-40B4-BE49-F238E27FC236}">
                <a16:creationId xmlns:a16="http://schemas.microsoft.com/office/drawing/2014/main" id="{7B48BE88-FC7C-4910-BB75-A952ABE1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参考資料のリンクは各項目・講師用ノートに記載</a:t>
            </a:r>
          </a:p>
        </p:txBody>
      </p:sp>
      <p:sp>
        <p:nvSpPr>
          <p:cNvPr id="8" name="第15回　24">
            <a:extLst xmlns:a="http://schemas.openxmlformats.org/drawingml/2006/main">
              <a:ext uri="{FF2B5EF4-FFF2-40B4-BE49-F238E27FC236}">
                <a16:creationId xmlns:a16="http://schemas.microsoft.com/office/drawing/2014/main" id="{DD6331B7-6880-4C06-8B32-FB9EE824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24</a:t>
            </a:r>
          </a:p>
        </p:txBody>
      </p:sp>
    </p:spTree>
    <p:extLst>
      <p:ext uri="{BB962C8B-B14F-4D97-AF65-F5344CB8AC3E}">
        <p14:creationId xmlns:p14="http://schemas.microsoft.com/office/powerpoint/2010/main" val="2004317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参考資料2">
            <a:extLst xmlns:a="http://schemas.openxmlformats.org/drawingml/2006/main">
              <a:ext uri="{FF2B5EF4-FFF2-40B4-BE49-F238E27FC236}">
                <a16:creationId xmlns:a16="http://schemas.microsoft.com/office/drawing/2014/main" id="{6B1D3B3F-8980-405C-A40F-4ECBE49E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48056"/>
            <a:ext cx="8522208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2800" b="0" lang="ja-JP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参考資料2</a:t>
            </a:r>
          </a:p>
        </p:txBody>
      </p:sp>
      <p:sp>
        <p:nvSpPr>
          <p:cNvPr id="2" name="1. Lewis et al.：Retrieval-Augmented Gene">
            <a:extLst xmlns:a="http://schemas.openxmlformats.org/drawingml/2006/main">
              <a:ext uri="{FF2B5EF4-FFF2-40B4-BE49-F238E27FC236}">
                <a16:creationId xmlns:a16="http://schemas.microsoft.com/office/drawing/2014/main" id="{3D9883DC-A1D5-4B8D-AD81-2A7F9AEB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07592"/>
            <a:ext cx="804672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  <a:hlinkClick xmlns:r="http://schemas.openxmlformats.org/officeDocument/2006/relationships" r:id="R43f4763a64c1495c"/>
              </a:rPr>
              <a:t>1. Lewis et al.：Retrieval-Augmented Generation</a:t>
            </a:r>
          </a:p>
        </p:txBody>
      </p:sp>
      <p:sp>
        <p:nvSpPr>
          <p:cNvPr id="3" name="2. 文化庁：AIと著作権に関する考え方（概要）">
            <a:extLst xmlns:a="http://schemas.openxmlformats.org/drawingml/2006/main">
              <a:ext uri="{FF2B5EF4-FFF2-40B4-BE49-F238E27FC236}">
                <a16:creationId xmlns:a16="http://schemas.microsoft.com/office/drawing/2014/main" id="{B90D6E01-E957-42D3-818F-F16C0884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20824"/>
            <a:ext cx="804672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  <a:hlinkClick xmlns:r="http://schemas.openxmlformats.org/officeDocument/2006/relationships" r:id="Rc25df990b34748be"/>
              </a:rPr>
              <a:t>2. 文化庁：AIと著作権に関する考え方（概要）</a:t>
            </a:r>
          </a:p>
        </p:txBody>
      </p:sp>
      <p:sp>
        <p:nvSpPr>
          <p:cNvPr id="4" name="3. 経済産業省：AI事業者ガイドライン第1.2版">
            <a:extLst xmlns:a="http://schemas.openxmlformats.org/drawingml/2006/main">
              <a:ext uri="{FF2B5EF4-FFF2-40B4-BE49-F238E27FC236}">
                <a16:creationId xmlns:a16="http://schemas.microsoft.com/office/drawing/2014/main" id="{09F8A1EF-737C-4308-A665-9CF9E783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34056"/>
            <a:ext cx="804672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900" b="0" lang="ja-JP">
                <a:solidFill>
                  <a:srgbClr val="404040"/>
                </a:solidFill>
                <a:latin typeface="Arial"/>
                <a:ea typeface="ＭＳ Ｐゴシック"/>
                <a:cs typeface="ＭＳ Ｐゴシック"/>
                <a:hlinkClick xmlns:r="http://schemas.openxmlformats.org/officeDocument/2006/relationships" r:id="R9d84947311924a67"/>
              </a:rPr>
              <a:t>3. 経済産業省：AI事業者ガイドライン第1.2版</a:t>
            </a:r>
          </a:p>
        </p:txBody>
      </p:sp>
      <p:sp>
        <p:nvSpPr>
          <p:cNvPr id="5" name="各項目をクリックすると，参考資料を開く．">
            <a:extLst xmlns:a="http://schemas.openxmlformats.org/drawingml/2006/main">
              <a:ext uri="{FF2B5EF4-FFF2-40B4-BE49-F238E27FC236}">
                <a16:creationId xmlns:a16="http://schemas.microsoft.com/office/drawing/2014/main" id="{0A0484E1-A803-4543-ACDC-5217C0A8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40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各項目をクリックすると，参考資料を開く．</a:t>
            </a:r>
          </a:p>
        </p:txBody>
      </p:sp>
      <p:sp>
        <p:nvSpPr>
          <p:cNvPr id="6" name="参考資料のリンクは各項目・講師用ノートに記載">
            <a:extLst xmlns:a="http://schemas.openxmlformats.org/drawingml/2006/main">
              <a:ext uri="{FF2B5EF4-FFF2-40B4-BE49-F238E27FC236}">
                <a16:creationId xmlns:a16="http://schemas.microsoft.com/office/drawing/2014/main" id="{E590131A-0143-4013-9F8F-00007AFE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6720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参考資料のリンクは各項目・講師用ノートに記載</a:t>
            </a:r>
          </a:p>
        </p:txBody>
      </p:sp>
      <p:sp>
        <p:nvSpPr>
          <p:cNvPr id="7" name="第15回　25">
            <a:extLst xmlns:a="http://schemas.openxmlformats.org/drawingml/2006/main">
              <a:ext uri="{FF2B5EF4-FFF2-40B4-BE49-F238E27FC236}">
                <a16:creationId xmlns:a16="http://schemas.microsoft.com/office/drawing/2014/main" id="{891071D6-795C-4E2C-9E32-B05EED3A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00600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defRPr>
            </a:pPr>
            <a:r>
              <a:rPr sz="1050" b="0" lang="ja-JP">
                <a:solidFill>
                  <a:srgbClr val="707070"/>
                </a:solidFill>
                <a:latin typeface="Arial"/>
                <a:ea typeface="ＭＳ Ｐゴシック"/>
                <a:cs typeface="ＭＳ Ｐゴシック"/>
              </a:rPr>
              <a:t>第15回　25</a:t>
            </a:r>
          </a:p>
        </p:txBody>
      </p:sp>
    </p:spTree>
    <p:extLst>
      <p:ext uri="{BB962C8B-B14F-4D97-AF65-F5344CB8AC3E}">
        <p14:creationId xmlns:p14="http://schemas.microsoft.com/office/powerpoint/2010/main" val="201129602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2026-10-08T06:15:14.5950000Z</dcterms:created>
  <dcterms:modified xsi:type="dcterms:W3CDTF">2026-10-08T06:15:14.5950000Z</dcterms:modified>
</coreProperties>
</file>