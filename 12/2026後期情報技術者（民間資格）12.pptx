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a7bca61fc9646cf" /><Relationship Type="http://schemas.openxmlformats.org/officeDocument/2006/relationships/extended-properties" Target="/docProps/app.xml" Id="R95eb872af4e54fa5" /><Relationship Type="http://schemas.openxmlformats.org/officeDocument/2006/relationships/officeDocument" Target="/ppt/presentation.xml" Id="R31bad9aaeaea48eb" /></Relationships>
</file>

<file path=ppt/presentation.xml><?xml version="1.0" encoding="utf-8"?>
<p:presentation xmlns:p="http://schemas.openxmlformats.org/presentationml/2006/main">
  <p:sldMasterIdLst>
    <p:sldMasterId xmlns:r="http://schemas.openxmlformats.org/officeDocument/2006/relationships" id="2147483648" r:id="Rd85990c2400e4330"/>
  </p:sldMasterIdLst>
  <p:notesMasterIdLst>
    <p:notesMasterId xmlns:r="http://schemas.openxmlformats.org/officeDocument/2006/relationships" r:id="R738ac50b688a4a9f"/>
  </p:notesMasterIdLst>
  <p:sldIdLst>
    <p:sldId xmlns:r="http://schemas.openxmlformats.org/officeDocument/2006/relationships" id="256" r:id="R49a18c00ff2c4b0a"/>
    <p:sldId xmlns:r="http://schemas.openxmlformats.org/officeDocument/2006/relationships" id="257" r:id="R5591ed377ae749b5"/>
    <p:sldId xmlns:r="http://schemas.openxmlformats.org/officeDocument/2006/relationships" id="258" r:id="R544dbf7f754b423b"/>
    <p:sldId xmlns:r="http://schemas.openxmlformats.org/officeDocument/2006/relationships" id="259" r:id="R87c6d25e8f13473b"/>
    <p:sldId xmlns:r="http://schemas.openxmlformats.org/officeDocument/2006/relationships" id="260" r:id="R567f60cde4c24cd1"/>
    <p:sldId xmlns:r="http://schemas.openxmlformats.org/officeDocument/2006/relationships" id="261" r:id="Rb59491fa2e92453f"/>
    <p:sldId xmlns:r="http://schemas.openxmlformats.org/officeDocument/2006/relationships" id="262" r:id="R49668b2e51a847d1"/>
    <p:sldId xmlns:r="http://schemas.openxmlformats.org/officeDocument/2006/relationships" id="263" r:id="Re07c5500831041cb"/>
    <p:sldId xmlns:r="http://schemas.openxmlformats.org/officeDocument/2006/relationships" id="264" r:id="R598868fdb3a84444"/>
    <p:sldId xmlns:r="http://schemas.openxmlformats.org/officeDocument/2006/relationships" id="265" r:id="Rf08b774fe175467b"/>
    <p:sldId xmlns:r="http://schemas.openxmlformats.org/officeDocument/2006/relationships" id="266" r:id="Ra4a41a3e306948ea"/>
    <p:sldId xmlns:r="http://schemas.openxmlformats.org/officeDocument/2006/relationships" id="267" r:id="Rdddd304759874e7a"/>
    <p:sldId xmlns:r="http://schemas.openxmlformats.org/officeDocument/2006/relationships" id="268" r:id="R5571e470ea23474d"/>
    <p:sldId xmlns:r="http://schemas.openxmlformats.org/officeDocument/2006/relationships" id="269" r:id="R9818607fa9e44c2b"/>
    <p:sldId xmlns:r="http://schemas.openxmlformats.org/officeDocument/2006/relationships" id="270" r:id="Rc35717d5cd134219"/>
    <p:sldId xmlns:r="http://schemas.openxmlformats.org/officeDocument/2006/relationships" id="271" r:id="R49e08d26383b4c80"/>
    <p:sldId xmlns:r="http://schemas.openxmlformats.org/officeDocument/2006/relationships" id="272" r:id="R178199cc8fce4f99"/>
    <p:sldId xmlns:r="http://schemas.openxmlformats.org/officeDocument/2006/relationships" id="273" r:id="Rba184095dab64040"/>
    <p:sldId xmlns:r="http://schemas.openxmlformats.org/officeDocument/2006/relationships" id="274" r:id="R7344e04ef71140cc"/>
    <p:sldId xmlns:r="http://schemas.openxmlformats.org/officeDocument/2006/relationships" id="275" r:id="Re48e0a516b1e4328"/>
    <p:sldId xmlns:r="http://schemas.openxmlformats.org/officeDocument/2006/relationships" id="276" r:id="R63c033356fc541b1"/>
    <p:sldId xmlns:r="http://schemas.openxmlformats.org/officeDocument/2006/relationships" id="277" r:id="Rc6f1f1c7f83146f2"/>
    <p:sldId xmlns:r="http://schemas.openxmlformats.org/officeDocument/2006/relationships" id="278" r:id="Rc34c0d6ca0794941"/>
    <p:sldId xmlns:r="http://schemas.openxmlformats.org/officeDocument/2006/relationships" id="279" r:id="Rf3b3f91e6c624223"/>
    <p:sldId xmlns:r="http://schemas.openxmlformats.org/officeDocument/2006/relationships" id="280" r:id="R15e47f1892d74e61"/>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149524d4cc4a410b" /><Relationship Type="http://schemas.openxmlformats.org/officeDocument/2006/relationships/slideMaster" Target="/ppt/slideMasters/slideMaster1.xml" Id="Rd85990c2400e4330" /><Relationship Type="http://schemas.openxmlformats.org/officeDocument/2006/relationships/notesMaster" Target="/ppt/notesMasters/notesMaster1.xml" Id="R738ac50b688a4a9f" /><Relationship Type="http://schemas.openxmlformats.org/officeDocument/2006/relationships/presProps" Target="/ppt/presProps.xml" Id="R21b8620437a64462" /><Relationship Type="http://schemas.openxmlformats.org/officeDocument/2006/relationships/viewProps" Target="/ppt/viewProps.xml" Id="Rb4036fadaf604b7f" /><Relationship Type="http://schemas.openxmlformats.org/officeDocument/2006/relationships/tableStyles" Target="/ppt/tableStyles.xml" Id="R969ac3290ff347bd" /><Relationship Type="http://schemas.openxmlformats.org/officeDocument/2006/relationships/slide" Target="/ppt/slides/slide1.xml" Id="R49a18c00ff2c4b0a" /><Relationship Type="http://schemas.openxmlformats.org/officeDocument/2006/relationships/slide" Target="/ppt/slides/slide2.xml" Id="R5591ed377ae749b5" /><Relationship Type="http://schemas.openxmlformats.org/officeDocument/2006/relationships/slide" Target="/ppt/slides/slide3.xml" Id="R544dbf7f754b423b" /><Relationship Type="http://schemas.openxmlformats.org/officeDocument/2006/relationships/slide" Target="/ppt/slides/slide4.xml" Id="R87c6d25e8f13473b" /><Relationship Type="http://schemas.openxmlformats.org/officeDocument/2006/relationships/slide" Target="/ppt/slides/slide5.xml" Id="R567f60cde4c24cd1" /><Relationship Type="http://schemas.openxmlformats.org/officeDocument/2006/relationships/slide" Target="/ppt/slides/slide6.xml" Id="Rb59491fa2e92453f" /><Relationship Type="http://schemas.openxmlformats.org/officeDocument/2006/relationships/slide" Target="/ppt/slides/slide7.xml" Id="R49668b2e51a847d1" /><Relationship Type="http://schemas.openxmlformats.org/officeDocument/2006/relationships/slide" Target="/ppt/slides/slide8.xml" Id="Re07c5500831041cb" /><Relationship Type="http://schemas.openxmlformats.org/officeDocument/2006/relationships/slide" Target="/ppt/slides/slide9.xml" Id="R598868fdb3a84444" /><Relationship Type="http://schemas.openxmlformats.org/officeDocument/2006/relationships/slide" Target="/ppt/slides/slide10.xml" Id="Rf08b774fe175467b" /><Relationship Type="http://schemas.openxmlformats.org/officeDocument/2006/relationships/slide" Target="/ppt/slides/slide11.xml" Id="Ra4a41a3e306948ea" /><Relationship Type="http://schemas.openxmlformats.org/officeDocument/2006/relationships/slide" Target="/ppt/slides/slide12.xml" Id="Rdddd304759874e7a" /><Relationship Type="http://schemas.openxmlformats.org/officeDocument/2006/relationships/slide" Target="/ppt/slides/slide13.xml" Id="R5571e470ea23474d" /><Relationship Type="http://schemas.openxmlformats.org/officeDocument/2006/relationships/slide" Target="/ppt/slides/slide14.xml" Id="R9818607fa9e44c2b" /><Relationship Type="http://schemas.openxmlformats.org/officeDocument/2006/relationships/slide" Target="/ppt/slides/slide15.xml" Id="Rc35717d5cd134219" /><Relationship Type="http://schemas.openxmlformats.org/officeDocument/2006/relationships/slide" Target="/ppt/slides/slide16.xml" Id="R49e08d26383b4c80" /><Relationship Type="http://schemas.openxmlformats.org/officeDocument/2006/relationships/slide" Target="/ppt/slides/slide17.xml" Id="R178199cc8fce4f99" /><Relationship Type="http://schemas.openxmlformats.org/officeDocument/2006/relationships/slide" Target="/ppt/slides/slide18.xml" Id="Rba184095dab64040" /><Relationship Type="http://schemas.openxmlformats.org/officeDocument/2006/relationships/slide" Target="/ppt/slides/slide19.xml" Id="R7344e04ef71140cc" /><Relationship Type="http://schemas.openxmlformats.org/officeDocument/2006/relationships/slide" Target="/ppt/slides/slide20.xml" Id="Re48e0a516b1e4328" /><Relationship Type="http://schemas.openxmlformats.org/officeDocument/2006/relationships/slide" Target="/ppt/slides/slide21.xml" Id="R63c033356fc541b1" /><Relationship Type="http://schemas.openxmlformats.org/officeDocument/2006/relationships/slide" Target="/ppt/slides/slide22.xml" Id="Rc6f1f1c7f83146f2" /><Relationship Type="http://schemas.openxmlformats.org/officeDocument/2006/relationships/slide" Target="/ppt/slides/slide23.xml" Id="Rc34c0d6ca0794941" /><Relationship Type="http://schemas.openxmlformats.org/officeDocument/2006/relationships/slide" Target="/ppt/slides/slide24.xml" Id="Rf3b3f91e6c624223" /><Relationship Type="http://schemas.openxmlformats.org/officeDocument/2006/relationships/slide" Target="/ppt/slides/slide25.xml" Id="R15e47f1892d74e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23add4ce3f4f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a0541367b04b35" /><Relationship Type="http://schemas.openxmlformats.org/officeDocument/2006/relationships/notesMaster" Target="/ppt/notesMasters/notesMaster1.xml" Id="Rf003b54056874d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7edc12daf54b2d" /><Relationship Type="http://schemas.openxmlformats.org/officeDocument/2006/relationships/notesMaster" Target="/ppt/notesMasters/notesMaster1.xml" Id="Rf300d29d7eff44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a0df763a564305" /><Relationship Type="http://schemas.openxmlformats.org/officeDocument/2006/relationships/notesMaster" Target="/ppt/notesMasters/notesMaster1.xml" Id="Rb776c3a3676a40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1416d6067f462a" /><Relationship Type="http://schemas.openxmlformats.org/officeDocument/2006/relationships/notesMaster" Target="/ppt/notesMasters/notesMaster1.xml" Id="R56cfb96dd1fc4a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6d142a98ad4170" /><Relationship Type="http://schemas.openxmlformats.org/officeDocument/2006/relationships/notesMaster" Target="/ppt/notesMasters/notesMaster1.xml" Id="R4a381bb2314c47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d20ea8e4c9475b" /><Relationship Type="http://schemas.openxmlformats.org/officeDocument/2006/relationships/notesMaster" Target="/ppt/notesMasters/notesMaster1.xml" Id="Rf773fc76b3b546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a42f86c8844130" /><Relationship Type="http://schemas.openxmlformats.org/officeDocument/2006/relationships/notesMaster" Target="/ppt/notesMasters/notesMaster1.xml" Id="Rdc094146a68649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769ae653ca40a1" /><Relationship Type="http://schemas.openxmlformats.org/officeDocument/2006/relationships/notesMaster" Target="/ppt/notesMasters/notesMaster1.xml" Id="Raccacd10c84942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08b201889944c9" /><Relationship Type="http://schemas.openxmlformats.org/officeDocument/2006/relationships/notesMaster" Target="/ppt/notesMasters/notesMaster1.xml" Id="R974d55a6459f43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29fd71a1cc4cf8" /><Relationship Type="http://schemas.openxmlformats.org/officeDocument/2006/relationships/notesMaster" Target="/ppt/notesMasters/notesMaster1.xml" Id="R66ba89eba42147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62cade160e4dea" /><Relationship Type="http://schemas.openxmlformats.org/officeDocument/2006/relationships/notesMaster" Target="/ppt/notesMasters/notesMaster1.xml" Id="R8f75c1e54eec4d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ec43e975124d41" /><Relationship Type="http://schemas.openxmlformats.org/officeDocument/2006/relationships/notesMaster" Target="/ppt/notesMasters/notesMaster1.xml" Id="Rc28cb64bbae94e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9fa963fcac4a51" /><Relationship Type="http://schemas.openxmlformats.org/officeDocument/2006/relationships/notesMaster" Target="/ppt/notesMasters/notesMaster1.xml" Id="Rc84f030e9a7e424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f20b0922c64256" /><Relationship Type="http://schemas.openxmlformats.org/officeDocument/2006/relationships/notesMaster" Target="/ppt/notesMasters/notesMaster1.xml" Id="Rca470464c0ca4a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b73a2d87ba4dde" /><Relationship Type="http://schemas.openxmlformats.org/officeDocument/2006/relationships/notesMaster" Target="/ppt/notesMasters/notesMaster1.xml" Id="Rab06b2515ed0490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734f71700041fd" /><Relationship Type="http://schemas.openxmlformats.org/officeDocument/2006/relationships/notesMaster" Target="/ppt/notesMasters/notesMaster1.xml" Id="R1d45d37e31a24b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ff647c7d7634f9e" /><Relationship Type="http://schemas.openxmlformats.org/officeDocument/2006/relationships/notesMaster" Target="/ppt/notesMasters/notesMaster1.xml" Id="R154b3394489b49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43e236ca6394538" /><Relationship Type="http://schemas.openxmlformats.org/officeDocument/2006/relationships/notesMaster" Target="/ppt/notesMasters/notesMaster1.xml" Id="R41e922505a8f47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e898538f1404bdb" /><Relationship Type="http://schemas.openxmlformats.org/officeDocument/2006/relationships/notesMaster" Target="/ppt/notesMasters/notesMaster1.xml" Id="Rbbc64ecbe1414b5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7b6abeb4d53483f" /><Relationship Type="http://schemas.openxmlformats.org/officeDocument/2006/relationships/notesMaster" Target="/ppt/notesMasters/notesMaster1.xml" Id="R1f8b5c63ecc94b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a591b7361c4dc0" /><Relationship Type="http://schemas.openxmlformats.org/officeDocument/2006/relationships/notesMaster" Target="/ppt/notesMasters/notesMaster1.xml" Id="R23afc3e8eebe483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ab27238685e4a44" /><Relationship Type="http://schemas.openxmlformats.org/officeDocument/2006/relationships/notesMaster" Target="/ppt/notesMasters/notesMaster1.xml" Id="R67f9ecde13f846a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3d90a93b7d48dc" /><Relationship Type="http://schemas.openxmlformats.org/officeDocument/2006/relationships/notesMaster" Target="/ppt/notesMasters/notesMaster1.xml" Id="R501a1e5f7021497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661ee28bb3549e6" /><Relationship Type="http://schemas.openxmlformats.org/officeDocument/2006/relationships/notesMaster" Target="/ppt/notesMasters/notesMaster1.xml" Id="R725c9688e81d405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113be5c52d24312" /><Relationship Type="http://schemas.openxmlformats.org/officeDocument/2006/relationships/notesMaster" Target="/ppt/notesMasters/notesMaster1.xml" Id="R47965eb3925248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実習2：深層学習を体験する</a:t>
            </a:r>
          </a:p>
          <a:p xmlns:a="http://schemas.openxmlformats.org/drawingml/2006/main">
            <a:r>
              <a:t/>
            </a:r>
          </a:p>
          <a:p xmlns:a="http://schemas.openxmlformats.org/drawingml/2006/main">
            <a:r>
              <a:t>目安：1分／授業開始から0〜1分</a:t>
            </a:r>
          </a:p>
          <a:p xmlns:a="http://schemas.openxmlformats.org/drawingml/2006/main">
            <a:r>
              <a:t/>
            </a:r>
          </a:p>
          <a:p xmlns:a="http://schemas.openxmlformats.org/drawingml/2006/main">
            <a:r>
              <a:t>配布するpractice.ipynbで8×8の手書き数字を分類する．二つの隠れ層を持つ全結合ネットワークを使い，学習曲線・推論・誤分類を観察する．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scikit-learn：Digits dataset</a:t>
            </a:r>
          </a:p>
          <a:p xmlns:a="http://schemas.openxmlformats.org/drawingml/2006/main">
            <a:r>
              <a:t>https://scikit-learn.org/stable/modules/generated/sklearn.datasets.load_digits.html</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今日の到達目標</a:t>
            </a:r>
          </a:p>
          <a:p xmlns:a="http://schemas.openxmlformats.org/drawingml/2006/main">
            <a:r>
              <a:t/>
            </a:r>
          </a:p>
          <a:p xmlns:a="http://schemas.openxmlformats.org/drawingml/2006/main">
            <a:r>
              <a:t>目安：4分／授業開始から1〜5分</a:t>
            </a:r>
          </a:p>
          <a:p xmlns:a="http://schemas.openxmlformats.org/drawingml/2006/main">
            <a:r>
              <a:t/>
            </a:r>
          </a:p>
          <a:p xmlns:a="http://schemas.openxmlformats.org/drawingml/2006/main">
            <a:r>
              <a:t>第5〜7回の計算・学習・画像表現を小規模な実習で確かめる．コードの全ての内部実装を理解することは求めない．</a:t>
            </a:r>
          </a:p>
          <a:p xmlns:a="http://schemas.openxmlformats.org/drawingml/2006/main">
            <a:r>
              <a:t/>
            </a:r>
          </a:p>
          <a:p xmlns:a="http://schemas.openxmlformats.org/drawingml/2006/main">
            <a:r>
              <a:t>画像の入力と，ネットワークの構造を確かめる．</a:t>
            </a:r>
          </a:p>
          <a:p xmlns:a="http://schemas.openxmlformats.org/drawingml/2006/main">
            <a:r>
              <a:t/>
            </a:r>
          </a:p>
          <a:p xmlns:a="http://schemas.openxmlformats.org/drawingml/2006/main">
            <a:r>
              <a:t>損失と正解率の変化を，学習曲線から読む．</a:t>
            </a:r>
          </a:p>
          <a:p xmlns:a="http://schemas.openxmlformats.org/drawingml/2006/main">
            <a:r>
              <a:t/>
            </a:r>
          </a:p>
          <a:p xmlns:a="http://schemas.openxmlformats.org/drawingml/2006/main">
            <a:r>
              <a:t>学習したモデルを使い，誤分類と条件の影響を説明する．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今日の実習の流れ</a:t>
            </a:r>
          </a:p>
          <a:p xmlns:a="http://schemas.openxmlformats.org/drawingml/2006/main">
            <a:r>
              <a:t/>
            </a:r>
          </a:p>
          <a:p xmlns:a="http://schemas.openxmlformats.org/drawingml/2006/main">
            <a:r>
              <a:t>目安：4分／授業開始から5〜9分</a:t>
            </a:r>
          </a:p>
          <a:p xmlns:a="http://schemas.openxmlformats.org/drawingml/2006/main">
            <a:r>
              <a:t/>
            </a:r>
          </a:p>
          <a:p xmlns:a="http://schemas.openxmlformats.org/drawingml/2006/main">
            <a:r>
              <a:t>短い説明の後に操作を入れる．CPUで実行できる小さなモデルを使う．操作できない場合は講師の実行結果を観察してよい．</a:t>
            </a:r>
          </a:p>
          <a:p xmlns:a="http://schemas.openxmlformats.org/drawingml/2006/main">
            <a:r>
              <a:t/>
            </a:r>
          </a:p>
          <a:p xmlns:a="http://schemas.openxmlformats.org/drawingml/2006/main">
            <a:r>
              <a:t>準備 ／ ノートブックと画像の形を確認する</a:t>
            </a:r>
          </a:p>
          <a:p xmlns:a="http://schemas.openxmlformats.org/drawingml/2006/main">
            <a:r>
              <a:t>学習 ／ 1エポックずつ学習して結果を記録する</a:t>
            </a:r>
          </a:p>
          <a:p xmlns:a="http://schemas.openxmlformats.org/drawingml/2006/main">
            <a:r>
              <a:t>観察・比較 ／ 学習曲線と誤分類を読み，条件を変える</a:t>
            </a:r>
          </a:p>
          <a:p xmlns:a="http://schemas.openxmlformats.org/drawingml/2006/main">
            <a:r>
              <a:t>最終確認 ／ 設定を決めてテストし，結果を説明する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配布ノートブックを開く</a:t>
            </a:r>
          </a:p>
          <a:p xmlns:a="http://schemas.openxmlformats.org/drawingml/2006/main">
            <a:r>
              <a:t/>
            </a:r>
          </a:p>
          <a:p xmlns:a="http://schemas.openxmlformats.org/drawingml/2006/main">
            <a:r>
              <a:t>目安：4分／授業開始から9〜13分</a:t>
            </a:r>
          </a:p>
          <a:p xmlns:a="http://schemas.openxmlformats.org/drawingml/2006/main">
            <a:r>
              <a:t/>
            </a:r>
          </a:p>
          <a:p xmlns:a="http://schemas.openxmlformats.org/drawingml/2006/main">
            <a:r>
              <a:t>12/README.mdに手順を記載．GPUや有料サービスは不要．比較実験の前に止まり，テストを調整に使わない．全セルの一括実行は初期設定の確認には使えるが，授業はセルごとに進める．</a:t>
            </a:r>
          </a:p>
          <a:p xmlns:a="http://schemas.openxmlformats.org/drawingml/2006/main">
            <a:r>
              <a:t/>
            </a:r>
          </a:p>
          <a:p xmlns:a="http://schemas.openxmlformats.org/drawingml/2006/main">
            <a:r>
              <a:t>第12回のpractice.ipynbを開く．</a:t>
            </a:r>
          </a:p>
          <a:p xmlns:a="http://schemas.openxmlformats.org/drawingml/2006/main">
            <a:r>
              <a:t/>
            </a:r>
          </a:p>
          <a:p xmlns:a="http://schemas.openxmlformats.org/drawingml/2006/main">
            <a:r>
              <a:t>最初のセルから，セルごとに実行する．</a:t>
            </a:r>
          </a:p>
          <a:p xmlns:a="http://schemas.openxmlformats.org/drawingml/2006/main">
            <a:r>
              <a:t/>
            </a:r>
          </a:p>
          <a:p xmlns:a="http://schemas.openxmlformats.org/drawingml/2006/main">
            <a:r>
              <a:t>初回は設定を変えず，動作と表示を確認する．</a:t>
            </a:r>
          </a:p>
          <a:p xmlns:a="http://schemas.openxmlformats.org/drawingml/2006/main">
            <a:r>
              <a:t/>
            </a:r>
          </a:p>
          <a:p xmlns:a="http://schemas.openxmlformats.org/drawingml/2006/main">
            <a:r>
              <a:t>画像データは，ライブラリに含まれる．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使うデータ：手書き数字</a:t>
            </a:r>
          </a:p>
          <a:p xmlns:a="http://schemas.openxmlformats.org/drawingml/2006/main">
            <a:r>
              <a:t/>
            </a:r>
          </a:p>
          <a:p xmlns:a="http://schemas.openxmlformats.org/drawingml/2006/main">
            <a:r>
              <a:t>目安：4分／授業開始から13〜17分</a:t>
            </a:r>
          </a:p>
          <a:p xmlns:a="http://schemas.openxmlformats.org/drawingml/2006/main">
            <a:r>
              <a:t/>
            </a:r>
          </a:p>
          <a:p xmlns:a="http://schemas.openxmlformats.org/drawingml/2006/main">
            <a:r>
              <a:t>scikit-learnのload_digitsを使う．MNISTとはデータ数や画像サイズが違う．ノートブック1で画像を表示し，筆跡とラベルを観察する．</a:t>
            </a:r>
          </a:p>
          <a:p xmlns:a="http://schemas.openxmlformats.org/drawingml/2006/main">
            <a:r>
              <a:t/>
            </a:r>
          </a:p>
          <a:p xmlns:a="http://schemas.openxmlformats.org/drawingml/2006/main">
            <a:r>
              <a:t>データ数 ／ 1,797枚，数字0〜9の10クラス</a:t>
            </a:r>
          </a:p>
          <a:p xmlns:a="http://schemas.openxmlformats.org/drawingml/2006/main">
            <a:r>
              <a:t>画像の形 ／ 8×8画素，グレースケール</a:t>
            </a:r>
          </a:p>
          <a:p xmlns:a="http://schemas.openxmlformats.org/drawingml/2006/main">
            <a:r>
              <a:t>画素の範囲 ／ 0〜16</a:t>
            </a:r>
          </a:p>
          <a:p xmlns:a="http://schemas.openxmlformats.org/drawingml/2006/main">
            <a:r>
              <a:t>正解 ／ 各画像に対応する数字</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scikit-learn：Digits dataset</a:t>
            </a:r>
          </a:p>
          <a:p xmlns:a="http://schemas.openxmlformats.org/drawingml/2006/main">
            <a:r>
              <a:t>https://scikit-learn.org/stable/modules/generated/sklearn.datasets.load_digits.html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画像を入力の数値へ変換する</a:t>
            </a:r>
          </a:p>
          <a:p xmlns:a="http://schemas.openxmlformats.org/drawingml/2006/main">
            <a:r>
              <a:t/>
            </a:r>
          </a:p>
          <a:p xmlns:a="http://schemas.openxmlformats.org/drawingml/2006/main">
            <a:r>
              <a:t>目安：4分／授業開始から17〜21分</a:t>
            </a:r>
          </a:p>
          <a:p xmlns:a="http://schemas.openxmlformats.org/drawingml/2006/main">
            <a:r>
              <a:t/>
            </a:r>
          </a:p>
          <a:p xmlns:a="http://schemas.openxmlformats.org/drawingml/2006/main">
            <a:r>
              <a:t>画素の位置の並びを固定して平坦化する．既知の画素の上限16で割る固定変換で，全データから平均などの統計量を学ぶ処理ではない．今回は全結合ネットワークへ入力する．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scikit-learn：Digits dataset</a:t>
            </a:r>
          </a:p>
          <a:p xmlns:a="http://schemas.openxmlformats.org/drawingml/2006/main">
            <a:r>
              <a:t>https://scikit-learn.org/stable/modules/generated/sklearn.datasets.load_digits.html</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データを分ける</a:t>
            </a:r>
          </a:p>
          <a:p xmlns:a="http://schemas.openxmlformats.org/drawingml/2006/main">
            <a:r>
              <a:t/>
            </a:r>
          </a:p>
          <a:p xmlns:a="http://schemas.openxmlformats.org/drawingml/2006/main">
            <a:r>
              <a:t>目安：4分／授業開始から21〜25分</a:t>
            </a:r>
          </a:p>
          <a:p xmlns:a="http://schemas.openxmlformats.org/drawingml/2006/main">
            <a:r>
              <a:t/>
            </a:r>
          </a:p>
          <a:p xmlns:a="http://schemas.openxmlformats.org/drawingml/2006/main">
            <a:r>
              <a:t>ノートブック2を実行．分割割合は概ね60/20/20で，端数はライブラリの処理に従う．行番号の重複がないことを確認する．</a:t>
            </a:r>
          </a:p>
          <a:p xmlns:a="http://schemas.openxmlformats.org/drawingml/2006/main">
            <a:r>
              <a:t/>
            </a:r>
          </a:p>
          <a:p xmlns:a="http://schemas.openxmlformats.org/drawingml/2006/main">
            <a:r>
              <a:t>訓練 ／ 1,077 ／ 重みとバイアスを学ぶ</a:t>
            </a:r>
          </a:p>
          <a:p xmlns:a="http://schemas.openxmlformats.org/drawingml/2006/main">
            <a:r>
              <a:t>検証 ／ 360 ／ エポックや条件を選ぶ</a:t>
            </a:r>
          </a:p>
          <a:p xmlns:a="http://schemas.openxmlformats.org/drawingml/2006/main">
            <a:r>
              <a:t>テスト ／ 360 ／ 最後の評価を行う</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scikit-learn：train_test_split</a:t>
            </a:r>
          </a:p>
          <a:p xmlns:a="http://schemas.openxmlformats.org/drawingml/2006/main">
            <a:r>
              <a:t>https://scikit-learn.org/stable/modules/generated/sklearn.model_selection.train_test_split.html</a:t>
            </a:r>
          </a:p>
          <a:p xmlns:a="http://schemas.openxmlformats.org/drawingml/2006/main">
            <a:r>
              <a:t/>
            </a:r>
          </a:p>
          <a:p xmlns:a="http://schemas.openxmlformats.org/drawingml/2006/main">
            <a:r>
              <a:t>scikit-learn：Common pitfalls</a:t>
            </a:r>
          </a:p>
          <a:p xmlns:a="http://schemas.openxmlformats.org/drawingml/2006/main">
            <a:r>
              <a:t>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今回の全結合ネットワーク</a:t>
            </a:r>
          </a:p>
          <a:p xmlns:a="http://schemas.openxmlformats.org/drawingml/2006/main">
            <a:r>
              <a:t/>
            </a:r>
          </a:p>
          <a:p xmlns:a="http://schemas.openxmlformats.org/drawingml/2006/main">
            <a:r>
              <a:t>目安：4分／授業開始から25〜29分</a:t>
            </a:r>
          </a:p>
          <a:p xmlns:a="http://schemas.openxmlformats.org/drawingml/2006/main">
            <a:r>
              <a:t/>
            </a:r>
          </a:p>
          <a:p xmlns:a="http://schemas.openxmlformats.org/drawingml/2006/main">
            <a:r>
              <a:t>隠れ層はReLU，出力は10クラスの確率を計算する．MLPClassifierを使う．今回は全結合の計算で画像分類を体験し，CNNの重みの共有は第7回の発展内容として区別する．</a:t>
            </a:r>
          </a:p>
          <a:p xmlns:a="http://schemas.openxmlformats.org/drawingml/2006/main">
            <a:r>
              <a:t/>
            </a:r>
          </a:p>
          <a:p xmlns:a="http://schemas.openxmlformats.org/drawingml/2006/main">
            <a:r>
              <a:t>隠れ層を二つ持つ，小さなモデルを学習する．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学ぶ値の数を確かめる</a:t>
            </a:r>
          </a:p>
          <a:p xmlns:a="http://schemas.openxmlformats.org/drawingml/2006/main">
            <a:r>
              <a:t/>
            </a:r>
          </a:p>
          <a:p xmlns:a="http://schemas.openxmlformats.org/drawingml/2006/main">
            <a:r>
              <a:t>目安：4分／授業開始から29〜33分</a:t>
            </a:r>
          </a:p>
          <a:p xmlns:a="http://schemas.openxmlformats.org/drawingml/2006/main">
            <a:r>
              <a:t/>
            </a:r>
          </a:p>
          <a:p xmlns:a="http://schemas.openxmlformats.org/drawingml/2006/main">
            <a:r>
              <a:t>ノートブック4のcoefs_とintercepts_で形と個数を確認する．入力層の64個の値自体が学習されるという意味ではない．</a:t>
            </a:r>
          </a:p>
          <a:p xmlns:a="http://schemas.openxmlformats.org/drawingml/2006/main">
            <a:r>
              <a:t/>
            </a:r>
          </a:p>
          <a:p xmlns:a="http://schemas.openxmlformats.org/drawingml/2006/main">
            <a:r>
              <a:t>入力64 → 隠れ32 ／ 64×32＋32＝2,080</a:t>
            </a:r>
          </a:p>
          <a:p xmlns:a="http://schemas.openxmlformats.org/drawingml/2006/main">
            <a:r>
              <a:t>隠れ32 → 隠れ16 ／ 32×16＋16＝528</a:t>
            </a:r>
          </a:p>
          <a:p xmlns:a="http://schemas.openxmlformats.org/drawingml/2006/main">
            <a:r>
              <a:t>隠れ16 → 出力10 ／ 16×10＋10＝170</a:t>
            </a:r>
          </a:p>
          <a:p xmlns:a="http://schemas.openxmlformats.org/drawingml/2006/main">
            <a:r>
              <a:t>合計 ／ 2,778</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Google：Nodes and hidden layers</a:t>
            </a:r>
          </a:p>
          <a:p xmlns:a="http://schemas.openxmlformats.org/drawingml/2006/main">
            <a:r>
              <a:t>https://developers.google.com/machine-learning/crash-course/neural-networks/nodes-hidden-layers</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初期設定を読む</a:t>
            </a:r>
          </a:p>
          <a:p xmlns:a="http://schemas.openxmlformats.org/drawingml/2006/main">
            <a:r>
              <a:t/>
            </a:r>
          </a:p>
          <a:p xmlns:a="http://schemas.openxmlformats.org/drawingml/2006/main">
            <a:r>
              <a:t>目安：4分／授業開始から33〜37分</a:t>
            </a:r>
          </a:p>
          <a:p xmlns:a="http://schemas.openxmlformats.org/drawingml/2006/main">
            <a:r>
              <a:t/>
            </a:r>
          </a:p>
          <a:p xmlns:a="http://schemas.openxmlformats.org/drawingml/2006/main">
            <a:r>
              <a:t>ノートブック1と3を実行．これらは教材の初期設定で最適であると保証しない．Alphaはscikit-learn実装のL2正則化係数で，損失への加え方は実装の定義に従う．</a:t>
            </a:r>
          </a:p>
          <a:p xmlns:a="http://schemas.openxmlformats.org/drawingml/2006/main">
            <a:r>
              <a:t/>
            </a:r>
          </a:p>
          <a:p xmlns:a="http://schemas.openxmlformats.org/drawingml/2006/main">
            <a:r>
              <a:t>隠れ層 ／ 32個・16個，ReLU</a:t>
            </a:r>
          </a:p>
          <a:p xmlns:a="http://schemas.openxmlformats.org/drawingml/2006/main">
            <a:r>
              <a:t>最適化 ／ Adam，学習率0.001</a:t>
            </a:r>
          </a:p>
          <a:p xmlns:a="http://schemas.openxmlformats.org/drawingml/2006/main">
            <a:r>
              <a:t>バッチサイズ ／ 64</a:t>
            </a:r>
          </a:p>
          <a:p xmlns:a="http://schemas.openxmlformats.org/drawingml/2006/main">
            <a:r>
              <a:t>学習回数・L2の係数 ／ 30エポック・alpha＝0.0001</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確認：バッチとエポック</a:t>
            </a:r>
          </a:p>
          <a:p xmlns:a="http://schemas.openxmlformats.org/drawingml/2006/main">
            <a:r>
              <a:t/>
            </a:r>
          </a:p>
          <a:p xmlns:a="http://schemas.openxmlformats.org/drawingml/2006/main">
            <a:r>
              <a:t>目安：4分／授業開始から37〜41分</a:t>
            </a:r>
          </a:p>
          <a:p xmlns:a="http://schemas.openxmlformats.org/drawingml/2006/main">
            <a:r>
              <a:t/>
            </a:r>
          </a:p>
          <a:p xmlns:a="http://schemas.openxmlformats.org/drawingml/2006/main">
            <a:r>
              <a:t>1077÷64=16.828...なので切り上げ17．partial_fitによる1回の呼び出しが1エポック．ミニバッチごとにAdamで更新する今回の実装の計算で，勾配蓄積や端数削除は使わない．</a:t>
            </a:r>
          </a:p>
          <a:p xmlns:a="http://schemas.openxmlformats.org/drawingml/2006/main">
            <a:r>
              <a:t/>
            </a:r>
          </a:p>
          <a:p xmlns:a="http://schemas.openxmlformats.org/drawingml/2006/main">
            <a:r>
              <a:t>訓練は1,077件，バッチサイズは64．</a:t>
            </a:r>
          </a:p>
          <a:p xmlns:a="http://schemas.openxmlformats.org/drawingml/2006/main">
            <a:r>
              <a:t/>
            </a:r>
          </a:p>
          <a:p xmlns:a="http://schemas.openxmlformats.org/drawingml/2006/main">
            <a:r>
              <a:t>最後の小さなバッチも使うと，1エポックは17バッチ．</a:t>
            </a:r>
          </a:p>
          <a:p xmlns:a="http://schemas.openxmlformats.org/drawingml/2006/main">
            <a:r>
              <a:t/>
            </a:r>
          </a:p>
          <a:p xmlns:a="http://schemas.openxmlformats.org/drawingml/2006/main">
            <a:r>
              <a:t>30エポックでは，合計510回の更新になる．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a:p xmlns:a="http://schemas.openxmlformats.org/drawingml/2006/main">
            <a:r>
              <a:t/>
            </a:r>
          </a:p>
          <a:p xmlns:a="http://schemas.openxmlformats.org/drawingml/2006/main">
            <a:r>
              <a:t>PyTorch：Optimizing Model Parameters</a:t>
            </a:r>
          </a:p>
          <a:p xmlns:a="http://schemas.openxmlformats.org/drawingml/2006/main">
            <a:r>
              <a:t>https://docs.pytorch.org/tutorials/beginner/basics/optimization_tutorial.html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実習1：学習を実行する</a:t>
            </a:r>
          </a:p>
          <a:p xmlns:a="http://schemas.openxmlformats.org/drawingml/2006/main">
            <a:r>
              <a:t/>
            </a:r>
          </a:p>
          <a:p xmlns:a="http://schemas.openxmlformats.org/drawingml/2006/main">
            <a:r>
              <a:t>目安：6分／授業開始から41〜47分</a:t>
            </a:r>
          </a:p>
          <a:p xmlns:a="http://schemas.openxmlformats.org/drawingml/2006/main">
            <a:r>
              <a:t/>
            </a:r>
          </a:p>
          <a:p xmlns:a="http://schemas.openxmlformats.org/drawingml/2006/main">
            <a:r>
              <a:t>ノートブック4を実行．検証では重みを更新しない．初回にclassesで0〜9を指定する．実行表示のepoch，train_loss，val_loss，val_accを読む．</a:t>
            </a:r>
          </a:p>
          <a:p xmlns:a="http://schemas.openxmlformats.org/drawingml/2006/main">
            <a:r>
              <a:t/>
            </a:r>
          </a:p>
          <a:p xmlns:a="http://schemas.openxmlformats.org/drawingml/2006/main">
            <a:r>
              <a:t>partial_fitで，訓練データを1回学習する．</a:t>
            </a:r>
          </a:p>
          <a:p xmlns:a="http://schemas.openxmlformats.org/drawingml/2006/main">
            <a:r>
              <a:t/>
            </a:r>
          </a:p>
          <a:p xmlns:a="http://schemas.openxmlformats.org/drawingml/2006/main">
            <a:r>
              <a:t>検証データを予測し，損失と正解率を記録する．</a:t>
            </a:r>
          </a:p>
          <a:p xmlns:a="http://schemas.openxmlformats.org/drawingml/2006/main">
            <a:r>
              <a:t/>
            </a:r>
          </a:p>
          <a:p xmlns:a="http://schemas.openxmlformats.org/drawingml/2006/main">
            <a:r>
              <a:t>検証損失が最も小さいモデルのコピーを残す．</a:t>
            </a:r>
          </a:p>
          <a:p xmlns:a="http://schemas.openxmlformats.org/drawingml/2006/main">
            <a:r>
              <a:t/>
            </a:r>
          </a:p>
          <a:p xmlns:a="http://schemas.openxmlformats.org/drawingml/2006/main">
            <a:r>
              <a:t>学習に使うデータと，選ぶためのデータを分ける．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実行例：学習曲線</a:t>
            </a:r>
          </a:p>
          <a:p xmlns:a="http://schemas.openxmlformats.org/drawingml/2006/main">
            <a:r>
              <a:t/>
            </a:r>
          </a:p>
          <a:p xmlns:a="http://schemas.openxmlformats.org/drawingml/2006/main">
            <a:r>
              <a:t>目安：4分／授業開始から47〜51分</a:t>
            </a:r>
          </a:p>
          <a:p xmlns:a="http://schemas.openxmlformats.org/drawingml/2006/main">
            <a:r>
              <a:t/>
            </a:r>
          </a:p>
          <a:p xmlns:a="http://schemas.openxmlformats.org/drawingml/2006/main">
            <a:r>
              <a:t>2026年10月8日，Python3.12.14・scikit-learn1.9.1，配布ノートブック初期設定の実測を抜粋．訓練loss_はミニバッチの正則化込み，検証はエポック終了時の正則化なしの交差エントロピー．定義が厳密に同一ではないので差の大きさを単純に過学習量とみなさない．</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実習2：曲線から何が分かるか</a:t>
            </a:r>
          </a:p>
          <a:p xmlns:a="http://schemas.openxmlformats.org/drawingml/2006/main">
            <a:r>
              <a:t/>
            </a:r>
          </a:p>
          <a:p xmlns:a="http://schemas.openxmlformats.org/drawingml/2006/main">
            <a:r>
              <a:t>目安：5分／授業開始から51〜56分</a:t>
            </a:r>
          </a:p>
          <a:p xmlns:a="http://schemas.openxmlformats.org/drawingml/2006/main">
            <a:r>
              <a:t/>
            </a:r>
          </a:p>
          <a:p xmlns:a="http://schemas.openxmlformats.org/drawingml/2006/main">
            <a:r>
              <a:t>ノートブック5でグラフを表示．検証が悪化する例と，両方が下がる今回の例を比べる．初期設定は30エポックまで改善したが，学習を続ければ必ず改善するわけではない．</a:t>
            </a:r>
          </a:p>
          <a:p xmlns:a="http://schemas.openxmlformats.org/drawingml/2006/main">
            <a:r>
              <a:t/>
            </a:r>
          </a:p>
          <a:p xmlns:a="http://schemas.openxmlformats.org/drawingml/2006/main">
            <a:r>
              <a:t>自分の実行結果の，損失と正解率を読む．</a:t>
            </a:r>
          </a:p>
          <a:p xmlns:a="http://schemas.openxmlformats.org/drawingml/2006/main">
            <a:r>
              <a:t/>
            </a:r>
          </a:p>
          <a:p xmlns:a="http://schemas.openxmlformats.org/drawingml/2006/main">
            <a:r>
              <a:t>訓練と検証の，変化の向きを比べる．</a:t>
            </a:r>
          </a:p>
          <a:p xmlns:a="http://schemas.openxmlformats.org/drawingml/2006/main">
            <a:r>
              <a:t/>
            </a:r>
          </a:p>
          <a:p xmlns:a="http://schemas.openxmlformats.org/drawingml/2006/main">
            <a:r>
              <a:t>学習を続ける判断に，検証結果を使う．</a:t>
            </a:r>
          </a:p>
          <a:p xmlns:a="http://schemas.openxmlformats.org/drawingml/2006/main">
            <a:r>
              <a:t/>
            </a:r>
          </a:p>
          <a:p xmlns:a="http://schemas.openxmlformats.org/drawingml/2006/main">
            <a:r>
              <a:t>損失は小さい方，正解率は大きい方を目指す．</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scikit-learn：Common pitfalls</a:t>
            </a:r>
          </a:p>
          <a:p xmlns:a="http://schemas.openxmlformats.org/drawingml/2006/main">
            <a:r>
              <a:t>https://scikit-learn.org/stable/common_pitfalls.html</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使うモデルを検証で選ぶ</a:t>
            </a:r>
          </a:p>
          <a:p xmlns:a="http://schemas.openxmlformats.org/drawingml/2006/main">
            <a:r>
              <a:t/>
            </a:r>
          </a:p>
          <a:p xmlns:a="http://schemas.openxmlformats.org/drawingml/2006/main">
            <a:r>
              <a:t>目安：3分／授業開始から56〜59分</a:t>
            </a:r>
          </a:p>
          <a:p xmlns:a="http://schemas.openxmlformats.org/drawingml/2006/main">
            <a:r>
              <a:t/>
            </a:r>
          </a:p>
          <a:p xmlns:a="http://schemas.openxmlformats.org/drawingml/2006/main">
            <a:r>
              <a:t>このコードは30エポックの学習を完了し，最良のコピーを選ぶ．途中で学習処理を停止する早期終了そのものは実装していない．ノートブック中のbest_epochとbest_modelを確認する．</a:t>
            </a:r>
          </a:p>
          <a:p xmlns:a="http://schemas.openxmlformats.org/drawingml/2006/main">
            <a:r>
              <a:t/>
            </a:r>
          </a:p>
          <a:p xmlns:a="http://schemas.openxmlformats.org/drawingml/2006/main">
            <a:r>
              <a:t>最後のエポックのモデルを，無条件には選ばない．</a:t>
            </a:r>
          </a:p>
          <a:p xmlns:a="http://schemas.openxmlformats.org/drawingml/2006/main">
            <a:r>
              <a:t/>
            </a:r>
          </a:p>
          <a:p xmlns:a="http://schemas.openxmlformats.org/drawingml/2006/main">
            <a:r>
              <a:t>検証損失が最も小さい時点のモデルを使う．</a:t>
            </a:r>
          </a:p>
          <a:p xmlns:a="http://schemas.openxmlformats.org/drawingml/2006/main">
            <a:r>
              <a:t/>
            </a:r>
          </a:p>
          <a:p xmlns:a="http://schemas.openxmlformats.org/drawingml/2006/main">
            <a:r>
              <a:t>コピーを残すと，後の更新で値が変わらない．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a:p xmlns:a="http://schemas.openxmlformats.org/drawingml/2006/main">
            <a:r>
              <a:t/>
            </a:r>
          </a:p>
          <a:p xmlns:a="http://schemas.openxmlformats.org/drawingml/2006/main">
            <a:r>
              <a:t>scikit-learn：Common pitfalls</a:t>
            </a:r>
          </a:p>
          <a:p xmlns:a="http://schemas.openxmlformats.org/drawingml/2006/main">
            <a:r>
              <a:t>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学習済みモデルで推論する</a:t>
            </a:r>
          </a:p>
          <a:p xmlns:a="http://schemas.openxmlformats.org/drawingml/2006/main">
            <a:r>
              <a:t/>
            </a:r>
          </a:p>
          <a:p xmlns:a="http://schemas.openxmlformats.org/drawingml/2006/main">
            <a:r>
              <a:t>目安：3分／授業開始から59〜62分</a:t>
            </a:r>
          </a:p>
          <a:p xmlns:a="http://schemas.openxmlformats.org/drawingml/2006/main">
            <a:r>
              <a:t/>
            </a:r>
          </a:p>
          <a:p xmlns:a="http://schemas.openxmlformats.org/drawingml/2006/main">
            <a:r>
              <a:t>ノートブック6を実行．同じモデルを複数の画像に再利用する．学習時に使った入力の形と画素変換を，推論でもそろえる．</a:t>
            </a:r>
          </a:p>
          <a:p xmlns:a="http://schemas.openxmlformats.org/drawingml/2006/main">
            <a:r>
              <a:t/>
            </a:r>
          </a:p>
          <a:p xmlns:a="http://schemas.openxmlformats.org/drawingml/2006/main">
            <a:r>
              <a:t>best_model.predictで，予測クラスを求める．</a:t>
            </a:r>
          </a:p>
          <a:p xmlns:a="http://schemas.openxmlformats.org/drawingml/2006/main">
            <a:r>
              <a:t/>
            </a:r>
          </a:p>
          <a:p xmlns:a="http://schemas.openxmlformats.org/drawingml/2006/main">
            <a:r>
              <a:t>predict_probaで，クラスごとの出力を読む．</a:t>
            </a:r>
          </a:p>
          <a:p xmlns:a="http://schemas.openxmlformats.org/drawingml/2006/main">
            <a:r>
              <a:t/>
            </a:r>
          </a:p>
          <a:p xmlns:a="http://schemas.openxmlformats.org/drawingml/2006/main">
            <a:r>
              <a:t>推論だけでは，重みやバイアスを更新しない．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出力を見る：検証画像一枚の例</a:t>
            </a:r>
          </a:p>
          <a:p xmlns:a="http://schemas.openxmlformats.org/drawingml/2006/main">
            <a:r>
              <a:t/>
            </a:r>
          </a:p>
          <a:p xmlns:a="http://schemas.openxmlformats.org/drawingml/2006/main">
            <a:r>
              <a:t>目安：3分／授業開始から62〜65分</a:t>
            </a:r>
          </a:p>
          <a:p xmlns:a="http://schemas.openxmlformats.org/drawingml/2006/main">
            <a:r>
              <a:t/>
            </a:r>
          </a:p>
          <a:p xmlns:a="http://schemas.openxmlformats.org/drawingml/2006/main">
            <a:r>
              <a:t>2026年10月8日の初期設定，検証画像の先頭の例．数字9で正解だった．これだけから全画像に対する信頼度や確率の校正が分かるわけではない．出力の確率が高い誤分類もあり得る．</a:t>
            </a:r>
          </a:p>
          <a:p xmlns:a="http://schemas.openxmlformats.org/drawingml/2006/main">
            <a:r>
              <a:t/>
            </a:r>
          </a:p>
          <a:p xmlns:a="http://schemas.openxmlformats.org/drawingml/2006/main">
            <a:r>
              <a:t>正解 ／ 9</a:t>
            </a:r>
          </a:p>
          <a:p xmlns:a="http://schemas.openxmlformats.org/drawingml/2006/main">
            <a:r>
              <a:t>予測 ／ 9</a:t>
            </a:r>
          </a:p>
          <a:p xmlns:a="http://schemas.openxmlformats.org/drawingml/2006/main">
            <a:r>
              <a:t>最も大きい出力確率 ／ 約0.974</a:t>
            </a:r>
          </a:p>
          <a:p xmlns:a="http://schemas.openxmlformats.org/drawingml/2006/main">
            <a:r>
              <a:t/>
            </a:r>
          </a:p>
          <a:p xmlns:a="http://schemas.openxmlformats.org/drawingml/2006/main">
            <a:r>
              <a:t>高い確率の出力でも，正解を保証しない．</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実習3：誤分類の画像を観察する</a:t>
            </a:r>
          </a:p>
          <a:p xmlns:a="http://schemas.openxmlformats.org/drawingml/2006/main">
            <a:r>
              <a:t/>
            </a:r>
          </a:p>
          <a:p xmlns:a="http://schemas.openxmlformats.org/drawingml/2006/main">
            <a:r>
              <a:t>目安：6分／授業開始から65〜71分</a:t>
            </a:r>
          </a:p>
          <a:p xmlns:a="http://schemas.openxmlformats.org/drawingml/2006/main">
            <a:r>
              <a:t/>
            </a:r>
          </a:p>
          <a:p xmlns:a="http://schemas.openxmlformats.org/drawingml/2006/main">
            <a:r>
              <a:t>ノートブック7を実行．初期設定の実測では検証360件中19件を誤分類．最大9枚を表示する．人が見ても紛らわしいか，画像の欠けなどがあるかを話す．</a:t>
            </a:r>
          </a:p>
          <a:p xmlns:a="http://schemas.openxmlformats.org/drawingml/2006/main">
            <a:r>
              <a:t/>
            </a:r>
          </a:p>
          <a:p xmlns:a="http://schemas.openxmlformats.org/drawingml/2006/main">
            <a:r>
              <a:t>正解と予測が違う画像を，表示する．</a:t>
            </a:r>
          </a:p>
          <a:p xmlns:a="http://schemas.openxmlformats.org/drawingml/2006/main">
            <a:r>
              <a:t/>
            </a:r>
          </a:p>
          <a:p xmlns:a="http://schemas.openxmlformats.org/drawingml/2006/main">
            <a:r>
              <a:t>どの数字を，何と間違えたか読む．</a:t>
            </a:r>
          </a:p>
          <a:p xmlns:a="http://schemas.openxmlformats.org/drawingml/2006/main">
            <a:r>
              <a:t/>
            </a:r>
          </a:p>
          <a:p xmlns:a="http://schemas.openxmlformats.org/drawingml/2006/main">
            <a:r>
              <a:t>筆跡や形から，難しさを考える．</a:t>
            </a:r>
          </a:p>
          <a:p xmlns:a="http://schemas.openxmlformats.org/drawingml/2006/main">
            <a:r>
              <a:t/>
            </a:r>
          </a:p>
          <a:p xmlns:a="http://schemas.openxmlformats.org/drawingml/2006/main">
            <a:r>
              <a:t>誤りを減らす案は，検証データで確かめる．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scikit-learn：Metrics and scoring</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混同行列とクラスごとの結果</a:t>
            </a:r>
          </a:p>
          <a:p xmlns:a="http://schemas.openxmlformats.org/drawingml/2006/main">
            <a:r>
              <a:t/>
            </a:r>
          </a:p>
          <a:p xmlns:a="http://schemas.openxmlformats.org/drawingml/2006/main">
            <a:r>
              <a:t>目安：3分／授業開始から71〜74分</a:t>
            </a:r>
          </a:p>
          <a:p xmlns:a="http://schemas.openxmlformats.org/drawingml/2006/main">
            <a:r>
              <a:t/>
            </a:r>
          </a:p>
          <a:p xmlns:a="http://schemas.openxmlformats.org/drawingml/2006/main">
            <a:r>
              <a:t>ノートブック7の混同行列を読む．クラスごとの母数を確認する．一つの画像から全ての失敗原因を断定せず，件数と傾向を調べる．</a:t>
            </a:r>
          </a:p>
          <a:p xmlns:a="http://schemas.openxmlformats.org/drawingml/2006/main">
            <a:r>
              <a:t/>
            </a:r>
          </a:p>
          <a:p xmlns:a="http://schemas.openxmlformats.org/drawingml/2006/main">
            <a:r>
              <a:t>行＝正解，列＝予測として読む．</a:t>
            </a:r>
          </a:p>
          <a:p xmlns:a="http://schemas.openxmlformats.org/drawingml/2006/main">
            <a:r>
              <a:t/>
            </a:r>
          </a:p>
          <a:p xmlns:a="http://schemas.openxmlformats.org/drawingml/2006/main">
            <a:r>
              <a:t>対角線の外から，取り違えの組合せを見る．</a:t>
            </a:r>
          </a:p>
          <a:p xmlns:a="http://schemas.openxmlformats.org/drawingml/2006/main">
            <a:r>
              <a:t/>
            </a:r>
          </a:p>
          <a:p xmlns:a="http://schemas.openxmlformats.org/drawingml/2006/main">
            <a:r>
              <a:t>全体の正解率だけで，各数字の性能を判断しない．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scikit-learn：Metrics and scoring</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実習4：学習条件を一つ変える</a:t>
            </a:r>
          </a:p>
          <a:p xmlns:a="http://schemas.openxmlformats.org/drawingml/2006/main">
            <a:r>
              <a:t/>
            </a:r>
          </a:p>
          <a:p xmlns:a="http://schemas.openxmlformats.org/drawingml/2006/main">
            <a:r>
              <a:t>目安：7分／授業開始から74〜81分</a:t>
            </a:r>
          </a:p>
          <a:p xmlns:a="http://schemas.openxmlformats.org/drawingml/2006/main">
            <a:r>
              <a:t/>
            </a:r>
          </a:p>
          <a:p xmlns:a="http://schemas.openxmlformats.org/drawingml/2006/main">
            <a:r>
              <a:t>ノートブック8で止まり，設定セルから再実行する．最大エポック数だけを変更する方法でもよい．変更で必ず改善するという答えに誘導しない．テストで設定を選ばない．</a:t>
            </a:r>
          </a:p>
          <a:p xmlns:a="http://schemas.openxmlformats.org/drawingml/2006/main">
            <a:r>
              <a:t/>
            </a:r>
          </a:p>
          <a:p xmlns:a="http://schemas.openxmlformats.org/drawingml/2006/main">
            <a:r>
              <a:t>学習率を0.001から0.01へ変える，など一つだけ変更する．</a:t>
            </a:r>
          </a:p>
          <a:p xmlns:a="http://schemas.openxmlformats.org/drawingml/2006/main">
            <a:r>
              <a:t/>
            </a:r>
          </a:p>
          <a:p xmlns:a="http://schemas.openxmlformats.org/drawingml/2006/main">
            <a:r>
              <a:t>分割と他の設定をそろえて，学習し直す．</a:t>
            </a:r>
          </a:p>
          <a:p xmlns:a="http://schemas.openxmlformats.org/drawingml/2006/main">
            <a:r>
              <a:t/>
            </a:r>
          </a:p>
          <a:p xmlns:a="http://schemas.openxmlformats.org/drawingml/2006/main">
            <a:r>
              <a:t>検証の曲線，最良エポック，正解率を比べる．</a:t>
            </a:r>
          </a:p>
          <a:p xmlns:a="http://schemas.openxmlformats.org/drawingml/2006/main">
            <a:r>
              <a:t/>
            </a:r>
          </a:p>
          <a:p xmlns:a="http://schemas.openxmlformats.org/drawingml/2006/main">
            <a:r>
              <a:t>何を変え，何が変わったかを記録する．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条件を決めた後のテスト</a:t>
            </a:r>
          </a:p>
          <a:p xmlns:a="http://schemas.openxmlformats.org/drawingml/2006/main">
            <a:r>
              <a:t/>
            </a:r>
          </a:p>
          <a:p xmlns:a="http://schemas.openxmlformats.org/drawingml/2006/main">
            <a:r>
              <a:t>目安：3分／授業開始から81〜84分</a:t>
            </a:r>
          </a:p>
          <a:p xmlns:a="http://schemas.openxmlformats.org/drawingml/2006/main">
            <a:r>
              <a:t/>
            </a:r>
          </a:p>
          <a:p xmlns:a="http://schemas.openxmlformats.org/drawingml/2006/main">
            <a:r>
              <a:t>ノートブック9を実行．初期設定の実測では342/360=95.0％．第11回の最終再学習と違い，この回は検証で選んだコピーをそのまま使う．どちらの手順かを事前に決める．</a:t>
            </a:r>
          </a:p>
          <a:p xmlns:a="http://schemas.openxmlformats.org/drawingml/2006/main">
            <a:r>
              <a:t/>
            </a:r>
          </a:p>
          <a:p xmlns:a="http://schemas.openxmlformats.org/drawingml/2006/main">
            <a:r>
              <a:t>選んだbest_modelを，取り分けた360件へ適用する．</a:t>
            </a:r>
          </a:p>
          <a:p xmlns:a="http://schemas.openxmlformats.org/drawingml/2006/main">
            <a:r>
              <a:t/>
            </a:r>
          </a:p>
          <a:p xmlns:a="http://schemas.openxmlformats.org/drawingml/2006/main">
            <a:r>
              <a:t>今回の教材は，選んだモデルをそのまま評価する．</a:t>
            </a:r>
          </a:p>
          <a:p xmlns:a="http://schemas.openxmlformats.org/drawingml/2006/main">
            <a:r>
              <a:t/>
            </a:r>
          </a:p>
          <a:p xmlns:a="http://schemas.openxmlformats.org/drawingml/2006/main">
            <a:r>
              <a:t>テストの件数，正解率，誤り方を記録する．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scikit-learn：Common pitfalls</a:t>
            </a:r>
          </a:p>
          <a:p xmlns:a="http://schemas.openxmlformats.org/drawingml/2006/main">
            <a:r>
              <a:t>https://scikit-learn.org/stable/common_pitfalls.html</a:t>
            </a:r>
          </a:p>
          <a:p xmlns:a="http://schemas.openxmlformats.org/drawingml/2006/main">
            <a:r>
              <a:t/>
            </a:r>
          </a:p>
          <a:p xmlns:a="http://schemas.openxmlformats.org/drawingml/2006/main">
            <a:r>
              <a:t>scikit-learn：Metrics and scoring</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実習の記録をまとめる</a:t>
            </a:r>
          </a:p>
          <a:p xmlns:a="http://schemas.openxmlformats.org/drawingml/2006/main">
            <a:r>
              <a:t/>
            </a:r>
          </a:p>
          <a:p xmlns:a="http://schemas.openxmlformats.org/drawingml/2006/main">
            <a:r>
              <a:t>目安：3分／授業開始から84〜87分</a:t>
            </a:r>
          </a:p>
          <a:p xmlns:a="http://schemas.openxmlformats.org/drawingml/2006/main">
            <a:r>
              <a:t/>
            </a:r>
          </a:p>
          <a:p xmlns:a="http://schemas.openxmlformats.org/drawingml/2006/main">
            <a:r>
              <a:t>ノートブック10．別の筆跡や撮影環境，画像サイズでは結果が変わり得る．実務利用に十分な評価をしたわけではない．手順を説明できることと数値の大小を分けて評価する．</a:t>
            </a:r>
          </a:p>
          <a:p xmlns:a="http://schemas.openxmlformats.org/drawingml/2006/main">
            <a:r>
              <a:t/>
            </a:r>
          </a:p>
          <a:p xmlns:a="http://schemas.openxmlformats.org/drawingml/2006/main">
            <a:r>
              <a:t>設定と，検証で選んだエポックを書く．</a:t>
            </a:r>
          </a:p>
          <a:p xmlns:a="http://schemas.openxmlformats.org/drawingml/2006/main">
            <a:r>
              <a:t/>
            </a:r>
          </a:p>
          <a:p xmlns:a="http://schemas.openxmlformats.org/drawingml/2006/main">
            <a:r>
              <a:t>曲線の読み方と，誤分類の例を書く．</a:t>
            </a:r>
          </a:p>
          <a:p xmlns:a="http://schemas.openxmlformats.org/drawingml/2006/main">
            <a:r>
              <a:t/>
            </a:r>
          </a:p>
          <a:p xmlns:a="http://schemas.openxmlformats.org/drawingml/2006/main">
            <a:r>
              <a:t>条件を変えた影響と，評価の限界を書く．</a:t>
            </a:r>
          </a:p>
          <a:p xmlns:a="http://schemas.openxmlformats.org/drawingml/2006/main">
            <a:r>
              <a:t/>
            </a:r>
          </a:p>
          <a:p xmlns:a="http://schemas.openxmlformats.org/drawingml/2006/main">
            <a:r>
              <a:t>小さな教材で得た結果の範囲を説明する．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まとめ・振り返り</a:t>
            </a:r>
          </a:p>
          <a:p xmlns:a="http://schemas.openxmlformats.org/drawingml/2006/main">
            <a:r>
              <a:t/>
            </a:r>
          </a:p>
          <a:p xmlns:a="http://schemas.openxmlformats.org/drawingml/2006/main">
            <a:r>
              <a:t>目安：3分／授業開始から87〜90分</a:t>
            </a:r>
          </a:p>
          <a:p xmlns:a="http://schemas.openxmlformats.org/drawingml/2006/main">
            <a:r>
              <a:t/>
            </a:r>
          </a:p>
          <a:p xmlns:a="http://schemas.openxmlformats.org/drawingml/2006/main">
            <a:r>
              <a:t>出口課題：学習率を変えた結果と，予測時に重みを更新するかを説明する．次回はデータ・モデル・生成物の権利と利用条件を扱う．</a:t>
            </a:r>
          </a:p>
          <a:p xmlns:a="http://schemas.openxmlformats.org/drawingml/2006/main">
            <a:r>
              <a:t/>
            </a:r>
          </a:p>
          <a:p xmlns:a="http://schemas.openxmlformats.org/drawingml/2006/main">
            <a:r>
              <a:t>画像を数値へ変換し，ネットワークを学習した．</a:t>
            </a:r>
          </a:p>
          <a:p xmlns:a="http://schemas.openxmlformats.org/drawingml/2006/main">
            <a:r>
              <a:t/>
            </a:r>
          </a:p>
          <a:p xmlns:a="http://schemas.openxmlformats.org/drawingml/2006/main">
            <a:r>
              <a:t>検証でモデルを選び，学習済みモデルで推論した．</a:t>
            </a:r>
          </a:p>
          <a:p xmlns:a="http://schemas.openxmlformats.org/drawingml/2006/main">
            <a:r>
              <a:t/>
            </a:r>
          </a:p>
          <a:p xmlns:a="http://schemas.openxmlformats.org/drawingml/2006/main">
            <a:r>
              <a:t>曲線・誤分類・比較条件から結果を説明した．</a:t>
            </a:r>
          </a:p>
          <a:p xmlns:a="http://schemas.openxmlformats.org/drawingml/2006/main">
            <a:r>
              <a:t/>
            </a:r>
          </a:p>
          <a:p xmlns:a="http://schemas.openxmlformats.org/drawingml/2006/main">
            <a:r>
              <a:t>次回：AIに関する法律と契約</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参考資料1</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授業内容の参考資料．図・数値・設問は出典を別途示したものを除き，本講義の作例．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scikit-learn：Digits dataset</a:t>
            </a:r>
          </a:p>
          <a:p xmlns:a="http://schemas.openxmlformats.org/drawingml/2006/main">
            <a:r>
              <a:t>https://scikit-learn.org/stable/modules/generated/sklearn.datasets.load_digits.html</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参考資料2</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本文の補足と参考資料．演習は講義用の作例で，公式試験問題ではない．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scikit-learn：Digits dataset</a:t>
            </a:r>
          </a:p>
          <a:p xmlns:a="http://schemas.openxmlformats.org/drawingml/2006/main">
            <a:r>
              <a:t>https://scikit-learn.org/stable/modules/generated/sklearn.datasets.load_digits.html</a:t>
            </a:r>
          </a:p>
          <a:p xmlns:a="http://schemas.openxmlformats.org/drawingml/2006/main">
            <a:r>
              <a:t/>
            </a:r>
          </a:p>
          <a:p xmlns:a="http://schemas.openxmlformats.org/drawingml/2006/main">
            <a:r>
              <a:t>scikit-learn：Neural network models</a:t>
            </a:r>
          </a:p>
          <a:p xmlns:a="http://schemas.openxmlformats.org/drawingml/2006/main">
            <a:r>
              <a:t>https://scikit-learn.org/stable/modules/neural_networks_supervised.html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6d92183a5145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67eb7e0b4244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ef9a048ebc46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f1fd724ee346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8b758858e14c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d94ecb91d8424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08a3f4699af41c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4f1fbb9c5dd457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bc6fc16521747a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70b153590e64bd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0e993152ecd4314"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97F7A9FC-42F9-4272-8061-420BE7C155B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DF9B35A9-3FE9-4BFF-B656-B4D6A3DC0A3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2EE4E9B5-D82D-45CC-A6B5-C4CEFF56E3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BFD5D03B-80CF-46D0-B675-64FA89A7F4E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E87C2054-8E80-4D76-8DEF-3392908A46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A48A6AB9-704A-4EBC-BC7C-E63FA18B1C9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D7215D3D-AF97-4F0E-9656-152FBCF3D28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DF7B5FDE-C912-4BA0-875F-484DCB7B2ED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16BA528-8965-4793-9AC8-05865DDFC09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0E39A5F4-B176-4DAE-9CB7-A203335062A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7E172536-B60A-4A31-A2FA-7BA7BF19B8E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2C24B9CB-9CE1-4429-8F38-7501BA6A20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A50B932F-4A9D-4C20-9484-8CF9B39F52C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0A4A5C6-0B08-48A3-9AF9-3CC6EB89A40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7B5EE8FA-8AA8-4DEE-8C01-771682B3C21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A6C772D8-01E9-4327-9C03-7A26C992D7E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929D0ACB-6748-4C74-A363-D9CD1769135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EB4C4AB4-01B0-4B64-8073-04A7A1310B4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F925D32E-2AA0-42B4-B90E-E867F36D20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3D0385D-11D1-44BD-9DCD-3C92F13D113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A0351056-57DF-4898-A954-791E5DBBAAB6}"/>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5D8E1582-629C-417E-97AF-90F193595A5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9DF51F9B-459E-40E6-BF85-67159A6AAE8F}"/>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784D298-F9D4-481C-A581-8DD66EEBFE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90CDD5AF-DC6A-4D21-B2D6-412F53B788F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BC7FC0E-748E-4525-B97C-CEA11BA1A0E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DF82A840-592C-4A06-880C-CBB4FCCE24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A60046D-6491-4CEE-A2BA-C9D70926FC6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009999C1-0D75-43B3-B331-E10DC6D330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A545E12-B334-450B-8E0B-4F79F102D5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ece01f36a54020" /><Relationship Type="http://schemas.openxmlformats.org/officeDocument/2006/relationships/slideLayout" Target="/ppt/slideLayouts/slideLayout1.xml" Id="Rdf5af33d8a7b4f53" /><Relationship Type="http://schemas.openxmlformats.org/officeDocument/2006/relationships/slideLayout" Target="/ppt/slideLayouts/slideLayout2.xml" Id="Ra3b53a46a6fe4fb8" /><Relationship Type="http://schemas.openxmlformats.org/officeDocument/2006/relationships/slideLayout" Target="/ppt/slideLayouts/slideLayout3.xml" Id="R29cc70f854e24cdf" /><Relationship Type="http://schemas.openxmlformats.org/officeDocument/2006/relationships/slideLayout" Target="/ppt/slideLayouts/slideLayout4.xml" Id="R2ac8f0e45bf34f91" /><Relationship Type="http://schemas.openxmlformats.org/officeDocument/2006/relationships/slideLayout" Target="/ppt/slideLayouts/slideLayout5.xml" Id="R9bee65b3945d48ae" /><Relationship Type="http://schemas.openxmlformats.org/officeDocument/2006/relationships/slideLayout" Target="/ppt/slideLayouts/slideLayout6.xml" Id="Rc301be9594034891" /><Relationship Type="http://schemas.openxmlformats.org/officeDocument/2006/relationships/slideLayout" Target="/ppt/slideLayouts/slideLayout7.xml" Id="R5f92656a9c604eb1" /><Relationship Type="http://schemas.openxmlformats.org/officeDocument/2006/relationships/slideLayout" Target="/ppt/slideLayouts/slideLayout8.xml" Id="Re5d443819df84d92" /><Relationship Type="http://schemas.openxmlformats.org/officeDocument/2006/relationships/slideLayout" Target="/ppt/slideLayouts/slideLayout9.xml" Id="R3d4a0ba93b2b4cbc" /><Relationship Type="http://schemas.openxmlformats.org/officeDocument/2006/relationships/slideLayout" Target="/ppt/slideLayouts/slideLayout10.xml" Id="R755205d260f24af2" /><Relationship Type="http://schemas.openxmlformats.org/officeDocument/2006/relationships/slideLayout" Target="/ppt/slideLayouts/slideLayout11.xml" Id="R74ea910125fa4c7c"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74A3540-C64F-46E3-B616-206CF115CDB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E08F150-A23F-4348-8C7A-55D3B350A20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D6018B7-7DF8-468E-A6FA-83523D47D8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f5af33d8a7b4f53"/>
    <p:sldLayoutId xmlns:r="http://schemas.openxmlformats.org/officeDocument/2006/relationships" id="2147483650" r:id="Ra3b53a46a6fe4fb8"/>
    <p:sldLayoutId xmlns:r="http://schemas.openxmlformats.org/officeDocument/2006/relationships" id="2147483651" r:id="R29cc70f854e24cdf"/>
    <p:sldLayoutId xmlns:r="http://schemas.openxmlformats.org/officeDocument/2006/relationships" id="2147483652" r:id="R2ac8f0e45bf34f91"/>
    <p:sldLayoutId xmlns:r="http://schemas.openxmlformats.org/officeDocument/2006/relationships" id="2147483653" r:id="R9bee65b3945d48ae"/>
    <p:sldLayoutId xmlns:r="http://schemas.openxmlformats.org/officeDocument/2006/relationships" id="2147483654" r:id="Rc301be9594034891"/>
    <p:sldLayoutId xmlns:r="http://schemas.openxmlformats.org/officeDocument/2006/relationships" id="2147483655" r:id="R5f92656a9c604eb1"/>
    <p:sldLayoutId xmlns:r="http://schemas.openxmlformats.org/officeDocument/2006/relationships" id="2147483656" r:id="Re5d443819df84d92"/>
    <p:sldLayoutId xmlns:r="http://schemas.openxmlformats.org/officeDocument/2006/relationships" id="2147483657" r:id="R3d4a0ba93b2b4cbc"/>
    <p:sldLayoutId xmlns:r="http://schemas.openxmlformats.org/officeDocument/2006/relationships" id="2147483658" r:id="R755205d260f24af2"/>
    <p:sldLayoutId xmlns:r="http://schemas.openxmlformats.org/officeDocument/2006/relationships" id="2147483659" r:id="R74ea910125fa4c7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54e70ba0e1914ddf" /><Relationship Type="http://schemas.openxmlformats.org/officeDocument/2006/relationships/notesSlide" Target="/ppt/notesSlides/notesSlide1.xml" Id="R334f51b216de4d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d7b7d7a42c574900" /><Relationship Type="http://schemas.openxmlformats.org/officeDocument/2006/relationships/notesSlide" Target="/ppt/notesSlides/notesSlide2.xml" Id="R53582d02f6554f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153523f8cdab41d7" /><Relationship Type="http://schemas.openxmlformats.org/officeDocument/2006/relationships/notesSlide" Target="/ppt/notesSlides/notesSlide3.xml" Id="R8a58d6f6a4844f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a9d9a2855e754acd" /><Relationship Type="http://schemas.openxmlformats.org/officeDocument/2006/relationships/notesSlide" Target="/ppt/notesSlides/notesSlide4.xml" Id="R55ab1aa0ccc849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7bfd1db002934edb" /><Relationship Type="http://schemas.openxmlformats.org/officeDocument/2006/relationships/notesSlide" Target="/ppt/notesSlides/notesSlide5.xml" Id="R7c8180a70e1c41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e09c88c820fb4895" /><Relationship Type="http://schemas.openxmlformats.org/officeDocument/2006/relationships/notesSlide" Target="/ppt/notesSlides/notesSlide6.xml" Id="R46a27346e08c43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d98a034d64e345fa" /><Relationship Type="http://schemas.openxmlformats.org/officeDocument/2006/relationships/notesSlide" Target="/ppt/notesSlides/notesSlide7.xml" Id="R4eee35d5ce6841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47e7d8bcfe904a6e" /><Relationship Type="http://schemas.openxmlformats.org/officeDocument/2006/relationships/notesSlide" Target="/ppt/notesSlides/notesSlide8.xml" Id="R007101329ba348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48aa9e5fb5524dd0" /><Relationship Type="http://schemas.openxmlformats.org/officeDocument/2006/relationships/notesSlide" Target="/ppt/notesSlides/notesSlide9.xml" Id="R34ef0d52886e44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8742305f94424986" /><Relationship Type="http://schemas.openxmlformats.org/officeDocument/2006/relationships/notesSlide" Target="/ppt/notesSlides/notesSlide10.xml" Id="R72addb3c98c942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e34bc1ace12f4a0b" /><Relationship Type="http://schemas.openxmlformats.org/officeDocument/2006/relationships/notesSlide" Target="/ppt/notesSlides/notesSlide11.xml" Id="R896eb962947043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fd29f7c0516e4f34" /><Relationship Type="http://schemas.openxmlformats.org/officeDocument/2006/relationships/notesSlide" Target="/ppt/notesSlides/notesSlide12.xml" Id="R3ebf6a2341c84ac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145374167ccc4ba4" /><Relationship Type="http://schemas.openxmlformats.org/officeDocument/2006/relationships/chart" Target="/ppt/slides/charts/chart1.xml" Id="R2980c2f700d140d0" /><Relationship Type="http://schemas.openxmlformats.org/officeDocument/2006/relationships/notesSlide" Target="/ppt/notesSlides/notesSlide13.xml" Id="R23dbdbd9aed2461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a8c995706ab04c3a" /><Relationship Type="http://schemas.openxmlformats.org/officeDocument/2006/relationships/notesSlide" Target="/ppt/notesSlides/notesSlide14.xml" Id="Rd9f9723e7d6645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a6f1861b207a4db4" /><Relationship Type="http://schemas.openxmlformats.org/officeDocument/2006/relationships/notesSlide" Target="/ppt/notesSlides/notesSlide15.xml" Id="R7c61dc5a986040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dd94c199ad0749f6" /><Relationship Type="http://schemas.openxmlformats.org/officeDocument/2006/relationships/notesSlide" Target="/ppt/notesSlides/notesSlide16.xml" Id="Rb04d2dfa6319495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1.xml" Id="Re2b2af4fe16e413b" /><Relationship Type="http://schemas.openxmlformats.org/officeDocument/2006/relationships/notesSlide" Target="/ppt/notesSlides/notesSlide17.xml" Id="R10d65593d1b54f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1.xml" Id="R16b386d1624e458e" /><Relationship Type="http://schemas.openxmlformats.org/officeDocument/2006/relationships/notesSlide" Target="/ppt/notesSlides/notesSlide18.xml" Id="Rcd86b7a0e10b473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1.xml" Id="R12bd19fac9e34475" /><Relationship Type="http://schemas.openxmlformats.org/officeDocument/2006/relationships/notesSlide" Target="/ppt/notesSlides/notesSlide19.xml" Id="Rc39e95a5ae65425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1.xml" Id="R1f36f1ba68c94075" /><Relationship Type="http://schemas.openxmlformats.org/officeDocument/2006/relationships/notesSlide" Target="/ppt/notesSlides/notesSlide20.xml" Id="R464aed49eeea46d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aab4989a97e44abc" /><Relationship Type="http://schemas.openxmlformats.org/officeDocument/2006/relationships/notesSlide" Target="/ppt/notesSlides/notesSlide21.xml" Id="Rf9bf0019260148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1.xml" Id="R15840371a1794c1b" /><Relationship Type="http://schemas.openxmlformats.org/officeDocument/2006/relationships/notesSlide" Target="/ppt/notesSlides/notesSlide22.xml" Id="R356e304900f748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1.xml" Id="Rec7b41c4566544e2" /><Relationship Type="http://schemas.openxmlformats.org/officeDocument/2006/relationships/notesSlide" Target="/ppt/notesSlides/notesSlide23.xml" Id="Rbc904338630c4cb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1.xml" Id="R57f969a315124eab" /><Relationship Type="http://schemas.openxmlformats.org/officeDocument/2006/relationships/hyperlink" Target="https://scikit-learn.org/stable/modules/generated/sklearn.datasets.load_digits.html" TargetMode="External" Id="Rdc27fb4428384bb6" /><Relationship Type="http://schemas.openxmlformats.org/officeDocument/2006/relationships/hyperlink" Target="https://scikit-learn.org/stable/modules/neural_networks_supervised.html" TargetMode="External" Id="Raa21c0bce9824930" /><Relationship Type="http://schemas.openxmlformats.org/officeDocument/2006/relationships/hyperlink" Target="https://developers.google.com/machine-learning/crash-course/neural-networks/nodes-hidden-layers" TargetMode="External" Id="Rdc1b64c9784741ab" /><Relationship Type="http://schemas.openxmlformats.org/officeDocument/2006/relationships/notesSlide" Target="/ppt/notesSlides/notesSlide24.xml" Id="Raa515cb7d7e14c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1.xml" Id="R6f31bd900ff24bfe" /><Relationship Type="http://schemas.openxmlformats.org/officeDocument/2006/relationships/hyperlink" Target="https://docs.pytorch.org/tutorials/beginner/basics/optimization_tutorial.html" TargetMode="External" Id="Rc830a3a991054bb2" /><Relationship Type="http://schemas.openxmlformats.org/officeDocument/2006/relationships/hyperlink" Target="https://scikit-learn.org/stable/common_pitfalls.html" TargetMode="External" Id="R0b0a556681ef4153" /><Relationship Type="http://schemas.openxmlformats.org/officeDocument/2006/relationships/hyperlink" Target="https://scikit-learn.org/stable/modules/model_evaluation.html" TargetMode="External" Id="Ra3dd5f75db714cf8" /><Relationship Type="http://schemas.openxmlformats.org/officeDocument/2006/relationships/notesSlide" Target="/ppt/notesSlides/notesSlide25.xml" Id="Re632b9d6110c4b5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訓練損失</c:v>
          </c:tx>
          <c:spPr>
            <a:solidFill xmlns:a="http://schemas.openxmlformats.org/drawingml/2006/main">
              <a:srgbClr val="FF0000"/>
            </a:solidFill>
            <a:ln xmlns:a="http://schemas.openxmlformats.org/drawingml/2006/main" w="19050">
              <a:solidFill>
                <a:srgbClr val="FF0000"/>
              </a:solidFill>
            </a:ln>
          </c:spPr>
          <c:marker>
            <c:symbol val="circle"/>
            <c:size val="4"/>
            <c:spPr>
              <a:solidFill xmlns:a="http://schemas.openxmlformats.org/drawingml/2006/main">
                <a:srgbClr val="FF0000"/>
              </a:solidFill>
            </c:spPr>
          </c:marker>
          <c:cat>
            <c:numRef>
              <c:f>'Chart Data'!$A$2:$A$8</c:f>
              <c:numCache>
                <c:formatCode>General</c:formatCode>
                <c:ptCount val="7"/>
                <c:pt idx="0">
                  <c:v>1</c:v>
                </c:pt>
                <c:pt idx="1">
                  <c:v>5</c:v>
                </c:pt>
                <c:pt idx="2">
                  <c:v>10</c:v>
                </c:pt>
                <c:pt idx="3">
                  <c:v>15</c:v>
                </c:pt>
                <c:pt idx="4">
                  <c:v>20</c:v>
                </c:pt>
                <c:pt idx="5">
                  <c:v>25</c:v>
                </c:pt>
                <c:pt idx="6">
                  <c:v>30</c:v>
                </c:pt>
              </c:numCache>
            </c:numRef>
          </c:cat>
          <c:val>
            <c:numRef>
              <c:f>'Chart Data'!$B$2:$B$8</c:f>
              <c:numCache>
                <c:formatCode>General</c:formatCode>
                <c:ptCount val="7"/>
                <c:pt idx="0">
                  <c:v>2.301</c:v>
                </c:pt>
                <c:pt idx="1">
                  <c:v>1.772</c:v>
                </c:pt>
                <c:pt idx="2">
                  <c:v>0.963</c:v>
                </c:pt>
                <c:pt idx="3">
                  <c:v>0.503</c:v>
                </c:pt>
                <c:pt idx="4">
                  <c:v>0.297</c:v>
                </c:pt>
                <c:pt idx="5">
                  <c:v>0.208</c:v>
                </c:pt>
                <c:pt idx="6">
                  <c:v>0.161</c:v>
                </c:pt>
              </c:numCache>
            </c:numRef>
          </c:val>
          <c:smooth val="0"/>
        </c:ser>
        <c:ser>
          <c:idx val="1"/>
          <c:order val="1"/>
          <c:tx>
            <c:v>検証損失</c:v>
          </c:tx>
          <c:spPr>
            <a:solidFill xmlns:a="http://schemas.openxmlformats.org/drawingml/2006/main">
              <a:srgbClr val="404040"/>
            </a:solidFill>
            <a:ln xmlns:a="http://schemas.openxmlformats.org/drawingml/2006/main" w="19050">
              <a:solidFill>
                <a:srgbClr val="404040"/>
              </a:solidFill>
            </a:ln>
          </c:spPr>
          <c:marker>
            <c:symbol val="circle"/>
            <c:size val="4"/>
            <c:spPr>
              <a:solidFill xmlns:a="http://schemas.openxmlformats.org/drawingml/2006/main">
                <a:srgbClr val="404040"/>
              </a:solidFill>
            </c:spPr>
          </c:marker>
          <c:cat>
            <c:numRef>
              <c:f>'Chart Data'!$C$2:$C$8</c:f>
              <c:numCache>
                <c:formatCode>General</c:formatCode>
                <c:ptCount val="7"/>
                <c:pt idx="0">
                  <c:v>1</c:v>
                </c:pt>
                <c:pt idx="1">
                  <c:v>5</c:v>
                </c:pt>
                <c:pt idx="2">
                  <c:v>10</c:v>
                </c:pt>
                <c:pt idx="3">
                  <c:v>15</c:v>
                </c:pt>
                <c:pt idx="4">
                  <c:v>20</c:v>
                </c:pt>
                <c:pt idx="5">
                  <c:v>25</c:v>
                </c:pt>
                <c:pt idx="6">
                  <c:v>30</c:v>
                </c:pt>
              </c:numCache>
            </c:numRef>
          </c:cat>
          <c:val>
            <c:numRef>
              <c:f>'Chart Data'!$D$2:$D$8</c:f>
              <c:numCache>
                <c:formatCode>General</c:formatCode>
                <c:ptCount val="7"/>
                <c:pt idx="0">
                  <c:v>2.23</c:v>
                </c:pt>
                <c:pt idx="1">
                  <c:v>1.701</c:v>
                </c:pt>
                <c:pt idx="2">
                  <c:v>0.939</c:v>
                </c:pt>
                <c:pt idx="3">
                  <c:v>0.535</c:v>
                </c:pt>
                <c:pt idx="4">
                  <c:v>0.347</c:v>
                </c:pt>
                <c:pt idx="5">
                  <c:v>0.267</c:v>
                </c:pt>
                <c:pt idx="6">
                  <c:v>0.229</c:v>
                </c:pt>
              </c:numCache>
            </c:numRef>
          </c:val>
          <c:smooth val="0"/>
        </c:ser>
        <c:dLbls>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lang="ja-JP">
                    <a:latin typeface="Arial"/>
                    <a:ea typeface="ＭＳ Ｐゴシック"/>
                    <a:cs typeface="ＭＳ Ｐゴシック"/>
                  </a:rPr>
                  <a:t>エポック</a:t>
                </a:r>
              </a:p>
            </c:rich>
          </c:tx>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lang="ja-JP">
                <a:solidFill>
                  <a:srgbClr val="666666"/>
                </a:solidFill>
                <a:latin typeface="Arial"/>
                <a:ea typeface="ＭＳ Ｐゴシック"/>
                <a:cs typeface="ＭＳ Ｐゴシック"/>
              </a:defRPr>
            </a:pPr>
          </a:p>
        </c:txPr>
        <c:crossAx val="48672768"/>
      </c:catAx>
      <c:valAx>
        <c:axId val="48672768"/>
        <c:scaling>
          <c:orientation val="minMax"/>
          <c:max val="2.5"/>
          <c:min val="0"/>
        </c:scaling>
        <c:delete val="0"/>
        <c:axPos val="l"/>
        <c:majorGridlines>
          <c:spPr>
            <a:ln xmlns:a="http://schemas.openxmlformats.org/drawingml/2006/main" w="4763">
              <a:solidFill>
                <a:srgbClr val="DDDDDD"/>
              </a:solidFill>
            </a:ln>
          </c:spPr>
        </c:majorGridlines>
        <c:title>
          <c:tx>
            <c:rich>
              <a:bodyPr xmlns:a="http://schemas.openxmlformats.org/drawingml/2006/main"/>
              <a:lstStyle xmlns:a="http://schemas.openxmlformats.org/drawingml/2006/main"/>
              <a:p xmlns:a="http://schemas.openxmlformats.org/drawingml/2006/main">
                <a:r>
                  <a:rPr lang="ja-JP">
                    <a:latin typeface="Arial"/>
                    <a:ea typeface="ＭＳ Ｐゴシック"/>
                    <a:cs typeface="ＭＳ Ｐゴシック"/>
                  </a:rPr>
                  <a:t>損失</a:t>
                </a:r>
              </a:p>
            </c:rich>
          </c:tx>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lang="ja-JP">
                <a:solidFill>
                  <a:srgbClr val="666666"/>
                </a:solidFill>
                <a:latin typeface="Arial"/>
                <a:ea typeface="ＭＳ Ｐゴシック"/>
                <a:cs typeface="ＭＳ Ｐゴシック"/>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lang="ja-JP">
              <a:latin typeface="Arial"/>
              <a:ea typeface="ＭＳ Ｐゴシック"/>
              <a:cs typeface="ＭＳ Ｐゴシック"/>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情報技術者（民間資格）12&#10;G検定">
            <a:extLst xmlns:a="http://schemas.openxmlformats.org/drawingml/2006/main">
              <a:ext uri="{FF2B5EF4-FFF2-40B4-BE49-F238E27FC236}">
                <a16:creationId xmlns:a16="http://schemas.microsoft.com/office/drawing/2014/main" id="{1CE55E4E-9C41-4813-9B69-56A24893C7FE}"/>
              </a:ext>
            </a:extLst>
          </p:cNvPr>
          <p:cNvSpPr>
            <a:spLocks xmlns:a="http://schemas.openxmlformats.org/drawingml/2006/main" noGrp="1"/>
          </p:cNvSpPr>
          <p:nvPr/>
        </p:nvSpPr>
        <p:spPr>
          <a:xfrm xmlns:a="http://schemas.openxmlformats.org/drawingml/2006/main">
            <a:off x="310896" y="740664"/>
            <a:ext cx="8522208" cy="2048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情報技術者（民間資格）12</a:t>
            </a:r>
          </a:p>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G検定</a:t>
            </a:r>
          </a:p>
        </p:txBody>
      </p:sp>
      <p:sp>
        <p:nvSpPr>
          <p:cNvPr id="2" name="実習2：深層学習を体験する">
            <a:extLst xmlns:a="http://schemas.openxmlformats.org/drawingml/2006/main">
              <a:ext uri="{FF2B5EF4-FFF2-40B4-BE49-F238E27FC236}">
                <a16:creationId xmlns:a16="http://schemas.microsoft.com/office/drawing/2014/main" id="{CE5795DC-BC91-4850-AC15-D36D08D99458}"/>
              </a:ext>
            </a:extLst>
          </p:cNvPr>
          <p:cNvSpPr>
            <a:spLocks xmlns:a="http://schemas.openxmlformats.org/drawingml/2006/main" noGrp="1"/>
          </p:cNvSpPr>
          <p:nvPr/>
        </p:nvSpPr>
        <p:spPr>
          <a:xfrm xmlns:a="http://schemas.openxmlformats.org/drawingml/2006/main">
            <a:off x="457200" y="2971800"/>
            <a:ext cx="82296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900" b="0" lang="ja-JP">
                <a:solidFill>
                  <a:srgbClr val="FF0000"/>
                </a:solidFill>
                <a:latin typeface="Arial"/>
                <a:ea typeface="ＭＳ Ｐゴシック"/>
                <a:cs typeface="ＭＳ Ｐゴシック"/>
              </a:defRPr>
            </a:pPr>
            <a:r>
              <a:rPr sz="2900" b="0" lang="ja-JP">
                <a:solidFill>
                  <a:srgbClr val="FF0000"/>
                </a:solidFill>
                <a:latin typeface="Arial"/>
                <a:ea typeface="ＭＳ Ｐゴシック"/>
                <a:cs typeface="ＭＳ Ｐゴシック"/>
              </a:rPr>
              <a:t>実習2：深層学習を体験する</a:t>
            </a:r>
          </a:p>
        </p:txBody>
      </p:sp>
      <p:sp>
        <p:nvSpPr>
          <p:cNvPr id="3" name="第12回 ／ 90分 ／ 全25枚">
            <a:extLst xmlns:a="http://schemas.openxmlformats.org/drawingml/2006/main">
              <a:ext uri="{FF2B5EF4-FFF2-40B4-BE49-F238E27FC236}">
                <a16:creationId xmlns:a16="http://schemas.microsoft.com/office/drawing/2014/main" id="{7B5C2602-4BA7-495C-BB4A-8E40B053AA8B}"/>
              </a:ext>
            </a:extLst>
          </p:cNvPr>
          <p:cNvSpPr>
            <a:spLocks xmlns:a="http://schemas.openxmlformats.org/drawingml/2006/main" noGrp="1"/>
          </p:cNvSpPr>
          <p:nvPr/>
        </p:nvSpPr>
        <p:spPr>
          <a:xfrm xmlns:a="http://schemas.openxmlformats.org/drawingml/2006/main">
            <a:off x="457200" y="4215384"/>
            <a:ext cx="82296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lang="ja-JP">
                <a:solidFill>
                  <a:srgbClr val="707070"/>
                </a:solidFill>
                <a:latin typeface="Arial"/>
                <a:ea typeface="ＭＳ Ｐゴシック"/>
                <a:cs typeface="ＭＳ Ｐゴシック"/>
              </a:defRPr>
            </a:pPr>
            <a:r>
              <a:rPr sz="1600" b="0" lang="ja-JP">
                <a:solidFill>
                  <a:srgbClr val="707070"/>
                </a:solidFill>
                <a:latin typeface="Arial"/>
                <a:ea typeface="ＭＳ Ｐゴシック"/>
                <a:cs typeface="ＭＳ Ｐゴシック"/>
              </a:rPr>
              <a:t>第12回 ／ 90分 ／ 全25枚</a:t>
            </a:r>
          </a:p>
        </p:txBody>
      </p:sp>
      <p:sp>
        <p:nvSpPr>
          <p:cNvPr id="4" name="参照：scikit-learn">
            <a:extLst xmlns:a="http://schemas.openxmlformats.org/drawingml/2006/main">
              <a:ext uri="{FF2B5EF4-FFF2-40B4-BE49-F238E27FC236}">
                <a16:creationId xmlns:a16="http://schemas.microsoft.com/office/drawing/2014/main" id="{3C43B28F-6A07-4A0F-BB03-B004521CF01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5" name="第12回　1">
            <a:extLst xmlns:a="http://schemas.openxmlformats.org/drawingml/2006/main">
              <a:ext uri="{FF2B5EF4-FFF2-40B4-BE49-F238E27FC236}">
                <a16:creationId xmlns:a16="http://schemas.microsoft.com/office/drawing/2014/main" id="{A382F23D-13E2-4635-AB67-21D3D66D520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a:t>
            </a:r>
          </a:p>
        </p:txBody>
      </p:sp>
    </p:spTree>
    <p:extLst>
      <p:ext uri="{BB962C8B-B14F-4D97-AF65-F5344CB8AC3E}">
        <p14:creationId xmlns:p14="http://schemas.microsoft.com/office/powerpoint/2010/main" val="20334885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到達目標">
            <a:extLst xmlns:a="http://schemas.openxmlformats.org/drawingml/2006/main">
              <a:ext uri="{FF2B5EF4-FFF2-40B4-BE49-F238E27FC236}">
                <a16:creationId xmlns:a16="http://schemas.microsoft.com/office/drawing/2014/main" id="{FD3BD297-F3BA-4D2A-96BC-B8F49DC42F1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今日の到達目標</a:t>
            </a:r>
          </a:p>
        </p:txBody>
      </p:sp>
      <p:sp>
        <p:nvSpPr>
          <p:cNvPr id="2" name="">
            <a:extLst xmlns:a="http://schemas.openxmlformats.org/drawingml/2006/main">
              <a:ext uri="{FF2B5EF4-FFF2-40B4-BE49-F238E27FC236}">
                <a16:creationId xmlns:a16="http://schemas.microsoft.com/office/drawing/2014/main" id="{7BF9772D-8F45-4C82-A9F5-2B06BAF7C77A}"/>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画像の入力と，ネットワークの構造を確かめる．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損失と正解率の変化を，学習曲線から読む．</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学習したモデルを使い，誤分類と条件の影響を説明する．</a:t>
            </a:r>
          </a:p>
        </p:txBody>
      </p:sp>
      <p:sp>
        <p:nvSpPr>
          <p:cNvPr id="3" name="図・設問：本教材の作例">
            <a:extLst xmlns:a="http://schemas.openxmlformats.org/drawingml/2006/main">
              <a:ext uri="{FF2B5EF4-FFF2-40B4-BE49-F238E27FC236}">
                <a16:creationId xmlns:a16="http://schemas.microsoft.com/office/drawing/2014/main" id="{26D210F8-51DD-4BA6-A96D-F3B1D112E2C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12回　2">
            <a:extLst xmlns:a="http://schemas.openxmlformats.org/drawingml/2006/main">
              <a:ext uri="{FF2B5EF4-FFF2-40B4-BE49-F238E27FC236}">
                <a16:creationId xmlns:a16="http://schemas.microsoft.com/office/drawing/2014/main" id="{88E5E344-D64E-4A2F-9F9A-B729BA5B417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2</a:t>
            </a:r>
          </a:p>
        </p:txBody>
      </p:sp>
    </p:spTree>
    <p:extLst>
      <p:ext uri="{BB962C8B-B14F-4D97-AF65-F5344CB8AC3E}">
        <p14:creationId xmlns:p14="http://schemas.microsoft.com/office/powerpoint/2010/main" val="1406985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実習の流れ">
            <a:extLst xmlns:a="http://schemas.openxmlformats.org/drawingml/2006/main">
              <a:ext uri="{FF2B5EF4-FFF2-40B4-BE49-F238E27FC236}">
                <a16:creationId xmlns:a16="http://schemas.microsoft.com/office/drawing/2014/main" id="{25277CCA-38D4-4835-BB49-B810EC40142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今日の実習の流れ</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段階</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行うこと</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準備</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ノートブックと画像の形を確認する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学習</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1エポックずつ学習して結果を記録する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観察・比較</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学習曲線と誤分類を読み，条件を変える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最終確認</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設定を決めてテストし，結果を説明する</a:t>
                      </a:r>
                    </a:p>
                  </a:txBody>
                  <a:tcPr marL="76200" marR="76200" marT="47625" marB="47625" anchor="ctr">
                    <a:solidFill>
                      <a:srgbClr val="FFFFFF"/>
                    </a:solidFill>
                  </a:tcPr>
                </a:tc>
              </a:tr>
            </a:tbl>
          </a:graphicData>
        </a:graphic>
      </p:graphicFrame>
      <p:sp>
        <p:nvSpPr>
          <p:cNvPr id="3" name="図・設問：本教材の作例">
            <a:extLst xmlns:a="http://schemas.openxmlformats.org/drawingml/2006/main">
              <a:ext uri="{FF2B5EF4-FFF2-40B4-BE49-F238E27FC236}">
                <a16:creationId xmlns:a16="http://schemas.microsoft.com/office/drawing/2014/main" id="{B36B951A-28E4-4038-BB91-E8FDD30205A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12回　3">
            <a:extLst xmlns:a="http://schemas.openxmlformats.org/drawingml/2006/main">
              <a:ext uri="{FF2B5EF4-FFF2-40B4-BE49-F238E27FC236}">
                <a16:creationId xmlns:a16="http://schemas.microsoft.com/office/drawing/2014/main" id="{1D9AF68C-992A-4D53-816E-FDF29F84B1E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3</a:t>
            </a:r>
          </a:p>
        </p:txBody>
      </p:sp>
    </p:spTree>
    <p:extLst>
      <p:ext uri="{BB962C8B-B14F-4D97-AF65-F5344CB8AC3E}">
        <p14:creationId xmlns:p14="http://schemas.microsoft.com/office/powerpoint/2010/main" val="15706125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配布ノートブックを開く">
            <a:extLst xmlns:a="http://schemas.openxmlformats.org/drawingml/2006/main">
              <a:ext uri="{FF2B5EF4-FFF2-40B4-BE49-F238E27FC236}">
                <a16:creationId xmlns:a16="http://schemas.microsoft.com/office/drawing/2014/main" id="{EA29673F-E601-4B26-AE9E-03D9BAB42CC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配布ノートブックを開く</a:t>
            </a:r>
          </a:p>
        </p:txBody>
      </p:sp>
      <p:sp>
        <p:nvSpPr>
          <p:cNvPr id="2" name="">
            <a:extLst xmlns:a="http://schemas.openxmlformats.org/drawingml/2006/main">
              <a:ext uri="{FF2B5EF4-FFF2-40B4-BE49-F238E27FC236}">
                <a16:creationId xmlns:a16="http://schemas.microsoft.com/office/drawing/2014/main" id="{61BA2CEC-17A9-4250-85F4-FF0BA5103DCC}"/>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第12回のpractice.ipynbを開く．</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最初のセルから，セルごとに実行する．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初回は設定を変えず，動作と表示を確認する．</a:t>
            </a:r>
          </a:p>
        </p:txBody>
      </p:sp>
      <p:sp>
        <p:nvSpPr>
          <p:cNvPr id="3" name="画像データは，ライブラリに含まれる．">
            <a:extLst xmlns:a="http://schemas.openxmlformats.org/drawingml/2006/main">
              <a:ext uri="{FF2B5EF4-FFF2-40B4-BE49-F238E27FC236}">
                <a16:creationId xmlns:a16="http://schemas.microsoft.com/office/drawing/2014/main" id="{792C67C4-96B6-41B1-A200-3ABBD08D7BA9}"/>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画像データは，ライブラリに含まれる．</a:t>
            </a:r>
          </a:p>
        </p:txBody>
      </p:sp>
      <p:sp>
        <p:nvSpPr>
          <p:cNvPr id="4" name="図・設問：本教材の作例">
            <a:extLst xmlns:a="http://schemas.openxmlformats.org/drawingml/2006/main">
              <a:ext uri="{FF2B5EF4-FFF2-40B4-BE49-F238E27FC236}">
                <a16:creationId xmlns:a16="http://schemas.microsoft.com/office/drawing/2014/main" id="{4D0987EB-7538-47DD-B124-E48B19F04A0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2回　4">
            <a:extLst xmlns:a="http://schemas.openxmlformats.org/drawingml/2006/main">
              <a:ext uri="{FF2B5EF4-FFF2-40B4-BE49-F238E27FC236}">
                <a16:creationId xmlns:a16="http://schemas.microsoft.com/office/drawing/2014/main" id="{DB3ED58B-702B-4348-A3C6-52043149268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4</a:t>
            </a:r>
          </a:p>
        </p:txBody>
      </p:sp>
    </p:spTree>
    <p:extLst>
      <p:ext uri="{BB962C8B-B14F-4D97-AF65-F5344CB8AC3E}">
        <p14:creationId xmlns:p14="http://schemas.microsoft.com/office/powerpoint/2010/main" val="12043223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使うデータ：手書き数字">
            <a:extLst xmlns:a="http://schemas.openxmlformats.org/drawingml/2006/main">
              <a:ext uri="{FF2B5EF4-FFF2-40B4-BE49-F238E27FC236}">
                <a16:creationId xmlns:a16="http://schemas.microsoft.com/office/drawing/2014/main" id="{00AE7E7F-ACF9-49D0-A744-FAD4DC40D94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使うデータ：手書き数字</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項目</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内容</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データ数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1,797枚，数字0〜9の10クラス</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画像の形</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8×8画素，グレースケール</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画素の範囲</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0〜16</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正解</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各画像に対応する数字</a:t>
                      </a:r>
                    </a:p>
                  </a:txBody>
                  <a:tcPr marL="76200" marR="76200" marT="47625" marB="47625" anchor="ctr">
                    <a:solidFill>
                      <a:srgbClr val="FFFFFF"/>
                    </a:solidFill>
                  </a:tcPr>
                </a:tc>
              </a:tr>
            </a:tbl>
          </a:graphicData>
        </a:graphic>
      </p:graphicFrame>
      <p:sp>
        <p:nvSpPr>
          <p:cNvPr id="3" name="参照：scikit-learn">
            <a:extLst xmlns:a="http://schemas.openxmlformats.org/drawingml/2006/main">
              <a:ext uri="{FF2B5EF4-FFF2-40B4-BE49-F238E27FC236}">
                <a16:creationId xmlns:a16="http://schemas.microsoft.com/office/drawing/2014/main" id="{D759E5CB-EA4F-4602-9DBC-C4173A2BE6F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2回　5">
            <a:extLst xmlns:a="http://schemas.openxmlformats.org/drawingml/2006/main">
              <a:ext uri="{FF2B5EF4-FFF2-40B4-BE49-F238E27FC236}">
                <a16:creationId xmlns:a16="http://schemas.microsoft.com/office/drawing/2014/main" id="{9EDE7F61-F673-4BDF-9678-2E31A862F03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5</a:t>
            </a:r>
          </a:p>
        </p:txBody>
      </p:sp>
    </p:spTree>
    <p:extLst>
      <p:ext uri="{BB962C8B-B14F-4D97-AF65-F5344CB8AC3E}">
        <p14:creationId xmlns:p14="http://schemas.microsoft.com/office/powerpoint/2010/main" val="838802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画像を入力の数値へ変換する">
            <a:extLst xmlns:a="http://schemas.openxmlformats.org/drawingml/2006/main">
              <a:ext uri="{FF2B5EF4-FFF2-40B4-BE49-F238E27FC236}">
                <a16:creationId xmlns:a16="http://schemas.microsoft.com/office/drawing/2014/main" id="{3346BCBF-ADA3-4B40-9E92-2658E8FDC01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画像を入力の数値へ変換する</a:t>
            </a:r>
          </a:p>
        </p:txBody>
      </p:sp>
      <p:sp>
        <p:nvSpPr>
          <p:cNvPr id="2" name="8×8の画像">
            <a:extLst xmlns:a="http://schemas.openxmlformats.org/drawingml/2006/main">
              <a:ext uri="{FF2B5EF4-FFF2-40B4-BE49-F238E27FC236}">
                <a16:creationId xmlns:a16="http://schemas.microsoft.com/office/drawing/2014/main" id="{9BD1C233-8C31-4FFE-9B96-BFF777F9CC72}"/>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8×8の画像</a:t>
            </a:r>
          </a:p>
        </p:txBody>
      </p:sp>
      <p:sp>
        <p:nvSpPr>
          <p:cNvPr id="3" name="64個の数値へ&#10;並べ直す">
            <a:extLst xmlns:a="http://schemas.openxmlformats.org/drawingml/2006/main">
              <a:ext uri="{FF2B5EF4-FFF2-40B4-BE49-F238E27FC236}">
                <a16:creationId xmlns:a16="http://schemas.microsoft.com/office/drawing/2014/main" id="{ACB4B210-A07A-4ACF-A666-B0F91E7A2853}"/>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64個の数値へ</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並べ直す</a:t>
            </a:r>
          </a:p>
        </p:txBody>
      </p:sp>
      <p:sp>
        <p:nvSpPr>
          <p:cNvPr id="4" name="16で割り&#10;0〜1へ変換">
            <a:extLst xmlns:a="http://schemas.openxmlformats.org/drawingml/2006/main">
              <a:ext uri="{FF2B5EF4-FFF2-40B4-BE49-F238E27FC236}">
                <a16:creationId xmlns:a16="http://schemas.microsoft.com/office/drawing/2014/main" id="{9E64011F-BEC5-4B7E-8DAA-B580D7156789}"/>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16で割り</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0〜1へ変換</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scikit-learn">
            <a:extLst xmlns:a="http://schemas.openxmlformats.org/drawingml/2006/main">
              <a:ext uri="{FF2B5EF4-FFF2-40B4-BE49-F238E27FC236}">
                <a16:creationId xmlns:a16="http://schemas.microsoft.com/office/drawing/2014/main" id="{A65AC560-251A-4BE5-842A-1F6B3DDE082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8" name="第12回　6">
            <a:extLst xmlns:a="http://schemas.openxmlformats.org/drawingml/2006/main">
              <a:ext uri="{FF2B5EF4-FFF2-40B4-BE49-F238E27FC236}">
                <a16:creationId xmlns:a16="http://schemas.microsoft.com/office/drawing/2014/main" id="{84008E71-52E0-41DE-A101-EC4CB584359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6</a:t>
            </a:r>
          </a:p>
        </p:txBody>
      </p:sp>
    </p:spTree>
    <p:extLst>
      <p:ext uri="{BB962C8B-B14F-4D97-AF65-F5344CB8AC3E}">
        <p14:creationId xmlns:p14="http://schemas.microsoft.com/office/powerpoint/2010/main" val="11496550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データを分ける">
            <a:extLst xmlns:a="http://schemas.openxmlformats.org/drawingml/2006/main">
              <a:ext uri="{FF2B5EF4-FFF2-40B4-BE49-F238E27FC236}">
                <a16:creationId xmlns:a16="http://schemas.microsoft.com/office/drawing/2014/main" id="{D952378E-992D-4090-AC6A-E3B8AC62605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データを分ける</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分割</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件数</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役割</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訓練</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1,077</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重みとバイアスを学ぶ</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検証</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360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エポックや条件を選ぶ</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テスト</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360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最後の評価を行う</a:t>
                      </a:r>
                    </a:p>
                  </a:txBody>
                  <a:tcPr marL="76200" marR="76200" marT="47625" marB="47625" anchor="ctr">
                    <a:solidFill>
                      <a:srgbClr val="FFFFFF"/>
                    </a:solidFill>
                  </a:tcPr>
                </a:tc>
              </a:tr>
            </a:tbl>
          </a:graphicData>
        </a:graphic>
      </p:graphicFrame>
      <p:sp>
        <p:nvSpPr>
          <p:cNvPr id="3" name="参照：scikit-learn">
            <a:extLst xmlns:a="http://schemas.openxmlformats.org/drawingml/2006/main">
              <a:ext uri="{FF2B5EF4-FFF2-40B4-BE49-F238E27FC236}">
                <a16:creationId xmlns:a16="http://schemas.microsoft.com/office/drawing/2014/main" id="{D9D105E7-9C76-4294-92B0-32F77DED2D1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2回　7">
            <a:extLst xmlns:a="http://schemas.openxmlformats.org/drawingml/2006/main">
              <a:ext uri="{FF2B5EF4-FFF2-40B4-BE49-F238E27FC236}">
                <a16:creationId xmlns:a16="http://schemas.microsoft.com/office/drawing/2014/main" id="{04D055A2-7DE9-4F62-BC41-7334A3953D3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7</a:t>
            </a:r>
          </a:p>
        </p:txBody>
      </p:sp>
    </p:spTree>
    <p:extLst>
      <p:ext uri="{BB962C8B-B14F-4D97-AF65-F5344CB8AC3E}">
        <p14:creationId xmlns:p14="http://schemas.microsoft.com/office/powerpoint/2010/main" val="13287782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今回の全結合ネットワーク">
            <a:extLst xmlns:a="http://schemas.openxmlformats.org/drawingml/2006/main">
              <a:ext uri="{FF2B5EF4-FFF2-40B4-BE49-F238E27FC236}">
                <a16:creationId xmlns:a16="http://schemas.microsoft.com/office/drawing/2014/main" id="{15EBB1E2-6015-48C9-89A1-B4317E4B1B2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今回の全結合ネットワーク</a:t>
            </a:r>
          </a:p>
        </p:txBody>
      </p:sp>
      <p:sp>
        <p:nvSpPr>
          <p:cNvPr id="2" name="入力64">
            <a:extLst xmlns:a="http://schemas.openxmlformats.org/drawingml/2006/main">
              <a:ext uri="{FF2B5EF4-FFF2-40B4-BE49-F238E27FC236}">
                <a16:creationId xmlns:a16="http://schemas.microsoft.com/office/drawing/2014/main" id="{CD75DA08-E3FA-4AA9-B2B0-7EA90B3C075A}"/>
              </a:ext>
            </a:extLst>
          </p:cNvPr>
          <p:cNvSpPr>
            <a:spLocks xmlns:a="http://schemas.openxmlformats.org/drawingml/2006/main" noGrp="1"/>
          </p:cNvSpPr>
          <p:nvPr/>
        </p:nvSpPr>
        <p:spPr>
          <a:xfrm xmlns:a="http://schemas.openxmlformats.org/drawingml/2006/main">
            <a:off x="594360" y="1828800"/>
            <a:ext cx="164134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入力64</a:t>
            </a:r>
          </a:p>
        </p:txBody>
      </p:sp>
      <p:sp>
        <p:nvSpPr>
          <p:cNvPr id="3" name="隠れ32">
            <a:extLst xmlns:a="http://schemas.openxmlformats.org/drawingml/2006/main">
              <a:ext uri="{FF2B5EF4-FFF2-40B4-BE49-F238E27FC236}">
                <a16:creationId xmlns:a16="http://schemas.microsoft.com/office/drawing/2014/main" id="{04B8D927-15F7-4FD6-BFBA-AA7549246920}"/>
              </a:ext>
            </a:extLst>
          </p:cNvPr>
          <p:cNvSpPr>
            <a:spLocks xmlns:a="http://schemas.openxmlformats.org/drawingml/2006/main" noGrp="1"/>
          </p:cNvSpPr>
          <p:nvPr/>
        </p:nvSpPr>
        <p:spPr>
          <a:xfrm xmlns:a="http://schemas.openxmlformats.org/drawingml/2006/main">
            <a:off x="2583180" y="1828800"/>
            <a:ext cx="164134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隠れ32</a:t>
            </a:r>
          </a:p>
        </p:txBody>
      </p:sp>
      <p:sp>
        <p:nvSpPr>
          <p:cNvPr id="4" name="隠れ16">
            <a:extLst xmlns:a="http://schemas.openxmlformats.org/drawingml/2006/main">
              <a:ext uri="{FF2B5EF4-FFF2-40B4-BE49-F238E27FC236}">
                <a16:creationId xmlns:a16="http://schemas.microsoft.com/office/drawing/2014/main" id="{CC58DF02-59BC-413E-BD30-95FA1FD691B1}"/>
              </a:ext>
            </a:extLst>
          </p:cNvPr>
          <p:cNvSpPr>
            <a:spLocks xmlns:a="http://schemas.openxmlformats.org/drawingml/2006/main" noGrp="1"/>
          </p:cNvSpPr>
          <p:nvPr/>
        </p:nvSpPr>
        <p:spPr>
          <a:xfrm xmlns:a="http://schemas.openxmlformats.org/drawingml/2006/main">
            <a:off x="4572000" y="1828800"/>
            <a:ext cx="164134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隠れ16</a:t>
            </a:r>
          </a:p>
        </p:txBody>
      </p:sp>
      <p:sp>
        <p:nvSpPr>
          <p:cNvPr id="5" name="出力10">
            <a:extLst xmlns:a="http://schemas.openxmlformats.org/drawingml/2006/main">
              <a:ext uri="{FF2B5EF4-FFF2-40B4-BE49-F238E27FC236}">
                <a16:creationId xmlns:a16="http://schemas.microsoft.com/office/drawing/2014/main" id="{B3ADFF52-E9CA-4A67-9DEC-E2FF40920683}"/>
              </a:ext>
            </a:extLst>
          </p:cNvPr>
          <p:cNvSpPr>
            <a:spLocks xmlns:a="http://schemas.openxmlformats.org/drawingml/2006/main" noGrp="1"/>
          </p:cNvSpPr>
          <p:nvPr/>
        </p:nvSpPr>
        <p:spPr>
          <a:xfrm xmlns:a="http://schemas.openxmlformats.org/drawingml/2006/main">
            <a:off x="6560820" y="1828800"/>
            <a:ext cx="164134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出力10</a:t>
            </a:r>
          </a:p>
        </p:txBody>
      </p:sp>
      <p:cxnSp>
        <p:nvCxnSpPr>
          <p:cNvPr id="17" name=""/>
          <p:cNvCxnSpPr>
            <a:stCxn xmlns:a="http://schemas.openxmlformats.org/drawingml/2006/main" id="2" idx="3"/>
            <a:endCxn xmlns:a="http://schemas.openxmlformats.org/drawingml/2006/main" id="3" idx="1"/>
          </p:cNvCxnSpPr>
          <p:nvPr/>
        </p:nvCxnSpPr>
        <p:spPr>
          <a:xfrm xmlns:a="http://schemas.openxmlformats.org/drawingml/2006/main">
            <a:off x="22357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422452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9" name=""/>
          <p:cNvCxnSpPr>
            <a:stCxn xmlns:a="http://schemas.openxmlformats.org/drawingml/2006/main" id="4" idx="3"/>
            <a:endCxn xmlns:a="http://schemas.openxmlformats.org/drawingml/2006/main" id="5" idx="1"/>
          </p:cNvCxnSpPr>
          <p:nvPr/>
        </p:nvCxnSpPr>
        <p:spPr>
          <a:xfrm xmlns:a="http://schemas.openxmlformats.org/drawingml/2006/main">
            <a:off x="62133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9" name="隠れ層を二つ持つ，小さなモデルを学習する．">
            <a:extLst xmlns:a="http://schemas.openxmlformats.org/drawingml/2006/main">
              <a:ext uri="{FF2B5EF4-FFF2-40B4-BE49-F238E27FC236}">
                <a16:creationId xmlns:a16="http://schemas.microsoft.com/office/drawing/2014/main" id="{CD89655D-284B-41F9-AA4D-DEC7C11E3AE3}"/>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隠れ層を二つ持つ，小さなモデルを学習する．</a:t>
            </a:r>
          </a:p>
        </p:txBody>
      </p:sp>
      <p:sp>
        <p:nvSpPr>
          <p:cNvPr id="10" name="参照：scikit-learn／Google">
            <a:extLst xmlns:a="http://schemas.openxmlformats.org/drawingml/2006/main">
              <a:ext uri="{FF2B5EF4-FFF2-40B4-BE49-F238E27FC236}">
                <a16:creationId xmlns:a16="http://schemas.microsoft.com/office/drawing/2014/main" id="{4602839D-6EC0-4B46-AACA-2C2D284F2C9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参照：scikit-learn／Google</a:t>
            </a:r>
          </a:p>
        </p:txBody>
      </p:sp>
      <p:sp>
        <p:nvSpPr>
          <p:cNvPr id="11" name="第12回　8">
            <a:extLst xmlns:a="http://schemas.openxmlformats.org/drawingml/2006/main">
              <a:ext uri="{FF2B5EF4-FFF2-40B4-BE49-F238E27FC236}">
                <a16:creationId xmlns:a16="http://schemas.microsoft.com/office/drawing/2014/main" id="{BE1D7A7D-E876-488F-8BC8-0BBD5387C17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8</a:t>
            </a:r>
          </a:p>
        </p:txBody>
      </p:sp>
    </p:spTree>
    <p:extLst>
      <p:ext uri="{BB962C8B-B14F-4D97-AF65-F5344CB8AC3E}">
        <p14:creationId xmlns:p14="http://schemas.microsoft.com/office/powerpoint/2010/main" val="20585993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学ぶ値の数を確かめる">
            <a:extLst xmlns:a="http://schemas.openxmlformats.org/drawingml/2006/main">
              <a:ext uri="{FF2B5EF4-FFF2-40B4-BE49-F238E27FC236}">
                <a16:creationId xmlns:a16="http://schemas.microsoft.com/office/drawing/2014/main" id="{04A995D7-5FC4-4E83-88CB-9133360A39B9}"/>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学ぶ値の数を確かめる</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接続</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重み＋バイアス</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入力64 → 隠れ32</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64×32＋32＝2,080</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隠れ32 → 隠れ16</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32×16＋16＝528</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隠れ16 → 出力10</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16×10＋10＝170</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合計</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2,778</a:t>
                      </a:r>
                    </a:p>
                  </a:txBody>
                  <a:tcPr marL="76200" marR="76200" marT="47625" marB="47625" anchor="ctr">
                    <a:solidFill>
                      <a:srgbClr val="FFFFFF"/>
                    </a:solidFill>
                  </a:tcPr>
                </a:tc>
              </a:tr>
            </a:tbl>
          </a:graphicData>
        </a:graphic>
      </p:graphicFrame>
      <p:sp>
        <p:nvSpPr>
          <p:cNvPr id="3" name="参照：Google／scikit-learn">
            <a:extLst xmlns:a="http://schemas.openxmlformats.org/drawingml/2006/main">
              <a:ext uri="{FF2B5EF4-FFF2-40B4-BE49-F238E27FC236}">
                <a16:creationId xmlns:a16="http://schemas.microsoft.com/office/drawing/2014/main" id="{9F7459D7-0E5A-4512-A53A-EA77B711BD6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参照：Google／scikit-learn</a:t>
            </a:r>
          </a:p>
        </p:txBody>
      </p:sp>
      <p:sp>
        <p:nvSpPr>
          <p:cNvPr id="4" name="第12回　9">
            <a:extLst xmlns:a="http://schemas.openxmlformats.org/drawingml/2006/main">
              <a:ext uri="{FF2B5EF4-FFF2-40B4-BE49-F238E27FC236}">
                <a16:creationId xmlns:a16="http://schemas.microsoft.com/office/drawing/2014/main" id="{A1EC801C-B10C-4201-84E8-1BEAC354094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9</a:t>
            </a:r>
          </a:p>
        </p:txBody>
      </p:sp>
    </p:spTree>
    <p:extLst>
      <p:ext uri="{BB962C8B-B14F-4D97-AF65-F5344CB8AC3E}">
        <p14:creationId xmlns:p14="http://schemas.microsoft.com/office/powerpoint/2010/main" val="11268029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初期設定を読む">
            <a:extLst xmlns:a="http://schemas.openxmlformats.org/drawingml/2006/main">
              <a:ext uri="{FF2B5EF4-FFF2-40B4-BE49-F238E27FC236}">
                <a16:creationId xmlns:a16="http://schemas.microsoft.com/office/drawing/2014/main" id="{DB7A9B0A-654B-4737-8954-F1832892B48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初期設定を読む</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条件</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今回の設定</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隠れ層</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32個・16個，ReLU</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最適化</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Adam，学習率0.001</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バッチサイズ</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64</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学習回数・L2の係数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30エポック・alpha＝0.0001</a:t>
                      </a:r>
                    </a:p>
                  </a:txBody>
                  <a:tcPr marL="76200" marR="76200" marT="47625" marB="47625" anchor="ctr">
                    <a:solidFill>
                      <a:srgbClr val="FFFFFF"/>
                    </a:solidFill>
                  </a:tcPr>
                </a:tc>
              </a:tr>
            </a:tbl>
          </a:graphicData>
        </a:graphic>
      </p:graphicFrame>
      <p:sp>
        <p:nvSpPr>
          <p:cNvPr id="3" name="参照：scikit-learn">
            <a:extLst xmlns:a="http://schemas.openxmlformats.org/drawingml/2006/main">
              <a:ext uri="{FF2B5EF4-FFF2-40B4-BE49-F238E27FC236}">
                <a16:creationId xmlns:a16="http://schemas.microsoft.com/office/drawing/2014/main" id="{F22D6B8F-38C8-4B90-902A-E325D65454A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2回　10">
            <a:extLst xmlns:a="http://schemas.openxmlformats.org/drawingml/2006/main">
              <a:ext uri="{FF2B5EF4-FFF2-40B4-BE49-F238E27FC236}">
                <a16:creationId xmlns:a16="http://schemas.microsoft.com/office/drawing/2014/main" id="{2E520ED0-5825-4829-87A8-008C1D88234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10</a:t>
            </a:r>
          </a:p>
        </p:txBody>
      </p:sp>
    </p:spTree>
    <p:extLst>
      <p:ext uri="{BB962C8B-B14F-4D97-AF65-F5344CB8AC3E}">
        <p14:creationId xmlns:p14="http://schemas.microsoft.com/office/powerpoint/2010/main" val="6424003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確認：バッチとエポック">
            <a:extLst xmlns:a="http://schemas.openxmlformats.org/drawingml/2006/main">
              <a:ext uri="{FF2B5EF4-FFF2-40B4-BE49-F238E27FC236}">
                <a16:creationId xmlns:a16="http://schemas.microsoft.com/office/drawing/2014/main" id="{64380356-7A00-4F16-8861-EC64DB05316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確認：バッチとエポック</a:t>
            </a:r>
          </a:p>
        </p:txBody>
      </p:sp>
      <p:sp>
        <p:nvSpPr>
          <p:cNvPr id="2" name="">
            <a:extLst xmlns:a="http://schemas.openxmlformats.org/drawingml/2006/main">
              <a:ext uri="{FF2B5EF4-FFF2-40B4-BE49-F238E27FC236}">
                <a16:creationId xmlns:a16="http://schemas.microsoft.com/office/drawing/2014/main" id="{58E489DE-581C-4066-9738-4037DB16016A}"/>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訓練は1,077件，バッチサイズは64．</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最後の小さなバッチも使うと，1エポックは17バッチ．</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30エポックでは，合計510回の更新になる．</a:t>
            </a:r>
          </a:p>
        </p:txBody>
      </p:sp>
      <p:sp>
        <p:nvSpPr>
          <p:cNvPr id="3" name="参照：scikit-learn／PyTorch">
            <a:extLst xmlns:a="http://schemas.openxmlformats.org/drawingml/2006/main">
              <a:ext uri="{FF2B5EF4-FFF2-40B4-BE49-F238E27FC236}">
                <a16:creationId xmlns:a16="http://schemas.microsoft.com/office/drawing/2014/main" id="{336E57F0-5359-4354-B507-18B2422205A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参照：scikit-learn／PyTorch</a:t>
            </a:r>
          </a:p>
        </p:txBody>
      </p:sp>
      <p:sp>
        <p:nvSpPr>
          <p:cNvPr id="4" name="第12回　11">
            <a:extLst xmlns:a="http://schemas.openxmlformats.org/drawingml/2006/main">
              <a:ext uri="{FF2B5EF4-FFF2-40B4-BE49-F238E27FC236}">
                <a16:creationId xmlns:a16="http://schemas.microsoft.com/office/drawing/2014/main" id="{6818E609-5950-4A63-A421-04D758D3434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11</a:t>
            </a:r>
          </a:p>
        </p:txBody>
      </p:sp>
    </p:spTree>
    <p:extLst>
      <p:ext uri="{BB962C8B-B14F-4D97-AF65-F5344CB8AC3E}">
        <p14:creationId xmlns:p14="http://schemas.microsoft.com/office/powerpoint/2010/main" val="3297976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習1：学習を実行する">
            <a:extLst xmlns:a="http://schemas.openxmlformats.org/drawingml/2006/main">
              <a:ext uri="{FF2B5EF4-FFF2-40B4-BE49-F238E27FC236}">
                <a16:creationId xmlns:a16="http://schemas.microsoft.com/office/drawing/2014/main" id="{9E0421C2-0817-41FB-B1E5-F82C0279097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実習1：学習を実行する</a:t>
            </a:r>
          </a:p>
        </p:txBody>
      </p:sp>
      <p:sp>
        <p:nvSpPr>
          <p:cNvPr id="2" name="">
            <a:extLst xmlns:a="http://schemas.openxmlformats.org/drawingml/2006/main">
              <a:ext uri="{FF2B5EF4-FFF2-40B4-BE49-F238E27FC236}">
                <a16:creationId xmlns:a16="http://schemas.microsoft.com/office/drawing/2014/main" id="{3927E1D5-F777-4E22-8840-A1A6591E537A}"/>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partial_fitで，訓練データを1回学習する．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検証データを予測し，損失と正解率を記録する．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検証損失が最も小さいモデルのコピーを残す．</a:t>
            </a:r>
          </a:p>
        </p:txBody>
      </p:sp>
      <p:sp>
        <p:nvSpPr>
          <p:cNvPr id="3" name="学習に使うデータと，選ぶためのデータを分ける．">
            <a:extLst xmlns:a="http://schemas.openxmlformats.org/drawingml/2006/main">
              <a:ext uri="{FF2B5EF4-FFF2-40B4-BE49-F238E27FC236}">
                <a16:creationId xmlns:a16="http://schemas.microsoft.com/office/drawing/2014/main" id="{6C80E6AB-B9FB-4C41-9C97-F67795CD3E86}"/>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学習に使うデータと，選ぶためのデータを分ける．</a:t>
            </a:r>
          </a:p>
        </p:txBody>
      </p:sp>
      <p:sp>
        <p:nvSpPr>
          <p:cNvPr id="4" name="参照：scikit-learn">
            <a:extLst xmlns:a="http://schemas.openxmlformats.org/drawingml/2006/main">
              <a:ext uri="{FF2B5EF4-FFF2-40B4-BE49-F238E27FC236}">
                <a16:creationId xmlns:a16="http://schemas.microsoft.com/office/drawing/2014/main" id="{49640B41-E29C-4D25-80FB-8B17D2B134A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5" name="第12回　12">
            <a:extLst xmlns:a="http://schemas.openxmlformats.org/drawingml/2006/main">
              <a:ext uri="{FF2B5EF4-FFF2-40B4-BE49-F238E27FC236}">
                <a16:creationId xmlns:a16="http://schemas.microsoft.com/office/drawing/2014/main" id="{E66C5B70-8951-402A-BC5D-E5446DD9D86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12</a:t>
            </a:r>
          </a:p>
        </p:txBody>
      </p:sp>
    </p:spTree>
    <p:extLst>
      <p:ext uri="{BB962C8B-B14F-4D97-AF65-F5344CB8AC3E}">
        <p14:creationId xmlns:p14="http://schemas.microsoft.com/office/powerpoint/2010/main" val="3881408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行例：学習曲線">
            <a:extLst xmlns:a="http://schemas.openxmlformats.org/drawingml/2006/main">
              <a:ext uri="{FF2B5EF4-FFF2-40B4-BE49-F238E27FC236}">
                <a16:creationId xmlns:a16="http://schemas.microsoft.com/office/drawing/2014/main" id="{634E13D5-F1DF-4675-BE8C-5604902A51C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実行例：学習曲線</a:t>
            </a:r>
          </a:p>
        </p:txBody>
      </p:sp>
      <p:graphicFrame>
        <p:nvGraphicFramePr>
          <p:cNvPr id="7" name="Chart"/>
          <p:cNvGraphicFramePr/>
          <p:nvPr/>
        </p:nvGraphicFramePr>
        <p:xfrm>
          <a:off xmlns:a="http://schemas.openxmlformats.org/drawingml/2006/main" x="530352" y="1261872"/>
          <a:ext xmlns:a="http://schemas.openxmlformats.org/drawingml/2006/main" cx="4800600" cy="2834640"/>
        </p:xfrm>
        <a:graphic xmlns:a="http://schemas.openxmlformats.org/drawingml/2006/main">
          <a:graphicData uri="http://schemas.openxmlformats.org/drawingml/2006/chart">
            <c:chart xmlns:r="http://schemas.openxmlformats.org/officeDocument/2006/relationships" xmlns:c="http://schemas.openxmlformats.org/drawingml/2006/chart" r:id="R2980c2f700d140d0"/>
          </a:graphicData>
        </a:graphic>
      </p:graphicFrame>
      <p:sp>
        <p:nvSpPr>
          <p:cNvPr id="3" name="この初期設定では，&#10;両方の損失が&#10;小さくなった．&#10;&#10;毎回同じ変化を&#10;保証するもの">
            <a:extLst xmlns:a="http://schemas.openxmlformats.org/drawingml/2006/main">
              <a:ext uri="{FF2B5EF4-FFF2-40B4-BE49-F238E27FC236}">
                <a16:creationId xmlns:a16="http://schemas.microsoft.com/office/drawing/2014/main" id="{48E8F469-1F4F-42FB-AF24-391710551AED}"/>
              </a:ext>
            </a:extLst>
          </p:cNvPr>
          <p:cNvSpPr>
            <a:spLocks xmlns:a="http://schemas.openxmlformats.org/drawingml/2006/main" noGrp="1"/>
          </p:cNvSpPr>
          <p:nvPr/>
        </p:nvSpPr>
        <p:spPr>
          <a:xfrm xmlns:a="http://schemas.openxmlformats.org/drawingml/2006/main">
            <a:off x="5577840" y="1463040"/>
            <a:ext cx="2999232" cy="276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この初期設定では，</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両方の損失が</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小さくなった．</a:t>
            </a:r>
          </a:p>
          <a:p xmlns:a="http://schemas.openxmlformats.org/drawingml/2006/main">
            <a:r>
              <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毎回同じ変化を</a:t>
            </a:r>
          </a:p>
          <a:p xmlns:a="http://schemas.openxmlformats.org/drawingml/2006/main">
            <a:pPr algn="l">
              <a:defRPr sz="2000" b="0" lang="ja-JP">
                <a:solidFill>
                  <a:srgbClr val="404040"/>
                </a:solidFill>
                <a:latin typeface="Arial"/>
                <a:ea typeface="ＭＳ Ｐゴシック"/>
                <a:cs typeface="ＭＳ Ｐゴシック"/>
              </a:defRPr>
            </a:pPr>
            <a:r>
              <a:rPr sz="2000" b="0" lang="ja-JP">
                <a:solidFill>
                  <a:srgbClr val="404040"/>
                </a:solidFill>
                <a:latin typeface="Arial"/>
                <a:ea typeface="ＭＳ Ｐゴシック"/>
                <a:cs typeface="ＭＳ Ｐゴシック"/>
              </a:rPr>
              <a:t>保証するものではない．</a:t>
            </a:r>
          </a:p>
        </p:txBody>
      </p:sp>
      <p:sp>
        <p:nvSpPr>
          <p:cNvPr id="4" name="図・設問：本教材の作例">
            <a:extLst xmlns:a="http://schemas.openxmlformats.org/drawingml/2006/main">
              <a:ext uri="{FF2B5EF4-FFF2-40B4-BE49-F238E27FC236}">
                <a16:creationId xmlns:a16="http://schemas.microsoft.com/office/drawing/2014/main" id="{8CFB9FE9-CA37-4380-8CDE-78BF3D61414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2回　13">
            <a:extLst xmlns:a="http://schemas.openxmlformats.org/drawingml/2006/main">
              <a:ext uri="{FF2B5EF4-FFF2-40B4-BE49-F238E27FC236}">
                <a16:creationId xmlns:a16="http://schemas.microsoft.com/office/drawing/2014/main" id="{38803065-BFB5-448C-BFED-4C55A73F079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13</a:t>
            </a:r>
          </a:p>
        </p:txBody>
      </p:sp>
    </p:spTree>
    <p:extLst>
      <p:ext uri="{BB962C8B-B14F-4D97-AF65-F5344CB8AC3E}">
        <p14:creationId xmlns:p14="http://schemas.microsoft.com/office/powerpoint/2010/main" val="16411964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習2：曲線から何が分かるか">
            <a:extLst xmlns:a="http://schemas.openxmlformats.org/drawingml/2006/main">
              <a:ext uri="{FF2B5EF4-FFF2-40B4-BE49-F238E27FC236}">
                <a16:creationId xmlns:a16="http://schemas.microsoft.com/office/drawing/2014/main" id="{00DFF0A3-71EC-484C-9681-5F0C5F1F2A2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実習2：曲線から何が分かるか</a:t>
            </a:r>
          </a:p>
        </p:txBody>
      </p:sp>
      <p:sp>
        <p:nvSpPr>
          <p:cNvPr id="2" name="">
            <a:extLst xmlns:a="http://schemas.openxmlformats.org/drawingml/2006/main">
              <a:ext uri="{FF2B5EF4-FFF2-40B4-BE49-F238E27FC236}">
                <a16:creationId xmlns:a16="http://schemas.microsoft.com/office/drawing/2014/main" id="{10F42039-D5E4-4347-9FD3-EF288FFDB1BE}"/>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自分の実行結果の，損失と正解率を読む．</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訓練と検証の，変化の向きを比べる．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学習を続ける判断に，検証結果を使う．</a:t>
            </a:r>
          </a:p>
        </p:txBody>
      </p:sp>
      <p:sp>
        <p:nvSpPr>
          <p:cNvPr id="3" name="損失は小さい方，正解率は大きい方を目指す．">
            <a:extLst xmlns:a="http://schemas.openxmlformats.org/drawingml/2006/main">
              <a:ext uri="{FF2B5EF4-FFF2-40B4-BE49-F238E27FC236}">
                <a16:creationId xmlns:a16="http://schemas.microsoft.com/office/drawing/2014/main" id="{A1B00A96-E298-46F0-B178-BAA926A37AE3}"/>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損失は小さい方，正解率は大きい方を目指す．</a:t>
            </a:r>
          </a:p>
        </p:txBody>
      </p:sp>
      <p:sp>
        <p:nvSpPr>
          <p:cNvPr id="4" name="参照：scikit-learn">
            <a:extLst xmlns:a="http://schemas.openxmlformats.org/drawingml/2006/main">
              <a:ext uri="{FF2B5EF4-FFF2-40B4-BE49-F238E27FC236}">
                <a16:creationId xmlns:a16="http://schemas.microsoft.com/office/drawing/2014/main" id="{772BCD4D-3492-4F74-BE11-1414E7172E0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5" name="第12回　14">
            <a:extLst xmlns:a="http://schemas.openxmlformats.org/drawingml/2006/main">
              <a:ext uri="{FF2B5EF4-FFF2-40B4-BE49-F238E27FC236}">
                <a16:creationId xmlns:a16="http://schemas.microsoft.com/office/drawing/2014/main" id="{64A4F8E1-A84D-45AB-8793-DBF09DC9EE2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14</a:t>
            </a:r>
          </a:p>
        </p:txBody>
      </p:sp>
    </p:spTree>
    <p:extLst>
      <p:ext uri="{BB962C8B-B14F-4D97-AF65-F5344CB8AC3E}">
        <p14:creationId xmlns:p14="http://schemas.microsoft.com/office/powerpoint/2010/main" val="19549148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使うモデルを検証で選ぶ">
            <a:extLst xmlns:a="http://schemas.openxmlformats.org/drawingml/2006/main">
              <a:ext uri="{FF2B5EF4-FFF2-40B4-BE49-F238E27FC236}">
                <a16:creationId xmlns:a16="http://schemas.microsoft.com/office/drawing/2014/main" id="{69A76B71-F43D-4551-904B-189B2A10CC6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使うモデルを検証で選ぶ</a:t>
            </a:r>
          </a:p>
        </p:txBody>
      </p:sp>
      <p:sp>
        <p:nvSpPr>
          <p:cNvPr id="2" name="">
            <a:extLst xmlns:a="http://schemas.openxmlformats.org/drawingml/2006/main">
              <a:ext uri="{FF2B5EF4-FFF2-40B4-BE49-F238E27FC236}">
                <a16:creationId xmlns:a16="http://schemas.microsoft.com/office/drawing/2014/main" id="{2DBBFD42-8B69-458B-A2EA-D3A5718F44A9}"/>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最後のエポックのモデルを，無条件には選ばない．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検証損失が最も小さい時点のモデルを使う．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コピーを残すと，後の更新で値が変わらない．</a:t>
            </a:r>
          </a:p>
        </p:txBody>
      </p:sp>
      <p:sp>
        <p:nvSpPr>
          <p:cNvPr id="3" name="参照：scikit-learn">
            <a:extLst xmlns:a="http://schemas.openxmlformats.org/drawingml/2006/main">
              <a:ext uri="{FF2B5EF4-FFF2-40B4-BE49-F238E27FC236}">
                <a16:creationId xmlns:a16="http://schemas.microsoft.com/office/drawing/2014/main" id="{C05BDE3F-AB5F-4C5F-9C1C-65468EFB324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2回　15">
            <a:extLst xmlns:a="http://schemas.openxmlformats.org/drawingml/2006/main">
              <a:ext uri="{FF2B5EF4-FFF2-40B4-BE49-F238E27FC236}">
                <a16:creationId xmlns:a16="http://schemas.microsoft.com/office/drawing/2014/main" id="{755D4EC3-4C83-4D89-B8B5-3375EBA6FE0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15</a:t>
            </a:r>
          </a:p>
        </p:txBody>
      </p:sp>
    </p:spTree>
    <p:extLst>
      <p:ext uri="{BB962C8B-B14F-4D97-AF65-F5344CB8AC3E}">
        <p14:creationId xmlns:p14="http://schemas.microsoft.com/office/powerpoint/2010/main" val="19270773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学習済みモデルで推論する">
            <a:extLst xmlns:a="http://schemas.openxmlformats.org/drawingml/2006/main">
              <a:ext uri="{FF2B5EF4-FFF2-40B4-BE49-F238E27FC236}">
                <a16:creationId xmlns:a16="http://schemas.microsoft.com/office/drawing/2014/main" id="{C667AF08-E784-4D34-A86F-337A9643E5F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学習済みモデルで推論する</a:t>
            </a:r>
          </a:p>
        </p:txBody>
      </p:sp>
      <p:sp>
        <p:nvSpPr>
          <p:cNvPr id="2" name="">
            <a:extLst xmlns:a="http://schemas.openxmlformats.org/drawingml/2006/main">
              <a:ext uri="{FF2B5EF4-FFF2-40B4-BE49-F238E27FC236}">
                <a16:creationId xmlns:a16="http://schemas.microsoft.com/office/drawing/2014/main" id="{587BE14C-4C79-45E9-9AC9-6A16A9B39088}"/>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best_model.predictで，予測クラスを求める．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predict_probaで，クラスごとの出力を読む．</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推論だけでは，重みやバイアスを更新しない．</a:t>
            </a:r>
          </a:p>
        </p:txBody>
      </p:sp>
      <p:sp>
        <p:nvSpPr>
          <p:cNvPr id="3" name="参照：scikit-learn">
            <a:extLst xmlns:a="http://schemas.openxmlformats.org/drawingml/2006/main">
              <a:ext uri="{FF2B5EF4-FFF2-40B4-BE49-F238E27FC236}">
                <a16:creationId xmlns:a16="http://schemas.microsoft.com/office/drawing/2014/main" id="{78BACD23-965D-448C-ADE8-96AECAB3017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2回　16">
            <a:extLst xmlns:a="http://schemas.openxmlformats.org/drawingml/2006/main">
              <a:ext uri="{FF2B5EF4-FFF2-40B4-BE49-F238E27FC236}">
                <a16:creationId xmlns:a16="http://schemas.microsoft.com/office/drawing/2014/main" id="{CDD4324D-245C-41A8-A6D3-67227BCD62E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16</a:t>
            </a:r>
          </a:p>
        </p:txBody>
      </p:sp>
    </p:spTree>
    <p:extLst>
      <p:ext uri="{BB962C8B-B14F-4D97-AF65-F5344CB8AC3E}">
        <p14:creationId xmlns:p14="http://schemas.microsoft.com/office/powerpoint/2010/main" val="159618230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出力を見る：検証画像一枚の例">
            <a:extLst xmlns:a="http://schemas.openxmlformats.org/drawingml/2006/main">
              <a:ext uri="{FF2B5EF4-FFF2-40B4-BE49-F238E27FC236}">
                <a16:creationId xmlns:a16="http://schemas.microsoft.com/office/drawing/2014/main" id="{9D9EE393-10ED-4254-8F21-78392234CB1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出力を見る：検証画像一枚の例</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項目</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初期設定の実行例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正解</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9</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予測</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9</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最も大きい出力確率</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約0.974</a:t>
                      </a:r>
                    </a:p>
                  </a:txBody>
                  <a:tcPr marL="76200" marR="76200" marT="47625" marB="47625" anchor="ctr">
                    <a:solidFill>
                      <a:srgbClr val="FFFFFF"/>
                    </a:solidFill>
                  </a:tcPr>
                </a:tc>
              </a:tr>
            </a:tbl>
          </a:graphicData>
        </a:graphic>
      </p:graphicFrame>
      <p:sp>
        <p:nvSpPr>
          <p:cNvPr id="3" name="高い確率の出力でも，正解を保証しない．">
            <a:extLst xmlns:a="http://schemas.openxmlformats.org/drawingml/2006/main">
              <a:ext uri="{FF2B5EF4-FFF2-40B4-BE49-F238E27FC236}">
                <a16:creationId xmlns:a16="http://schemas.microsoft.com/office/drawing/2014/main" id="{6C4826AD-E192-4ABB-89AE-41BDA5F5E0D7}"/>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高い確率の出力でも，正解を保証しない．</a:t>
            </a:r>
          </a:p>
        </p:txBody>
      </p:sp>
      <p:sp>
        <p:nvSpPr>
          <p:cNvPr id="4" name="図・設問：本教材の作例">
            <a:extLst xmlns:a="http://schemas.openxmlformats.org/drawingml/2006/main">
              <a:ext uri="{FF2B5EF4-FFF2-40B4-BE49-F238E27FC236}">
                <a16:creationId xmlns:a16="http://schemas.microsoft.com/office/drawing/2014/main" id="{5A8D3D38-183B-402F-8858-F843A1B0157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2回　17">
            <a:extLst xmlns:a="http://schemas.openxmlformats.org/drawingml/2006/main">
              <a:ext uri="{FF2B5EF4-FFF2-40B4-BE49-F238E27FC236}">
                <a16:creationId xmlns:a16="http://schemas.microsoft.com/office/drawing/2014/main" id="{073CFB2F-ABE1-4D56-BA44-043A6D3AD0E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17</a:t>
            </a:r>
          </a:p>
        </p:txBody>
      </p:sp>
    </p:spTree>
    <p:extLst>
      <p:ext uri="{BB962C8B-B14F-4D97-AF65-F5344CB8AC3E}">
        <p14:creationId xmlns:p14="http://schemas.microsoft.com/office/powerpoint/2010/main" val="20926067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習3：誤分類の画像を観察する">
            <a:extLst xmlns:a="http://schemas.openxmlformats.org/drawingml/2006/main">
              <a:ext uri="{FF2B5EF4-FFF2-40B4-BE49-F238E27FC236}">
                <a16:creationId xmlns:a16="http://schemas.microsoft.com/office/drawing/2014/main" id="{1397794E-6CFA-48CD-95D7-AD55D5D45D5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実習3：誤分類の画像を観察する</a:t>
            </a:r>
          </a:p>
        </p:txBody>
      </p:sp>
      <p:sp>
        <p:nvSpPr>
          <p:cNvPr id="2" name="">
            <a:extLst xmlns:a="http://schemas.openxmlformats.org/drawingml/2006/main">
              <a:ext uri="{FF2B5EF4-FFF2-40B4-BE49-F238E27FC236}">
                <a16:creationId xmlns:a16="http://schemas.microsoft.com/office/drawing/2014/main" id="{94A0DF35-E5DC-40A2-AD35-4A802263422C}"/>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正解と予測が違う画像を，表示する．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どの数字を，何と間違えたか読む．</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筆跡や形から，難しさを考える．</a:t>
            </a:r>
          </a:p>
        </p:txBody>
      </p:sp>
      <p:sp>
        <p:nvSpPr>
          <p:cNvPr id="3" name="誤りを減らす案は，検証データで確かめる．">
            <a:extLst xmlns:a="http://schemas.openxmlformats.org/drawingml/2006/main">
              <a:ext uri="{FF2B5EF4-FFF2-40B4-BE49-F238E27FC236}">
                <a16:creationId xmlns:a16="http://schemas.microsoft.com/office/drawing/2014/main" id="{0BA5D755-747A-4E30-82D3-EDB303E23A16}"/>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誤りを減らす案は，検証データで確かめる．</a:t>
            </a:r>
          </a:p>
        </p:txBody>
      </p:sp>
      <p:sp>
        <p:nvSpPr>
          <p:cNvPr id="4" name="参照：scikit-learn">
            <a:extLst xmlns:a="http://schemas.openxmlformats.org/drawingml/2006/main">
              <a:ext uri="{FF2B5EF4-FFF2-40B4-BE49-F238E27FC236}">
                <a16:creationId xmlns:a16="http://schemas.microsoft.com/office/drawing/2014/main" id="{C4BE94E1-3A8E-4C33-886F-4D8646560A9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5" name="第12回　18">
            <a:extLst xmlns:a="http://schemas.openxmlformats.org/drawingml/2006/main">
              <a:ext uri="{FF2B5EF4-FFF2-40B4-BE49-F238E27FC236}">
                <a16:creationId xmlns:a16="http://schemas.microsoft.com/office/drawing/2014/main" id="{ADC7E202-48A5-474A-94BA-1A61E27F004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18</a:t>
            </a:r>
          </a:p>
        </p:txBody>
      </p:sp>
    </p:spTree>
    <p:extLst>
      <p:ext uri="{BB962C8B-B14F-4D97-AF65-F5344CB8AC3E}">
        <p14:creationId xmlns:p14="http://schemas.microsoft.com/office/powerpoint/2010/main" val="176695925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混同行列とクラスごとの結果">
            <a:extLst xmlns:a="http://schemas.openxmlformats.org/drawingml/2006/main">
              <a:ext uri="{FF2B5EF4-FFF2-40B4-BE49-F238E27FC236}">
                <a16:creationId xmlns:a16="http://schemas.microsoft.com/office/drawing/2014/main" id="{4CA74D83-FB14-4EE2-99A9-DD84079723C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混同行列とクラスごとの結果</a:t>
            </a:r>
          </a:p>
        </p:txBody>
      </p:sp>
      <p:sp>
        <p:nvSpPr>
          <p:cNvPr id="2" name="">
            <a:extLst xmlns:a="http://schemas.openxmlformats.org/drawingml/2006/main">
              <a:ext uri="{FF2B5EF4-FFF2-40B4-BE49-F238E27FC236}">
                <a16:creationId xmlns:a16="http://schemas.microsoft.com/office/drawing/2014/main" id="{143BA5AC-B792-4476-897D-A985C7DB5C71}"/>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行＝正解，列＝予測として読む．</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対角線の外から，取り違えの組合せを見る．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全体の正解率だけで，各数字の性能を判断しない．</a:t>
            </a:r>
          </a:p>
        </p:txBody>
      </p:sp>
      <p:sp>
        <p:nvSpPr>
          <p:cNvPr id="3" name="参照：scikit-learn">
            <a:extLst xmlns:a="http://schemas.openxmlformats.org/drawingml/2006/main">
              <a:ext uri="{FF2B5EF4-FFF2-40B4-BE49-F238E27FC236}">
                <a16:creationId xmlns:a16="http://schemas.microsoft.com/office/drawing/2014/main" id="{F24E0E58-AB57-4E04-832F-AF9BDE0396F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2回　19">
            <a:extLst xmlns:a="http://schemas.openxmlformats.org/drawingml/2006/main">
              <a:ext uri="{FF2B5EF4-FFF2-40B4-BE49-F238E27FC236}">
                <a16:creationId xmlns:a16="http://schemas.microsoft.com/office/drawing/2014/main" id="{E83C0C69-6485-495E-96D3-8D450EC3F5A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19</a:t>
            </a:r>
          </a:p>
        </p:txBody>
      </p:sp>
    </p:spTree>
    <p:extLst>
      <p:ext uri="{BB962C8B-B14F-4D97-AF65-F5344CB8AC3E}">
        <p14:creationId xmlns:p14="http://schemas.microsoft.com/office/powerpoint/2010/main" val="21419926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習4：学習条件を一つ変える">
            <a:extLst xmlns:a="http://schemas.openxmlformats.org/drawingml/2006/main">
              <a:ext uri="{FF2B5EF4-FFF2-40B4-BE49-F238E27FC236}">
                <a16:creationId xmlns:a16="http://schemas.microsoft.com/office/drawing/2014/main" id="{C60208E0-F6BE-4DD4-96E6-333C174DF73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実習4：学習条件を一つ変える</a:t>
            </a:r>
          </a:p>
        </p:txBody>
      </p:sp>
      <p:sp>
        <p:nvSpPr>
          <p:cNvPr id="2" name="">
            <a:extLst xmlns:a="http://schemas.openxmlformats.org/drawingml/2006/main">
              <a:ext uri="{FF2B5EF4-FFF2-40B4-BE49-F238E27FC236}">
                <a16:creationId xmlns:a16="http://schemas.microsoft.com/office/drawing/2014/main" id="{D3F8CA9C-DEBC-4736-8183-98BB7B9E5EAF}"/>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学習率を0.001から0.01へ変える，など一つだけ変更する．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分割と他の設定をそろえて，学習し直す．</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検証の曲線，最良エポック，正解率を比べる．</a:t>
            </a:r>
          </a:p>
        </p:txBody>
      </p:sp>
      <p:sp>
        <p:nvSpPr>
          <p:cNvPr id="3" name="何を変え，何が変わったかを記録する．">
            <a:extLst xmlns:a="http://schemas.openxmlformats.org/drawingml/2006/main">
              <a:ext uri="{FF2B5EF4-FFF2-40B4-BE49-F238E27FC236}">
                <a16:creationId xmlns:a16="http://schemas.microsoft.com/office/drawing/2014/main" id="{C31AEDB6-A20E-4CE2-8C86-FBA2100A3D8F}"/>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何を変え，何が変わったかを記録する．</a:t>
            </a:r>
          </a:p>
        </p:txBody>
      </p:sp>
      <p:sp>
        <p:nvSpPr>
          <p:cNvPr id="4" name="図・設問：本教材の作例">
            <a:extLst xmlns:a="http://schemas.openxmlformats.org/drawingml/2006/main">
              <a:ext uri="{FF2B5EF4-FFF2-40B4-BE49-F238E27FC236}">
                <a16:creationId xmlns:a16="http://schemas.microsoft.com/office/drawing/2014/main" id="{89211EBB-3F1F-422B-BB2A-C2E0E50A006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2回　20">
            <a:extLst xmlns:a="http://schemas.openxmlformats.org/drawingml/2006/main">
              <a:ext uri="{FF2B5EF4-FFF2-40B4-BE49-F238E27FC236}">
                <a16:creationId xmlns:a16="http://schemas.microsoft.com/office/drawing/2014/main" id="{319EF2EE-01EE-4361-AE20-954D49319C1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20</a:t>
            </a:r>
          </a:p>
        </p:txBody>
      </p:sp>
    </p:spTree>
    <p:extLst>
      <p:ext uri="{BB962C8B-B14F-4D97-AF65-F5344CB8AC3E}">
        <p14:creationId xmlns:p14="http://schemas.microsoft.com/office/powerpoint/2010/main" val="1558756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条件を決めた後のテスト">
            <a:extLst xmlns:a="http://schemas.openxmlformats.org/drawingml/2006/main">
              <a:ext uri="{FF2B5EF4-FFF2-40B4-BE49-F238E27FC236}">
                <a16:creationId xmlns:a16="http://schemas.microsoft.com/office/drawing/2014/main" id="{6D7D3594-5035-4CCB-A3DA-701463D35E2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条件を決めた後のテスト</a:t>
            </a:r>
          </a:p>
        </p:txBody>
      </p:sp>
      <p:sp>
        <p:nvSpPr>
          <p:cNvPr id="2" name="">
            <a:extLst xmlns:a="http://schemas.openxmlformats.org/drawingml/2006/main">
              <a:ext uri="{FF2B5EF4-FFF2-40B4-BE49-F238E27FC236}">
                <a16:creationId xmlns:a16="http://schemas.microsoft.com/office/drawing/2014/main" id="{1E45A17A-0E1D-4789-AE4F-037215C1B668}"/>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選んだbest_modelを，取り分けた360件へ適用する．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今回の教材は，選んだモデルをそのまま評価する．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テストの件数，正解率，誤り方を記録する．</a:t>
            </a:r>
          </a:p>
        </p:txBody>
      </p:sp>
      <p:sp>
        <p:nvSpPr>
          <p:cNvPr id="3" name="参照：scikit-learn">
            <a:extLst xmlns:a="http://schemas.openxmlformats.org/drawingml/2006/main">
              <a:ext uri="{FF2B5EF4-FFF2-40B4-BE49-F238E27FC236}">
                <a16:creationId xmlns:a16="http://schemas.microsoft.com/office/drawing/2014/main" id="{6B78C656-3B62-4A7A-8A90-408C1E29186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2回　21">
            <a:extLst xmlns:a="http://schemas.openxmlformats.org/drawingml/2006/main">
              <a:ext uri="{FF2B5EF4-FFF2-40B4-BE49-F238E27FC236}">
                <a16:creationId xmlns:a16="http://schemas.microsoft.com/office/drawing/2014/main" id="{E863AE8F-CF58-4892-BFB2-B7F3FF0DCAB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21</a:t>
            </a:r>
          </a:p>
        </p:txBody>
      </p:sp>
    </p:spTree>
    <p:extLst>
      <p:ext uri="{BB962C8B-B14F-4D97-AF65-F5344CB8AC3E}">
        <p14:creationId xmlns:p14="http://schemas.microsoft.com/office/powerpoint/2010/main" val="1816190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習の記録をまとめる">
            <a:extLst xmlns:a="http://schemas.openxmlformats.org/drawingml/2006/main">
              <a:ext uri="{FF2B5EF4-FFF2-40B4-BE49-F238E27FC236}">
                <a16:creationId xmlns:a16="http://schemas.microsoft.com/office/drawing/2014/main" id="{5BB4ADD1-008A-4409-9DBC-E5D159C9E7F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実習の記録をまとめる</a:t>
            </a:r>
          </a:p>
        </p:txBody>
      </p:sp>
      <p:sp>
        <p:nvSpPr>
          <p:cNvPr id="2" name="">
            <a:extLst xmlns:a="http://schemas.openxmlformats.org/drawingml/2006/main">
              <a:ext uri="{FF2B5EF4-FFF2-40B4-BE49-F238E27FC236}">
                <a16:creationId xmlns:a16="http://schemas.microsoft.com/office/drawing/2014/main" id="{0AB18920-F9B4-4129-9B45-0E3850D72BFF}"/>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設定と，検証で選んだエポックを書く．</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曲線の読み方と，誤分類の例を書く．</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条件を変えた影響と，評価の限界を書く．</a:t>
            </a:r>
          </a:p>
        </p:txBody>
      </p:sp>
      <p:sp>
        <p:nvSpPr>
          <p:cNvPr id="3" name="小さな教材で得た結果の範囲を説明する．">
            <a:extLst xmlns:a="http://schemas.openxmlformats.org/drawingml/2006/main">
              <a:ext uri="{FF2B5EF4-FFF2-40B4-BE49-F238E27FC236}">
                <a16:creationId xmlns:a16="http://schemas.microsoft.com/office/drawing/2014/main" id="{BF943462-203A-46CF-9827-41F7A03D6E03}"/>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小さな教材で得た結果の範囲を説明する．</a:t>
            </a:r>
          </a:p>
        </p:txBody>
      </p:sp>
      <p:sp>
        <p:nvSpPr>
          <p:cNvPr id="4" name="図・設問：本教材の作例">
            <a:extLst xmlns:a="http://schemas.openxmlformats.org/drawingml/2006/main">
              <a:ext uri="{FF2B5EF4-FFF2-40B4-BE49-F238E27FC236}">
                <a16:creationId xmlns:a16="http://schemas.microsoft.com/office/drawing/2014/main" id="{A19EA101-BABC-4466-B1AF-4DDBDDE8EE7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2回　22">
            <a:extLst xmlns:a="http://schemas.openxmlformats.org/drawingml/2006/main">
              <a:ext uri="{FF2B5EF4-FFF2-40B4-BE49-F238E27FC236}">
                <a16:creationId xmlns:a16="http://schemas.microsoft.com/office/drawing/2014/main" id="{11B03120-98F1-4FDB-8DA9-7A93171E175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22</a:t>
            </a:r>
          </a:p>
        </p:txBody>
      </p:sp>
    </p:spTree>
    <p:extLst>
      <p:ext uri="{BB962C8B-B14F-4D97-AF65-F5344CB8AC3E}">
        <p14:creationId xmlns:p14="http://schemas.microsoft.com/office/powerpoint/2010/main" val="54261307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まとめ・振り返り">
            <a:extLst xmlns:a="http://schemas.openxmlformats.org/drawingml/2006/main">
              <a:ext uri="{FF2B5EF4-FFF2-40B4-BE49-F238E27FC236}">
                <a16:creationId xmlns:a16="http://schemas.microsoft.com/office/drawing/2014/main" id="{8BD4C632-8D67-449E-B6CA-DF504E56D5F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まとめ・振り返り</a:t>
            </a:r>
          </a:p>
        </p:txBody>
      </p:sp>
      <p:sp>
        <p:nvSpPr>
          <p:cNvPr id="2" name="">
            <a:extLst xmlns:a="http://schemas.openxmlformats.org/drawingml/2006/main">
              <a:ext uri="{FF2B5EF4-FFF2-40B4-BE49-F238E27FC236}">
                <a16:creationId xmlns:a16="http://schemas.microsoft.com/office/drawing/2014/main" id="{97ABA377-222C-46DA-979A-1AF3E455E481}"/>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画像を数値へ変換し，ネットワークを学習した．</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検証でモデルを選び，学習済みモデルで推論した．</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曲線・誤分類・比較条件から結果を説明した．</a:t>
            </a:r>
          </a:p>
        </p:txBody>
      </p:sp>
      <p:sp>
        <p:nvSpPr>
          <p:cNvPr id="3" name="次回：AIに関する法律と契約">
            <a:extLst xmlns:a="http://schemas.openxmlformats.org/drawingml/2006/main">
              <a:ext uri="{FF2B5EF4-FFF2-40B4-BE49-F238E27FC236}">
                <a16:creationId xmlns:a16="http://schemas.microsoft.com/office/drawing/2014/main" id="{B710CCF2-F566-491F-94C7-67830DC66689}"/>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次回：AIに関する法律と契約</a:t>
            </a:r>
          </a:p>
        </p:txBody>
      </p:sp>
      <p:sp>
        <p:nvSpPr>
          <p:cNvPr id="4" name="図・設問：本教材の作例">
            <a:extLst xmlns:a="http://schemas.openxmlformats.org/drawingml/2006/main">
              <a:ext uri="{FF2B5EF4-FFF2-40B4-BE49-F238E27FC236}">
                <a16:creationId xmlns:a16="http://schemas.microsoft.com/office/drawing/2014/main" id="{952E129A-3371-4AA3-B794-9C759266F0B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2回　23">
            <a:extLst xmlns:a="http://schemas.openxmlformats.org/drawingml/2006/main">
              <a:ext uri="{FF2B5EF4-FFF2-40B4-BE49-F238E27FC236}">
                <a16:creationId xmlns:a16="http://schemas.microsoft.com/office/drawing/2014/main" id="{2ADD1461-8B82-4F13-BDD1-ACD6F52C78F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23</a:t>
            </a:r>
          </a:p>
        </p:txBody>
      </p:sp>
    </p:spTree>
    <p:extLst>
      <p:ext uri="{BB962C8B-B14F-4D97-AF65-F5344CB8AC3E}">
        <p14:creationId xmlns:p14="http://schemas.microsoft.com/office/powerpoint/2010/main" val="195765444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1">
            <a:extLst xmlns:a="http://schemas.openxmlformats.org/drawingml/2006/main">
              <a:ext uri="{FF2B5EF4-FFF2-40B4-BE49-F238E27FC236}">
                <a16:creationId xmlns:a16="http://schemas.microsoft.com/office/drawing/2014/main" id="{BFC7A101-A966-4366-AB3C-301C32955F3C}"/>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参考資料1</a:t>
            </a:r>
          </a:p>
        </p:txBody>
      </p:sp>
      <p:sp>
        <p:nvSpPr>
          <p:cNvPr id="2" name="1. scikit-learn：Digits dataset">
            <a:extLst xmlns:a="http://schemas.openxmlformats.org/drawingml/2006/main">
              <a:ext uri="{FF2B5EF4-FFF2-40B4-BE49-F238E27FC236}">
                <a16:creationId xmlns:a16="http://schemas.microsoft.com/office/drawing/2014/main" id="{C8241710-2C29-4E24-BAF3-2AFBC6423853}"/>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dc27fb4428384bb6"/>
              </a:rPr>
              <a:t>1. scikit-learn：Digits dataset</a:t>
            </a:r>
          </a:p>
        </p:txBody>
      </p:sp>
      <p:sp>
        <p:nvSpPr>
          <p:cNvPr id="3" name="2. scikit-learn：Neural network models">
            <a:extLst xmlns:a="http://schemas.openxmlformats.org/drawingml/2006/main">
              <a:ext uri="{FF2B5EF4-FFF2-40B4-BE49-F238E27FC236}">
                <a16:creationId xmlns:a16="http://schemas.microsoft.com/office/drawing/2014/main" id="{5636D2BD-8FFC-4772-A921-5EA1C54908BD}"/>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aa21c0bce9824930"/>
              </a:rPr>
              <a:t>2. scikit-learn：Neural network models</a:t>
            </a:r>
          </a:p>
        </p:txBody>
      </p:sp>
      <p:sp>
        <p:nvSpPr>
          <p:cNvPr id="4" name="3. Google：Nodes and hidden layers">
            <a:extLst xmlns:a="http://schemas.openxmlformats.org/drawingml/2006/main">
              <a:ext uri="{FF2B5EF4-FFF2-40B4-BE49-F238E27FC236}">
                <a16:creationId xmlns:a16="http://schemas.microsoft.com/office/drawing/2014/main" id="{10558F33-6C20-4421-B221-506356566405}"/>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dc1b64c9784741ab"/>
              </a:rPr>
              <a:t>3. Google：Nodes and hidden layers</a:t>
            </a:r>
          </a:p>
        </p:txBody>
      </p:sp>
      <p:sp>
        <p:nvSpPr>
          <p:cNvPr id="5" name="各項目をクリックすると，参考資料を開く．">
            <a:extLst xmlns:a="http://schemas.openxmlformats.org/drawingml/2006/main">
              <a:ext uri="{FF2B5EF4-FFF2-40B4-BE49-F238E27FC236}">
                <a16:creationId xmlns:a16="http://schemas.microsoft.com/office/drawing/2014/main" id="{96259FC0-2DAA-4E01-9AE1-6EF88687A711}"/>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28C6AA0B-747F-4986-A66F-63D60F5BF89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12回　24">
            <a:extLst xmlns:a="http://schemas.openxmlformats.org/drawingml/2006/main">
              <a:ext uri="{FF2B5EF4-FFF2-40B4-BE49-F238E27FC236}">
                <a16:creationId xmlns:a16="http://schemas.microsoft.com/office/drawing/2014/main" id="{50C8AD93-2649-4369-B8FA-F460EF96944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24</a:t>
            </a:r>
          </a:p>
        </p:txBody>
      </p:sp>
    </p:spTree>
    <p:extLst>
      <p:ext uri="{BB962C8B-B14F-4D97-AF65-F5344CB8AC3E}">
        <p14:creationId xmlns:p14="http://schemas.microsoft.com/office/powerpoint/2010/main" val="99927318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2">
            <a:extLst xmlns:a="http://schemas.openxmlformats.org/drawingml/2006/main">
              <a:ext uri="{FF2B5EF4-FFF2-40B4-BE49-F238E27FC236}">
                <a16:creationId xmlns:a16="http://schemas.microsoft.com/office/drawing/2014/main" id="{DFAF6D45-E5B4-464F-9928-624089D9BF4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参考資料2</a:t>
            </a:r>
          </a:p>
        </p:txBody>
      </p:sp>
      <p:sp>
        <p:nvSpPr>
          <p:cNvPr id="2" name="1. PyTorch：Optimizing Model Parameters">
            <a:extLst xmlns:a="http://schemas.openxmlformats.org/drawingml/2006/main">
              <a:ext uri="{FF2B5EF4-FFF2-40B4-BE49-F238E27FC236}">
                <a16:creationId xmlns:a16="http://schemas.microsoft.com/office/drawing/2014/main" id="{41041B1E-6A1C-433C-BDB0-9AA8FB597EB6}"/>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c830a3a991054bb2"/>
              </a:rPr>
              <a:t>1. PyTorch：Optimizing Model Parameters</a:t>
            </a:r>
          </a:p>
        </p:txBody>
      </p:sp>
      <p:sp>
        <p:nvSpPr>
          <p:cNvPr id="3" name="2. scikit-learn：Common pitfalls">
            <a:extLst xmlns:a="http://schemas.openxmlformats.org/drawingml/2006/main">
              <a:ext uri="{FF2B5EF4-FFF2-40B4-BE49-F238E27FC236}">
                <a16:creationId xmlns:a16="http://schemas.microsoft.com/office/drawing/2014/main" id="{4AD36396-1BAE-49D9-8F08-DF78191B1A34}"/>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0b0a556681ef4153"/>
              </a:rPr>
              <a:t>2. scikit-learn：Common pitfalls</a:t>
            </a:r>
          </a:p>
        </p:txBody>
      </p:sp>
      <p:sp>
        <p:nvSpPr>
          <p:cNvPr id="4" name="3. scikit-learn：Metrics and scoring">
            <a:extLst xmlns:a="http://schemas.openxmlformats.org/drawingml/2006/main">
              <a:ext uri="{FF2B5EF4-FFF2-40B4-BE49-F238E27FC236}">
                <a16:creationId xmlns:a16="http://schemas.microsoft.com/office/drawing/2014/main" id="{AE1E700C-6AD2-4A35-9896-B32362D5A949}"/>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a3dd5f75db714cf8"/>
              </a:rPr>
              <a:t>3. scikit-learn：Metrics and scoring</a:t>
            </a:r>
          </a:p>
        </p:txBody>
      </p:sp>
      <p:sp>
        <p:nvSpPr>
          <p:cNvPr id="5" name="各項目をクリックすると，参考資料を開く．">
            <a:extLst xmlns:a="http://schemas.openxmlformats.org/drawingml/2006/main">
              <a:ext uri="{FF2B5EF4-FFF2-40B4-BE49-F238E27FC236}">
                <a16:creationId xmlns:a16="http://schemas.microsoft.com/office/drawing/2014/main" id="{FD83E5DF-7C56-4360-939C-07830341B055}"/>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DD4D52C6-1A7A-40AC-BF6C-B547983EAF5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12回　25">
            <a:extLst xmlns:a="http://schemas.openxmlformats.org/drawingml/2006/main">
              <a:ext uri="{FF2B5EF4-FFF2-40B4-BE49-F238E27FC236}">
                <a16:creationId xmlns:a16="http://schemas.microsoft.com/office/drawing/2014/main" id="{7D8DF6AA-0F3E-449A-88E8-5D9F8D6D18E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第12回　25</a:t>
            </a:r>
          </a:p>
        </p:txBody>
      </p:sp>
    </p:spTree>
    <p:extLst>
      <p:ext uri="{BB962C8B-B14F-4D97-AF65-F5344CB8AC3E}">
        <p14:creationId xmlns:p14="http://schemas.microsoft.com/office/powerpoint/2010/main" val="518307491"/>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2026-10-08T05:59:14.0480000Z</dcterms:created>
  <dcterms:modified xsi:type="dcterms:W3CDTF">2026-10-08T05:59:14.0480000Z</dcterms:modified>
</coreProperties>
</file>