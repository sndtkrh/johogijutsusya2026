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65fc6071784d81" /><Relationship Type="http://schemas.openxmlformats.org/officeDocument/2006/relationships/extended-properties" Target="/docProps/app.xml" Id="Rab0bbc57a5d6405d" /><Relationship Type="http://schemas.openxmlformats.org/officeDocument/2006/relationships/officeDocument" Target="/ppt/presentation.xml" Id="Rcd2160965e114ec4" /></Relationships>
</file>

<file path=ppt/presentation.xml><?xml version="1.0" encoding="utf-8"?>
<p:presentation xmlns:p="http://schemas.openxmlformats.org/presentationml/2006/main">
  <p:sldMasterIdLst>
    <p:sldMasterId xmlns:r="http://schemas.openxmlformats.org/officeDocument/2006/relationships" id="2147483648" r:id="R04a2cfe33bad4cfb"/>
  </p:sldMasterIdLst>
  <p:notesMasterIdLst>
    <p:notesMasterId xmlns:r="http://schemas.openxmlformats.org/officeDocument/2006/relationships" r:id="Rf3c1fe945129422b"/>
  </p:notesMasterIdLst>
  <p:sldIdLst>
    <p:sldId xmlns:r="http://schemas.openxmlformats.org/officeDocument/2006/relationships" id="256" r:id="R5f87eb04897b4251"/>
    <p:sldId xmlns:r="http://schemas.openxmlformats.org/officeDocument/2006/relationships" id="257" r:id="Rc8f25b7189724b8a"/>
    <p:sldId xmlns:r="http://schemas.openxmlformats.org/officeDocument/2006/relationships" id="258" r:id="R6c43bb98ca4145dd"/>
    <p:sldId xmlns:r="http://schemas.openxmlformats.org/officeDocument/2006/relationships" id="259" r:id="R9be4a6c67d374cd3"/>
    <p:sldId xmlns:r="http://schemas.openxmlformats.org/officeDocument/2006/relationships" id="260" r:id="R94634948306144b6"/>
    <p:sldId xmlns:r="http://schemas.openxmlformats.org/officeDocument/2006/relationships" id="261" r:id="Ref2905beb222466e"/>
    <p:sldId xmlns:r="http://schemas.openxmlformats.org/officeDocument/2006/relationships" id="262" r:id="R20f4f1b8d6fc4833"/>
    <p:sldId xmlns:r="http://schemas.openxmlformats.org/officeDocument/2006/relationships" id="263" r:id="R9b4322bccc654c76"/>
    <p:sldId xmlns:r="http://schemas.openxmlformats.org/officeDocument/2006/relationships" id="264" r:id="R1d386fec38894012"/>
    <p:sldId xmlns:r="http://schemas.openxmlformats.org/officeDocument/2006/relationships" id="265" r:id="R413b597ea5ea4d06"/>
    <p:sldId xmlns:r="http://schemas.openxmlformats.org/officeDocument/2006/relationships" id="266" r:id="Rde9e4dbc24644147"/>
    <p:sldId xmlns:r="http://schemas.openxmlformats.org/officeDocument/2006/relationships" id="267" r:id="R79c8494759f34114"/>
    <p:sldId xmlns:r="http://schemas.openxmlformats.org/officeDocument/2006/relationships" id="268" r:id="R6a655b11d5ed4a6c"/>
    <p:sldId xmlns:r="http://schemas.openxmlformats.org/officeDocument/2006/relationships" id="269" r:id="R369466fab7434736"/>
    <p:sldId xmlns:r="http://schemas.openxmlformats.org/officeDocument/2006/relationships" id="270" r:id="R1b0ba6caee7741ad"/>
    <p:sldId xmlns:r="http://schemas.openxmlformats.org/officeDocument/2006/relationships" id="271" r:id="Ra0205b87f40e4bce"/>
    <p:sldId xmlns:r="http://schemas.openxmlformats.org/officeDocument/2006/relationships" id="272" r:id="R36da8e71acba4b24"/>
    <p:sldId xmlns:r="http://schemas.openxmlformats.org/officeDocument/2006/relationships" id="273" r:id="R79b21cdee1c241a8"/>
    <p:sldId xmlns:r="http://schemas.openxmlformats.org/officeDocument/2006/relationships" id="274" r:id="R20aef0deb12f4c69"/>
    <p:sldId xmlns:r="http://schemas.openxmlformats.org/officeDocument/2006/relationships" id="275" r:id="Rc8e2bda1188b4062"/>
    <p:sldId xmlns:r="http://schemas.openxmlformats.org/officeDocument/2006/relationships" id="276" r:id="R7a7992d403ee4684"/>
    <p:sldId xmlns:r="http://schemas.openxmlformats.org/officeDocument/2006/relationships" id="277" r:id="R33a6aaefc9494633"/>
    <p:sldId xmlns:r="http://schemas.openxmlformats.org/officeDocument/2006/relationships" id="278" r:id="Rae59a7be52a04f81"/>
    <p:sldId xmlns:r="http://schemas.openxmlformats.org/officeDocument/2006/relationships" id="279" r:id="R3dc367587d6145b7"/>
    <p:sldId xmlns:r="http://schemas.openxmlformats.org/officeDocument/2006/relationships" id="280" r:id="R6d7ff8ac62874d0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8cb0a8fee3e24f96" /><Relationship Type="http://schemas.openxmlformats.org/officeDocument/2006/relationships/slideMaster" Target="/ppt/slideMasters/slideMaster1.xml" Id="R04a2cfe33bad4cfb" /><Relationship Type="http://schemas.openxmlformats.org/officeDocument/2006/relationships/notesMaster" Target="/ppt/notesMasters/notesMaster1.xml" Id="Rf3c1fe945129422b" /><Relationship Type="http://schemas.openxmlformats.org/officeDocument/2006/relationships/presProps" Target="/ppt/presProps.xml" Id="R86ba4d73edbd4385" /><Relationship Type="http://schemas.openxmlformats.org/officeDocument/2006/relationships/viewProps" Target="/ppt/viewProps.xml" Id="R44a1c567690f4c9a" /><Relationship Type="http://schemas.openxmlformats.org/officeDocument/2006/relationships/tableStyles" Target="/ppt/tableStyles.xml" Id="Rd21c9a7445ea4696" /><Relationship Type="http://schemas.openxmlformats.org/officeDocument/2006/relationships/slide" Target="/ppt/slides/slide1.xml" Id="R5f87eb04897b4251" /><Relationship Type="http://schemas.openxmlformats.org/officeDocument/2006/relationships/slide" Target="/ppt/slides/slide2.xml" Id="Rc8f25b7189724b8a" /><Relationship Type="http://schemas.openxmlformats.org/officeDocument/2006/relationships/slide" Target="/ppt/slides/slide3.xml" Id="R6c43bb98ca4145dd" /><Relationship Type="http://schemas.openxmlformats.org/officeDocument/2006/relationships/slide" Target="/ppt/slides/slide4.xml" Id="R9be4a6c67d374cd3" /><Relationship Type="http://schemas.openxmlformats.org/officeDocument/2006/relationships/slide" Target="/ppt/slides/slide5.xml" Id="R94634948306144b6" /><Relationship Type="http://schemas.openxmlformats.org/officeDocument/2006/relationships/slide" Target="/ppt/slides/slide6.xml" Id="Ref2905beb222466e" /><Relationship Type="http://schemas.openxmlformats.org/officeDocument/2006/relationships/slide" Target="/ppt/slides/slide7.xml" Id="R20f4f1b8d6fc4833" /><Relationship Type="http://schemas.openxmlformats.org/officeDocument/2006/relationships/slide" Target="/ppt/slides/slide8.xml" Id="R9b4322bccc654c76" /><Relationship Type="http://schemas.openxmlformats.org/officeDocument/2006/relationships/slide" Target="/ppt/slides/slide9.xml" Id="R1d386fec38894012" /><Relationship Type="http://schemas.openxmlformats.org/officeDocument/2006/relationships/slide" Target="/ppt/slides/slide10.xml" Id="R413b597ea5ea4d06" /><Relationship Type="http://schemas.openxmlformats.org/officeDocument/2006/relationships/slide" Target="/ppt/slides/slide11.xml" Id="Rde9e4dbc24644147" /><Relationship Type="http://schemas.openxmlformats.org/officeDocument/2006/relationships/slide" Target="/ppt/slides/slide12.xml" Id="R79c8494759f34114" /><Relationship Type="http://schemas.openxmlformats.org/officeDocument/2006/relationships/slide" Target="/ppt/slides/slide13.xml" Id="R6a655b11d5ed4a6c" /><Relationship Type="http://schemas.openxmlformats.org/officeDocument/2006/relationships/slide" Target="/ppt/slides/slide14.xml" Id="R369466fab7434736" /><Relationship Type="http://schemas.openxmlformats.org/officeDocument/2006/relationships/slide" Target="/ppt/slides/slide15.xml" Id="R1b0ba6caee7741ad" /><Relationship Type="http://schemas.openxmlformats.org/officeDocument/2006/relationships/slide" Target="/ppt/slides/slide16.xml" Id="Ra0205b87f40e4bce" /><Relationship Type="http://schemas.openxmlformats.org/officeDocument/2006/relationships/slide" Target="/ppt/slides/slide17.xml" Id="R36da8e71acba4b24" /><Relationship Type="http://schemas.openxmlformats.org/officeDocument/2006/relationships/slide" Target="/ppt/slides/slide18.xml" Id="R79b21cdee1c241a8" /><Relationship Type="http://schemas.openxmlformats.org/officeDocument/2006/relationships/slide" Target="/ppt/slides/slide19.xml" Id="R20aef0deb12f4c69" /><Relationship Type="http://schemas.openxmlformats.org/officeDocument/2006/relationships/slide" Target="/ppt/slides/slide20.xml" Id="Rc8e2bda1188b4062" /><Relationship Type="http://schemas.openxmlformats.org/officeDocument/2006/relationships/slide" Target="/ppt/slides/slide21.xml" Id="R7a7992d403ee4684" /><Relationship Type="http://schemas.openxmlformats.org/officeDocument/2006/relationships/slide" Target="/ppt/slides/slide22.xml" Id="R33a6aaefc9494633" /><Relationship Type="http://schemas.openxmlformats.org/officeDocument/2006/relationships/slide" Target="/ppt/slides/slide23.xml" Id="Rae59a7be52a04f81" /><Relationship Type="http://schemas.openxmlformats.org/officeDocument/2006/relationships/slide" Target="/ppt/slides/slide24.xml" Id="R3dc367587d6145b7" /><Relationship Type="http://schemas.openxmlformats.org/officeDocument/2006/relationships/slide" Target="/ppt/slides/slide25.xml" Id="R6d7ff8ac62874d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91871a7cb44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c17f8a551d4286" /><Relationship Type="http://schemas.openxmlformats.org/officeDocument/2006/relationships/notesMaster" Target="/ppt/notesMasters/notesMaster1.xml" Id="Rba8c5240900f4d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49ab63608b46e7" /><Relationship Type="http://schemas.openxmlformats.org/officeDocument/2006/relationships/notesMaster" Target="/ppt/notesMasters/notesMaster1.xml" Id="R740c136fe5cd49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b4b767231d4541" /><Relationship Type="http://schemas.openxmlformats.org/officeDocument/2006/relationships/notesMaster" Target="/ppt/notesMasters/notesMaster1.xml" Id="Rb6619e18ddfb4b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17e40d68104d6d" /><Relationship Type="http://schemas.openxmlformats.org/officeDocument/2006/relationships/notesMaster" Target="/ppt/notesMasters/notesMaster1.xml" Id="R23b95398c3b94d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604481efd64294" /><Relationship Type="http://schemas.openxmlformats.org/officeDocument/2006/relationships/notesMaster" Target="/ppt/notesMasters/notesMaster1.xml" Id="R347bfd72b54e4f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b09cc8f71347d9" /><Relationship Type="http://schemas.openxmlformats.org/officeDocument/2006/relationships/notesMaster" Target="/ppt/notesMasters/notesMaster1.xml" Id="Re24514ff9c604e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c5f8c2b3534565" /><Relationship Type="http://schemas.openxmlformats.org/officeDocument/2006/relationships/notesMaster" Target="/ppt/notesMasters/notesMaster1.xml" Id="R17d86db470e341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e1c4bf2ea04ed9" /><Relationship Type="http://schemas.openxmlformats.org/officeDocument/2006/relationships/notesMaster" Target="/ppt/notesMasters/notesMaster1.xml" Id="R643c4d6331e046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81af4d0019469c" /><Relationship Type="http://schemas.openxmlformats.org/officeDocument/2006/relationships/notesMaster" Target="/ppt/notesMasters/notesMaster1.xml" Id="R984361c6193846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39ab5db1c6488e" /><Relationship Type="http://schemas.openxmlformats.org/officeDocument/2006/relationships/notesMaster" Target="/ppt/notesMasters/notesMaster1.xml" Id="R9afe9fd227dc41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6189f8a2054b96" /><Relationship Type="http://schemas.openxmlformats.org/officeDocument/2006/relationships/notesMaster" Target="/ppt/notesMasters/notesMaster1.xml" Id="R1dea5a3e524745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893cd11d8848ea" /><Relationship Type="http://schemas.openxmlformats.org/officeDocument/2006/relationships/notesMaster" Target="/ppt/notesMasters/notesMaster1.xml" Id="R7024ad1c81a840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0e8b4585dd4a18" /><Relationship Type="http://schemas.openxmlformats.org/officeDocument/2006/relationships/notesMaster" Target="/ppt/notesMasters/notesMaster1.xml" Id="R4b9f3495a92047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cc6dfa95534423" /><Relationship Type="http://schemas.openxmlformats.org/officeDocument/2006/relationships/notesMaster" Target="/ppt/notesMasters/notesMaster1.xml" Id="Rb844ec03b45b46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2e9837466645e8" /><Relationship Type="http://schemas.openxmlformats.org/officeDocument/2006/relationships/notesMaster" Target="/ppt/notesMasters/notesMaster1.xml" Id="Rf14f0d12f99141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b7f96520d84544" /><Relationship Type="http://schemas.openxmlformats.org/officeDocument/2006/relationships/notesMaster" Target="/ppt/notesMasters/notesMaster1.xml" Id="R32bbe2e6a22546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1b7b31c9d44d34" /><Relationship Type="http://schemas.openxmlformats.org/officeDocument/2006/relationships/notesMaster" Target="/ppt/notesMasters/notesMaster1.xml" Id="Re2d7c7b45f074c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601c1fd3834f2b" /><Relationship Type="http://schemas.openxmlformats.org/officeDocument/2006/relationships/notesMaster" Target="/ppt/notesMasters/notesMaster1.xml" Id="Re8872e19dcc142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2b9b59c6724cce" /><Relationship Type="http://schemas.openxmlformats.org/officeDocument/2006/relationships/notesMaster" Target="/ppt/notesMasters/notesMaster1.xml" Id="Rd3ff0f326e2341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0af123b4bc4c41" /><Relationship Type="http://schemas.openxmlformats.org/officeDocument/2006/relationships/notesMaster" Target="/ppt/notesMasters/notesMaster1.xml" Id="R4df4d2d2f5794f4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ffa91db7ee4bda" /><Relationship Type="http://schemas.openxmlformats.org/officeDocument/2006/relationships/notesMaster" Target="/ppt/notesMasters/notesMaster1.xml" Id="Ra08e1c0ea2d548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777cc5e35c40c7" /><Relationship Type="http://schemas.openxmlformats.org/officeDocument/2006/relationships/notesMaster" Target="/ppt/notesMasters/notesMaster1.xml" Id="R1e3547d32ff944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7f2a5dafc4643f4" /><Relationship Type="http://schemas.openxmlformats.org/officeDocument/2006/relationships/notesMaster" Target="/ppt/notesMasters/notesMaster1.xml" Id="R3c56e43bbde64df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31a9e20a7b4704" /><Relationship Type="http://schemas.openxmlformats.org/officeDocument/2006/relationships/notesMaster" Target="/ppt/notesMasters/notesMaster1.xml" Id="R2412556367bb42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1d1fe15e9546d6" /><Relationship Type="http://schemas.openxmlformats.org/officeDocument/2006/relationships/notesMaster" Target="/ppt/notesMasters/notesMaster1.xml" Id="R7e4659550ccc4e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言葉・時系列を扱うAI</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順序を持つデータの特徴と，RNN・Attention・Transformerの考え方を学ぶ．細かな構造名の網羅より，情報のつながりと評価方法を重視する．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a:p xmlns:a="http://schemas.openxmlformats.org/drawingml/2006/main">
            <a:r>
              <a:t/>
            </a:r>
          </a:p>
          <a:p xmlns:a="http://schemas.openxmlformats.org/drawingml/2006/main">
            <a:r>
              <a:t>PyTorch：RNN</a:t>
            </a:r>
          </a:p>
          <a:p xmlns:a="http://schemas.openxmlformats.org/drawingml/2006/main">
            <a:r>
              <a:t>https://docs.pytorch.org/docs/stable/generated/torch.nn.RNN.html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次回の生成AIとLLMの前提を学ぶ．文章を数値にし，文脈を使うという二段階を押さえる．</a:t>
            </a:r>
          </a:p>
          <a:p xmlns:a="http://schemas.openxmlformats.org/drawingml/2006/main">
            <a:r>
              <a:t/>
            </a:r>
          </a:p>
          <a:p xmlns:a="http://schemas.openxmlformats.org/drawingml/2006/main">
            <a:r>
              <a:t>文章と時系列の，順序の意味を説明する．</a:t>
            </a:r>
          </a:p>
          <a:p xmlns:a="http://schemas.openxmlformats.org/drawingml/2006/main">
            <a:r>
              <a:t/>
            </a:r>
          </a:p>
          <a:p xmlns:a="http://schemas.openxmlformats.org/drawingml/2006/main">
            <a:r>
              <a:t>RNNとAttentionの基本的な働きを比較する．</a:t>
            </a:r>
          </a:p>
          <a:p xmlns:a="http://schemas.openxmlformats.org/drawingml/2006/main">
            <a:r>
              <a:t/>
            </a:r>
          </a:p>
          <a:p xmlns:a="http://schemas.openxmlformats.org/drawingml/2006/main">
            <a:r>
              <a:t>予測時点で使える情報と，評価方法を考える．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順序を持つデータ</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順序を無視すると意味や予測の手がかりを失う場合がある．全ての課題で同じ方法が最適ではない．</a:t>
            </a:r>
          </a:p>
          <a:p xmlns:a="http://schemas.openxmlformats.org/drawingml/2006/main">
            <a:r>
              <a:t/>
            </a:r>
          </a:p>
          <a:p xmlns:a="http://schemas.openxmlformats.org/drawingml/2006/main">
            <a:r>
              <a:t>文章 ／ 「犬が人を追う」と「人が犬を追う」</a:t>
            </a:r>
          </a:p>
          <a:p xmlns:a="http://schemas.openxmlformats.org/drawingml/2006/main">
            <a:r>
              <a:t>時系列 ／ 時間による変化や前後の関係</a:t>
            </a:r>
          </a:p>
          <a:p xmlns:a="http://schemas.openxmlformats.org/drawingml/2006/main">
            <a:r>
              <a:t>音声 ／ 音の並びと時間の変化</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PyTorch：RNN</a:t>
            </a:r>
          </a:p>
          <a:p xmlns:a="http://schemas.openxmlformats.org/drawingml/2006/main">
            <a:r>
              <a:t>https://docs.pytorch.org/docs/stable/generated/torch.nn.RNN.html</a:t>
            </a:r>
          </a:p>
          <a:p xmlns:a="http://schemas.openxmlformats.org/drawingml/2006/main">
            <a:r>
              <a:t/>
            </a:r>
          </a:p>
          <a:p xmlns:a="http://schemas.openxmlformats.org/drawingml/2006/main">
            <a:r>
              <a:t>Hugging Face：Automatic speech recognition</a:t>
            </a:r>
          </a:p>
          <a:p xmlns:a="http://schemas.openxmlformats.org/drawingml/2006/main">
            <a:r>
              <a:t>https://huggingface.co/docs/transformers/tasks/asr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文章をモデルへ入力する流れ</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トークンは単語，部分語，文字などモデルに応じた単位．分割方法が違うと数や長さも違う．一文字が必ず一トークンではない．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ワンホット表現の例</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語彙三つの作例．位置に対応する一成分だけを1にする．語のID番号を大小の連続量とみなす表現とは違う．</a:t>
            </a:r>
          </a:p>
          <a:p xmlns:a="http://schemas.openxmlformats.org/drawingml/2006/main">
            <a:r>
              <a:t/>
            </a:r>
          </a:p>
          <a:p xmlns:a="http://schemas.openxmlformats.org/drawingml/2006/main">
            <a:r>
              <a:t>猫 ／ 1 ／ 0 ／ 0</a:t>
            </a:r>
          </a:p>
          <a:p xmlns:a="http://schemas.openxmlformats.org/drawingml/2006/main">
            <a:r>
              <a:t>犬 ／ 0 ／ 1 ／ 0</a:t>
            </a:r>
          </a:p>
          <a:p xmlns:a="http://schemas.openxmlformats.org/drawingml/2006/main">
            <a:r>
              <a:t>鳥 ／ 0 ／ 0 ／ 1</a:t>
            </a:r>
          </a:p>
          <a:p xmlns:a="http://schemas.openxmlformats.org/drawingml/2006/main">
            <a:r>
              <a:t/>
            </a:r>
          </a:p>
          <a:p xmlns:a="http://schemas.openxmlformats.org/drawingml/2006/main">
            <a:r>
              <a:t>この表現だけでは，語の近さを表さない．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埋め込み表現</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埋め込みの成分一つに常に明確な日本語の意味が付くわけではない．学習データの偏りや課題の影響も受ける．</a:t>
            </a:r>
          </a:p>
          <a:p xmlns:a="http://schemas.openxmlformats.org/drawingml/2006/main">
            <a:r>
              <a:t/>
            </a:r>
          </a:p>
          <a:p xmlns:a="http://schemas.openxmlformats.org/drawingml/2006/main">
            <a:r>
              <a:t>語などを，複数の数値からなるベクトルで表す．</a:t>
            </a:r>
          </a:p>
          <a:p xmlns:a="http://schemas.openxmlformats.org/drawingml/2006/main">
            <a:r>
              <a:t/>
            </a:r>
          </a:p>
          <a:p xmlns:a="http://schemas.openxmlformats.org/drawingml/2006/main">
            <a:r>
              <a:t>利用するデータや目的から，表現を学ぶ．</a:t>
            </a:r>
          </a:p>
          <a:p xmlns:a="http://schemas.openxmlformats.org/drawingml/2006/main">
            <a:r>
              <a:t/>
            </a:r>
          </a:p>
          <a:p xmlns:a="http://schemas.openxmlformats.org/drawingml/2006/main">
            <a:r>
              <a:t>ベクトルの近さを，関連の手がかりとして使う．</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文脈によって変わる表現</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bankは英語で銀行や川岸などを表す例．一語に一ベクトルを割り当てる静的な表現と，文脈を使う表現を区別する．</a:t>
            </a:r>
          </a:p>
          <a:p xmlns:a="http://schemas.openxmlformats.org/drawingml/2006/main">
            <a:r>
              <a:t/>
            </a:r>
          </a:p>
          <a:p xmlns:a="http://schemas.openxmlformats.org/drawingml/2006/main">
            <a:r>
              <a:t>同じ語でも，周りの語によって意味が変わる．</a:t>
            </a:r>
          </a:p>
          <a:p xmlns:a="http://schemas.openxmlformats.org/drawingml/2006/main">
            <a:r>
              <a:t/>
            </a:r>
          </a:p>
          <a:p xmlns:a="http://schemas.openxmlformats.org/drawingml/2006/main">
            <a:r>
              <a:t>英語のbankは，文脈で「銀行」や「川岸」を表す．</a:t>
            </a:r>
          </a:p>
          <a:p xmlns:a="http://schemas.openxmlformats.org/drawingml/2006/main">
            <a:r>
              <a:t/>
            </a:r>
          </a:p>
          <a:p xmlns:a="http://schemas.openxmlformats.org/drawingml/2006/main">
            <a:r>
              <a:t>文脈を使い，語の表現を計算するモデルがある．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a:p xmlns:a="http://schemas.openxmlformats.org/drawingml/2006/main">
            <a:r>
              <a:t/>
            </a:r>
          </a:p>
          <a:p xmlns:a="http://schemas.openxmlformats.org/drawingml/2006/main">
            <a:r>
              <a:t>Devlin et al.：BERT</a:t>
            </a:r>
          </a:p>
          <a:p xmlns:a="http://schemas.openxmlformats.org/drawingml/2006/main">
            <a:r>
              <a:t>https://arxiv.org/abs/1810.04805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RNNの基本的な考え方</a:t>
            </a:r>
          </a:p>
          <a:p xmlns:a="http://schemas.openxmlformats.org/drawingml/2006/main">
            <a:r>
              <a:t/>
            </a:r>
          </a:p>
          <a:p xmlns:a="http://schemas.openxmlformats.org/drawingml/2006/main">
            <a:r>
              <a:t>目安：4分／授業開始から25〜29分</a:t>
            </a:r>
          </a:p>
          <a:p xmlns:a="http://schemas.openxmlformats.org/drawingml/2006/main">
            <a:r>
              <a:t/>
            </a:r>
          </a:p>
          <a:p xmlns:a="http://schemas.openxmlformats.org/drawingml/2006/main">
            <a:r>
              <a:t>Recurrent Neural Networkは状態を順に更新し，過去の情報を後の計算へ伝える．各時点で通常，同じパラメータを使う．全ての過去を完全に保存するという意味ではない．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PyTorch：RNN</a:t>
            </a:r>
          </a:p>
          <a:p xmlns:a="http://schemas.openxmlformats.org/drawingml/2006/main">
            <a:r>
              <a:t>https://docs.pytorch.org/docs/stable/generated/torch.nn.RNN.html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系列モデルの入出力</a:t>
            </a:r>
          </a:p>
          <a:p xmlns:a="http://schemas.openxmlformats.org/drawingml/2006/main">
            <a:r>
              <a:t/>
            </a:r>
          </a:p>
          <a:p xmlns:a="http://schemas.openxmlformats.org/drawingml/2006/main">
            <a:r>
              <a:t>目安：4分／授業開始から29〜33分</a:t>
            </a:r>
          </a:p>
          <a:p xmlns:a="http://schemas.openxmlformats.org/drawingml/2006/main">
            <a:r>
              <a:t/>
            </a:r>
          </a:p>
          <a:p xmlns:a="http://schemas.openxmlformats.org/drawingml/2006/main">
            <a:r>
              <a:t>系列全体から一つの結果，系列から別の系列など，課題によって対応が違う．RNNに限らずTransformerなども使える．</a:t>
            </a:r>
          </a:p>
          <a:p xmlns:a="http://schemas.openxmlformats.org/drawingml/2006/main">
            <a:r>
              <a:t/>
            </a:r>
          </a:p>
          <a:p xmlns:a="http://schemas.openxmlformats.org/drawingml/2006/main">
            <a:r>
              <a:t>文章分類 ／ 語の系列 ／ 文章のカテゴリ</a:t>
            </a:r>
          </a:p>
          <a:p xmlns:a="http://schemas.openxmlformats.org/drawingml/2006/main">
            <a:r>
              <a:t>時系列予測 ／ 過去の数値の系列 ／ 将来の値</a:t>
            </a:r>
          </a:p>
          <a:p xmlns:a="http://schemas.openxmlformats.org/drawingml/2006/main">
            <a:r>
              <a:t>翻訳 ／ 一方の言語の系列 ／ 別の言語の系列</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PyTorch：RNN</a:t>
            </a:r>
          </a:p>
          <a:p xmlns:a="http://schemas.openxmlformats.org/drawingml/2006/main">
            <a:r>
              <a:t>https://docs.pytorch.org/docs/stable/generated/torch.nn.RNN.html</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長い系列とRNNの課題</a:t>
            </a:r>
          </a:p>
          <a:p xmlns:a="http://schemas.openxmlformats.org/drawingml/2006/main">
            <a:r>
              <a:t/>
            </a:r>
          </a:p>
          <a:p xmlns:a="http://schemas.openxmlformats.org/drawingml/2006/main">
            <a:r>
              <a:t>目安：4分／授業開始から33〜37分</a:t>
            </a:r>
          </a:p>
          <a:p xmlns:a="http://schemas.openxmlformats.org/drawingml/2006/main">
            <a:r>
              <a:t/>
            </a:r>
          </a:p>
          <a:p xmlns:a="http://schemas.openxmlformats.org/drawingml/2006/main">
            <a:r>
              <a:t>勾配の消失・爆発を第5回の逆伝播と結び付ける．モデル，系列長，実装によって程度は異なる．</a:t>
            </a:r>
          </a:p>
          <a:p xmlns:a="http://schemas.openxmlformats.org/drawingml/2006/main">
            <a:r>
              <a:t/>
            </a:r>
          </a:p>
          <a:p xmlns:a="http://schemas.openxmlformats.org/drawingml/2006/main">
            <a:r>
              <a:t>遠く離れた情報を学ぶことが難しい場合がある．</a:t>
            </a:r>
          </a:p>
          <a:p xmlns:a="http://schemas.openxmlformats.org/drawingml/2006/main">
            <a:r>
              <a:t/>
            </a:r>
          </a:p>
          <a:p xmlns:a="http://schemas.openxmlformats.org/drawingml/2006/main">
            <a:r>
              <a:t>学習時に勾配が小さくなったり，大きくなったりする．</a:t>
            </a:r>
          </a:p>
          <a:p xmlns:a="http://schemas.openxmlformats.org/drawingml/2006/main">
            <a:r>
              <a:t/>
            </a:r>
          </a:p>
          <a:p xmlns:a="http://schemas.openxmlformats.org/drawingml/2006/main">
            <a:r>
              <a:t>入力を順に処理するため，並列化にも制約がある．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PyTorch：RNN</a:t>
            </a:r>
          </a:p>
          <a:p xmlns:a="http://schemas.openxmlformats.org/drawingml/2006/main">
            <a:r>
              <a:t>https://docs.pytorch.org/docs/stable/generated/torch.nn.RNN.html</a:t>
            </a:r>
          </a:p>
          <a:p xmlns:a="http://schemas.openxmlformats.org/drawingml/2006/main">
            <a:r>
              <a:t/>
            </a:r>
          </a:p>
          <a:p xmlns:a="http://schemas.openxmlformats.org/drawingml/2006/main">
            <a:r>
              <a:t>Google：Training using backpropagation</a:t>
            </a:r>
          </a:p>
          <a:p xmlns:a="http://schemas.openxmlformats.org/drawingml/2006/main">
            <a:r>
              <a:t>https://developers.google.com/machine-learning/crash-course/neural-networks/backpropagation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LSTM・GRUの考え方</a:t>
            </a:r>
          </a:p>
          <a:p xmlns:a="http://schemas.openxmlformats.org/drawingml/2006/main">
            <a:r>
              <a:t/>
            </a:r>
          </a:p>
          <a:p xmlns:a="http://schemas.openxmlformats.org/drawingml/2006/main">
            <a:r>
              <a:t>目安：4分／授業開始から37〜41分</a:t>
            </a:r>
          </a:p>
          <a:p xmlns:a="http://schemas.openxmlformats.org/drawingml/2006/main">
            <a:r>
              <a:t/>
            </a:r>
          </a:p>
          <a:p xmlns:a="http://schemas.openxmlformats.org/drawingml/2006/main">
            <a:r>
              <a:t>内部のゲート名を全て暗記させない．記憶への入力，保持，出力を調整する考え方を図なしで簡潔に説明する．</a:t>
            </a:r>
          </a:p>
          <a:p xmlns:a="http://schemas.openxmlformats.org/drawingml/2006/main">
            <a:r>
              <a:t/>
            </a:r>
          </a:p>
          <a:p xmlns:a="http://schemas.openxmlformats.org/drawingml/2006/main">
            <a:r>
              <a:t>状態にどの情報を残すかを，ゲートで調整する．</a:t>
            </a:r>
          </a:p>
          <a:p xmlns:a="http://schemas.openxmlformats.org/drawingml/2006/main">
            <a:r>
              <a:t/>
            </a:r>
          </a:p>
          <a:p xmlns:a="http://schemas.openxmlformats.org/drawingml/2006/main">
            <a:r>
              <a:t>単純なRNNで難しい依存関係を扱う工夫を持つ．</a:t>
            </a:r>
          </a:p>
          <a:p xmlns:a="http://schemas.openxmlformats.org/drawingml/2006/main">
            <a:r>
              <a:t/>
            </a:r>
          </a:p>
          <a:p xmlns:a="http://schemas.openxmlformats.org/drawingml/2006/main">
            <a:r>
              <a:t>長い系列の問題を，全て解決するわけではない．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PyTorch：RNN</a:t>
            </a:r>
          </a:p>
          <a:p xmlns:a="http://schemas.openxmlformats.org/drawingml/2006/main">
            <a:r>
              <a:t>https://docs.pytorch.org/docs/stable/generated/torch.nn.RNN.html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Attentionの役割</a:t>
            </a:r>
          </a:p>
          <a:p xmlns:a="http://schemas.openxmlformats.org/drawingml/2006/main">
            <a:r>
              <a:t/>
            </a:r>
          </a:p>
          <a:p xmlns:a="http://schemas.openxmlformats.org/drawingml/2006/main">
            <a:r>
              <a:t>目安：4分／授業開始から41〜45分</a:t>
            </a:r>
          </a:p>
          <a:p xmlns:a="http://schemas.openxmlformats.org/drawingml/2006/main">
            <a:r>
              <a:t/>
            </a:r>
          </a:p>
          <a:p xmlns:a="http://schemas.openxmlformats.org/drawingml/2006/main">
            <a:r>
              <a:t>Attentionの重みは学習した計算から求める．人間の注意や理解をそのまま測るものではない．重みを因果的な説明として扱いすぎない．</a:t>
            </a:r>
          </a:p>
          <a:p xmlns:a="http://schemas.openxmlformats.org/drawingml/2006/main">
            <a:r>
              <a:t/>
            </a:r>
          </a:p>
          <a:p xmlns:a="http://schemas.openxmlformats.org/drawingml/2006/main">
            <a:r>
              <a:t>ある位置の計算で，関連する位置の情報を使う．</a:t>
            </a:r>
          </a:p>
          <a:p xmlns:a="http://schemas.openxmlformats.org/drawingml/2006/main">
            <a:r>
              <a:t/>
            </a:r>
          </a:p>
          <a:p xmlns:a="http://schemas.openxmlformats.org/drawingml/2006/main">
            <a:r>
              <a:t>位置ごとの関連の強さから，重みを計算する．</a:t>
            </a:r>
          </a:p>
          <a:p xmlns:a="http://schemas.openxmlformats.org/drawingml/2006/main">
            <a:r>
              <a:t/>
            </a:r>
          </a:p>
          <a:p xmlns:a="http://schemas.openxmlformats.org/drawingml/2006/main">
            <a:r>
              <a:t>重み付きの和で，参照する情報をまとめる．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Attentionの重み付きの和</a:t>
            </a:r>
          </a:p>
          <a:p xmlns:a="http://schemas.openxmlformats.org/drawingml/2006/main">
            <a:r>
              <a:t/>
            </a:r>
          </a:p>
          <a:p xmlns:a="http://schemas.openxmlformats.org/drawingml/2006/main">
            <a:r>
              <a:t>目安：4分／授業開始から45〜49分</a:t>
            </a:r>
          </a:p>
          <a:p xmlns:a="http://schemas.openxmlformats.org/drawingml/2006/main">
            <a:r>
              <a:t/>
            </a:r>
          </a:p>
          <a:p xmlns:a="http://schemas.openxmlformats.org/drawingml/2006/main">
            <a:r>
              <a:t>一次元のvalueを使った作例で，三つの重みの和は1．実際のvalueはベクトルで，重みは入力から計算する．</a:t>
            </a:r>
          </a:p>
          <a:p xmlns:a="http://schemas.openxmlformats.org/drawingml/2006/main">
            <a:r>
              <a:t/>
            </a:r>
          </a:p>
          <a:p xmlns:a="http://schemas.openxmlformats.org/drawingml/2006/main">
            <a:r>
              <a:t>A ／ 2 ／ 0.1</a:t>
            </a:r>
          </a:p>
          <a:p xmlns:a="http://schemas.openxmlformats.org/drawingml/2006/main">
            <a:r>
              <a:t>B ／ 4 ／ 0.6</a:t>
            </a:r>
          </a:p>
          <a:p xmlns:a="http://schemas.openxmlformats.org/drawingml/2006/main">
            <a:r>
              <a:t>C ／ 8 ／ 0.3</a:t>
            </a:r>
          </a:p>
          <a:p xmlns:a="http://schemas.openxmlformats.org/drawingml/2006/main">
            <a:r>
              <a:t/>
            </a:r>
          </a:p>
          <a:p xmlns:a="http://schemas.openxmlformats.org/drawingml/2006/main">
            <a:r>
              <a:t>2×0.1＋4×0.6＋8×0.3 を計算する．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演習1：Attentionの計算</a:t>
            </a:r>
          </a:p>
          <a:p xmlns:a="http://schemas.openxmlformats.org/drawingml/2006/main">
            <a:r>
              <a:t/>
            </a:r>
          </a:p>
          <a:p xmlns:a="http://schemas.openxmlformats.org/drawingml/2006/main">
            <a:r>
              <a:t>目安：5分／授業開始から49〜54分</a:t>
            </a:r>
          </a:p>
          <a:p xmlns:a="http://schemas.openxmlformats.org/drawingml/2006/main">
            <a:r>
              <a:t/>
            </a:r>
          </a:p>
          <a:p xmlns:a="http://schemas.openxmlformats.org/drawingml/2006/main">
            <a:r>
              <a:t>個人2分，ペア2分，確認1分．作例は実際の文章から計測したAttentionではない．</a:t>
            </a:r>
          </a:p>
          <a:p xmlns:a="http://schemas.openxmlformats.org/drawingml/2006/main">
            <a:r>
              <a:t/>
            </a:r>
          </a:p>
          <a:p xmlns:a="http://schemas.openxmlformats.org/drawingml/2006/main">
            <a:r>
              <a:t>前ページの重み付きの和を求める．</a:t>
            </a:r>
          </a:p>
          <a:p xmlns:a="http://schemas.openxmlformats.org/drawingml/2006/main">
            <a:r>
              <a:t/>
            </a:r>
          </a:p>
          <a:p xmlns:a="http://schemas.openxmlformats.org/drawingml/2006/main">
            <a:r>
              <a:t>三つの値を同じ重み1/3にした場合と比べる．</a:t>
            </a:r>
          </a:p>
          <a:p xmlns:a="http://schemas.openxmlformats.org/drawingml/2006/main">
            <a:r>
              <a:t/>
            </a:r>
          </a:p>
          <a:p xmlns:a="http://schemas.openxmlformats.org/drawingml/2006/main">
            <a:r>
              <a:t>最も大きな重みが付いた位置はどこか？</a:t>
            </a:r>
          </a:p>
          <a:p xmlns:a="http://schemas.openxmlformats.org/drawingml/2006/main">
            <a:r>
              <a:t/>
            </a:r>
          </a:p>
          <a:p xmlns:a="http://schemas.openxmlformats.org/drawingml/2006/main">
            <a:r>
              <a:t>重みの違いが，まとめた値に影響する．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a:t>
            </a:r>
          </a:p>
          <a:p xmlns:a="http://schemas.openxmlformats.org/drawingml/2006/main">
            <a:r>
              <a:t/>
            </a:r>
          </a:p>
          <a:p xmlns:a="http://schemas.openxmlformats.org/drawingml/2006/main">
            <a:r>
              <a:t>目安：4分／授業開始から54〜58分</a:t>
            </a:r>
          </a:p>
          <a:p xmlns:a="http://schemas.openxmlformats.org/drawingml/2006/main">
            <a:r>
              <a:t/>
            </a:r>
          </a:p>
          <a:p xmlns:a="http://schemas.openxmlformats.org/drawingml/2006/main">
            <a:r>
              <a:t>Bの値が最も大きいという意味ではない．値と重みを区別する．重み付きの寄与はBとCで同じ2.4になる．</a:t>
            </a:r>
          </a:p>
          <a:p xmlns:a="http://schemas.openxmlformats.org/drawingml/2006/main">
            <a:r>
              <a:t/>
            </a:r>
          </a:p>
          <a:p xmlns:a="http://schemas.openxmlformats.org/drawingml/2006/main">
            <a:r>
              <a:t>重み付きの和＝0.2＋2.4＋2.4＝5.0</a:t>
            </a:r>
          </a:p>
          <a:p xmlns:a="http://schemas.openxmlformats.org/drawingml/2006/main">
            <a:r>
              <a:t/>
            </a:r>
          </a:p>
          <a:p xmlns:a="http://schemas.openxmlformats.org/drawingml/2006/main">
            <a:r>
              <a:t>同じ重みなら，（2＋4＋8）÷3＝約4.67</a:t>
            </a:r>
          </a:p>
          <a:p xmlns:a="http://schemas.openxmlformats.org/drawingml/2006/main">
            <a:r>
              <a:t/>
            </a:r>
          </a:p>
          <a:p xmlns:a="http://schemas.openxmlformats.org/drawingml/2006/main">
            <a:r>
              <a:t>最も大きな重みはBの0.6．</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Query・Key・Value</a:t>
            </a:r>
          </a:p>
          <a:p xmlns:a="http://schemas.openxmlformats.org/drawingml/2006/main">
            <a:r>
              <a:t/>
            </a:r>
          </a:p>
          <a:p xmlns:a="http://schemas.openxmlformats.org/drawingml/2006/main">
            <a:r>
              <a:t>目安：4分／授業開始から58〜62分</a:t>
            </a:r>
          </a:p>
          <a:p xmlns:a="http://schemas.openxmlformats.org/drawingml/2006/main">
            <a:r>
              <a:t/>
            </a:r>
          </a:p>
          <a:p xmlns:a="http://schemas.openxmlformats.org/drawingml/2006/main">
            <a:r>
              <a:t>三つは通常，入力表現から学習可能な変換で作る．検索のたとえは直感のためで，必ず外部データベースを検索するという意味ではない．</a:t>
            </a:r>
          </a:p>
          <a:p xmlns:a="http://schemas.openxmlformats.org/drawingml/2006/main">
            <a:r>
              <a:t/>
            </a:r>
          </a:p>
          <a:p xmlns:a="http://schemas.openxmlformats.org/drawingml/2006/main">
            <a:r>
              <a:t>Query ／ 何を参照したいかを表す</a:t>
            </a:r>
          </a:p>
          <a:p xmlns:a="http://schemas.openxmlformats.org/drawingml/2006/main">
            <a:r>
              <a:t>Key ／ 参照先との関連を比べる</a:t>
            </a:r>
          </a:p>
          <a:p xmlns:a="http://schemas.openxmlformats.org/drawingml/2006/main">
            <a:r>
              <a:t>Value ／ 重みを付けてまとめる情報</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Transformerの基本的な計算</a:t>
            </a:r>
          </a:p>
          <a:p xmlns:a="http://schemas.openxmlformats.org/drawingml/2006/main">
            <a:r>
              <a:t/>
            </a:r>
          </a:p>
          <a:p xmlns:a="http://schemas.openxmlformats.org/drawingml/2006/main">
            <a:r>
              <a:t>目安：4分／授業開始から62〜66分</a:t>
            </a:r>
          </a:p>
          <a:p xmlns:a="http://schemas.openxmlformats.org/drawingml/2006/main">
            <a:r>
              <a:t/>
            </a:r>
          </a:p>
          <a:p xmlns:a="http://schemas.openxmlformats.org/drawingml/2006/main">
            <a:r>
              <a:t>Self-Attentionは系列内の情報を相互に参照する．元のTransformerはAttentionと位置ごとの変換，残差接続などを組み合わせる．位置情報がないと並びを扱いにくい．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Transformerと系列の順序</a:t>
            </a:r>
          </a:p>
          <a:p xmlns:a="http://schemas.openxmlformats.org/drawingml/2006/main">
            <a:r>
              <a:t/>
            </a:r>
          </a:p>
          <a:p xmlns:a="http://schemas.openxmlformats.org/drawingml/2006/main">
            <a:r>
              <a:t>目安：4分／授業開始から66〜70分</a:t>
            </a:r>
          </a:p>
          <a:p xmlns:a="http://schemas.openxmlformats.org/drawingml/2006/main">
            <a:r>
              <a:t/>
            </a:r>
          </a:p>
          <a:p xmlns:a="http://schemas.openxmlformats.org/drawingml/2006/main">
            <a:r>
              <a:t>学習の並列化と生成時の逐次性を混同しない．一般的なSelf-Attentionの計算量は系列長の二乗で増えるため，長い入力には工夫が必要．</a:t>
            </a:r>
          </a:p>
          <a:p xmlns:a="http://schemas.openxmlformats.org/drawingml/2006/main">
            <a:r>
              <a:t/>
            </a:r>
          </a:p>
          <a:p xmlns:a="http://schemas.openxmlformats.org/drawingml/2006/main">
            <a:r>
              <a:t>位置の情報を，入力表現や計算へ組み込む．</a:t>
            </a:r>
          </a:p>
          <a:p xmlns:a="http://schemas.openxmlformats.org/drawingml/2006/main">
            <a:r>
              <a:t/>
            </a:r>
          </a:p>
          <a:p xmlns:a="http://schemas.openxmlformats.org/drawingml/2006/main">
            <a:r>
              <a:t>学習では，多くの位置の計算を並列に行える．</a:t>
            </a:r>
          </a:p>
          <a:p xmlns:a="http://schemas.openxmlformats.org/drawingml/2006/main">
            <a:r>
              <a:t/>
            </a:r>
          </a:p>
          <a:p xmlns:a="http://schemas.openxmlformats.org/drawingml/2006/main">
            <a:r>
              <a:t>文章を順に生成するときは，通常，次のトークンを繰り返し出す．</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Vaswani et al.：Attention Is All You Need</a:t>
            </a:r>
          </a:p>
          <a:p xmlns:a="http://schemas.openxmlformats.org/drawingml/2006/main">
            <a:r>
              <a:t>https://arxiv.org/abs/1706.03762</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言語モデルの構成と課題</a:t>
            </a:r>
          </a:p>
          <a:p xmlns:a="http://schemas.openxmlformats.org/drawingml/2006/main">
            <a:r>
              <a:t/>
            </a:r>
          </a:p>
          <a:p xmlns:a="http://schemas.openxmlformats.org/drawingml/2006/main">
            <a:r>
              <a:t>目安：4分／授業開始から70〜74分</a:t>
            </a:r>
          </a:p>
          <a:p xmlns:a="http://schemas.openxmlformats.org/drawingml/2006/main">
            <a:r>
              <a:t/>
            </a:r>
          </a:p>
          <a:p xmlns:a="http://schemas.openxmlformats.org/drawingml/2006/main">
            <a:r>
              <a:t>BERTを双方向表現の例とする．生成のマスクを使って未来の正解を見ない構成とは役割が異なる．全てを一つの構成に固定しない．</a:t>
            </a:r>
          </a:p>
          <a:p xmlns:a="http://schemas.openxmlformats.org/drawingml/2006/main">
            <a:r>
              <a:t/>
            </a:r>
          </a:p>
          <a:p xmlns:a="http://schemas.openxmlformats.org/drawingml/2006/main">
            <a:r>
              <a:t>双方向の文脈を使う表現 ／ 文章分類，検索など</a:t>
            </a:r>
          </a:p>
          <a:p xmlns:a="http://schemas.openxmlformats.org/drawingml/2006/main">
            <a:r>
              <a:t>過去のトークンから次を予測 ／ 文章生成など</a:t>
            </a:r>
          </a:p>
          <a:p xmlns:a="http://schemas.openxmlformats.org/drawingml/2006/main">
            <a:r>
              <a:t>入力系列を出力系列へ変換 ／ 翻訳など</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Devlin et al.：BERT</a:t>
            </a:r>
          </a:p>
          <a:p xmlns:a="http://schemas.openxmlformats.org/drawingml/2006/main">
            <a:r>
              <a:t>https://arxiv.org/abs/1810.04805</a:t>
            </a:r>
          </a:p>
          <a:p xmlns:a="http://schemas.openxmlformats.org/drawingml/2006/main">
            <a:r>
              <a:t/>
            </a:r>
          </a:p>
          <a:p xmlns:a="http://schemas.openxmlformats.org/drawingml/2006/main">
            <a:r>
              <a:t>Vaswani et al.：Attention Is All You Need</a:t>
            </a:r>
          </a:p>
          <a:p xmlns:a="http://schemas.openxmlformats.org/drawingml/2006/main">
            <a:r>
              <a:t>https://arxiv.org/abs/1706.03762</a:t>
            </a:r>
          </a:p>
          <a:p xmlns:a="http://schemas.openxmlformats.org/drawingml/2006/main">
            <a:r>
              <a:t/>
            </a:r>
          </a:p>
          <a:p xmlns:a="http://schemas.openxmlformats.org/drawingml/2006/main">
            <a:r>
              <a:t>Google：Introduction to Large Language Models</a:t>
            </a:r>
          </a:p>
          <a:p xmlns:a="http://schemas.openxmlformats.org/drawingml/2006/main">
            <a:r>
              <a:t>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時系列の分割と情報の漏れ</a:t>
            </a:r>
          </a:p>
          <a:p xmlns:a="http://schemas.openxmlformats.org/drawingml/2006/main">
            <a:r>
              <a:t/>
            </a:r>
          </a:p>
          <a:p xmlns:a="http://schemas.openxmlformats.org/drawingml/2006/main">
            <a:r>
              <a:t>目安：4分／授業開始から74〜78分</a:t>
            </a:r>
          </a:p>
          <a:p xmlns:a="http://schemas.openxmlformats.org/drawingml/2006/main">
            <a:r>
              <a:t/>
            </a:r>
          </a:p>
          <a:p xmlns:a="http://schemas.openxmlformats.org/drawingml/2006/main">
            <a:r>
              <a:t>翌日の販売を予測する時点で翌日の実測気温はまだ分からない場合がある．天気予報と実測値を区別する．ランダム分割が常に悪いという断定はしない．</a:t>
            </a:r>
          </a:p>
          <a:p xmlns:a="http://schemas.openxmlformats.org/drawingml/2006/main">
            <a:r>
              <a:t/>
            </a:r>
          </a:p>
          <a:p xmlns:a="http://schemas.openxmlformats.org/drawingml/2006/main">
            <a:r>
              <a:t>将来を予測するなら，過去から未来へ評価する．</a:t>
            </a:r>
          </a:p>
          <a:p xmlns:a="http://schemas.openxmlformats.org/drawingml/2006/main">
            <a:r>
              <a:t/>
            </a:r>
          </a:p>
          <a:p xmlns:a="http://schemas.openxmlformats.org/drawingml/2006/main">
            <a:r>
              <a:t>予測時点より後の値を，特徴量に入れない．</a:t>
            </a:r>
          </a:p>
          <a:p xmlns:a="http://schemas.openxmlformats.org/drawingml/2006/main">
            <a:r>
              <a:t/>
            </a:r>
          </a:p>
          <a:p xmlns:a="http://schemas.openxmlformats.org/drawingml/2006/main">
            <a:r>
              <a:t>時間や同じ対象の記録を，分割で考慮する．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演習2：使える情報</a:t>
            </a:r>
          </a:p>
          <a:p xmlns:a="http://schemas.openxmlformats.org/drawingml/2006/main">
            <a:r>
              <a:t/>
            </a:r>
          </a:p>
          <a:p xmlns:a="http://schemas.openxmlformats.org/drawingml/2006/main">
            <a:r>
              <a:t>目安：5分／授業開始から78〜83分</a:t>
            </a:r>
          </a:p>
          <a:p xmlns:a="http://schemas.openxmlformats.org/drawingml/2006/main">
            <a:r>
              <a:t/>
            </a:r>
          </a:p>
          <a:p xmlns:a="http://schemas.openxmlformats.org/drawingml/2006/main">
            <a:r>
              <a:t>個人1分，ペア2分，理由の説明2分．AとCは予測時点で利用できる．Bはこの前提では利用できず，評価時に使うと未来の情報を漏らす．</a:t>
            </a:r>
          </a:p>
          <a:p xmlns:a="http://schemas.openxmlformats.org/drawingml/2006/main">
            <a:r>
              <a:t/>
            </a:r>
          </a:p>
          <a:p xmlns:a="http://schemas.openxmlformats.org/drawingml/2006/main">
            <a:r>
              <a:t>前日夕方に，翌日の販売数を予測したい．</a:t>
            </a:r>
          </a:p>
          <a:p xmlns:a="http://schemas.openxmlformats.org/drawingml/2006/main">
            <a:r>
              <a:t/>
            </a:r>
          </a:p>
          <a:p xmlns:a="http://schemas.openxmlformats.org/drawingml/2006/main">
            <a:r>
              <a:t>A：前日までの販売数　B：翌日の実測気温</a:t>
            </a:r>
          </a:p>
          <a:p xmlns:a="http://schemas.openxmlformats.org/drawingml/2006/main">
            <a:r>
              <a:t/>
            </a:r>
          </a:p>
          <a:p xmlns:a="http://schemas.openxmlformats.org/drawingml/2006/main">
            <a:r>
              <a:t>C：その時点で発表された翌日の天気予報</a:t>
            </a:r>
          </a:p>
          <a:p xmlns:a="http://schemas.openxmlformats.org/drawingml/2006/main">
            <a:r>
              <a:t/>
            </a:r>
          </a:p>
          <a:p xmlns:a="http://schemas.openxmlformats.org/drawingml/2006/main">
            <a:r>
              <a:t>情報を得られる時点で判断する．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言語・音声モデルの評価</a:t>
            </a:r>
          </a:p>
          <a:p xmlns:a="http://schemas.openxmlformats.org/drawingml/2006/main">
            <a:r>
              <a:t/>
            </a:r>
          </a:p>
          <a:p xmlns:a="http://schemas.openxmlformats.org/drawingml/2006/main">
            <a:r>
              <a:t>目安：4分／授業開始から83〜87分</a:t>
            </a:r>
          </a:p>
          <a:p xmlns:a="http://schemas.openxmlformats.org/drawingml/2006/main">
            <a:r>
              <a:t/>
            </a:r>
          </a:p>
          <a:p xmlns:a="http://schemas.openxmlformats.org/drawingml/2006/main">
            <a:r>
              <a:t>一つの自動指標だけで意味や使い勝手が全て分かるわけではない．音声認識は音から文字列を求める課題で，音声合成と区別する．</a:t>
            </a:r>
          </a:p>
          <a:p xmlns:a="http://schemas.openxmlformats.org/drawingml/2006/main">
            <a:r>
              <a:t/>
            </a:r>
          </a:p>
          <a:p xmlns:a="http://schemas.openxmlformats.org/drawingml/2006/main">
            <a:r>
              <a:t>文章分類 ／ 正解率，クラスごとの誤り</a:t>
            </a:r>
          </a:p>
          <a:p xmlns:a="http://schemas.openxmlformats.org/drawingml/2006/main">
            <a:r>
              <a:t>翻訳・要約 ／ 意味の保持，欠落，誤った情報</a:t>
            </a:r>
          </a:p>
          <a:p xmlns:a="http://schemas.openxmlformats.org/drawingml/2006/main">
            <a:r>
              <a:t>音声認識 ／ 文字起こしの誤り，雑音や話者による差</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Hugging Face：Automatic speech recognition</a:t>
            </a:r>
          </a:p>
          <a:p xmlns:a="http://schemas.openxmlformats.org/drawingml/2006/main">
            <a:r>
              <a:t>https://huggingface.co/docs/transformers/tasks/asr</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出口課題：Attentionが文脈に応じて何を変えるか説明する．次回はLLMの学習・生成と，生成結果の確認を扱う．</a:t>
            </a:r>
          </a:p>
          <a:p xmlns:a="http://schemas.openxmlformats.org/drawingml/2006/main">
            <a:r>
              <a:t/>
            </a:r>
          </a:p>
          <a:p xmlns:a="http://schemas.openxmlformats.org/drawingml/2006/main">
            <a:r>
              <a:t>文章はトークンと数値の表現で扱う．</a:t>
            </a:r>
          </a:p>
          <a:p xmlns:a="http://schemas.openxmlformats.org/drawingml/2006/main">
            <a:r>
              <a:t/>
            </a:r>
          </a:p>
          <a:p xmlns:a="http://schemas.openxmlformats.org/drawingml/2006/main">
            <a:r>
              <a:t>RNNは状態を引き継ぎ，Attentionは関連する情報をまとめる．</a:t>
            </a:r>
          </a:p>
          <a:p xmlns:a="http://schemas.openxmlformats.org/drawingml/2006/main">
            <a:r>
              <a:t/>
            </a:r>
          </a:p>
          <a:p xmlns:a="http://schemas.openxmlformats.org/drawingml/2006/main">
            <a:r>
              <a:t>未来の予測では，情報を得られる時点を確認する．</a:t>
            </a:r>
          </a:p>
          <a:p xmlns:a="http://schemas.openxmlformats.org/drawingml/2006/main">
            <a:r>
              <a:t/>
            </a:r>
          </a:p>
          <a:p xmlns:a="http://schemas.openxmlformats.org/drawingml/2006/main">
            <a:r>
              <a:t>次回：生成AIと大規模言語モデル</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a:p xmlns:a="http://schemas.openxmlformats.org/drawingml/2006/main">
            <a:r>
              <a:t/>
            </a:r>
          </a:p>
          <a:p xmlns:a="http://schemas.openxmlformats.org/drawingml/2006/main">
            <a:r>
              <a:t>PyTorch：RNN</a:t>
            </a:r>
          </a:p>
          <a:p xmlns:a="http://schemas.openxmlformats.org/drawingml/2006/main">
            <a:r>
              <a:t>https://docs.pytorch.org/docs/stable/generated/torch.nn.RNN.html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Google：Embeddings</a:t>
            </a:r>
          </a:p>
          <a:p xmlns:a="http://schemas.openxmlformats.org/drawingml/2006/main">
            <a:r>
              <a:t>https://developers.google.com/machine-learning/crash-course/embeddings</a:t>
            </a:r>
          </a:p>
          <a:p xmlns:a="http://schemas.openxmlformats.org/drawingml/2006/main">
            <a:r>
              <a:t/>
            </a:r>
          </a:p>
          <a:p xmlns:a="http://schemas.openxmlformats.org/drawingml/2006/main">
            <a:r>
              <a:t>PyTorch：RNN</a:t>
            </a:r>
          </a:p>
          <a:p xmlns:a="http://schemas.openxmlformats.org/drawingml/2006/main">
            <a:r>
              <a:t>https://docs.pytorch.org/docs/stable/generated/torch.nn.RNN.html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4ad5084d6645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1c9c7fda224a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9b51594c6848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27c161a72944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28851db44847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45eee5c82440c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502e66814834e2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1c2b1d19e4242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00fc7ce9b5f44c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9d8174f688142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593b44db6134d9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cc45501d774881" /><Relationship Type="http://schemas.openxmlformats.org/officeDocument/2006/relationships/slideLayout" Target="/ppt/slideLayouts/slideLayout1.xml" Id="Rdfd93050fafa4de4" /><Relationship Type="http://schemas.openxmlformats.org/officeDocument/2006/relationships/slideLayout" Target="/ppt/slideLayouts/slideLayout2.xml" Id="R57ca68087c6f4d30" /><Relationship Type="http://schemas.openxmlformats.org/officeDocument/2006/relationships/slideLayout" Target="/ppt/slideLayouts/slideLayout3.xml" Id="Rc26770506c9a4e1e" /><Relationship Type="http://schemas.openxmlformats.org/officeDocument/2006/relationships/slideLayout" Target="/ppt/slideLayouts/slideLayout4.xml" Id="R7eed91e22a4b4557" /><Relationship Type="http://schemas.openxmlformats.org/officeDocument/2006/relationships/slideLayout" Target="/ppt/slideLayouts/slideLayout5.xml" Id="R8c30f7a5a3ea4023" /><Relationship Type="http://schemas.openxmlformats.org/officeDocument/2006/relationships/slideLayout" Target="/ppt/slideLayouts/slideLayout6.xml" Id="R00f09bbaffb84f33" /><Relationship Type="http://schemas.openxmlformats.org/officeDocument/2006/relationships/slideLayout" Target="/ppt/slideLayouts/slideLayout7.xml" Id="R89d86ddf617e4630" /><Relationship Type="http://schemas.openxmlformats.org/officeDocument/2006/relationships/slideLayout" Target="/ppt/slideLayouts/slideLayout8.xml" Id="Rc1278c9f542e47b0" /><Relationship Type="http://schemas.openxmlformats.org/officeDocument/2006/relationships/slideLayout" Target="/ppt/slideLayouts/slideLayout9.xml" Id="R26622198026f4434" /><Relationship Type="http://schemas.openxmlformats.org/officeDocument/2006/relationships/slideLayout" Target="/ppt/slideLayouts/slideLayout10.xml" Id="R724fec9997494701" /><Relationship Type="http://schemas.openxmlformats.org/officeDocument/2006/relationships/slideLayout" Target="/ppt/slideLayouts/slideLayout11.xml" Id="Rb0b3bdef37a844d3"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fd93050fafa4de4"/>
    <p:sldLayoutId xmlns:r="http://schemas.openxmlformats.org/officeDocument/2006/relationships" id="2147483650" r:id="R57ca68087c6f4d30"/>
    <p:sldLayoutId xmlns:r="http://schemas.openxmlformats.org/officeDocument/2006/relationships" id="2147483651" r:id="Rc26770506c9a4e1e"/>
    <p:sldLayoutId xmlns:r="http://schemas.openxmlformats.org/officeDocument/2006/relationships" id="2147483652" r:id="R7eed91e22a4b4557"/>
    <p:sldLayoutId xmlns:r="http://schemas.openxmlformats.org/officeDocument/2006/relationships" id="2147483653" r:id="R8c30f7a5a3ea4023"/>
    <p:sldLayoutId xmlns:r="http://schemas.openxmlformats.org/officeDocument/2006/relationships" id="2147483654" r:id="R00f09bbaffb84f33"/>
    <p:sldLayoutId xmlns:r="http://schemas.openxmlformats.org/officeDocument/2006/relationships" id="2147483655" r:id="R89d86ddf617e4630"/>
    <p:sldLayoutId xmlns:r="http://schemas.openxmlformats.org/officeDocument/2006/relationships" id="2147483656" r:id="Rc1278c9f542e47b0"/>
    <p:sldLayoutId xmlns:r="http://schemas.openxmlformats.org/officeDocument/2006/relationships" id="2147483657" r:id="R26622198026f4434"/>
    <p:sldLayoutId xmlns:r="http://schemas.openxmlformats.org/officeDocument/2006/relationships" id="2147483658" r:id="R724fec9997494701"/>
    <p:sldLayoutId xmlns:r="http://schemas.openxmlformats.org/officeDocument/2006/relationships" id="2147483659" r:id="Rb0b3bdef37a844d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9d182043388a404a" /><Relationship Type="http://schemas.openxmlformats.org/officeDocument/2006/relationships/notesSlide" Target="/ppt/notesSlides/notesSlide1.xml" Id="R143fd2bcdc6b4b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a25709ef96df4ae0" /><Relationship Type="http://schemas.openxmlformats.org/officeDocument/2006/relationships/notesSlide" Target="/ppt/notesSlides/notesSlide2.xml" Id="R25474851bdba45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dfc0ec76b6284652" /><Relationship Type="http://schemas.openxmlformats.org/officeDocument/2006/relationships/notesSlide" Target="/ppt/notesSlides/notesSlide3.xml" Id="R4da4812e1a4140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e07db1741b584994" /><Relationship Type="http://schemas.openxmlformats.org/officeDocument/2006/relationships/notesSlide" Target="/ppt/notesSlides/notesSlide4.xml" Id="Rb9d710fa11294c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d50b6df6173248f8" /><Relationship Type="http://schemas.openxmlformats.org/officeDocument/2006/relationships/notesSlide" Target="/ppt/notesSlides/notesSlide5.xml" Id="Rc613ebe0095f47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60da7465aecc400a" /><Relationship Type="http://schemas.openxmlformats.org/officeDocument/2006/relationships/notesSlide" Target="/ppt/notesSlides/notesSlide6.xml" Id="Rb9028ae8cee341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c11ded68206241ce" /><Relationship Type="http://schemas.openxmlformats.org/officeDocument/2006/relationships/notesSlide" Target="/ppt/notesSlides/notesSlide7.xml" Id="Rbd06051d3ca94f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a2e261738f98410a" /><Relationship Type="http://schemas.openxmlformats.org/officeDocument/2006/relationships/notesSlide" Target="/ppt/notesSlides/notesSlide8.xml" Id="R86bc5100d83146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e21558a5839f427a" /><Relationship Type="http://schemas.openxmlformats.org/officeDocument/2006/relationships/notesSlide" Target="/ppt/notesSlides/notesSlide9.xml" Id="R70fb587aa72c46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dfdef86b6ebf4c7e" /><Relationship Type="http://schemas.openxmlformats.org/officeDocument/2006/relationships/notesSlide" Target="/ppt/notesSlides/notesSlide10.xml" Id="Rd06f16d32f5a4c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496a77966fec4035" /><Relationship Type="http://schemas.openxmlformats.org/officeDocument/2006/relationships/notesSlide" Target="/ppt/notesSlides/notesSlide11.xml" Id="R6de66a3236694f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721a9fafa6624984" /><Relationship Type="http://schemas.openxmlformats.org/officeDocument/2006/relationships/notesSlide" Target="/ppt/notesSlides/notesSlide12.xml" Id="R76bc118ecd8d4d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1793a7aa28d04779" /><Relationship Type="http://schemas.openxmlformats.org/officeDocument/2006/relationships/notesSlide" Target="/ppt/notesSlides/notesSlide13.xml" Id="Rcdaa5605dcc240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1d2c4a62886a4409" /><Relationship Type="http://schemas.openxmlformats.org/officeDocument/2006/relationships/notesSlide" Target="/ppt/notesSlides/notesSlide14.xml" Id="R98647a7601834b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6d6b625835c24a8a" /><Relationship Type="http://schemas.openxmlformats.org/officeDocument/2006/relationships/notesSlide" Target="/ppt/notesSlides/notesSlide15.xml" Id="R05166ab76d794e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f23e1580d50144bd" /><Relationship Type="http://schemas.openxmlformats.org/officeDocument/2006/relationships/notesSlide" Target="/ppt/notesSlides/notesSlide16.xml" Id="R53338c1197b942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b77dd85b92614bb7" /><Relationship Type="http://schemas.openxmlformats.org/officeDocument/2006/relationships/notesSlide" Target="/ppt/notesSlides/notesSlide17.xml" Id="Rf2804a7a13c340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5da267e554bd42a8" /><Relationship Type="http://schemas.openxmlformats.org/officeDocument/2006/relationships/notesSlide" Target="/ppt/notesSlides/notesSlide18.xml" Id="Ra23833bfd9ed4e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c3148f67556f4b1c" /><Relationship Type="http://schemas.openxmlformats.org/officeDocument/2006/relationships/notesSlide" Target="/ppt/notesSlides/notesSlide19.xml" Id="Ra46dd076989c40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016f849eb1464e1b" /><Relationship Type="http://schemas.openxmlformats.org/officeDocument/2006/relationships/notesSlide" Target="/ppt/notesSlides/notesSlide20.xml" Id="Rd992520d489b47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4a4966392af84fec" /><Relationship Type="http://schemas.openxmlformats.org/officeDocument/2006/relationships/notesSlide" Target="/ppt/notesSlides/notesSlide21.xml" Id="Rf15c16528e0243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d54612e6acf14f25" /><Relationship Type="http://schemas.openxmlformats.org/officeDocument/2006/relationships/notesSlide" Target="/ppt/notesSlides/notesSlide22.xml" Id="R71bbe4186f5b40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30b771ddce0c4a17" /><Relationship Type="http://schemas.openxmlformats.org/officeDocument/2006/relationships/notesSlide" Target="/ppt/notesSlides/notesSlide23.xml" Id="R0b2b517d33b64b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8c67347ec7144b78" /><Relationship Type="http://schemas.openxmlformats.org/officeDocument/2006/relationships/hyperlink" Target="https://developers.google.com/machine-learning/crash-course/embeddings" TargetMode="External" Id="Rbb57f7de14fd4cb2" /><Relationship Type="http://schemas.openxmlformats.org/officeDocument/2006/relationships/hyperlink" Target="https://docs.pytorch.org/docs/stable/generated/torch.nn.RNN.html" TargetMode="External" Id="R3297f85ea4e542bb" /><Relationship Type="http://schemas.openxmlformats.org/officeDocument/2006/relationships/hyperlink" Target="https://arxiv.org/abs/1706.03762" TargetMode="External" Id="Rc5fdd564943e4241" /><Relationship Type="http://schemas.openxmlformats.org/officeDocument/2006/relationships/notesSlide" Target="/ppt/notesSlides/notesSlide24.xml" Id="Raf464ceef09945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c870e22a582a4901" /><Relationship Type="http://schemas.openxmlformats.org/officeDocument/2006/relationships/hyperlink" Target="https://arxiv.org/abs/1810.04805" TargetMode="External" Id="Rd4c3406412b747b5" /><Relationship Type="http://schemas.openxmlformats.org/officeDocument/2006/relationships/hyperlink" Target="https://huggingface.co/docs/transformers/tasks/asr" TargetMode="External" Id="Rd5c8999ee8644d15" /><Relationship Type="http://schemas.openxmlformats.org/officeDocument/2006/relationships/hyperlink" Target="https://developers.google.com/machine-learning/crash-course/llm" TargetMode="External" Id="R44ac29fc024e403b" /><Relationship Type="http://schemas.openxmlformats.org/officeDocument/2006/relationships/notesSlide" Target="/ppt/notesSlides/notesSlide25.xml" Id="Rd09055e9970842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8&#10;G検定">
            <a:extLst xmlns:a="http://schemas.openxmlformats.org/drawingml/2006/main">
              <a:ext uri="{FF2B5EF4-FFF2-40B4-BE49-F238E27FC236}">
                <a16:creationId xmlns:a16="http://schemas.microsoft.com/office/drawing/2014/main" id="{18D9E5BC-00A5-4AC0-A758-E3952FD0B19F}"/>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情報技術者（民間資格）8</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言葉・時系列を扱うAI">
            <a:extLst xmlns:a="http://schemas.openxmlformats.org/drawingml/2006/main">
              <a:ext uri="{FF2B5EF4-FFF2-40B4-BE49-F238E27FC236}">
                <a16:creationId xmlns:a16="http://schemas.microsoft.com/office/drawing/2014/main" id="{73812E2E-17FC-4534-A1F5-D7AA42953A94}"/>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言葉・時系列を扱うAI</a:t>
            </a:r>
          </a:p>
        </p:txBody>
      </p:sp>
      <p:sp>
        <p:nvSpPr>
          <p:cNvPr id="3" name="第8回 ／ 90分 ／ 全25枚">
            <a:extLst xmlns:a="http://schemas.openxmlformats.org/drawingml/2006/main">
              <a:ext uri="{FF2B5EF4-FFF2-40B4-BE49-F238E27FC236}">
                <a16:creationId xmlns:a16="http://schemas.microsoft.com/office/drawing/2014/main" id="{C7128597-AC4C-4991-8EFC-0F7835A4E36C}"/>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第8回 ／ 90分 ／ 全25枚</a:t>
            </a:r>
          </a:p>
        </p:txBody>
      </p:sp>
      <p:sp>
        <p:nvSpPr>
          <p:cNvPr id="4" name="参照：Google／PyTorch">
            <a:extLst xmlns:a="http://schemas.openxmlformats.org/drawingml/2006/main">
              <a:ext uri="{FF2B5EF4-FFF2-40B4-BE49-F238E27FC236}">
                <a16:creationId xmlns:a16="http://schemas.microsoft.com/office/drawing/2014/main" id="{593D3650-01FB-462A-B02F-359A7C9D026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参照：Google／PyTorch</a:t>
            </a:r>
          </a:p>
        </p:txBody>
      </p:sp>
      <p:sp>
        <p:nvSpPr>
          <p:cNvPr id="5" name="第8回　1">
            <a:extLst xmlns:a="http://schemas.openxmlformats.org/drawingml/2006/main">
              <a:ext uri="{FF2B5EF4-FFF2-40B4-BE49-F238E27FC236}">
                <a16:creationId xmlns:a16="http://schemas.microsoft.com/office/drawing/2014/main" id="{97561864-204A-41AB-9CCB-26B073C9B5C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a:t>
            </a:r>
          </a:p>
        </p:txBody>
      </p:sp>
    </p:spTree>
    <p:extLst>
      <p:ext uri="{BB962C8B-B14F-4D97-AF65-F5344CB8AC3E}">
        <p14:creationId xmlns:p14="http://schemas.microsoft.com/office/powerpoint/2010/main" val="14522950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63E39BC2-AE36-43A4-B53D-9AFEFCF281E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C5B3BB21-4FEB-4A54-B584-988A1E5F7D0B}"/>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文章と時系列の，順序の意味を説明する．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RNNとAttentionの基本的な働きを比較する．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予測時点で使える情報と，評価方法を考える．</a:t>
            </a:r>
          </a:p>
        </p:txBody>
      </p:sp>
      <p:sp>
        <p:nvSpPr>
          <p:cNvPr id="3" name="図・設問：本教材の作例">
            <a:extLst xmlns:a="http://schemas.openxmlformats.org/drawingml/2006/main">
              <a:ext uri="{FF2B5EF4-FFF2-40B4-BE49-F238E27FC236}">
                <a16:creationId xmlns:a16="http://schemas.microsoft.com/office/drawing/2014/main" id="{AFD27A70-62F8-4CE1-8C32-C350AECBBAD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8回　2">
            <a:extLst xmlns:a="http://schemas.openxmlformats.org/drawingml/2006/main">
              <a:ext uri="{FF2B5EF4-FFF2-40B4-BE49-F238E27FC236}">
                <a16:creationId xmlns:a16="http://schemas.microsoft.com/office/drawing/2014/main" id="{12C01781-0246-4F88-914E-101821A9407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a:t>
            </a:r>
          </a:p>
        </p:txBody>
      </p:sp>
    </p:spTree>
    <p:extLst>
      <p:ext uri="{BB962C8B-B14F-4D97-AF65-F5344CB8AC3E}">
        <p14:creationId xmlns:p14="http://schemas.microsoft.com/office/powerpoint/2010/main" val="497598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順序を持つデータ">
            <a:extLst xmlns:a="http://schemas.openxmlformats.org/drawingml/2006/main">
              <a:ext uri="{FF2B5EF4-FFF2-40B4-BE49-F238E27FC236}">
                <a16:creationId xmlns:a16="http://schemas.microsoft.com/office/drawing/2014/main" id="{BB9B5B85-09FF-49CC-9765-3A7DE1F9041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順序を持つデータ</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データ</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順序が変わるとどうなるか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文章</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「犬が人を追う」と「人が犬を追う」</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時系列</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時間による変化や前後の関係</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音声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音の並びと時間の変化</a:t>
                      </a:r>
                    </a:p>
                  </a:txBody>
                  <a:tcPr marL="76200" marR="76200" marT="47625" marB="47625" anchor="ctr">
                    <a:solidFill>
                      <a:srgbClr val="FFFFFF"/>
                    </a:solidFill>
                  </a:tcPr>
                </a:tc>
              </a:tr>
            </a:tbl>
          </a:graphicData>
        </a:graphic>
      </p:graphicFrame>
      <p:sp>
        <p:nvSpPr>
          <p:cNvPr id="3" name="参照：PyTorch／Hugging Face">
            <a:extLst xmlns:a="http://schemas.openxmlformats.org/drawingml/2006/main">
              <a:ext uri="{FF2B5EF4-FFF2-40B4-BE49-F238E27FC236}">
                <a16:creationId xmlns:a16="http://schemas.microsoft.com/office/drawing/2014/main" id="{6B908522-C02F-41F9-A9FD-1807BE409DC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参照：PyTorch／Hugging Face</a:t>
            </a:r>
          </a:p>
        </p:txBody>
      </p:sp>
      <p:sp>
        <p:nvSpPr>
          <p:cNvPr id="4" name="第8回　3">
            <a:extLst xmlns:a="http://schemas.openxmlformats.org/drawingml/2006/main">
              <a:ext uri="{FF2B5EF4-FFF2-40B4-BE49-F238E27FC236}">
                <a16:creationId xmlns:a16="http://schemas.microsoft.com/office/drawing/2014/main" id="{C1BEC372-60F3-4101-8457-074DD49DB24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3</a:t>
            </a:r>
          </a:p>
        </p:txBody>
      </p:sp>
    </p:spTree>
    <p:extLst>
      <p:ext uri="{BB962C8B-B14F-4D97-AF65-F5344CB8AC3E}">
        <p14:creationId xmlns:p14="http://schemas.microsoft.com/office/powerpoint/2010/main" val="1634702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文章をモデルへ入力する流れ">
            <a:extLst xmlns:a="http://schemas.openxmlformats.org/drawingml/2006/main">
              <a:ext uri="{FF2B5EF4-FFF2-40B4-BE49-F238E27FC236}">
                <a16:creationId xmlns:a16="http://schemas.microsoft.com/office/drawing/2014/main" id="{4E31EA30-FF58-482D-9F20-6C44E059F5E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文章をモデルへ入力する流れ</a:t>
            </a:r>
          </a:p>
        </p:txBody>
      </p:sp>
      <p:sp>
        <p:nvSpPr>
          <p:cNvPr id="2" name="文章">
            <a:extLst xmlns:a="http://schemas.openxmlformats.org/drawingml/2006/main">
              <a:ext uri="{FF2B5EF4-FFF2-40B4-BE49-F238E27FC236}">
                <a16:creationId xmlns:a16="http://schemas.microsoft.com/office/drawing/2014/main" id="{B9F8D383-F87F-4534-B62D-761E00C02A14}"/>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文章</a:t>
            </a:r>
          </a:p>
        </p:txBody>
      </p:sp>
      <p:sp>
        <p:nvSpPr>
          <p:cNvPr id="3" name="トークンに分割">
            <a:extLst xmlns:a="http://schemas.openxmlformats.org/drawingml/2006/main">
              <a:ext uri="{FF2B5EF4-FFF2-40B4-BE49-F238E27FC236}">
                <a16:creationId xmlns:a16="http://schemas.microsoft.com/office/drawing/2014/main" id="{CDA23DD3-AB86-4CAF-B744-711FB48CA1A3}"/>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トークンに分割</a:t>
            </a:r>
          </a:p>
        </p:txBody>
      </p:sp>
      <p:sp>
        <p:nvSpPr>
          <p:cNvPr id="4" name="数値の表現">
            <a:extLst xmlns:a="http://schemas.openxmlformats.org/drawingml/2006/main">
              <a:ext uri="{FF2B5EF4-FFF2-40B4-BE49-F238E27FC236}">
                <a16:creationId xmlns:a16="http://schemas.microsoft.com/office/drawing/2014/main" id="{245A7EFD-1981-483B-AB16-968B2009672A}"/>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数値の表現</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Google">
            <a:extLst xmlns:a="http://schemas.openxmlformats.org/drawingml/2006/main">
              <a:ext uri="{FF2B5EF4-FFF2-40B4-BE49-F238E27FC236}">
                <a16:creationId xmlns:a16="http://schemas.microsoft.com/office/drawing/2014/main" id="{910FDA57-A380-4188-91D7-707524278A7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8" name="第8回　4">
            <a:extLst xmlns:a="http://schemas.openxmlformats.org/drawingml/2006/main">
              <a:ext uri="{FF2B5EF4-FFF2-40B4-BE49-F238E27FC236}">
                <a16:creationId xmlns:a16="http://schemas.microsoft.com/office/drawing/2014/main" id="{61B4B6EB-1F9C-4091-ABE7-E68A7917013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4</a:t>
            </a:r>
          </a:p>
        </p:txBody>
      </p:sp>
    </p:spTree>
    <p:extLst>
      <p:ext uri="{BB962C8B-B14F-4D97-AF65-F5344CB8AC3E}">
        <p14:creationId xmlns:p14="http://schemas.microsoft.com/office/powerpoint/2010/main" val="6556858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ワンホット表現の例">
            <a:extLst xmlns:a="http://schemas.openxmlformats.org/drawingml/2006/main">
              <a:ext uri="{FF2B5EF4-FFF2-40B4-BE49-F238E27FC236}">
                <a16:creationId xmlns:a16="http://schemas.microsoft.com/office/drawing/2014/main" id="{E1D877B0-BF83-41B9-80EE-851AD142DBA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ワンホット表現の例</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331720"/>
                <a:gridCol w="2011680"/>
                <a:gridCol w="2011680"/>
                <a:gridCol w="2011680"/>
              </a:tblGrid>
              <a:tr h="630936">
                <a:tc>
                  <a:txBody>
                    <a:bodyPr>
                      <a:noAutofit/>
                    </a:bodyPr>
                    <a:lstStyle/>
                    <a:p>
                      <a:pPr algn="ctr"/>
                      <a:r>
                        <a:rPr sz="1800" b="1" lang="ja-JP">
                          <a:solidFill>
                            <a:srgbClr val="000000"/>
                          </a:solidFill>
                          <a:latin typeface="Arial"/>
                          <a:ea typeface="ＭＳ Ｐゴシック"/>
                          <a:cs typeface="ＭＳ Ｐゴシック"/>
                        </a:rPr>
                        <a:t>語</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猫</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犬</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鳥</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犬</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鳥</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a:t>
                      </a:r>
                    </a:p>
                  </a:txBody>
                  <a:tcPr marL="76200" marR="76200" marT="47625" marB="47625" anchor="ctr">
                    <a:solidFill>
                      <a:srgbClr val="FFFFFF"/>
                    </a:solidFill>
                  </a:tcPr>
                </a:tc>
              </a:tr>
            </a:tbl>
          </a:graphicData>
        </a:graphic>
      </p:graphicFrame>
      <p:sp>
        <p:nvSpPr>
          <p:cNvPr id="3" name="この表現だけでは，語の近さを表さない．">
            <a:extLst xmlns:a="http://schemas.openxmlformats.org/drawingml/2006/main">
              <a:ext uri="{FF2B5EF4-FFF2-40B4-BE49-F238E27FC236}">
                <a16:creationId xmlns:a16="http://schemas.microsoft.com/office/drawing/2014/main" id="{328D59DA-0E4A-4181-8A26-E5541FE9A5F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この表現だけでは，語の近さを表さない．</a:t>
            </a:r>
          </a:p>
        </p:txBody>
      </p:sp>
      <p:sp>
        <p:nvSpPr>
          <p:cNvPr id="4" name="参照：Google">
            <a:extLst xmlns:a="http://schemas.openxmlformats.org/drawingml/2006/main">
              <a:ext uri="{FF2B5EF4-FFF2-40B4-BE49-F238E27FC236}">
                <a16:creationId xmlns:a16="http://schemas.microsoft.com/office/drawing/2014/main" id="{28610EF5-25F2-49C4-A42C-5F828A90D4E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8回　5">
            <a:extLst xmlns:a="http://schemas.openxmlformats.org/drawingml/2006/main">
              <a:ext uri="{FF2B5EF4-FFF2-40B4-BE49-F238E27FC236}">
                <a16:creationId xmlns:a16="http://schemas.microsoft.com/office/drawing/2014/main" id="{10AE1892-33EB-488E-99EA-5CE7845B9BE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5</a:t>
            </a:r>
          </a:p>
        </p:txBody>
      </p:sp>
    </p:spTree>
    <p:extLst>
      <p:ext uri="{BB962C8B-B14F-4D97-AF65-F5344CB8AC3E}">
        <p14:creationId xmlns:p14="http://schemas.microsoft.com/office/powerpoint/2010/main" val="15932557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埋め込み表現">
            <a:extLst xmlns:a="http://schemas.openxmlformats.org/drawingml/2006/main">
              <a:ext uri="{FF2B5EF4-FFF2-40B4-BE49-F238E27FC236}">
                <a16:creationId xmlns:a16="http://schemas.microsoft.com/office/drawing/2014/main" id="{91D9BDC8-1F73-4902-A567-73DB6802FD9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埋め込み表現</a:t>
            </a:r>
          </a:p>
        </p:txBody>
      </p:sp>
      <p:sp>
        <p:nvSpPr>
          <p:cNvPr id="2" name="">
            <a:extLst xmlns:a="http://schemas.openxmlformats.org/drawingml/2006/main">
              <a:ext uri="{FF2B5EF4-FFF2-40B4-BE49-F238E27FC236}">
                <a16:creationId xmlns:a16="http://schemas.microsoft.com/office/drawing/2014/main" id="{E96A7052-F49D-472E-9174-9EB7C688852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語などを，複数の数値からなるベクトルで表す．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利用するデータや目的から，表現を学ぶ．</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ベクトルの近さを，関連の手がかりとして使う．</a:t>
            </a:r>
          </a:p>
        </p:txBody>
      </p:sp>
      <p:sp>
        <p:nvSpPr>
          <p:cNvPr id="3" name="参照：Google">
            <a:extLst xmlns:a="http://schemas.openxmlformats.org/drawingml/2006/main">
              <a:ext uri="{FF2B5EF4-FFF2-40B4-BE49-F238E27FC236}">
                <a16:creationId xmlns:a16="http://schemas.microsoft.com/office/drawing/2014/main" id="{32D06AA4-D2E3-4BBA-9CB8-79B949E686B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8回　6">
            <a:extLst xmlns:a="http://schemas.openxmlformats.org/drawingml/2006/main">
              <a:ext uri="{FF2B5EF4-FFF2-40B4-BE49-F238E27FC236}">
                <a16:creationId xmlns:a16="http://schemas.microsoft.com/office/drawing/2014/main" id="{97373C16-1A13-4474-967D-E19401065DD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6</a:t>
            </a:r>
          </a:p>
        </p:txBody>
      </p:sp>
    </p:spTree>
    <p:extLst>
      <p:ext uri="{BB962C8B-B14F-4D97-AF65-F5344CB8AC3E}">
        <p14:creationId xmlns:p14="http://schemas.microsoft.com/office/powerpoint/2010/main" val="9294301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文脈によって変わる表現">
            <a:extLst xmlns:a="http://schemas.openxmlformats.org/drawingml/2006/main">
              <a:ext uri="{FF2B5EF4-FFF2-40B4-BE49-F238E27FC236}">
                <a16:creationId xmlns:a16="http://schemas.microsoft.com/office/drawing/2014/main" id="{EA2031EB-AAE1-4864-9B8D-A4EF59B5E3D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文脈によって変わる表現</a:t>
            </a:r>
          </a:p>
        </p:txBody>
      </p:sp>
      <p:sp>
        <p:nvSpPr>
          <p:cNvPr id="2" name="">
            <a:extLst xmlns:a="http://schemas.openxmlformats.org/drawingml/2006/main">
              <a:ext uri="{FF2B5EF4-FFF2-40B4-BE49-F238E27FC236}">
                <a16:creationId xmlns:a16="http://schemas.microsoft.com/office/drawing/2014/main" id="{34E6DF0C-3F60-461C-B04A-148AC63517FE}"/>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同じ語でも，周りの語によって意味が変わる．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英語のbankは，文脈で「銀行」や「川岸」を表す．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文脈を使い，語の表現を計算するモデルがある．</a:t>
            </a:r>
          </a:p>
        </p:txBody>
      </p:sp>
      <p:sp>
        <p:nvSpPr>
          <p:cNvPr id="3" name="参照：Google／Devlin et al.">
            <a:extLst xmlns:a="http://schemas.openxmlformats.org/drawingml/2006/main">
              <a:ext uri="{FF2B5EF4-FFF2-40B4-BE49-F238E27FC236}">
                <a16:creationId xmlns:a16="http://schemas.microsoft.com/office/drawing/2014/main" id="{96E29B94-41B8-44E4-AA5C-5423A13E198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参照：Google／Devlin et al.</a:t>
            </a:r>
          </a:p>
        </p:txBody>
      </p:sp>
      <p:sp>
        <p:nvSpPr>
          <p:cNvPr id="4" name="第8回　7">
            <a:extLst xmlns:a="http://schemas.openxmlformats.org/drawingml/2006/main">
              <a:ext uri="{FF2B5EF4-FFF2-40B4-BE49-F238E27FC236}">
                <a16:creationId xmlns:a16="http://schemas.microsoft.com/office/drawing/2014/main" id="{7C80AD3F-7618-4C20-960E-3FBA3D1DD32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7</a:t>
            </a:r>
          </a:p>
        </p:txBody>
      </p:sp>
    </p:spTree>
    <p:extLst>
      <p:ext uri="{BB962C8B-B14F-4D97-AF65-F5344CB8AC3E}">
        <p14:creationId xmlns:p14="http://schemas.microsoft.com/office/powerpoint/2010/main" val="18621232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RNNの基本的な考え方">
            <a:extLst xmlns:a="http://schemas.openxmlformats.org/drawingml/2006/main">
              <a:ext uri="{FF2B5EF4-FFF2-40B4-BE49-F238E27FC236}">
                <a16:creationId xmlns:a16="http://schemas.microsoft.com/office/drawing/2014/main" id="{60324065-3E88-4914-B161-2473B303B4D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RNNの基本的な考え方</a:t>
            </a:r>
          </a:p>
        </p:txBody>
      </p:sp>
      <p:sp>
        <p:nvSpPr>
          <p:cNvPr id="2" name="前の状態">
            <a:extLst xmlns:a="http://schemas.openxmlformats.org/drawingml/2006/main">
              <a:ext uri="{FF2B5EF4-FFF2-40B4-BE49-F238E27FC236}">
                <a16:creationId xmlns:a16="http://schemas.microsoft.com/office/drawing/2014/main" id="{144CB2EE-4FC0-406E-9A4B-0EA79C6F363C}"/>
              </a:ext>
            </a:extLst>
          </p:cNvPr>
          <p:cNvSpPr>
            <a:spLocks xmlns:a="http://schemas.openxmlformats.org/drawingml/2006/main" noGrp="1"/>
          </p:cNvSpPr>
          <p:nvPr/>
        </p:nvSpPr>
        <p:spPr>
          <a:xfrm xmlns:a="http://schemas.openxmlformats.org/drawingml/2006/main">
            <a:off x="640080" y="2057400"/>
            <a:ext cx="2103120" cy="77724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前の状態</a:t>
            </a:r>
          </a:p>
        </p:txBody>
      </p:sp>
      <p:sp>
        <p:nvSpPr>
          <p:cNvPr id="3" name="今の入力と&#10;状態を更新">
            <a:extLst xmlns:a="http://schemas.openxmlformats.org/drawingml/2006/main">
              <a:ext uri="{FF2B5EF4-FFF2-40B4-BE49-F238E27FC236}">
                <a16:creationId xmlns:a16="http://schemas.microsoft.com/office/drawing/2014/main" id="{D2DF20B6-300E-434A-8426-C117ADE48AEE}"/>
              </a:ext>
            </a:extLst>
          </p:cNvPr>
          <p:cNvSpPr>
            <a:spLocks xmlns:a="http://schemas.openxmlformats.org/drawingml/2006/main" noGrp="1"/>
          </p:cNvSpPr>
          <p:nvPr/>
        </p:nvSpPr>
        <p:spPr>
          <a:xfrm xmlns:a="http://schemas.openxmlformats.org/drawingml/2006/main">
            <a:off x="3337560" y="2057400"/>
            <a:ext cx="2468880" cy="77724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今の入力と</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状態を更新</a:t>
            </a:r>
          </a:p>
        </p:txBody>
      </p:sp>
      <p:sp>
        <p:nvSpPr>
          <p:cNvPr id="4" name="次の状態">
            <a:extLst xmlns:a="http://schemas.openxmlformats.org/drawingml/2006/main">
              <a:ext uri="{FF2B5EF4-FFF2-40B4-BE49-F238E27FC236}">
                <a16:creationId xmlns:a16="http://schemas.microsoft.com/office/drawing/2014/main" id="{ABBD534C-6591-400F-A029-C89EA5B326FE}"/>
              </a:ext>
            </a:extLst>
          </p:cNvPr>
          <p:cNvSpPr>
            <a:spLocks xmlns:a="http://schemas.openxmlformats.org/drawingml/2006/main" noGrp="1"/>
          </p:cNvSpPr>
          <p:nvPr/>
        </p:nvSpPr>
        <p:spPr>
          <a:xfrm xmlns:a="http://schemas.openxmlformats.org/drawingml/2006/main">
            <a:off x="6400800" y="2057400"/>
            <a:ext cx="2103120" cy="77724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次の状態</a:t>
            </a:r>
          </a:p>
        </p:txBody>
      </p:sp>
      <p:sp>
        <p:nvSpPr>
          <p:cNvPr id="5" name="今の入力">
            <a:extLst xmlns:a="http://schemas.openxmlformats.org/drawingml/2006/main">
              <a:ext uri="{FF2B5EF4-FFF2-40B4-BE49-F238E27FC236}">
                <a16:creationId xmlns:a16="http://schemas.microsoft.com/office/drawing/2014/main" id="{BCE4B4CB-A4C5-4D21-A802-9A5C276398B5}"/>
              </a:ext>
            </a:extLst>
          </p:cNvPr>
          <p:cNvSpPr>
            <a:spLocks xmlns:a="http://schemas.openxmlformats.org/drawingml/2006/main" noGrp="1"/>
          </p:cNvSpPr>
          <p:nvPr/>
        </p:nvSpPr>
        <p:spPr>
          <a:xfrm xmlns:a="http://schemas.openxmlformats.org/drawingml/2006/main">
            <a:off x="3520440" y="1143000"/>
            <a:ext cx="2103120" cy="576072"/>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今の入力</a:t>
            </a:r>
          </a:p>
        </p:txBody>
      </p:sp>
      <p:cxnSp>
        <p:nvCxnSpPr>
          <p:cNvPr id="16" name=""/>
          <p:cNvCxnSpPr>
            <a:stCxn xmlns:a="http://schemas.openxmlformats.org/drawingml/2006/main" id="2" idx="3"/>
            <a:endCxn xmlns:a="http://schemas.openxmlformats.org/drawingml/2006/main" id="3" idx="1"/>
          </p:cNvCxnSpPr>
          <p:nvPr/>
        </p:nvCxnSpPr>
        <p:spPr>
          <a:xfrm xmlns:a="http://schemas.openxmlformats.org/drawingml/2006/main">
            <a:off x="2743200" y="2446020"/>
            <a:ext cx="594360"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5806440" y="2446020"/>
            <a:ext cx="594360"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8" name=""/>
          <p:cNvCxnSpPr>
            <a:stCxn xmlns:a="http://schemas.openxmlformats.org/drawingml/2006/main" id="5" idx="2"/>
            <a:endCxn xmlns:a="http://schemas.openxmlformats.org/drawingml/2006/main" id="3" idx="0"/>
          </p:cNvCxnSpPr>
          <p:nvPr/>
        </p:nvCxnSpPr>
        <p:spPr>
          <a:xfrm xmlns:a="http://schemas.openxmlformats.org/drawingml/2006/main">
            <a:off x="4572000" y="1719072"/>
            <a:ext cx="0" cy="338328"/>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9" name="参照：PyTorch">
            <a:extLst xmlns:a="http://schemas.openxmlformats.org/drawingml/2006/main">
              <a:ext uri="{FF2B5EF4-FFF2-40B4-BE49-F238E27FC236}">
                <a16:creationId xmlns:a16="http://schemas.microsoft.com/office/drawing/2014/main" id="{097E2FDB-CA47-4190-9D08-036835E53B9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10" name="第8回　8">
            <a:extLst xmlns:a="http://schemas.openxmlformats.org/drawingml/2006/main">
              <a:ext uri="{FF2B5EF4-FFF2-40B4-BE49-F238E27FC236}">
                <a16:creationId xmlns:a16="http://schemas.microsoft.com/office/drawing/2014/main" id="{D49325E8-EC63-42A1-BCEA-5CC4D00B91C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8</a:t>
            </a:r>
          </a:p>
        </p:txBody>
      </p:sp>
    </p:spTree>
    <p:extLst>
      <p:ext uri="{BB962C8B-B14F-4D97-AF65-F5344CB8AC3E}">
        <p14:creationId xmlns:p14="http://schemas.microsoft.com/office/powerpoint/2010/main" val="13043630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系列モデルの入出力">
            <a:extLst xmlns:a="http://schemas.openxmlformats.org/drawingml/2006/main">
              <a:ext uri="{FF2B5EF4-FFF2-40B4-BE49-F238E27FC236}">
                <a16:creationId xmlns:a16="http://schemas.microsoft.com/office/drawing/2014/main" id="{BE9F9E3A-A518-40D8-B2A3-D96411ECA71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系列モデルの入出力</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課題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入力</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出力</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文章分類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語の系列</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文章のカテゴリ</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時系列予測</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過去の数値の系列</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将来の値</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翻訳</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一方の言語の系列</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別の言語の系列</a:t>
                      </a:r>
                    </a:p>
                  </a:txBody>
                  <a:tcPr marL="76200" marR="76200" marT="47625" marB="47625" anchor="ctr">
                    <a:solidFill>
                      <a:srgbClr val="FFFFFF"/>
                    </a:solidFill>
                  </a:tcPr>
                </a:tc>
              </a:tr>
            </a:tbl>
          </a:graphicData>
        </a:graphic>
      </p:graphicFrame>
      <p:sp>
        <p:nvSpPr>
          <p:cNvPr id="3" name="参照：PyTorch／Vaswani et al.">
            <a:extLst xmlns:a="http://schemas.openxmlformats.org/drawingml/2006/main">
              <a:ext uri="{FF2B5EF4-FFF2-40B4-BE49-F238E27FC236}">
                <a16:creationId xmlns:a16="http://schemas.microsoft.com/office/drawing/2014/main" id="{9E38F613-11D0-4B6D-AABD-403E8BE6D51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参照：PyTorch／Vaswani et al.</a:t>
            </a:r>
          </a:p>
        </p:txBody>
      </p:sp>
      <p:sp>
        <p:nvSpPr>
          <p:cNvPr id="4" name="第8回　9">
            <a:extLst xmlns:a="http://schemas.openxmlformats.org/drawingml/2006/main">
              <a:ext uri="{FF2B5EF4-FFF2-40B4-BE49-F238E27FC236}">
                <a16:creationId xmlns:a16="http://schemas.microsoft.com/office/drawing/2014/main" id="{930FED4E-CF23-4737-9326-71181CB1321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9</a:t>
            </a:r>
          </a:p>
        </p:txBody>
      </p:sp>
    </p:spTree>
    <p:extLst>
      <p:ext uri="{BB962C8B-B14F-4D97-AF65-F5344CB8AC3E}">
        <p14:creationId xmlns:p14="http://schemas.microsoft.com/office/powerpoint/2010/main" val="20754403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長い系列とRNNの課題">
            <a:extLst xmlns:a="http://schemas.openxmlformats.org/drawingml/2006/main">
              <a:ext uri="{FF2B5EF4-FFF2-40B4-BE49-F238E27FC236}">
                <a16:creationId xmlns:a16="http://schemas.microsoft.com/office/drawing/2014/main" id="{79D65158-3882-4D28-9227-84ECC78820A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長い系列とRNNの課題</a:t>
            </a:r>
          </a:p>
        </p:txBody>
      </p:sp>
      <p:sp>
        <p:nvSpPr>
          <p:cNvPr id="2" name="">
            <a:extLst xmlns:a="http://schemas.openxmlformats.org/drawingml/2006/main">
              <a:ext uri="{FF2B5EF4-FFF2-40B4-BE49-F238E27FC236}">
                <a16:creationId xmlns:a16="http://schemas.microsoft.com/office/drawing/2014/main" id="{61268AC4-772A-4DB3-9075-72AFD4F239F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遠く離れた情報を学ぶことが難しい場合がある．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学習時に勾配が小さくなったり，大きくなったりする．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入力を順に処理するため，並列化にも制約がある．</a:t>
            </a:r>
          </a:p>
        </p:txBody>
      </p:sp>
      <p:sp>
        <p:nvSpPr>
          <p:cNvPr id="3" name="参照：PyTorch／Google">
            <a:extLst xmlns:a="http://schemas.openxmlformats.org/drawingml/2006/main">
              <a:ext uri="{FF2B5EF4-FFF2-40B4-BE49-F238E27FC236}">
                <a16:creationId xmlns:a16="http://schemas.microsoft.com/office/drawing/2014/main" id="{01E32606-A96E-49D2-8E92-7EEEA54ECB8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参照：PyTorch／Google</a:t>
            </a:r>
          </a:p>
        </p:txBody>
      </p:sp>
      <p:sp>
        <p:nvSpPr>
          <p:cNvPr id="4" name="第8回　10">
            <a:extLst xmlns:a="http://schemas.openxmlformats.org/drawingml/2006/main">
              <a:ext uri="{FF2B5EF4-FFF2-40B4-BE49-F238E27FC236}">
                <a16:creationId xmlns:a16="http://schemas.microsoft.com/office/drawing/2014/main" id="{73C30FBD-55A3-4558-93F6-D26155F551F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10</a:t>
            </a:r>
          </a:p>
        </p:txBody>
      </p:sp>
    </p:spTree>
    <p:extLst>
      <p:ext uri="{BB962C8B-B14F-4D97-AF65-F5344CB8AC3E}">
        <p14:creationId xmlns:p14="http://schemas.microsoft.com/office/powerpoint/2010/main" val="12741209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STM・GRUの考え方">
            <a:extLst xmlns:a="http://schemas.openxmlformats.org/drawingml/2006/main">
              <a:ext uri="{FF2B5EF4-FFF2-40B4-BE49-F238E27FC236}">
                <a16:creationId xmlns:a16="http://schemas.microsoft.com/office/drawing/2014/main" id="{411D571E-B083-448F-9D8D-96BFA10F9CE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LSTM・GRUの考え方</a:t>
            </a:r>
          </a:p>
        </p:txBody>
      </p:sp>
      <p:sp>
        <p:nvSpPr>
          <p:cNvPr id="2" name="">
            <a:extLst xmlns:a="http://schemas.openxmlformats.org/drawingml/2006/main">
              <a:ext uri="{FF2B5EF4-FFF2-40B4-BE49-F238E27FC236}">
                <a16:creationId xmlns:a16="http://schemas.microsoft.com/office/drawing/2014/main" id="{AE00D0E0-BB5B-4632-83CC-C8F552AAE74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状態にどの情報を残すかを，ゲートで調整する．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単純なRNNで難しい依存関係を扱う工夫を持つ．</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長い系列の問題を，全て解決するわけではない．</a:t>
            </a:r>
          </a:p>
        </p:txBody>
      </p:sp>
      <p:sp>
        <p:nvSpPr>
          <p:cNvPr id="3" name="参照：PyTorch">
            <a:extLst xmlns:a="http://schemas.openxmlformats.org/drawingml/2006/main">
              <a:ext uri="{FF2B5EF4-FFF2-40B4-BE49-F238E27FC236}">
                <a16:creationId xmlns:a16="http://schemas.microsoft.com/office/drawing/2014/main" id="{8466E764-66FF-4E3F-9B2C-A7267C23696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4" name="第8回　11">
            <a:extLst xmlns:a="http://schemas.openxmlformats.org/drawingml/2006/main">
              <a:ext uri="{FF2B5EF4-FFF2-40B4-BE49-F238E27FC236}">
                <a16:creationId xmlns:a16="http://schemas.microsoft.com/office/drawing/2014/main" id="{B47BB094-03F8-4485-A3F4-C560EBDB10D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11</a:t>
            </a:r>
          </a:p>
        </p:txBody>
      </p:sp>
    </p:spTree>
    <p:extLst>
      <p:ext uri="{BB962C8B-B14F-4D97-AF65-F5344CB8AC3E}">
        <p14:creationId xmlns:p14="http://schemas.microsoft.com/office/powerpoint/2010/main" val="11105461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ttentionの役割">
            <a:extLst xmlns:a="http://schemas.openxmlformats.org/drawingml/2006/main">
              <a:ext uri="{FF2B5EF4-FFF2-40B4-BE49-F238E27FC236}">
                <a16:creationId xmlns:a16="http://schemas.microsoft.com/office/drawing/2014/main" id="{A997908F-504E-4344-9DA6-6B498DD6459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Attentionの役割</a:t>
            </a:r>
          </a:p>
        </p:txBody>
      </p:sp>
      <p:sp>
        <p:nvSpPr>
          <p:cNvPr id="2" name="">
            <a:extLst xmlns:a="http://schemas.openxmlformats.org/drawingml/2006/main">
              <a:ext uri="{FF2B5EF4-FFF2-40B4-BE49-F238E27FC236}">
                <a16:creationId xmlns:a16="http://schemas.microsoft.com/office/drawing/2014/main" id="{0D952461-6F0E-45F3-9CD1-229C0618D92B}"/>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ある位置の計算で，関連する位置の情報を使う．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位置ごとの関連の強さから，重みを計算する．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重み付きの和で，参照する情報をまとめる．</a:t>
            </a:r>
          </a:p>
        </p:txBody>
      </p:sp>
      <p:sp>
        <p:nvSpPr>
          <p:cNvPr id="3" name="参照：Vaswani et al.">
            <a:extLst xmlns:a="http://schemas.openxmlformats.org/drawingml/2006/main">
              <a:ext uri="{FF2B5EF4-FFF2-40B4-BE49-F238E27FC236}">
                <a16:creationId xmlns:a16="http://schemas.microsoft.com/office/drawing/2014/main" id="{471AF9FA-1905-4E6C-B9ED-5DC8C20E877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a:t>
            </a:r>
          </a:p>
        </p:txBody>
      </p:sp>
      <p:sp>
        <p:nvSpPr>
          <p:cNvPr id="4" name="第8回　12">
            <a:extLst xmlns:a="http://schemas.openxmlformats.org/drawingml/2006/main">
              <a:ext uri="{FF2B5EF4-FFF2-40B4-BE49-F238E27FC236}">
                <a16:creationId xmlns:a16="http://schemas.microsoft.com/office/drawing/2014/main" id="{CDEA69B1-AFA5-4EE0-975C-FBA73F30B27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12</a:t>
            </a:r>
          </a:p>
        </p:txBody>
      </p:sp>
    </p:spTree>
    <p:extLst>
      <p:ext uri="{BB962C8B-B14F-4D97-AF65-F5344CB8AC3E}">
        <p14:creationId xmlns:p14="http://schemas.microsoft.com/office/powerpoint/2010/main" val="270410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ttentionの重み付きの和">
            <a:extLst xmlns:a="http://schemas.openxmlformats.org/drawingml/2006/main">
              <a:ext uri="{FF2B5EF4-FFF2-40B4-BE49-F238E27FC236}">
                <a16:creationId xmlns:a16="http://schemas.microsoft.com/office/drawing/2014/main" id="{546C75F3-5C8F-40D7-80AD-890130D5D81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Attentionの重み付きの和</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位置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値 v</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重み</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A</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0.1</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B</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4</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0.6</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C</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8</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0.3</a:t>
                      </a:r>
                    </a:p>
                  </a:txBody>
                  <a:tcPr marL="76200" marR="76200" marT="47625" marB="47625" anchor="ctr">
                    <a:solidFill>
                      <a:srgbClr val="FFFFFF"/>
                    </a:solidFill>
                  </a:tcPr>
                </a:tc>
              </a:tr>
            </a:tbl>
          </a:graphicData>
        </a:graphic>
      </p:graphicFrame>
      <p:sp>
        <p:nvSpPr>
          <p:cNvPr id="3" name="2×0.1＋4×0.6＋8×0.3 を計算する．">
            <a:extLst xmlns:a="http://schemas.openxmlformats.org/drawingml/2006/main">
              <a:ext uri="{FF2B5EF4-FFF2-40B4-BE49-F238E27FC236}">
                <a16:creationId xmlns:a16="http://schemas.microsoft.com/office/drawing/2014/main" id="{ABBA80A6-5ADE-47D8-96E9-67BD2872F915}"/>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2×0.1＋4×0.6＋8×0.3 を計算する．</a:t>
            </a:r>
          </a:p>
        </p:txBody>
      </p:sp>
      <p:sp>
        <p:nvSpPr>
          <p:cNvPr id="4" name="参照：Vaswani et al.">
            <a:extLst xmlns:a="http://schemas.openxmlformats.org/drawingml/2006/main">
              <a:ext uri="{FF2B5EF4-FFF2-40B4-BE49-F238E27FC236}">
                <a16:creationId xmlns:a16="http://schemas.microsoft.com/office/drawing/2014/main" id="{D12BC73B-E18B-44D4-8B10-12F48C54728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a:t>
            </a:r>
          </a:p>
        </p:txBody>
      </p:sp>
      <p:sp>
        <p:nvSpPr>
          <p:cNvPr id="5" name="第8回　13">
            <a:extLst xmlns:a="http://schemas.openxmlformats.org/drawingml/2006/main">
              <a:ext uri="{FF2B5EF4-FFF2-40B4-BE49-F238E27FC236}">
                <a16:creationId xmlns:a16="http://schemas.microsoft.com/office/drawing/2014/main" id="{9EEDCE66-48C1-43FF-BBA8-A1BDA0E3434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13</a:t>
            </a:r>
          </a:p>
        </p:txBody>
      </p:sp>
    </p:spTree>
    <p:extLst>
      <p:ext uri="{BB962C8B-B14F-4D97-AF65-F5344CB8AC3E}">
        <p14:creationId xmlns:p14="http://schemas.microsoft.com/office/powerpoint/2010/main" val="11058550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Attentionの計算">
            <a:extLst xmlns:a="http://schemas.openxmlformats.org/drawingml/2006/main">
              <a:ext uri="{FF2B5EF4-FFF2-40B4-BE49-F238E27FC236}">
                <a16:creationId xmlns:a16="http://schemas.microsoft.com/office/drawing/2014/main" id="{1FD24528-36B3-4620-8858-BFE29B4BFFF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演習1：Attentionの計算</a:t>
            </a:r>
          </a:p>
        </p:txBody>
      </p:sp>
      <p:sp>
        <p:nvSpPr>
          <p:cNvPr id="2" name="">
            <a:extLst xmlns:a="http://schemas.openxmlformats.org/drawingml/2006/main">
              <a:ext uri="{FF2B5EF4-FFF2-40B4-BE49-F238E27FC236}">
                <a16:creationId xmlns:a16="http://schemas.microsoft.com/office/drawing/2014/main" id="{B7B6885A-AD65-4960-8A75-AB84CBD4A53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前ページの重み付きの和を求める．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三つの値を同じ重み1/3にした場合と比べる．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最も大きな重みが付いた位置はどこか？</a:t>
            </a:r>
          </a:p>
        </p:txBody>
      </p:sp>
      <p:sp>
        <p:nvSpPr>
          <p:cNvPr id="3" name="重みの違いが，まとめた値に影響する．">
            <a:extLst xmlns:a="http://schemas.openxmlformats.org/drawingml/2006/main">
              <a:ext uri="{FF2B5EF4-FFF2-40B4-BE49-F238E27FC236}">
                <a16:creationId xmlns:a16="http://schemas.microsoft.com/office/drawing/2014/main" id="{8B509080-12CB-4C11-BA07-A6871135C618}"/>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重みの違いが，まとめた値に影響する．</a:t>
            </a:r>
          </a:p>
        </p:txBody>
      </p:sp>
      <p:sp>
        <p:nvSpPr>
          <p:cNvPr id="4" name="図・設問：本教材の作例">
            <a:extLst xmlns:a="http://schemas.openxmlformats.org/drawingml/2006/main">
              <a:ext uri="{FF2B5EF4-FFF2-40B4-BE49-F238E27FC236}">
                <a16:creationId xmlns:a16="http://schemas.microsoft.com/office/drawing/2014/main" id="{7FF69689-5D46-4322-859E-F3381D6A1EA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8回　14">
            <a:extLst xmlns:a="http://schemas.openxmlformats.org/drawingml/2006/main">
              <a:ext uri="{FF2B5EF4-FFF2-40B4-BE49-F238E27FC236}">
                <a16:creationId xmlns:a16="http://schemas.microsoft.com/office/drawing/2014/main" id="{33EB0909-A603-4962-B506-FA4CD399DDC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14</a:t>
            </a:r>
          </a:p>
        </p:txBody>
      </p:sp>
    </p:spTree>
    <p:extLst>
      <p:ext uri="{BB962C8B-B14F-4D97-AF65-F5344CB8AC3E}">
        <p14:creationId xmlns:p14="http://schemas.microsoft.com/office/powerpoint/2010/main" val="15166228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1：解答">
            <a:extLst xmlns:a="http://schemas.openxmlformats.org/drawingml/2006/main">
              <a:ext uri="{FF2B5EF4-FFF2-40B4-BE49-F238E27FC236}">
                <a16:creationId xmlns:a16="http://schemas.microsoft.com/office/drawing/2014/main" id="{C90498CD-DCAE-45FE-891B-B3122522D43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a:t>
            </a:r>
          </a:p>
        </p:txBody>
      </p:sp>
      <p:sp>
        <p:nvSpPr>
          <p:cNvPr id="2" name="">
            <a:extLst xmlns:a="http://schemas.openxmlformats.org/drawingml/2006/main">
              <a:ext uri="{FF2B5EF4-FFF2-40B4-BE49-F238E27FC236}">
                <a16:creationId xmlns:a16="http://schemas.microsoft.com/office/drawing/2014/main" id="{ABFA4BEC-B146-4F05-A092-556D16DDABD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重み付きの和＝0.2＋2.4＋2.4＝5.0</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同じ重みなら，（2＋4＋8）÷3＝約4.67</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最も大きな重みはBの0.6．</a:t>
            </a:r>
          </a:p>
        </p:txBody>
      </p:sp>
      <p:sp>
        <p:nvSpPr>
          <p:cNvPr id="3" name="参照：Vaswani et al.">
            <a:extLst xmlns:a="http://schemas.openxmlformats.org/drawingml/2006/main">
              <a:ext uri="{FF2B5EF4-FFF2-40B4-BE49-F238E27FC236}">
                <a16:creationId xmlns:a16="http://schemas.microsoft.com/office/drawing/2014/main" id="{96ED0702-A40E-46B8-B909-DA695399C9F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a:t>
            </a:r>
          </a:p>
        </p:txBody>
      </p:sp>
      <p:sp>
        <p:nvSpPr>
          <p:cNvPr id="4" name="第8回　15">
            <a:extLst xmlns:a="http://schemas.openxmlformats.org/drawingml/2006/main">
              <a:ext uri="{FF2B5EF4-FFF2-40B4-BE49-F238E27FC236}">
                <a16:creationId xmlns:a16="http://schemas.microsoft.com/office/drawing/2014/main" id="{32DA7BAF-718C-4ECC-9618-7DE8455D741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15</a:t>
            </a:r>
          </a:p>
        </p:txBody>
      </p:sp>
    </p:spTree>
    <p:extLst>
      <p:ext uri="{BB962C8B-B14F-4D97-AF65-F5344CB8AC3E}">
        <p14:creationId xmlns:p14="http://schemas.microsoft.com/office/powerpoint/2010/main" val="3468969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Query・Key・Value">
            <a:extLst xmlns:a="http://schemas.openxmlformats.org/drawingml/2006/main">
              <a:ext uri="{FF2B5EF4-FFF2-40B4-BE49-F238E27FC236}">
                <a16:creationId xmlns:a16="http://schemas.microsoft.com/office/drawing/2014/main" id="{856545BD-CC4F-4BE4-B1E7-E9B5475758E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Query・Key・Value</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要素</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大まかな役割</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Query</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何を参照したいかを表す</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Key</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参照先との関連を比べる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Value</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重みを付けてまとめる情報</a:t>
                      </a:r>
                    </a:p>
                  </a:txBody>
                  <a:tcPr marL="76200" marR="76200" marT="47625" marB="47625" anchor="ctr">
                    <a:solidFill>
                      <a:srgbClr val="FFFFFF"/>
                    </a:solidFill>
                  </a:tcPr>
                </a:tc>
              </a:tr>
            </a:tbl>
          </a:graphicData>
        </a:graphic>
      </p:graphicFrame>
      <p:sp>
        <p:nvSpPr>
          <p:cNvPr id="3" name="参照：Vaswani et al.">
            <a:extLst xmlns:a="http://schemas.openxmlformats.org/drawingml/2006/main">
              <a:ext uri="{FF2B5EF4-FFF2-40B4-BE49-F238E27FC236}">
                <a16:creationId xmlns:a16="http://schemas.microsoft.com/office/drawing/2014/main" id="{4C33E57C-2098-45C4-A72F-9084F60AAC1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a:t>
            </a:r>
          </a:p>
        </p:txBody>
      </p:sp>
      <p:sp>
        <p:nvSpPr>
          <p:cNvPr id="4" name="第8回　16">
            <a:extLst xmlns:a="http://schemas.openxmlformats.org/drawingml/2006/main">
              <a:ext uri="{FF2B5EF4-FFF2-40B4-BE49-F238E27FC236}">
                <a16:creationId xmlns:a16="http://schemas.microsoft.com/office/drawing/2014/main" id="{8F4D3A05-7D1B-44A6-AAB2-3598DC2A4D1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16</a:t>
            </a:r>
          </a:p>
        </p:txBody>
      </p:sp>
    </p:spTree>
    <p:extLst>
      <p:ext uri="{BB962C8B-B14F-4D97-AF65-F5344CB8AC3E}">
        <p14:creationId xmlns:p14="http://schemas.microsoft.com/office/powerpoint/2010/main" val="11352060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ransformerの基本的な計算">
            <a:extLst xmlns:a="http://schemas.openxmlformats.org/drawingml/2006/main">
              <a:ext uri="{FF2B5EF4-FFF2-40B4-BE49-F238E27FC236}">
                <a16:creationId xmlns:a16="http://schemas.microsoft.com/office/drawing/2014/main" id="{3FD07787-3697-4E27-B029-99B3003C642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Transformerの基本的な計算</a:t>
            </a:r>
          </a:p>
        </p:txBody>
      </p:sp>
      <p:sp>
        <p:nvSpPr>
          <p:cNvPr id="2" name="位置の情報を&#10;含む入力">
            <a:extLst xmlns:a="http://schemas.openxmlformats.org/drawingml/2006/main">
              <a:ext uri="{FF2B5EF4-FFF2-40B4-BE49-F238E27FC236}">
                <a16:creationId xmlns:a16="http://schemas.microsoft.com/office/drawing/2014/main" id="{F2A76293-E3AF-4A85-BE7D-F5A778E99FE5}"/>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位置の情報を</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含む入力</a:t>
            </a:r>
          </a:p>
        </p:txBody>
      </p:sp>
      <p:sp>
        <p:nvSpPr>
          <p:cNvPr id="3" name="Self-Attentionなど&#10;で表現を更新">
            <a:extLst xmlns:a="http://schemas.openxmlformats.org/drawingml/2006/main">
              <a:ext uri="{FF2B5EF4-FFF2-40B4-BE49-F238E27FC236}">
                <a16:creationId xmlns:a16="http://schemas.microsoft.com/office/drawing/2014/main" id="{EA51F9D9-18B7-4116-B518-E9D72629D3E7}"/>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Self-Attentionなど</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で表現を更新</a:t>
            </a:r>
          </a:p>
        </p:txBody>
      </p:sp>
      <p:sp>
        <p:nvSpPr>
          <p:cNvPr id="4" name="課題に合う&#10;出力">
            <a:extLst xmlns:a="http://schemas.openxmlformats.org/drawingml/2006/main">
              <a:ext uri="{FF2B5EF4-FFF2-40B4-BE49-F238E27FC236}">
                <a16:creationId xmlns:a16="http://schemas.microsoft.com/office/drawing/2014/main" id="{A39002BE-BA3B-4C2E-9945-B8C711E4B189}"/>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課題に合う</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出力</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Vaswani et al.">
            <a:extLst xmlns:a="http://schemas.openxmlformats.org/drawingml/2006/main">
              <a:ext uri="{FF2B5EF4-FFF2-40B4-BE49-F238E27FC236}">
                <a16:creationId xmlns:a16="http://schemas.microsoft.com/office/drawing/2014/main" id="{5EC07710-8E51-43B7-9CC5-6776871EFCD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a:t>
            </a:r>
          </a:p>
        </p:txBody>
      </p:sp>
      <p:sp>
        <p:nvSpPr>
          <p:cNvPr id="8" name="第8回　17">
            <a:extLst xmlns:a="http://schemas.openxmlformats.org/drawingml/2006/main">
              <a:ext uri="{FF2B5EF4-FFF2-40B4-BE49-F238E27FC236}">
                <a16:creationId xmlns:a16="http://schemas.microsoft.com/office/drawing/2014/main" id="{EEF2DC7E-E267-47E5-8F3F-01CD208167E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17</a:t>
            </a:r>
          </a:p>
        </p:txBody>
      </p:sp>
    </p:spTree>
    <p:extLst>
      <p:ext uri="{BB962C8B-B14F-4D97-AF65-F5344CB8AC3E}">
        <p14:creationId xmlns:p14="http://schemas.microsoft.com/office/powerpoint/2010/main" val="16918407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ransformerと系列の順序">
            <a:extLst xmlns:a="http://schemas.openxmlformats.org/drawingml/2006/main">
              <a:ext uri="{FF2B5EF4-FFF2-40B4-BE49-F238E27FC236}">
                <a16:creationId xmlns:a16="http://schemas.microsoft.com/office/drawing/2014/main" id="{B872F08B-A03E-4DD6-ABEC-26D0FAFC8A2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Transformerと系列の順序</a:t>
            </a:r>
          </a:p>
        </p:txBody>
      </p:sp>
      <p:sp>
        <p:nvSpPr>
          <p:cNvPr id="2" name="">
            <a:extLst xmlns:a="http://schemas.openxmlformats.org/drawingml/2006/main">
              <a:ext uri="{FF2B5EF4-FFF2-40B4-BE49-F238E27FC236}">
                <a16:creationId xmlns:a16="http://schemas.microsoft.com/office/drawing/2014/main" id="{DCEFC0A5-2975-4414-978B-BA4470B8EEF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位置の情報を，入力表現や計算へ組み込む．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学習では，多くの位置の計算を並列に行える．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文章を順に生成するときは，通常，次のトークンを繰り返し出す．</a:t>
            </a:r>
          </a:p>
        </p:txBody>
      </p:sp>
      <p:sp>
        <p:nvSpPr>
          <p:cNvPr id="3" name="参照：Vaswani et al.／Google">
            <a:extLst xmlns:a="http://schemas.openxmlformats.org/drawingml/2006/main">
              <a:ext uri="{FF2B5EF4-FFF2-40B4-BE49-F238E27FC236}">
                <a16:creationId xmlns:a16="http://schemas.microsoft.com/office/drawing/2014/main" id="{9FFB7A61-D8F5-46EC-A38C-603A39BA7F3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参照：Vaswani et al.／Google</a:t>
            </a:r>
          </a:p>
        </p:txBody>
      </p:sp>
      <p:sp>
        <p:nvSpPr>
          <p:cNvPr id="4" name="第8回　18">
            <a:extLst xmlns:a="http://schemas.openxmlformats.org/drawingml/2006/main">
              <a:ext uri="{FF2B5EF4-FFF2-40B4-BE49-F238E27FC236}">
                <a16:creationId xmlns:a16="http://schemas.microsoft.com/office/drawing/2014/main" id="{64AC28E3-E6A7-48FF-8E04-A82B8BF3DD4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18</a:t>
            </a:r>
          </a:p>
        </p:txBody>
      </p:sp>
    </p:spTree>
    <p:extLst>
      <p:ext uri="{BB962C8B-B14F-4D97-AF65-F5344CB8AC3E}">
        <p14:creationId xmlns:p14="http://schemas.microsoft.com/office/powerpoint/2010/main" val="3198623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言語モデルの構成と課題">
            <a:extLst xmlns:a="http://schemas.openxmlformats.org/drawingml/2006/main">
              <a:ext uri="{FF2B5EF4-FFF2-40B4-BE49-F238E27FC236}">
                <a16:creationId xmlns:a16="http://schemas.microsoft.com/office/drawing/2014/main" id="{1DC042AF-E630-4824-8A7E-21CA1FD8BC3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言語モデルの構成と課題</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考え方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課題の例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双方向の文脈を使う表現</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文章分類，検索など</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過去のトークンから次を予測</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文章生成など</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入力系列を出力系列へ変換</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翻訳など</a:t>
                      </a:r>
                    </a:p>
                  </a:txBody>
                  <a:tcPr marL="76200" marR="76200" marT="47625" marB="47625" anchor="ctr">
                    <a:solidFill>
                      <a:srgbClr val="FFFFFF"/>
                    </a:solidFill>
                  </a:tcPr>
                </a:tc>
              </a:tr>
            </a:tbl>
          </a:graphicData>
        </a:graphic>
      </p:graphicFrame>
      <p:sp>
        <p:nvSpPr>
          <p:cNvPr id="3" name="参照：Devlin et al.／Vaswani et al.／Google">
            <a:extLst xmlns:a="http://schemas.openxmlformats.org/drawingml/2006/main">
              <a:ext uri="{FF2B5EF4-FFF2-40B4-BE49-F238E27FC236}">
                <a16:creationId xmlns:a16="http://schemas.microsoft.com/office/drawing/2014/main" id="{7186CDEA-5A76-4F68-A7A0-9EF71A9D4D2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参照：Devlin et al.／Vaswani et al.／Google</a:t>
            </a:r>
          </a:p>
        </p:txBody>
      </p:sp>
      <p:sp>
        <p:nvSpPr>
          <p:cNvPr id="4" name="第8回　19">
            <a:extLst xmlns:a="http://schemas.openxmlformats.org/drawingml/2006/main">
              <a:ext uri="{FF2B5EF4-FFF2-40B4-BE49-F238E27FC236}">
                <a16:creationId xmlns:a16="http://schemas.microsoft.com/office/drawing/2014/main" id="{20E4CDA1-6C6C-4E5D-9D10-7DA10844DB0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19</a:t>
            </a:r>
          </a:p>
        </p:txBody>
      </p:sp>
    </p:spTree>
    <p:extLst>
      <p:ext uri="{BB962C8B-B14F-4D97-AF65-F5344CB8AC3E}">
        <p14:creationId xmlns:p14="http://schemas.microsoft.com/office/powerpoint/2010/main" val="8548399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時系列の分割と情報の漏れ">
            <a:extLst xmlns:a="http://schemas.openxmlformats.org/drawingml/2006/main">
              <a:ext uri="{FF2B5EF4-FFF2-40B4-BE49-F238E27FC236}">
                <a16:creationId xmlns:a16="http://schemas.microsoft.com/office/drawing/2014/main" id="{ED7436CA-650E-4867-8DC9-F0898691180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時系列の分割と情報の漏れ</a:t>
            </a:r>
          </a:p>
        </p:txBody>
      </p:sp>
      <p:sp>
        <p:nvSpPr>
          <p:cNvPr id="2" name="">
            <a:extLst xmlns:a="http://schemas.openxmlformats.org/drawingml/2006/main">
              <a:ext uri="{FF2B5EF4-FFF2-40B4-BE49-F238E27FC236}">
                <a16:creationId xmlns:a16="http://schemas.microsoft.com/office/drawing/2014/main" id="{8A53F497-A91A-4D10-AF43-88E88E8AFB7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将来を予測するなら，過去から未来へ評価する．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予測時点より後の値を，特徴量に入れない．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時間や同じ対象の記録を，分割で考慮する．</a:t>
            </a:r>
          </a:p>
        </p:txBody>
      </p:sp>
      <p:sp>
        <p:nvSpPr>
          <p:cNvPr id="3" name="参照：scikit-learn">
            <a:extLst xmlns:a="http://schemas.openxmlformats.org/drawingml/2006/main">
              <a:ext uri="{FF2B5EF4-FFF2-40B4-BE49-F238E27FC236}">
                <a16:creationId xmlns:a16="http://schemas.microsoft.com/office/drawing/2014/main" id="{01B6D55B-FEBF-4BAB-AE47-0072DF5A379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8回　20">
            <a:extLst xmlns:a="http://schemas.openxmlformats.org/drawingml/2006/main">
              <a:ext uri="{FF2B5EF4-FFF2-40B4-BE49-F238E27FC236}">
                <a16:creationId xmlns:a16="http://schemas.microsoft.com/office/drawing/2014/main" id="{9A1F3DB9-42FC-4B13-B1C6-2D686A6BA86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20</a:t>
            </a:r>
          </a:p>
        </p:txBody>
      </p:sp>
    </p:spTree>
    <p:extLst>
      <p:ext uri="{BB962C8B-B14F-4D97-AF65-F5344CB8AC3E}">
        <p14:creationId xmlns:p14="http://schemas.microsoft.com/office/powerpoint/2010/main" val="20894222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使える情報">
            <a:extLst xmlns:a="http://schemas.openxmlformats.org/drawingml/2006/main">
              <a:ext uri="{FF2B5EF4-FFF2-40B4-BE49-F238E27FC236}">
                <a16:creationId xmlns:a16="http://schemas.microsoft.com/office/drawing/2014/main" id="{E4FA153B-6B43-443D-A2B9-773C1F90D1C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演習2：使える情報</a:t>
            </a:r>
          </a:p>
        </p:txBody>
      </p:sp>
      <p:sp>
        <p:nvSpPr>
          <p:cNvPr id="2" name="">
            <a:extLst xmlns:a="http://schemas.openxmlformats.org/drawingml/2006/main">
              <a:ext uri="{FF2B5EF4-FFF2-40B4-BE49-F238E27FC236}">
                <a16:creationId xmlns:a16="http://schemas.microsoft.com/office/drawing/2014/main" id="{1D0323E2-48B8-42A7-B194-89E5EEBD31F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前日夕方に，翌日の販売数を予測したい．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A：前日までの販売数　B：翌日の実測気温</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C：その時点で発表された翌日の天気予報</a:t>
            </a:r>
          </a:p>
        </p:txBody>
      </p:sp>
      <p:sp>
        <p:nvSpPr>
          <p:cNvPr id="3" name="情報を得られる時点で判断する．">
            <a:extLst xmlns:a="http://schemas.openxmlformats.org/drawingml/2006/main">
              <a:ext uri="{FF2B5EF4-FFF2-40B4-BE49-F238E27FC236}">
                <a16:creationId xmlns:a16="http://schemas.microsoft.com/office/drawing/2014/main" id="{05FC13F9-BD39-49A5-8947-EF0E40F496F8}"/>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情報を得られる時点で判断する．</a:t>
            </a:r>
          </a:p>
        </p:txBody>
      </p:sp>
      <p:sp>
        <p:nvSpPr>
          <p:cNvPr id="4" name="図・設問：本教材の作例">
            <a:extLst xmlns:a="http://schemas.openxmlformats.org/drawingml/2006/main">
              <a:ext uri="{FF2B5EF4-FFF2-40B4-BE49-F238E27FC236}">
                <a16:creationId xmlns:a16="http://schemas.microsoft.com/office/drawing/2014/main" id="{389D9695-2456-4D08-BA10-F175E540F1C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8回　21">
            <a:extLst xmlns:a="http://schemas.openxmlformats.org/drawingml/2006/main">
              <a:ext uri="{FF2B5EF4-FFF2-40B4-BE49-F238E27FC236}">
                <a16:creationId xmlns:a16="http://schemas.microsoft.com/office/drawing/2014/main" id="{79208805-DCCA-4683-9C42-553B31800D5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21</a:t>
            </a:r>
          </a:p>
        </p:txBody>
      </p:sp>
    </p:spTree>
    <p:extLst>
      <p:ext uri="{BB962C8B-B14F-4D97-AF65-F5344CB8AC3E}">
        <p14:creationId xmlns:p14="http://schemas.microsoft.com/office/powerpoint/2010/main" val="16095342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言語・音声モデルの評価">
            <a:extLst xmlns:a="http://schemas.openxmlformats.org/drawingml/2006/main">
              <a:ext uri="{FF2B5EF4-FFF2-40B4-BE49-F238E27FC236}">
                <a16:creationId xmlns:a16="http://schemas.microsoft.com/office/drawing/2014/main" id="{070C788E-DEFD-4092-B945-ADDE30F68BE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言語・音声モデルの評価</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課題</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確認する結果</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文章分類</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正解率，クラスごとの誤り</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翻訳・要約</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意味の保持，欠落，誤った情報</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音声認識</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文字起こしの誤り，雑音や話者による差</a:t>
                      </a:r>
                    </a:p>
                  </a:txBody>
                  <a:tcPr marL="76200" marR="76200" marT="47625" marB="47625" anchor="ctr">
                    <a:solidFill>
                      <a:srgbClr val="FFFFFF"/>
                    </a:solidFill>
                  </a:tcPr>
                </a:tc>
              </a:tr>
            </a:tbl>
          </a:graphicData>
        </a:graphic>
      </p:graphicFrame>
      <p:sp>
        <p:nvSpPr>
          <p:cNvPr id="3" name="参照：Hugging Face／scikit-learn">
            <a:extLst xmlns:a="http://schemas.openxmlformats.org/drawingml/2006/main">
              <a:ext uri="{FF2B5EF4-FFF2-40B4-BE49-F238E27FC236}">
                <a16:creationId xmlns:a16="http://schemas.microsoft.com/office/drawing/2014/main" id="{F5A71C7B-2556-4679-8385-A832651674D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参照：Hugging Face／scikit-learn</a:t>
            </a:r>
          </a:p>
        </p:txBody>
      </p:sp>
      <p:sp>
        <p:nvSpPr>
          <p:cNvPr id="4" name="第8回　22">
            <a:extLst xmlns:a="http://schemas.openxmlformats.org/drawingml/2006/main">
              <a:ext uri="{FF2B5EF4-FFF2-40B4-BE49-F238E27FC236}">
                <a16:creationId xmlns:a16="http://schemas.microsoft.com/office/drawing/2014/main" id="{5C48B835-0194-4639-975E-FB20DD313BE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22</a:t>
            </a:r>
          </a:p>
        </p:txBody>
      </p:sp>
    </p:spTree>
    <p:extLst>
      <p:ext uri="{BB962C8B-B14F-4D97-AF65-F5344CB8AC3E}">
        <p14:creationId xmlns:p14="http://schemas.microsoft.com/office/powerpoint/2010/main" val="15503861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B2F76119-2948-464B-8D84-8ED253F8400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17D90CFB-28BD-4435-80EF-C11353A655A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文章はトークンと数値の表現で扱う．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RNNは状態を引き継ぎ，Attentionは関連する情報をまとめる．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未来の予測では，情報を得られる時点を確認する．</a:t>
            </a:r>
          </a:p>
        </p:txBody>
      </p:sp>
      <p:sp>
        <p:nvSpPr>
          <p:cNvPr id="3" name="次回：生成AIと大規模言語モデル">
            <a:extLst xmlns:a="http://schemas.openxmlformats.org/drawingml/2006/main">
              <a:ext uri="{FF2B5EF4-FFF2-40B4-BE49-F238E27FC236}">
                <a16:creationId xmlns:a16="http://schemas.microsoft.com/office/drawing/2014/main" id="{98ECF942-08F9-4110-8E82-9CFB31AA2D35}"/>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次回：生成AIと大規模言語モデル</a:t>
            </a:r>
          </a:p>
        </p:txBody>
      </p:sp>
      <p:sp>
        <p:nvSpPr>
          <p:cNvPr id="4" name="図・設問：本教材の作例">
            <a:extLst xmlns:a="http://schemas.openxmlformats.org/drawingml/2006/main">
              <a:ext uri="{FF2B5EF4-FFF2-40B4-BE49-F238E27FC236}">
                <a16:creationId xmlns:a16="http://schemas.microsoft.com/office/drawing/2014/main" id="{BD7F6F0F-5AF0-4CFC-B2CA-7D33557E49A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8回　23">
            <a:extLst xmlns:a="http://schemas.openxmlformats.org/drawingml/2006/main">
              <a:ext uri="{FF2B5EF4-FFF2-40B4-BE49-F238E27FC236}">
                <a16:creationId xmlns:a16="http://schemas.microsoft.com/office/drawing/2014/main" id="{A4CD9D2B-78C7-4C45-B39B-4D42E64121D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23</a:t>
            </a:r>
          </a:p>
        </p:txBody>
      </p:sp>
    </p:spTree>
    <p:extLst>
      <p:ext uri="{BB962C8B-B14F-4D97-AF65-F5344CB8AC3E}">
        <p14:creationId xmlns:p14="http://schemas.microsoft.com/office/powerpoint/2010/main" val="18284658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F7CF06FB-21E7-4B1E-8C0A-AED021652F2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Google：Embeddings">
            <a:extLst xmlns:a="http://schemas.openxmlformats.org/drawingml/2006/main">
              <a:ext uri="{FF2B5EF4-FFF2-40B4-BE49-F238E27FC236}">
                <a16:creationId xmlns:a16="http://schemas.microsoft.com/office/drawing/2014/main" id="{0BE91962-88F8-49F0-BB67-1D186DD05A35}"/>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bb57f7de14fd4cb2"/>
              </a:rPr>
              <a:t>1. Google：Embeddings</a:t>
            </a:r>
          </a:p>
        </p:txBody>
      </p:sp>
      <p:sp>
        <p:nvSpPr>
          <p:cNvPr id="3" name="2. PyTorch：RNN">
            <a:extLst xmlns:a="http://schemas.openxmlformats.org/drawingml/2006/main">
              <a:ext uri="{FF2B5EF4-FFF2-40B4-BE49-F238E27FC236}">
                <a16:creationId xmlns:a16="http://schemas.microsoft.com/office/drawing/2014/main" id="{15E555A0-8950-4260-8CFB-F254E7AF8508}"/>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3297f85ea4e542bb"/>
              </a:rPr>
              <a:t>2. PyTorch：RNN</a:t>
            </a:r>
          </a:p>
        </p:txBody>
      </p:sp>
      <p:sp>
        <p:nvSpPr>
          <p:cNvPr id="4" name="3. Vaswani et al.：Attention Is All You N">
            <a:extLst xmlns:a="http://schemas.openxmlformats.org/drawingml/2006/main">
              <a:ext uri="{FF2B5EF4-FFF2-40B4-BE49-F238E27FC236}">
                <a16:creationId xmlns:a16="http://schemas.microsoft.com/office/drawing/2014/main" id="{CF374E31-553C-410D-AE46-4B33827E8AAD}"/>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5fdd564943e4241"/>
              </a:rPr>
              <a:t>3. Vaswani et al.：Attention Is All You Need</a:t>
            </a:r>
          </a:p>
        </p:txBody>
      </p:sp>
      <p:sp>
        <p:nvSpPr>
          <p:cNvPr id="5" name="各項目をクリックすると，参考資料を開く．">
            <a:extLst xmlns:a="http://schemas.openxmlformats.org/drawingml/2006/main">
              <a:ext uri="{FF2B5EF4-FFF2-40B4-BE49-F238E27FC236}">
                <a16:creationId xmlns:a16="http://schemas.microsoft.com/office/drawing/2014/main" id="{4FCA8F7F-BAAE-45A7-B0F1-ABC91CF2B23A}"/>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DBA41015-191F-4147-AB0F-7A97F81037B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8回　24">
            <a:extLst xmlns:a="http://schemas.openxmlformats.org/drawingml/2006/main">
              <a:ext uri="{FF2B5EF4-FFF2-40B4-BE49-F238E27FC236}">
                <a16:creationId xmlns:a16="http://schemas.microsoft.com/office/drawing/2014/main" id="{40CC45E7-890A-4611-9629-B896173E5B8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24</a:t>
            </a:r>
          </a:p>
        </p:txBody>
      </p:sp>
    </p:spTree>
    <p:extLst>
      <p:ext uri="{BB962C8B-B14F-4D97-AF65-F5344CB8AC3E}">
        <p14:creationId xmlns:p14="http://schemas.microsoft.com/office/powerpoint/2010/main" val="171761655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53E4D8E7-DC0A-4F6D-B31A-6559B9B3390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Devlin et al.：BERT">
            <a:extLst xmlns:a="http://schemas.openxmlformats.org/drawingml/2006/main">
              <a:ext uri="{FF2B5EF4-FFF2-40B4-BE49-F238E27FC236}">
                <a16:creationId xmlns:a16="http://schemas.microsoft.com/office/drawing/2014/main" id="{8B8A42B0-6473-4BAD-AB67-2AFEC226FF07}"/>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4c3406412b747b5"/>
              </a:rPr>
              <a:t>1. Devlin et al.：BERT</a:t>
            </a:r>
          </a:p>
        </p:txBody>
      </p:sp>
      <p:sp>
        <p:nvSpPr>
          <p:cNvPr id="3" name="2. Hugging Face：Automatic speech recogni">
            <a:extLst xmlns:a="http://schemas.openxmlformats.org/drawingml/2006/main">
              <a:ext uri="{FF2B5EF4-FFF2-40B4-BE49-F238E27FC236}">
                <a16:creationId xmlns:a16="http://schemas.microsoft.com/office/drawing/2014/main" id="{FD51405F-C83E-498D-8DCF-331BEBBA0A17}"/>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5c8999ee8644d15"/>
              </a:rPr>
              <a:t>2. Hugging Face：Automatic speech recognition</a:t>
            </a:r>
          </a:p>
        </p:txBody>
      </p:sp>
      <p:sp>
        <p:nvSpPr>
          <p:cNvPr id="4" name="3. Google：Introduction to Large Language">
            <a:extLst xmlns:a="http://schemas.openxmlformats.org/drawingml/2006/main">
              <a:ext uri="{FF2B5EF4-FFF2-40B4-BE49-F238E27FC236}">
                <a16:creationId xmlns:a16="http://schemas.microsoft.com/office/drawing/2014/main" id="{CBE6A224-9E76-446E-BF2F-863872D4136F}"/>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44ac29fc024e403b"/>
              </a:rPr>
              <a:t>3. Google：Introduction to Large Language Models</a:t>
            </a:r>
          </a:p>
        </p:txBody>
      </p:sp>
      <p:sp>
        <p:nvSpPr>
          <p:cNvPr id="5" name="各項目をクリックすると，参考資料を開く．">
            <a:extLst xmlns:a="http://schemas.openxmlformats.org/drawingml/2006/main">
              <a:ext uri="{FF2B5EF4-FFF2-40B4-BE49-F238E27FC236}">
                <a16:creationId xmlns:a16="http://schemas.microsoft.com/office/drawing/2014/main" id="{4924B943-152F-404A-AEA3-9E9236D820C5}"/>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708FB081-3C75-4BD8-B6C7-B3F98B9ABF7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8回　25">
            <a:extLst xmlns:a="http://schemas.openxmlformats.org/drawingml/2006/main">
              <a:ext uri="{FF2B5EF4-FFF2-40B4-BE49-F238E27FC236}">
                <a16:creationId xmlns:a16="http://schemas.microsoft.com/office/drawing/2014/main" id="{51CB1817-DA5A-448C-A3F5-8ABC0AB69C2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第8回　25</a:t>
            </a:r>
          </a:p>
        </p:txBody>
      </p:sp>
    </p:spTree>
    <p:extLst>
      <p:ext uri="{BB962C8B-B14F-4D97-AF65-F5344CB8AC3E}">
        <p14:creationId xmlns:p14="http://schemas.microsoft.com/office/powerpoint/2010/main" val="211541348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2026-10-08T05:48:51.5950000Z</dcterms:created>
  <dcterms:modified xsi:type="dcterms:W3CDTF">2026-10-08T05:48:51.5950000Z</dcterms:modified>
</coreProperties>
</file>